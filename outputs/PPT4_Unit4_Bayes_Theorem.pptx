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Conditional Probability
Before we can understand Bayes' Theorem, we need to understand conditional probability.
The conditional probability P(A|B) is read as 'the probability of A given B'. It answers the question: IF we know that event B has already occurred, what is the probability that A also occurs? Knowing B 'updates' our probability estimate for A.
The formula is P(A|B) = P(A∩B) / P(B). We divide the probability of both events occurring by the probability of the conditioning event B. This is only defined when P(B) &gt; 0, since we cannot condition on an impossible event.
For example: imagine a bag with 3 red and 2 blue balls. If we draw one ball without replacement, and we're told the first draw was red (event B), then only 4 balls remain in the bag with only 2 being red. So the probability of drawing red in the second draw, given the first was red, is 2/4 = 0.5 — lower than the original 3/5.
Two important related results: First, the Multiplication Rule rearranges the conditional probability formula to give P(A∩B) = P(A|B)·P(B). Second, the Law of Total Probability says P(B) can be broken down as P(B|A)·P(A) + P(B|¬A)·P(¬A). This will be used in the denominator of Bayes' Theorem.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Bayes' Theorem
Bayes' Theorem is one of the most powerful and important results in probability theory. It was developed by Reverend Thomas Bayes in 1763 and later refined by Pierre-Simon Laplace.
The theorem gives us a way to UPDATE our probability estimate for a hypothesis A after observing new evidence B.
The formula is: P(A|B) = P(B|A) × P(A) / P(B)
This is derived directly from the definition of conditional probability. We know P(A|B) = P(A∩B)/P(B) and P(B|A) = P(A∩B)/P(A). Solving both equations for P(A∩B) and equating them gives us Bayes' Theorem.
The four components:
PRIOR P(A): Our initial belief about hypothesis A before seeing any evidence. It represents our background knowledge.
LIKELIHOOD P(B|A): How well the hypothesis A explains the observed evidence B. High likelihood means A strongly predicts B.
POSTERIOR P(A|B): The updated probability of A after observing B. This is what we want to compute.
MARGINAL P(B): The overall probability of observing B under all possible scenarios. It normalizes the result so all probabilities sum to 1.
The key insight of Bayes' Theorem: it tells us how to RATIONALLY UPDATE our beliefs when we receive new evidence. This is the foundation of Bayesian statistics and probabilistic machine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Classic Example: Medical Diagnostic Test
This is the most famous application of Bayes' Theorem and it produces a result that surprises almost everyone the first time they see it.
The scenario: A rare disease D affects 1 in 100 people, so P(D) = 0.01. A diagnostic test T has been developed with 99% accuracy in BOTH directions. Specifically:
Sensitivity P(T+|D) = 0.99: If you HAVE the disease, the test correctly comes back positive 99% of the time. Only 1% of sick people get a false negative.
Specificity P(T-|¬D) = 0.99: If you do NOT have the disease, the test correctly comes back negative 99% of the time. Only 1% of healthy people get a false positive. So the false positive rate P(T+|¬D) = 0.01.
Now the question: A randomly selected person takes the test and gets a POSITIVE result. What is the probability they actually have the disease?
Most people immediately say 'about 99%' — after all, the test is 99% accurate! But this reasoning ignores the prior probability. The disease only affects 1% of people. Even with a positive test, the answer might be very different from 99%.
This is the key insight of Bayes' Theorem: we must combine the evidence (the test result) with our prior knowledge (the base rate of the disease). Let us calculate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Solving the Medical Test Example with Bayes' Theorem
Let us carefully apply Bayes' Theorem step by step.
Step 1 — Write the formula: P(D|T+) = P(T+|D)×P(D) / [P(T+|D)×P(D) + P(T+|¬D)×P(¬D)]
Step 2 — Substitute known values: Numerator = 0.99 × 0.01 = 0.0099. Denominator = (0.99×0.01) + (0.01×0.99) = 0.0099 + 0.0099 = 0.0198.
Step 3 — Divide: P(D|T+) = 0.0099 / 0.0198 = 0.50 = 50%.
The answer is only 50%! Only half the people who test positive actually have the disease. This is dramatically less than the 99% most people expected.
Why? Let us think in terms of natural frequencies to make it intuitive. Imagine testing 10,000 people. Of these, 100 have the disease (1%) and 9,900 do not. Of the 100 sick people, 99 test positive (99% sensitivity). Of the 9,900 healthy people, 99 also test positive (1% false positive rate). So we have 99 + 99 = 198 positive tests total, but only 99 of those 198 people are actually sick. 99/198 = exactly 50%.
The key lesson: the base rate (prior probability) matters enormously. The disease affects only 1% of people, which is so rare that even a 99% accurate test produces an equal number of true positives and false positives. This is called 'base rate fallacy' when people ignore the prior.
This result has real consequences in medicine, law (where test evidence is presented to juries), and machine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Applications of Bayes' Theorem in Computer Science
Bayes' Theorem is the mathematical engine behind many of the most important technologies in artificial intelligence, data science, and computer security.
Naive Bayes Spam Filter: This is the classic text classification application. To classify an email as spam or not-spam, we compute P(spam|words) ∝ P(spam) × product of P(word_i|spam) for each word. We learn the likelihoods from a training dataset of labeled emails. Despite the 'naive' independence assumption between words, Naive Bayes classifiers are remarkably effective and were state-of-the-art spam filters in the early 2000s.
Medical Diagnosis AI: Clinical decision support systems use Bayesian networks to reason about diagnoses. As a patient undergoes more tests, the posterior probability of each diagnosis is continuously updated using Bayes' Theorem. This models exactly how a good doctor thinks — updating beliefs with each new piece of evidence.
Search and Recommendation Systems: Google and other search engines incorporate Bayesian thinking. Collaborative filtering — the technology behind 'users who liked X also liked Y' recommendations on Netflix and Amazon — is based on estimating conditional probabilities from large datasets of user behavior.
Intrusion Detection: Security systems monitor network traffic and compute the probability of an ongoing attack given the observed patterns. Bayesian Networks allow modeling of complex, multi-step attack scenarios and adapting to new attack patterns by updating the prior.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Mathematical Foundations of Computer Science</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78992"/>
            <a:ext cx="11292840" cy="384048"/>
          </a:xfrm>
          <a:prstGeom prst="rect">
            <a:avLst/>
          </a:prstGeom>
          <a:noFill/>
          <a:ln/>
        </p:spPr>
        <p:txBody>
          <a:bodyPr wrap="square" rtlCol="0" anchor="ctr"/>
          <a:lstStyle/>
          <a:p>
            <a:pPr algn="ctr" indent="0" marL="0">
              <a:buNone/>
            </a:pPr>
            <a:r>
              <a:rPr lang="en-US" sz="1300" i="1" dirty="0">
                <a:solidFill>
                  <a:srgbClr val="990033"/>
                </a:solidFill>
                <a:latin typeface="Arial" pitchFamily="34" charset="0"/>
                <a:ea typeface="Arial" pitchFamily="34" charset="-122"/>
                <a:cs typeface="Arial" pitchFamily="34" charset="-120"/>
              </a:rPr>
              <a:t>Unit IV: Discrete Probability and Advanced Counting Techniques</a:t>
            </a:r>
            <a:endParaRPr lang="en-US" sz="1300" dirty="0"/>
          </a:p>
        </p:txBody>
      </p:sp>
      <p:sp>
        <p:nvSpPr>
          <p:cNvPr id="14" name="Shape 11"/>
          <p:cNvSpPr/>
          <p:nvPr/>
        </p:nvSpPr>
        <p:spPr>
          <a:xfrm>
            <a:off x="1645920" y="1572768"/>
            <a:ext cx="8897112" cy="1280160"/>
          </a:xfrm>
          <a:prstGeom prst="rect">
            <a:avLst/>
          </a:prstGeom>
          <a:solidFill>
            <a:srgbClr val="990033"/>
          </a:solidFill>
          <a:ln w="12700">
            <a:solidFill>
              <a:srgbClr val="990033"/>
            </a:solidFill>
            <a:prstDash val="solid"/>
          </a:ln>
        </p:spPr>
      </p:sp>
      <p:sp>
        <p:nvSpPr>
          <p:cNvPr id="15" name="Text 12"/>
          <p:cNvSpPr/>
          <p:nvPr/>
        </p:nvSpPr>
        <p:spPr>
          <a:xfrm>
            <a:off x="1645920" y="1572768"/>
            <a:ext cx="8897112" cy="1280160"/>
          </a:xfrm>
          <a:prstGeom prst="rect">
            <a:avLst/>
          </a:prstGeom>
          <a:noFill/>
          <a:ln/>
        </p:spPr>
        <p:txBody>
          <a:bodyPr wrap="square" lIns="0" tIns="0" rIns="0" bIns="0"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Bayes' Theorem</a:t>
            </a:r>
            <a:endParaRPr lang="en-US" sz="2800" dirty="0"/>
          </a:p>
        </p:txBody>
      </p:sp>
      <p:sp>
        <p:nvSpPr>
          <p:cNvPr id="16" name="Text 13"/>
          <p:cNvSpPr/>
          <p:nvPr/>
        </p:nvSpPr>
        <p:spPr>
          <a:xfrm>
            <a:off x="457200" y="2999232"/>
            <a:ext cx="11292840" cy="365760"/>
          </a:xfrm>
          <a:prstGeom prst="rect">
            <a:avLst/>
          </a:prstGeom>
          <a:noFill/>
          <a:ln/>
        </p:spPr>
        <p:txBody>
          <a:bodyPr wrap="square" rtlCol="0" anchor="ctr"/>
          <a:lstStyle/>
          <a:p>
            <a:pPr algn="ctr" indent="0" marL="0">
              <a:buNone/>
            </a:pPr>
            <a:r>
              <a:rPr lang="en-US" sz="1400" b="1" dirty="0">
                <a:solidFill>
                  <a:srgbClr val="990033"/>
                </a:solidFill>
                <a:latin typeface="Arial" pitchFamily="34" charset="0"/>
                <a:ea typeface="Arial" pitchFamily="34" charset="-122"/>
                <a:cs typeface="Arial" pitchFamily="34" charset="-120"/>
              </a:rPr>
              <a:t>PPT PRESENTED BY</a:t>
            </a:r>
            <a:endParaRPr lang="en-US" sz="1400" dirty="0"/>
          </a:p>
        </p:txBody>
      </p:sp>
      <p:sp>
        <p:nvSpPr>
          <p:cNvPr id="17" name="Text 14"/>
          <p:cNvSpPr/>
          <p:nvPr/>
        </p:nvSpPr>
        <p:spPr>
          <a:xfrm>
            <a:off x="2926080" y="3438144"/>
            <a:ext cx="6400800" cy="384048"/>
          </a:xfrm>
          <a:prstGeom prst="rect">
            <a:avLst/>
          </a:prstGeom>
          <a:noFill/>
          <a:ln/>
        </p:spPr>
        <p:txBody>
          <a:bodyPr wrap="square" rtlCol="0" anchor="ctr"/>
          <a:lstStyle/>
          <a:p>
            <a:pPr indent="0" marL="0">
              <a:buNone/>
            </a:pPr>
            <a:r>
              <a:rPr lang="en-US" sz="1200" dirty="0">
                <a:solidFill>
                  <a:srgbClr val="000000"/>
                </a:solidFill>
                <a:latin typeface="Arial" pitchFamily="34" charset="0"/>
                <a:ea typeface="Arial" pitchFamily="34" charset="-122"/>
                <a:cs typeface="Arial" pitchFamily="34" charset="-120"/>
              </a:rPr>
              <a:t>NAME :   Srinivas Rao Tammireddy</a:t>
            </a:r>
            <a:endParaRPr lang="en-US" sz="1200" dirty="0"/>
          </a:p>
        </p:txBody>
      </p:sp>
      <p:sp>
        <p:nvSpPr>
          <p:cNvPr id="18" name="Text 15"/>
          <p:cNvSpPr/>
          <p:nvPr/>
        </p:nvSpPr>
        <p:spPr>
          <a:xfrm>
            <a:off x="2926080" y="3840480"/>
            <a:ext cx="6400800" cy="384048"/>
          </a:xfrm>
          <a:prstGeom prst="rect">
            <a:avLst/>
          </a:prstGeom>
          <a:noFill/>
          <a:ln/>
        </p:spPr>
        <p:txBody>
          <a:bodyPr wrap="square" rtlCol="0" anchor="ctr"/>
          <a:lstStyle/>
          <a:p>
            <a:pPr indent="0" marL="0">
              <a:buNone/>
            </a:pPr>
            <a:r>
              <a:rPr lang="en-US" sz="1200" dirty="0">
                <a:solidFill>
                  <a:srgbClr val="000000"/>
                </a:solidFill>
                <a:latin typeface="Arial" pitchFamily="34" charset="0"/>
                <a:ea typeface="Arial" pitchFamily="34" charset="-122"/>
                <a:cs typeface="Arial" pitchFamily="34" charset="-120"/>
              </a:rPr>
              <a:t>ROLL NO :   257Y1D5805</a:t>
            </a:r>
            <a:endParaRPr lang="en-US" sz="1200" dirty="0"/>
          </a:p>
        </p:txBody>
      </p:sp>
      <p:sp>
        <p:nvSpPr>
          <p:cNvPr id="19" name="Text 16"/>
          <p:cNvSpPr/>
          <p:nvPr/>
        </p:nvSpPr>
        <p:spPr>
          <a:xfrm>
            <a:off x="2926080" y="4242816"/>
            <a:ext cx="6400800" cy="384048"/>
          </a:xfrm>
          <a:prstGeom prst="rect">
            <a:avLst/>
          </a:prstGeom>
          <a:noFill/>
          <a:ln/>
        </p:spPr>
        <p:txBody>
          <a:bodyPr wrap="square" rtlCol="0" anchor="ctr"/>
          <a:lstStyle/>
          <a:p>
            <a:pPr indent="0" marL="0">
              <a:buNone/>
            </a:pPr>
            <a:r>
              <a:rPr lang="en-US" sz="1200" dirty="0">
                <a:solidFill>
                  <a:srgbClr val="000000"/>
                </a:solidFill>
                <a:latin typeface="Arial" pitchFamily="34" charset="0"/>
                <a:ea typeface="Arial" pitchFamily="34" charset="-122"/>
                <a:cs typeface="Arial" pitchFamily="34" charset="-120"/>
              </a:rPr>
              <a:t>YEAR :   I Year  I Semester</a:t>
            </a:r>
            <a:endParaRPr lang="en-US" sz="1200" dirty="0"/>
          </a:p>
        </p:txBody>
      </p:sp>
      <p:sp>
        <p:nvSpPr>
          <p:cNvPr id="20" name="Text 17"/>
          <p:cNvSpPr/>
          <p:nvPr/>
        </p:nvSpPr>
        <p:spPr>
          <a:xfrm>
            <a:off x="2926080" y="4645152"/>
            <a:ext cx="6400800" cy="384048"/>
          </a:xfrm>
          <a:prstGeom prst="rect">
            <a:avLst/>
          </a:prstGeom>
          <a:noFill/>
          <a:ln/>
        </p:spPr>
        <p:txBody>
          <a:bodyPr wrap="square" rtlCol="0" anchor="ctr"/>
          <a:lstStyle/>
          <a:p>
            <a:pPr indent="0" marL="0">
              <a:buNone/>
            </a:pPr>
            <a:r>
              <a:rPr lang="en-US" sz="1200" dirty="0">
                <a:solidFill>
                  <a:srgbClr val="000000"/>
                </a:solidFill>
                <a:latin typeface="Arial" pitchFamily="34" charset="0"/>
                <a:ea typeface="Arial" pitchFamily="34" charset="-122"/>
                <a:cs typeface="Arial" pitchFamily="34" charset="-120"/>
              </a:rPr>
              <a:t>ACADEMIC YEAR :   2025 - 2026</a:t>
            </a:r>
            <a:endParaRPr lang="en-US" sz="1200" dirty="0"/>
          </a:p>
        </p:txBody>
      </p:sp>
      <p:sp>
        <p:nvSpPr>
          <p:cNvPr id="21" name="Text 18"/>
          <p:cNvSpPr/>
          <p:nvPr/>
        </p:nvSpPr>
        <p:spPr>
          <a:xfrm>
            <a:off x="457200" y="6080760"/>
            <a:ext cx="11292840" cy="411480"/>
          </a:xfrm>
          <a:prstGeom prst="rect">
            <a:avLst/>
          </a:prstGeom>
          <a:noFill/>
          <a:ln/>
        </p:spPr>
        <p:txBody>
          <a:bodyPr wrap="square" rtlCol="0" anchor="ctr"/>
          <a:lstStyle/>
          <a:p>
            <a:pPr algn="ctr" indent="0" marL="0">
              <a:buNone/>
            </a:pPr>
            <a:r>
              <a:rPr lang="en-US" sz="1300" b="1" dirty="0">
                <a:solidFill>
                  <a:srgbClr val="990033"/>
                </a:solidFill>
                <a:latin typeface="Arial" pitchFamily="34" charset="0"/>
                <a:ea typeface="Arial" pitchFamily="34" charset="-122"/>
                <a:cs typeface="Arial" pitchFamily="34" charset="-120"/>
              </a:rPr>
              <a:t>DEPARTMENT OF COMPUTER SCIENCE AND ENGINEERING</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Mathematical Foundations of Computer Science</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000" b="1" dirty="0">
                <a:solidFill>
                  <a:srgbClr val="990033"/>
                </a:solidFill>
                <a:latin typeface="Arial" pitchFamily="34" charset="0"/>
                <a:ea typeface="Arial" pitchFamily="34" charset="-122"/>
                <a:cs typeface="Arial" pitchFamily="34" charset="-120"/>
              </a:rPr>
              <a:t>Conditional Probability — The Foundation</a:t>
            </a:r>
            <a:endParaRPr lang="en-US" sz="20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475488"/>
          </a:xfrm>
          <a:prstGeom prst="rect">
            <a:avLst/>
          </a:prstGeom>
          <a:noFill/>
          <a:ln/>
        </p:spPr>
        <p:txBody>
          <a:bodyPr wrap="square" rtlCol="0" anchor="ctr"/>
          <a:lstStyle/>
          <a:p>
            <a:pPr indent="0" marL="0">
              <a:buNone/>
            </a:pPr>
            <a:r>
              <a:rPr lang="en-US" sz="1350" b="1" dirty="0">
                <a:solidFill>
                  <a:srgbClr val="000000"/>
                </a:solidFill>
                <a:latin typeface="Arial" pitchFamily="34" charset="0"/>
                <a:ea typeface="Arial" pitchFamily="34" charset="-122"/>
                <a:cs typeface="Arial" pitchFamily="34" charset="-120"/>
              </a:rPr>
              <a:t>Conditional Probability </a:t>
            </a:r>
            <a:pPr indent="0" marL="0">
              <a:buNone/>
            </a:pPr>
            <a:r>
              <a:rPr lang="en-US" sz="1350" dirty="0">
                <a:solidFill>
                  <a:srgbClr val="000000"/>
                </a:solidFill>
                <a:latin typeface="Arial" pitchFamily="34" charset="0"/>
                <a:ea typeface="Arial" pitchFamily="34" charset="-122"/>
                <a:cs typeface="Arial" pitchFamily="34" charset="-120"/>
              </a:rPr>
              <a:t>P(A|B) measures the probability of event A occurring, given that event B has already occurred.</a:t>
            </a:r>
            <a:endParaRPr lang="en-US" sz="1350" dirty="0"/>
          </a:p>
        </p:txBody>
      </p:sp>
      <p:sp>
        <p:nvSpPr>
          <p:cNvPr id="16" name="Shape 13"/>
          <p:cNvSpPr/>
          <p:nvPr/>
        </p:nvSpPr>
        <p:spPr>
          <a:xfrm>
            <a:off x="457200" y="2148840"/>
            <a:ext cx="11292840" cy="1207008"/>
          </a:xfrm>
          <a:prstGeom prst="roundRect">
            <a:avLst>
              <a:gd name="adj" fmla="val 7576"/>
            </a:avLst>
          </a:prstGeom>
          <a:solidFill>
            <a:srgbClr val="E3F2FD"/>
          </a:solidFill>
          <a:ln w="25400">
            <a:solidFill>
              <a:srgbClr val="1565C0"/>
            </a:solidFill>
            <a:prstDash val="solid"/>
          </a:ln>
        </p:spPr>
      </p:sp>
      <p:sp>
        <p:nvSpPr>
          <p:cNvPr id="17" name="Text 14"/>
          <p:cNvSpPr/>
          <p:nvPr/>
        </p:nvSpPr>
        <p:spPr>
          <a:xfrm>
            <a:off x="566928" y="2221992"/>
            <a:ext cx="11073384" cy="347472"/>
          </a:xfrm>
          <a:prstGeom prst="rect">
            <a:avLst/>
          </a:prstGeom>
          <a:noFill/>
          <a:ln/>
        </p:spPr>
        <p:txBody>
          <a:bodyPr wrap="square" lIns="0" tIns="0" rIns="0" bIns="0" rtlCol="0" anchor="ctr"/>
          <a:lstStyle/>
          <a:p>
            <a:pPr indent="0" marL="0">
              <a:buNone/>
            </a:pPr>
            <a:r>
              <a:rPr lang="en-US" sz="1500" b="1" dirty="0">
                <a:solidFill>
                  <a:srgbClr val="1565C0"/>
                </a:solidFill>
                <a:latin typeface="Arial" pitchFamily="34" charset="0"/>
                <a:ea typeface="Arial" pitchFamily="34" charset="-122"/>
                <a:cs typeface="Arial" pitchFamily="34" charset="-120"/>
              </a:rPr>
              <a:t>Definition:</a:t>
            </a:r>
            <a:endParaRPr lang="en-US" sz="1500" dirty="0"/>
          </a:p>
        </p:txBody>
      </p:sp>
      <p:sp>
        <p:nvSpPr>
          <p:cNvPr id="18" name="Text 15"/>
          <p:cNvSpPr/>
          <p:nvPr/>
        </p:nvSpPr>
        <p:spPr>
          <a:xfrm>
            <a:off x="566928" y="2587752"/>
            <a:ext cx="11073384" cy="713232"/>
          </a:xfrm>
          <a:prstGeom prst="rect">
            <a:avLst/>
          </a:prstGeom>
          <a:noFill/>
          <a:ln/>
        </p:spPr>
        <p:txBody>
          <a:bodyPr wrap="square" lIns="0" tIns="0" rIns="0" bIns="0" rtlCol="0" anchor="ctr"/>
          <a:lstStyle/>
          <a:p>
            <a:pPr indent="0" marL="0">
              <a:buNone/>
            </a:pPr>
            <a:r>
              <a:rPr lang="en-US" sz="2000" b="1" dirty="0">
                <a:solidFill>
                  <a:srgbClr val="990033"/>
                </a:solidFill>
                <a:latin typeface="Arial" pitchFamily="34" charset="0"/>
                <a:ea typeface="Arial" pitchFamily="34" charset="-122"/>
                <a:cs typeface="Arial" pitchFamily="34" charset="-120"/>
              </a:rPr>
              <a:t>P(A | B)  =  P(A ∩ B) / P(B)</a:t>
            </a:r>
            <a:pPr indent="0" marL="0">
              <a:buNone/>
            </a:pPr>
            <a:r>
              <a:rPr lang="en-US" sz="1600" i="1" dirty="0">
                <a:solidFill>
                  <a:srgbClr val="555555"/>
                </a:solidFill>
                <a:latin typeface="Arial" pitchFamily="34" charset="0"/>
                <a:ea typeface="Arial" pitchFamily="34" charset="-122"/>
                <a:cs typeface="Arial" pitchFamily="34" charset="-120"/>
              </a:rPr>
              <a:t>      provided P(B) &gt; 0</a:t>
            </a:r>
            <a:endParaRPr lang="en-US" sz="1600" dirty="0"/>
          </a:p>
        </p:txBody>
      </p:sp>
      <p:sp>
        <p:nvSpPr>
          <p:cNvPr id="19" name="Shape 16"/>
          <p:cNvSpPr/>
          <p:nvPr/>
        </p:nvSpPr>
        <p:spPr>
          <a:xfrm>
            <a:off x="457200" y="3474720"/>
            <a:ext cx="5394960" cy="2560320"/>
          </a:xfrm>
          <a:prstGeom prst="roundRect">
            <a:avLst>
              <a:gd name="adj" fmla="val 3571"/>
            </a:avLst>
          </a:prstGeom>
          <a:solidFill>
            <a:srgbClr val="E8F5E9"/>
          </a:solidFill>
          <a:ln w="19050">
            <a:solidFill>
              <a:srgbClr val="009900"/>
            </a:solidFill>
            <a:prstDash val="solid"/>
          </a:ln>
        </p:spPr>
      </p:sp>
      <p:sp>
        <p:nvSpPr>
          <p:cNvPr id="20" name="Text 17"/>
          <p:cNvSpPr/>
          <p:nvPr/>
        </p:nvSpPr>
        <p:spPr>
          <a:xfrm>
            <a:off x="566928" y="3547872"/>
            <a:ext cx="5212080" cy="347472"/>
          </a:xfrm>
          <a:prstGeom prst="rect">
            <a:avLst/>
          </a:prstGeom>
          <a:noFill/>
          <a:ln/>
        </p:spPr>
        <p:txBody>
          <a:bodyPr wrap="square" lIns="0" tIns="0" rIns="0" bIns="0" rtlCol="0" anchor="ctr"/>
          <a:lstStyle/>
          <a:p>
            <a:pPr indent="0" marL="0">
              <a:buNone/>
            </a:pPr>
            <a:r>
              <a:rPr lang="en-US" sz="1400" b="1" dirty="0">
                <a:solidFill>
                  <a:srgbClr val="009900"/>
                </a:solidFill>
                <a:latin typeface="Arial" pitchFamily="34" charset="0"/>
                <a:ea typeface="Arial" pitchFamily="34" charset="-122"/>
                <a:cs typeface="Arial" pitchFamily="34" charset="-120"/>
              </a:rPr>
              <a:t>Intuitive Example</a:t>
            </a:r>
            <a:endParaRPr lang="en-US" sz="1400" dirty="0"/>
          </a:p>
        </p:txBody>
      </p:sp>
      <p:sp>
        <p:nvSpPr>
          <p:cNvPr id="21" name="Text 18"/>
          <p:cNvSpPr/>
          <p:nvPr/>
        </p:nvSpPr>
        <p:spPr>
          <a:xfrm>
            <a:off x="566928" y="3931920"/>
            <a:ext cx="5212080" cy="2029968"/>
          </a:xfrm>
          <a:prstGeom prst="rect">
            <a:avLst/>
          </a:prstGeom>
          <a:noFill/>
          <a:ln/>
        </p:spPr>
        <p:txBody>
          <a:bodyPr wrap="square" lIns="0" tIns="0" rIns="0" bIns="0" rtlCol="0" anchor="ctr"/>
          <a:lstStyle/>
          <a:p>
            <a:pPr indent="0" marL="0">
              <a:buNone/>
            </a:pPr>
            <a:r>
              <a:rPr lang="en-US" sz="1250" b="1" dirty="0">
                <a:solidFill>
                  <a:srgbClr val="000000"/>
                </a:solidFill>
                <a:latin typeface="Arial" pitchFamily="34" charset="0"/>
                <a:ea typeface="Arial" pitchFamily="34" charset="-122"/>
                <a:cs typeface="Arial" pitchFamily="34" charset="-120"/>
              </a:rPr>
              <a:t>A bag has: 3 Red balls, 2 Blue balls</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Event A = 'draw a Red ball'</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Event B = 'draw a ball on Monday'</a:t>
            </a:r>
            <a:endParaRPr lang="en-US" sz="125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P(A) = 3/5 = 0.60</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P(A|B) = 3/5 = 0.60  (Monday doesn't help here)</a:t>
            </a:r>
            <a:endParaRPr lang="en-US" sz="125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But if B = 'a Red was drawn first (without replacement)':</a:t>
            </a:r>
            <a:endParaRPr lang="en-US" sz="1250" dirty="0"/>
          </a:p>
          <a:p>
            <a:pPr indent="0" marL="0">
              <a:buNone/>
            </a:pPr>
            <a:r>
              <a:rPr lang="en-US" sz="1250" b="1" dirty="0">
                <a:solidFill>
                  <a:srgbClr val="006400"/>
                </a:solidFill>
                <a:latin typeface="Arial" pitchFamily="34" charset="0"/>
                <a:ea typeface="Arial" pitchFamily="34" charset="-122"/>
                <a:cs typeface="Arial" pitchFamily="34" charset="-120"/>
              </a:rPr>
              <a:t>P(A|B) = 2/4 = 0.50  (reduced pool!)</a:t>
            </a:r>
            <a:endParaRPr lang="en-US" sz="1250" dirty="0"/>
          </a:p>
        </p:txBody>
      </p:sp>
      <p:sp>
        <p:nvSpPr>
          <p:cNvPr id="22" name="Shape 19"/>
          <p:cNvSpPr/>
          <p:nvPr/>
        </p:nvSpPr>
        <p:spPr>
          <a:xfrm>
            <a:off x="6035040" y="3474720"/>
            <a:ext cx="5715000" cy="2560320"/>
          </a:xfrm>
          <a:prstGeom prst="roundRect">
            <a:avLst>
              <a:gd name="adj" fmla="val 3571"/>
            </a:avLst>
          </a:prstGeom>
          <a:solidFill>
            <a:srgbClr val="FCE4EC"/>
          </a:solidFill>
          <a:ln w="19050">
            <a:solidFill>
              <a:srgbClr val="990033"/>
            </a:solidFill>
            <a:prstDash val="solid"/>
          </a:ln>
        </p:spPr>
      </p:sp>
      <p:sp>
        <p:nvSpPr>
          <p:cNvPr id="23" name="Text 20"/>
          <p:cNvSpPr/>
          <p:nvPr/>
        </p:nvSpPr>
        <p:spPr>
          <a:xfrm>
            <a:off x="6144768" y="3547872"/>
            <a:ext cx="5513832" cy="347472"/>
          </a:xfrm>
          <a:prstGeom prst="rect">
            <a:avLst/>
          </a:prstGeom>
          <a:noFill/>
          <a:ln/>
        </p:spPr>
        <p:txBody>
          <a:bodyPr wrap="square" lIns="0" tIns="0" rIns="0" bIns="0" rtlCol="0" anchor="ctr"/>
          <a:lstStyle/>
          <a:p>
            <a:pPr indent="0" marL="0">
              <a:buNone/>
            </a:pPr>
            <a:r>
              <a:rPr lang="en-US" sz="1400" b="1" dirty="0">
                <a:solidFill>
                  <a:srgbClr val="990033"/>
                </a:solidFill>
                <a:latin typeface="Arial" pitchFamily="34" charset="0"/>
                <a:ea typeface="Arial" pitchFamily="34" charset="-122"/>
                <a:cs typeface="Arial" pitchFamily="34" charset="-120"/>
              </a:rPr>
              <a:t>Key Properties</a:t>
            </a:r>
            <a:endParaRPr lang="en-US" sz="1400" dirty="0"/>
          </a:p>
        </p:txBody>
      </p:sp>
      <p:sp>
        <p:nvSpPr>
          <p:cNvPr id="24" name="Text 21"/>
          <p:cNvSpPr/>
          <p:nvPr/>
        </p:nvSpPr>
        <p:spPr>
          <a:xfrm>
            <a:off x="6144768" y="3931920"/>
            <a:ext cx="5513832" cy="2029968"/>
          </a:xfrm>
          <a:prstGeom prst="rect">
            <a:avLst/>
          </a:prstGeom>
          <a:noFill/>
          <a:ln/>
        </p:spPr>
        <p:txBody>
          <a:bodyPr wrap="square" lIns="0" tIns="0" rIns="0" bIns="0" rtlCol="0" anchor="ctr"/>
          <a:lstStyle/>
          <a:p>
            <a:pPr indent="0" marL="0">
              <a:buNone/>
            </a:pPr>
            <a:r>
              <a:rPr lang="en-US" sz="1250" b="1" dirty="0">
                <a:solidFill>
                  <a:srgbClr val="000000"/>
                </a:solidFill>
                <a:latin typeface="Arial" pitchFamily="34" charset="0"/>
                <a:ea typeface="Arial" pitchFamily="34" charset="-122"/>
                <a:cs typeface="Arial" pitchFamily="34" charset="-120"/>
              </a:rPr>
              <a:t>Multiplication Rule:</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P(A ∩ B) = P(A|B) × P(B) = P(B|A) × P(A)</a:t>
            </a:r>
            <a:endParaRPr lang="en-US" sz="125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250" dirty="0"/>
          </a:p>
          <a:p>
            <a:pPr indent="0" marL="0">
              <a:buNone/>
            </a:pPr>
            <a:r>
              <a:rPr lang="en-US" sz="1250" b="1" dirty="0">
                <a:solidFill>
                  <a:srgbClr val="000000"/>
                </a:solidFill>
                <a:latin typeface="Arial" pitchFamily="34" charset="0"/>
                <a:ea typeface="Arial" pitchFamily="34" charset="-122"/>
                <a:cs typeface="Arial" pitchFamily="34" charset="-120"/>
              </a:rPr>
              <a:t>Independence:</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A and B are independent iff</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P(A|B) = P(A)  ←  B gives no information about A</a:t>
            </a:r>
            <a:endParaRPr lang="en-US" sz="125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250" dirty="0"/>
          </a:p>
          <a:p>
            <a:pPr indent="0" marL="0">
              <a:buNone/>
            </a:pPr>
            <a:r>
              <a:rPr lang="en-US" sz="1250" b="1" dirty="0">
                <a:solidFill>
                  <a:srgbClr val="000000"/>
                </a:solidFill>
                <a:latin typeface="Arial" pitchFamily="34" charset="0"/>
                <a:ea typeface="Arial" pitchFamily="34" charset="-122"/>
                <a:cs typeface="Arial" pitchFamily="34" charset="-120"/>
              </a:rPr>
              <a:t>Law of Total Probability:</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P(B) = P(B|A)·P(A) + P(B|¬A)·P(¬A)</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Mathematical Foundations of Computer Science</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000" b="1" dirty="0">
                <a:solidFill>
                  <a:srgbClr val="990033"/>
                </a:solidFill>
                <a:latin typeface="Arial" pitchFamily="34" charset="0"/>
                <a:ea typeface="Arial" pitchFamily="34" charset="-122"/>
                <a:cs typeface="Arial" pitchFamily="34" charset="-120"/>
              </a:rPr>
              <a:t>Bayes' Theorem</a:t>
            </a:r>
            <a:endParaRPr lang="en-US" sz="20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Shape 12"/>
          <p:cNvSpPr/>
          <p:nvPr/>
        </p:nvSpPr>
        <p:spPr>
          <a:xfrm>
            <a:off x="457200" y="1572768"/>
            <a:ext cx="11292840" cy="2148840"/>
          </a:xfrm>
          <a:prstGeom prst="roundRect">
            <a:avLst>
              <a:gd name="adj" fmla="val 4255"/>
            </a:avLst>
          </a:prstGeom>
          <a:solidFill>
            <a:srgbClr val="FCE4EC"/>
          </a:solidFill>
          <a:ln w="25400">
            <a:solidFill>
              <a:srgbClr val="990033"/>
            </a:solidFill>
            <a:prstDash val="solid"/>
          </a:ln>
        </p:spPr>
      </p:sp>
      <p:sp>
        <p:nvSpPr>
          <p:cNvPr id="16" name="Text 13"/>
          <p:cNvSpPr/>
          <p:nvPr/>
        </p:nvSpPr>
        <p:spPr>
          <a:xfrm>
            <a:off x="566928" y="1645920"/>
            <a:ext cx="11073384" cy="365760"/>
          </a:xfrm>
          <a:prstGeom prst="rect">
            <a:avLst/>
          </a:prstGeom>
          <a:noFill/>
          <a:ln/>
        </p:spPr>
        <p:txBody>
          <a:bodyPr wrap="square" lIns="0" tIns="0" rIns="0" bIns="0" rtlCol="0" anchor="ctr"/>
          <a:lstStyle/>
          <a:p>
            <a:pPr indent="0" marL="0">
              <a:buNone/>
            </a:pPr>
            <a:r>
              <a:rPr lang="en-US" sz="1600" b="1" dirty="0">
                <a:solidFill>
                  <a:srgbClr val="990033"/>
                </a:solidFill>
                <a:latin typeface="Arial" pitchFamily="34" charset="0"/>
                <a:ea typeface="Arial" pitchFamily="34" charset="-122"/>
                <a:cs typeface="Arial" pitchFamily="34" charset="-120"/>
              </a:rPr>
              <a:t>Bayes' Theorem  (Thomas Bayes, 1763)</a:t>
            </a:r>
            <a:endParaRPr lang="en-US" sz="1600" dirty="0"/>
          </a:p>
        </p:txBody>
      </p:sp>
      <p:sp>
        <p:nvSpPr>
          <p:cNvPr id="17" name="Text 14"/>
          <p:cNvSpPr/>
          <p:nvPr/>
        </p:nvSpPr>
        <p:spPr>
          <a:xfrm>
            <a:off x="566928" y="2048256"/>
            <a:ext cx="11073384" cy="1600200"/>
          </a:xfrm>
          <a:prstGeom prst="rect">
            <a:avLst/>
          </a:prstGeom>
          <a:noFill/>
          <a:ln/>
        </p:spPr>
        <p:txBody>
          <a:bodyPr wrap="square" lIns="0" tIns="0" rIns="0" bIns="0" rtlCol="0" anchor="ctr"/>
          <a:lstStyle/>
          <a:p>
            <a:pPr indent="0" marL="0">
              <a:buNone/>
            </a:pPr>
            <a:r>
              <a:rPr lang="en-US" sz="2200" b="1" dirty="0">
                <a:solidFill>
                  <a:srgbClr val="990033"/>
                </a:solidFill>
                <a:latin typeface="Arial" pitchFamily="34" charset="0"/>
                <a:ea typeface="Arial" pitchFamily="34" charset="-122"/>
                <a:cs typeface="Arial" pitchFamily="34" charset="-120"/>
              </a:rPr>
              <a:t>P(A | B)  =  P(B | A) × P(A)  /  P(B)</a:t>
            </a:r>
            <a:endParaRPr lang="en-US" sz="1500" dirty="0"/>
          </a:p>
          <a:p>
            <a:pPr indent="0" marL="0">
              <a:buNone/>
            </a:pPr>
            <a:r>
              <a:rPr lang="en-US" sz="600" dirty="0">
                <a:solidFill>
                  <a:srgbClr val="000000"/>
                </a:solidFill>
                <a:latin typeface="Arial" pitchFamily="34" charset="0"/>
                <a:ea typeface="Arial" pitchFamily="34" charset="-122"/>
                <a:cs typeface="Arial" pitchFamily="34" charset="-120"/>
              </a:rPr>
              <a:t>
</a:t>
            </a:r>
            <a:endParaRPr lang="en-US" sz="1500" dirty="0"/>
          </a:p>
          <a:p>
            <a:pPr indent="0" marL="0">
              <a:buNone/>
            </a:pPr>
            <a:r>
              <a:rPr lang="en-US" sz="1500" i="1" dirty="0">
                <a:solidFill>
                  <a:srgbClr val="000000"/>
                </a:solidFill>
                <a:latin typeface="Arial" pitchFamily="34" charset="0"/>
                <a:ea typeface="Arial" pitchFamily="34" charset="-122"/>
                <a:cs typeface="Arial" pitchFamily="34" charset="-120"/>
              </a:rPr>
              <a:t>Expanded form (using Law of Total Probability):</a:t>
            </a:r>
            <a:endParaRPr lang="en-US" sz="1500" dirty="0"/>
          </a:p>
          <a:p>
            <a:pPr indent="0" marL="0">
              <a:buNone/>
            </a:pPr>
            <a:r>
              <a:rPr lang="en-US" sz="1500" b="1" dirty="0">
                <a:solidFill>
                  <a:srgbClr val="1565C0"/>
                </a:solidFill>
                <a:latin typeface="Arial" pitchFamily="34" charset="0"/>
                <a:ea typeface="Arial" pitchFamily="34" charset="-122"/>
                <a:cs typeface="Arial" pitchFamily="34" charset="-120"/>
              </a:rPr>
              <a:t>P(A|B)  =  P(B|A) × P(A)  /  [ P(B|A)×P(A)  +  P(B|¬A)×P(¬A) ]</a:t>
            </a:r>
            <a:endParaRPr lang="en-US" sz="1500" dirty="0"/>
          </a:p>
        </p:txBody>
      </p:sp>
      <p:sp>
        <p:nvSpPr>
          <p:cNvPr id="18" name="Shape 15"/>
          <p:cNvSpPr/>
          <p:nvPr/>
        </p:nvSpPr>
        <p:spPr>
          <a:xfrm>
            <a:off x="457200" y="4114800"/>
            <a:ext cx="5532120" cy="859536"/>
          </a:xfrm>
          <a:prstGeom prst="roundRect">
            <a:avLst>
              <a:gd name="adj" fmla="val 8511"/>
            </a:avLst>
          </a:prstGeom>
          <a:solidFill>
            <a:srgbClr val="E3F2FD"/>
          </a:solidFill>
          <a:ln w="12700">
            <a:solidFill>
              <a:srgbClr val="1565C0"/>
            </a:solidFill>
            <a:prstDash val="solid"/>
          </a:ln>
        </p:spPr>
      </p:sp>
      <p:sp>
        <p:nvSpPr>
          <p:cNvPr id="19" name="Text 16"/>
          <p:cNvSpPr/>
          <p:nvPr/>
        </p:nvSpPr>
        <p:spPr>
          <a:xfrm>
            <a:off x="548640" y="4169664"/>
            <a:ext cx="5349240" cy="731520"/>
          </a:xfrm>
          <a:prstGeom prst="rect">
            <a:avLst/>
          </a:prstGeom>
          <a:noFill/>
          <a:ln/>
        </p:spPr>
        <p:txBody>
          <a:bodyPr wrap="square" lIns="0" tIns="0" rIns="0" bIns="0" rtlCol="0" anchor="ctr"/>
          <a:lstStyle/>
          <a:p>
            <a:pPr indent="0" marL="0">
              <a:buNone/>
            </a:pPr>
            <a:r>
              <a:rPr lang="en-US" sz="1250" b="1" dirty="0">
                <a:solidFill>
                  <a:srgbClr val="1565C0"/>
                </a:solidFill>
                <a:latin typeface="Arial" pitchFamily="34" charset="0"/>
                <a:ea typeface="Arial" pitchFamily="34" charset="-122"/>
                <a:cs typeface="Arial" pitchFamily="34" charset="-120"/>
              </a:rPr>
              <a:t>P(A)  = Prior Probability</a:t>
            </a:r>
            <a:endParaRPr lang="en-US" sz="1250" dirty="0"/>
          </a:p>
          <a:p>
            <a:pPr indent="0" marL="0">
              <a:buNone/>
            </a:pPr>
            <a:r>
              <a:rPr lang="en-US" sz="1100" dirty="0">
                <a:solidFill>
                  <a:srgbClr val="000000"/>
                </a:solidFill>
                <a:latin typeface="Arial" pitchFamily="34" charset="0"/>
                <a:ea typeface="Arial" pitchFamily="34" charset="-122"/>
                <a:cs typeface="Arial" pitchFamily="34" charset="-120"/>
              </a:rPr>
              <a:t>Our INITIAL probability estimate for A BEFORE observing B. What we believe about A without any new evidence.</a:t>
            </a:r>
            <a:endParaRPr lang="en-US" sz="1250" dirty="0"/>
          </a:p>
        </p:txBody>
      </p:sp>
      <p:sp>
        <p:nvSpPr>
          <p:cNvPr id="20" name="Shape 17"/>
          <p:cNvSpPr/>
          <p:nvPr/>
        </p:nvSpPr>
        <p:spPr>
          <a:xfrm>
            <a:off x="6144768" y="4114800"/>
            <a:ext cx="5532120" cy="859536"/>
          </a:xfrm>
          <a:prstGeom prst="roundRect">
            <a:avLst>
              <a:gd name="adj" fmla="val 8511"/>
            </a:avLst>
          </a:prstGeom>
          <a:solidFill>
            <a:srgbClr val="E8F5E9"/>
          </a:solidFill>
          <a:ln w="12700">
            <a:solidFill>
              <a:srgbClr val="009900"/>
            </a:solidFill>
            <a:prstDash val="solid"/>
          </a:ln>
        </p:spPr>
      </p:sp>
      <p:sp>
        <p:nvSpPr>
          <p:cNvPr id="21" name="Text 18"/>
          <p:cNvSpPr/>
          <p:nvPr/>
        </p:nvSpPr>
        <p:spPr>
          <a:xfrm>
            <a:off x="6236208" y="4169664"/>
            <a:ext cx="5349240" cy="731520"/>
          </a:xfrm>
          <a:prstGeom prst="rect">
            <a:avLst/>
          </a:prstGeom>
          <a:noFill/>
          <a:ln/>
        </p:spPr>
        <p:txBody>
          <a:bodyPr wrap="square" lIns="0" tIns="0" rIns="0" bIns="0" rtlCol="0" anchor="ctr"/>
          <a:lstStyle/>
          <a:p>
            <a:pPr indent="0" marL="0">
              <a:buNone/>
            </a:pPr>
            <a:r>
              <a:rPr lang="en-US" sz="1250" b="1" dirty="0">
                <a:solidFill>
                  <a:srgbClr val="009900"/>
                </a:solidFill>
                <a:latin typeface="Arial" pitchFamily="34" charset="0"/>
                <a:ea typeface="Arial" pitchFamily="34" charset="-122"/>
                <a:cs typeface="Arial" pitchFamily="34" charset="-120"/>
              </a:rPr>
              <a:t>P(B|A)  = Likelihood</a:t>
            </a:r>
            <a:endParaRPr lang="en-US" sz="1250" dirty="0"/>
          </a:p>
          <a:p>
            <a:pPr indent="0" marL="0">
              <a:buNone/>
            </a:pPr>
            <a:r>
              <a:rPr lang="en-US" sz="1100" dirty="0">
                <a:solidFill>
                  <a:srgbClr val="000000"/>
                </a:solidFill>
                <a:latin typeface="Arial" pitchFamily="34" charset="0"/>
                <a:ea typeface="Arial" pitchFamily="34" charset="-122"/>
                <a:cs typeface="Arial" pitchFamily="34" charset="-120"/>
              </a:rPr>
              <a:t>The probability of observing evidence B IF A is true. How likely is the evidence under our hypothesis?</a:t>
            </a:r>
            <a:endParaRPr lang="en-US" sz="1250" dirty="0"/>
          </a:p>
        </p:txBody>
      </p:sp>
      <p:sp>
        <p:nvSpPr>
          <p:cNvPr id="22" name="Shape 19"/>
          <p:cNvSpPr/>
          <p:nvPr/>
        </p:nvSpPr>
        <p:spPr>
          <a:xfrm>
            <a:off x="457200" y="5084064"/>
            <a:ext cx="5532120" cy="859536"/>
          </a:xfrm>
          <a:prstGeom prst="roundRect">
            <a:avLst>
              <a:gd name="adj" fmla="val 8511"/>
            </a:avLst>
          </a:prstGeom>
          <a:solidFill>
            <a:srgbClr val="FCE4EC"/>
          </a:solidFill>
          <a:ln w="12700">
            <a:solidFill>
              <a:srgbClr val="990033"/>
            </a:solidFill>
            <a:prstDash val="solid"/>
          </a:ln>
        </p:spPr>
      </p:sp>
      <p:sp>
        <p:nvSpPr>
          <p:cNvPr id="23" name="Text 20"/>
          <p:cNvSpPr/>
          <p:nvPr/>
        </p:nvSpPr>
        <p:spPr>
          <a:xfrm>
            <a:off x="548640" y="5138928"/>
            <a:ext cx="5349240" cy="731520"/>
          </a:xfrm>
          <a:prstGeom prst="rect">
            <a:avLst/>
          </a:prstGeom>
          <a:noFill/>
          <a:ln/>
        </p:spPr>
        <p:txBody>
          <a:bodyPr wrap="square" lIns="0" tIns="0" rIns="0" bIns="0" rtlCol="0" anchor="ctr"/>
          <a:lstStyle/>
          <a:p>
            <a:pPr indent="0" marL="0">
              <a:buNone/>
            </a:pPr>
            <a:r>
              <a:rPr lang="en-US" sz="1250" b="1" dirty="0">
                <a:solidFill>
                  <a:srgbClr val="990033"/>
                </a:solidFill>
                <a:latin typeface="Arial" pitchFamily="34" charset="0"/>
                <a:ea typeface="Arial" pitchFamily="34" charset="-122"/>
                <a:cs typeface="Arial" pitchFamily="34" charset="-120"/>
              </a:rPr>
              <a:t>P(A|B)  = Posterior Probability</a:t>
            </a:r>
            <a:endParaRPr lang="en-US" sz="1250" dirty="0"/>
          </a:p>
          <a:p>
            <a:pPr indent="0" marL="0">
              <a:buNone/>
            </a:pPr>
            <a:r>
              <a:rPr lang="en-US" sz="1100" dirty="0">
                <a:solidFill>
                  <a:srgbClr val="000000"/>
                </a:solidFill>
                <a:latin typeface="Arial" pitchFamily="34" charset="0"/>
                <a:ea typeface="Arial" pitchFamily="34" charset="-122"/>
                <a:cs typeface="Arial" pitchFamily="34" charset="-120"/>
              </a:rPr>
              <a:t>The UPDATED probability of A AFTER observing evidence B. This is what Bayes' Theorem computes for us.</a:t>
            </a:r>
            <a:endParaRPr lang="en-US" sz="1250" dirty="0"/>
          </a:p>
        </p:txBody>
      </p:sp>
      <p:sp>
        <p:nvSpPr>
          <p:cNvPr id="24" name="Shape 21"/>
          <p:cNvSpPr/>
          <p:nvPr/>
        </p:nvSpPr>
        <p:spPr>
          <a:xfrm>
            <a:off x="6144768" y="5084064"/>
            <a:ext cx="5532120" cy="859536"/>
          </a:xfrm>
          <a:prstGeom prst="roundRect">
            <a:avLst>
              <a:gd name="adj" fmla="val 8511"/>
            </a:avLst>
          </a:prstGeom>
          <a:solidFill>
            <a:srgbClr val="FFF9C4"/>
          </a:solidFill>
          <a:ln w="12700">
            <a:solidFill>
              <a:srgbClr val="F57F17"/>
            </a:solidFill>
            <a:prstDash val="solid"/>
          </a:ln>
        </p:spPr>
      </p:sp>
      <p:sp>
        <p:nvSpPr>
          <p:cNvPr id="25" name="Text 22"/>
          <p:cNvSpPr/>
          <p:nvPr/>
        </p:nvSpPr>
        <p:spPr>
          <a:xfrm>
            <a:off x="6236208" y="5138928"/>
            <a:ext cx="5349240" cy="731520"/>
          </a:xfrm>
          <a:prstGeom prst="rect">
            <a:avLst/>
          </a:prstGeom>
          <a:noFill/>
          <a:ln/>
        </p:spPr>
        <p:txBody>
          <a:bodyPr wrap="square" lIns="0" tIns="0" rIns="0" bIns="0" rtlCol="0" anchor="ctr"/>
          <a:lstStyle/>
          <a:p>
            <a:pPr indent="0" marL="0">
              <a:buNone/>
            </a:pPr>
            <a:r>
              <a:rPr lang="en-US" sz="1250" b="1" dirty="0">
                <a:solidFill>
                  <a:srgbClr val="F57F17"/>
                </a:solidFill>
                <a:latin typeface="Arial" pitchFamily="34" charset="0"/>
                <a:ea typeface="Arial" pitchFamily="34" charset="-122"/>
                <a:cs typeface="Arial" pitchFamily="34" charset="-120"/>
              </a:rPr>
              <a:t>P(B)  = Marginal Probability</a:t>
            </a:r>
            <a:endParaRPr lang="en-US" sz="1250" dirty="0"/>
          </a:p>
          <a:p>
            <a:pPr indent="0" marL="0">
              <a:buNone/>
            </a:pPr>
            <a:r>
              <a:rPr lang="en-US" sz="1100" dirty="0">
                <a:solidFill>
                  <a:srgbClr val="000000"/>
                </a:solidFill>
                <a:latin typeface="Arial" pitchFamily="34" charset="0"/>
                <a:ea typeface="Arial" pitchFamily="34" charset="-122"/>
                <a:cs typeface="Arial" pitchFamily="34" charset="-120"/>
              </a:rPr>
              <a:t>Total probability of observing B regardless of A. Acts as a normalizing constant (denominator).</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Mathematical Foundations of Computer Science</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000" b="1" dirty="0">
                <a:solidFill>
                  <a:srgbClr val="990033"/>
                </a:solidFill>
                <a:latin typeface="Arial" pitchFamily="34" charset="0"/>
                <a:ea typeface="Arial" pitchFamily="34" charset="-122"/>
                <a:cs typeface="Arial" pitchFamily="34" charset="-120"/>
              </a:rPr>
              <a:t>Classic Example: Medical Diagnostic Test</a:t>
            </a:r>
            <a:endParaRPr lang="en-US" sz="20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Shape 12"/>
          <p:cNvSpPr/>
          <p:nvPr/>
        </p:nvSpPr>
        <p:spPr>
          <a:xfrm>
            <a:off x="457200" y="1572768"/>
            <a:ext cx="11292840" cy="804672"/>
          </a:xfrm>
          <a:prstGeom prst="roundRect">
            <a:avLst>
              <a:gd name="adj" fmla="val 11364"/>
            </a:avLst>
          </a:prstGeom>
          <a:solidFill>
            <a:srgbClr val="FFF9C4"/>
          </a:solidFill>
          <a:ln w="25400">
            <a:solidFill>
              <a:srgbClr val="F57F17"/>
            </a:solidFill>
            <a:prstDash val="solid"/>
          </a:ln>
        </p:spPr>
      </p:sp>
      <p:sp>
        <p:nvSpPr>
          <p:cNvPr id="16" name="Text 13"/>
          <p:cNvSpPr/>
          <p:nvPr/>
        </p:nvSpPr>
        <p:spPr>
          <a:xfrm>
            <a:off x="566928" y="1627632"/>
            <a:ext cx="11073384" cy="694944"/>
          </a:xfrm>
          <a:prstGeom prst="rect">
            <a:avLst/>
          </a:prstGeom>
          <a:noFill/>
          <a:ln/>
        </p:spPr>
        <p:txBody>
          <a:bodyPr wrap="square" lIns="0" tIns="0" rIns="0" bIns="0" rtlCol="0" anchor="ctr"/>
          <a:lstStyle/>
          <a:p>
            <a:pPr indent="0" marL="0">
              <a:buNone/>
            </a:pPr>
            <a:r>
              <a:rPr lang="en-US" sz="1350" dirty="0">
                <a:solidFill>
                  <a:srgbClr val="4E342E"/>
                </a:solidFill>
                <a:latin typeface="Arial" pitchFamily="34" charset="0"/>
                <a:ea typeface="Arial" pitchFamily="34" charset="-122"/>
                <a:cs typeface="Arial" pitchFamily="34" charset="-120"/>
              </a:rPr>
              <a:t>Scenario:  A rare disease D affects 1% of the population. A test T has 99% accuracy (both sensitivity and specificity). If a person tests positive, what is the probability they actually have the disease?</a:t>
            </a:r>
            <a:endParaRPr lang="en-US" sz="1350" dirty="0"/>
          </a:p>
        </p:txBody>
      </p:sp>
      <p:sp>
        <p:nvSpPr>
          <p:cNvPr id="17" name="Shape 14"/>
          <p:cNvSpPr/>
          <p:nvPr/>
        </p:nvSpPr>
        <p:spPr>
          <a:xfrm>
            <a:off x="457200" y="2724912"/>
            <a:ext cx="5532120" cy="987552"/>
          </a:xfrm>
          <a:prstGeom prst="roundRect">
            <a:avLst>
              <a:gd name="adj" fmla="val 9259"/>
            </a:avLst>
          </a:prstGeom>
          <a:solidFill>
            <a:srgbClr val="FCE4EC"/>
          </a:solidFill>
          <a:ln w="19050">
            <a:solidFill>
              <a:srgbClr val="990033"/>
            </a:solidFill>
            <a:prstDash val="solid"/>
          </a:ln>
        </p:spPr>
      </p:sp>
      <p:sp>
        <p:nvSpPr>
          <p:cNvPr id="18" name="Text 15"/>
          <p:cNvSpPr/>
          <p:nvPr/>
        </p:nvSpPr>
        <p:spPr>
          <a:xfrm>
            <a:off x="566928" y="2798064"/>
            <a:ext cx="5321808" cy="384048"/>
          </a:xfrm>
          <a:prstGeom prst="rect">
            <a:avLst/>
          </a:prstGeom>
          <a:noFill/>
          <a:ln/>
        </p:spPr>
        <p:txBody>
          <a:bodyPr wrap="square" lIns="0" tIns="0" rIns="0" bIns="0" rtlCol="0" anchor="ctr"/>
          <a:lstStyle/>
          <a:p>
            <a:pPr indent="0" marL="0">
              <a:buNone/>
            </a:pPr>
            <a:r>
              <a:rPr lang="en-US" sz="1600" b="1" dirty="0">
                <a:solidFill>
                  <a:srgbClr val="990033"/>
                </a:solidFill>
                <a:latin typeface="Arial" pitchFamily="34" charset="0"/>
                <a:ea typeface="Arial" pitchFamily="34" charset="-122"/>
                <a:cs typeface="Arial" pitchFamily="34" charset="-120"/>
              </a:rPr>
              <a:t>P(D) = 0.01</a:t>
            </a:r>
            <a:endParaRPr lang="en-US" sz="1600" dirty="0"/>
          </a:p>
        </p:txBody>
      </p:sp>
      <p:sp>
        <p:nvSpPr>
          <p:cNvPr id="19" name="Text 16"/>
          <p:cNvSpPr/>
          <p:nvPr/>
        </p:nvSpPr>
        <p:spPr>
          <a:xfrm>
            <a:off x="566928" y="3200400"/>
            <a:ext cx="5321808" cy="475488"/>
          </a:xfrm>
          <a:prstGeom prst="rect">
            <a:avLst/>
          </a:prstGeom>
          <a:noFill/>
          <a:ln/>
        </p:spPr>
        <p:txBody>
          <a:bodyPr wrap="square" lIns="0" tIns="0" rIns="0" bIns="0" rtlCol="0" anchor="ctr"/>
          <a:lstStyle/>
          <a:p>
            <a:pPr indent="0" marL="0">
              <a:buNone/>
            </a:pPr>
            <a:r>
              <a:rPr lang="en-US" sz="1150" dirty="0">
                <a:solidFill>
                  <a:srgbClr val="000000"/>
                </a:solidFill>
                <a:latin typeface="Arial" pitchFamily="34" charset="0"/>
                <a:ea typeface="Arial" pitchFamily="34" charset="-122"/>
                <a:cs typeface="Arial" pitchFamily="34" charset="-120"/>
              </a:rPr>
              <a:t>Prior probability of having the disease (1% of population)</a:t>
            </a:r>
            <a:endParaRPr lang="en-US" sz="1150" dirty="0"/>
          </a:p>
        </p:txBody>
      </p:sp>
      <p:sp>
        <p:nvSpPr>
          <p:cNvPr id="20" name="Shape 17"/>
          <p:cNvSpPr/>
          <p:nvPr/>
        </p:nvSpPr>
        <p:spPr>
          <a:xfrm>
            <a:off x="6144768" y="2724912"/>
            <a:ext cx="5532120" cy="987552"/>
          </a:xfrm>
          <a:prstGeom prst="roundRect">
            <a:avLst>
              <a:gd name="adj" fmla="val 9259"/>
            </a:avLst>
          </a:prstGeom>
          <a:solidFill>
            <a:srgbClr val="F8F8F8"/>
          </a:solidFill>
          <a:ln w="19050">
            <a:solidFill>
              <a:srgbClr val="555555"/>
            </a:solidFill>
            <a:prstDash val="solid"/>
          </a:ln>
        </p:spPr>
      </p:sp>
      <p:sp>
        <p:nvSpPr>
          <p:cNvPr id="21" name="Text 18"/>
          <p:cNvSpPr/>
          <p:nvPr/>
        </p:nvSpPr>
        <p:spPr>
          <a:xfrm>
            <a:off x="6254496" y="2798064"/>
            <a:ext cx="5321808" cy="384048"/>
          </a:xfrm>
          <a:prstGeom prst="rect">
            <a:avLst/>
          </a:prstGeom>
          <a:noFill/>
          <a:ln/>
        </p:spPr>
        <p:txBody>
          <a:bodyPr wrap="square" lIns="0" tIns="0" rIns="0" bIns="0" rtlCol="0" anchor="ctr"/>
          <a:lstStyle/>
          <a:p>
            <a:pPr indent="0" marL="0">
              <a:buNone/>
            </a:pPr>
            <a:r>
              <a:rPr lang="en-US" sz="1600" b="1" dirty="0">
                <a:solidFill>
                  <a:srgbClr val="555555"/>
                </a:solidFill>
                <a:latin typeface="Arial" pitchFamily="34" charset="0"/>
                <a:ea typeface="Arial" pitchFamily="34" charset="-122"/>
                <a:cs typeface="Arial" pitchFamily="34" charset="-120"/>
              </a:rPr>
              <a:t>P(¬D) = 0.99</a:t>
            </a:r>
            <a:endParaRPr lang="en-US" sz="1600" dirty="0"/>
          </a:p>
        </p:txBody>
      </p:sp>
      <p:sp>
        <p:nvSpPr>
          <p:cNvPr id="22" name="Text 19"/>
          <p:cNvSpPr/>
          <p:nvPr/>
        </p:nvSpPr>
        <p:spPr>
          <a:xfrm>
            <a:off x="6254496" y="3200400"/>
            <a:ext cx="5321808" cy="475488"/>
          </a:xfrm>
          <a:prstGeom prst="rect">
            <a:avLst/>
          </a:prstGeom>
          <a:noFill/>
          <a:ln/>
        </p:spPr>
        <p:txBody>
          <a:bodyPr wrap="square" lIns="0" tIns="0" rIns="0" bIns="0" rtlCol="0" anchor="ctr"/>
          <a:lstStyle/>
          <a:p>
            <a:pPr indent="0" marL="0">
              <a:buNone/>
            </a:pPr>
            <a:r>
              <a:rPr lang="en-US" sz="1150" dirty="0">
                <a:solidFill>
                  <a:srgbClr val="000000"/>
                </a:solidFill>
                <a:latin typeface="Arial" pitchFamily="34" charset="0"/>
                <a:ea typeface="Arial" pitchFamily="34" charset="-122"/>
                <a:cs typeface="Arial" pitchFamily="34" charset="-120"/>
              </a:rPr>
              <a:t>Prior probability of NOT having the disease (99%)</a:t>
            </a:r>
            <a:endParaRPr lang="en-US" sz="1150" dirty="0"/>
          </a:p>
        </p:txBody>
      </p:sp>
      <p:sp>
        <p:nvSpPr>
          <p:cNvPr id="23" name="Shape 20"/>
          <p:cNvSpPr/>
          <p:nvPr/>
        </p:nvSpPr>
        <p:spPr>
          <a:xfrm>
            <a:off x="457200" y="3840480"/>
            <a:ext cx="5532120" cy="987552"/>
          </a:xfrm>
          <a:prstGeom prst="roundRect">
            <a:avLst>
              <a:gd name="adj" fmla="val 9259"/>
            </a:avLst>
          </a:prstGeom>
          <a:solidFill>
            <a:srgbClr val="E8F5E9"/>
          </a:solidFill>
          <a:ln w="19050">
            <a:solidFill>
              <a:srgbClr val="009900"/>
            </a:solidFill>
            <a:prstDash val="solid"/>
          </a:ln>
        </p:spPr>
      </p:sp>
      <p:sp>
        <p:nvSpPr>
          <p:cNvPr id="24" name="Text 21"/>
          <p:cNvSpPr/>
          <p:nvPr/>
        </p:nvSpPr>
        <p:spPr>
          <a:xfrm>
            <a:off x="566928" y="3913632"/>
            <a:ext cx="5321808" cy="384048"/>
          </a:xfrm>
          <a:prstGeom prst="rect">
            <a:avLst/>
          </a:prstGeom>
          <a:noFill/>
          <a:ln/>
        </p:spPr>
        <p:txBody>
          <a:bodyPr wrap="square" lIns="0" tIns="0" rIns="0" bIns="0" rtlCol="0" anchor="ctr"/>
          <a:lstStyle/>
          <a:p>
            <a:pPr indent="0" marL="0">
              <a:buNone/>
            </a:pPr>
            <a:r>
              <a:rPr lang="en-US" sz="1600" b="1" dirty="0">
                <a:solidFill>
                  <a:srgbClr val="009900"/>
                </a:solidFill>
                <a:latin typeface="Arial" pitchFamily="34" charset="0"/>
                <a:ea typeface="Arial" pitchFamily="34" charset="-122"/>
                <a:cs typeface="Arial" pitchFamily="34" charset="-120"/>
              </a:rPr>
              <a:t>P(T⁺ | D) = 0.99</a:t>
            </a:r>
            <a:endParaRPr lang="en-US" sz="1600" dirty="0"/>
          </a:p>
        </p:txBody>
      </p:sp>
      <p:sp>
        <p:nvSpPr>
          <p:cNvPr id="25" name="Text 22"/>
          <p:cNvSpPr/>
          <p:nvPr/>
        </p:nvSpPr>
        <p:spPr>
          <a:xfrm>
            <a:off x="566928" y="4315968"/>
            <a:ext cx="5321808" cy="475488"/>
          </a:xfrm>
          <a:prstGeom prst="rect">
            <a:avLst/>
          </a:prstGeom>
          <a:noFill/>
          <a:ln/>
        </p:spPr>
        <p:txBody>
          <a:bodyPr wrap="square" lIns="0" tIns="0" rIns="0" bIns="0" rtlCol="0" anchor="ctr"/>
          <a:lstStyle/>
          <a:p>
            <a:pPr indent="0" marL="0">
              <a:buNone/>
            </a:pPr>
            <a:r>
              <a:rPr lang="en-US" sz="1150" dirty="0">
                <a:solidFill>
                  <a:srgbClr val="000000"/>
                </a:solidFill>
                <a:latin typeface="Arial" pitchFamily="34" charset="0"/>
                <a:ea typeface="Arial" pitchFamily="34" charset="-122"/>
                <a:cs typeface="Arial" pitchFamily="34" charset="-120"/>
              </a:rPr>
              <a:t>Sensitivity: Test correctly detects disease 99% of the time</a:t>
            </a:r>
            <a:endParaRPr lang="en-US" sz="1150" dirty="0"/>
          </a:p>
        </p:txBody>
      </p:sp>
      <p:sp>
        <p:nvSpPr>
          <p:cNvPr id="26" name="Shape 23"/>
          <p:cNvSpPr/>
          <p:nvPr/>
        </p:nvSpPr>
        <p:spPr>
          <a:xfrm>
            <a:off x="6144768" y="3840480"/>
            <a:ext cx="5532120" cy="987552"/>
          </a:xfrm>
          <a:prstGeom prst="roundRect">
            <a:avLst>
              <a:gd name="adj" fmla="val 9259"/>
            </a:avLst>
          </a:prstGeom>
          <a:solidFill>
            <a:srgbClr val="E3F2FD"/>
          </a:solidFill>
          <a:ln w="19050">
            <a:solidFill>
              <a:srgbClr val="1565C0"/>
            </a:solidFill>
            <a:prstDash val="solid"/>
          </a:ln>
        </p:spPr>
      </p:sp>
      <p:sp>
        <p:nvSpPr>
          <p:cNvPr id="27" name="Text 24"/>
          <p:cNvSpPr/>
          <p:nvPr/>
        </p:nvSpPr>
        <p:spPr>
          <a:xfrm>
            <a:off x="6254496" y="3913632"/>
            <a:ext cx="5321808" cy="384048"/>
          </a:xfrm>
          <a:prstGeom prst="rect">
            <a:avLst/>
          </a:prstGeom>
          <a:noFill/>
          <a:ln/>
        </p:spPr>
        <p:txBody>
          <a:bodyPr wrap="square" lIns="0" tIns="0" rIns="0" bIns="0" rtlCol="0" anchor="ctr"/>
          <a:lstStyle/>
          <a:p>
            <a:pPr indent="0" marL="0">
              <a:buNone/>
            </a:pPr>
            <a:r>
              <a:rPr lang="en-US" sz="1600" b="1" dirty="0">
                <a:solidFill>
                  <a:srgbClr val="1565C0"/>
                </a:solidFill>
                <a:latin typeface="Arial" pitchFamily="34" charset="0"/>
                <a:ea typeface="Arial" pitchFamily="34" charset="-122"/>
                <a:cs typeface="Arial" pitchFamily="34" charset="-120"/>
              </a:rPr>
              <a:t>P(T⁺ | ¬D) = 0.01</a:t>
            </a:r>
            <a:endParaRPr lang="en-US" sz="1600" dirty="0"/>
          </a:p>
        </p:txBody>
      </p:sp>
      <p:sp>
        <p:nvSpPr>
          <p:cNvPr id="28" name="Text 25"/>
          <p:cNvSpPr/>
          <p:nvPr/>
        </p:nvSpPr>
        <p:spPr>
          <a:xfrm>
            <a:off x="6254496" y="4315968"/>
            <a:ext cx="5321808" cy="475488"/>
          </a:xfrm>
          <a:prstGeom prst="rect">
            <a:avLst/>
          </a:prstGeom>
          <a:noFill/>
          <a:ln/>
        </p:spPr>
        <p:txBody>
          <a:bodyPr wrap="square" lIns="0" tIns="0" rIns="0" bIns="0" rtlCol="0" anchor="ctr"/>
          <a:lstStyle/>
          <a:p>
            <a:pPr indent="0" marL="0">
              <a:buNone/>
            </a:pPr>
            <a:r>
              <a:rPr lang="en-US" sz="1150" dirty="0">
                <a:solidFill>
                  <a:srgbClr val="000000"/>
                </a:solidFill>
                <a:latin typeface="Arial" pitchFamily="34" charset="0"/>
                <a:ea typeface="Arial" pitchFamily="34" charset="-122"/>
                <a:cs typeface="Arial" pitchFamily="34" charset="-120"/>
              </a:rPr>
              <a:t>False Positive Rate: Test incorrectly says positive 1% of the time for healthy people</a:t>
            </a:r>
            <a:endParaRPr lang="en-US" sz="1150" dirty="0"/>
          </a:p>
        </p:txBody>
      </p:sp>
      <p:sp>
        <p:nvSpPr>
          <p:cNvPr id="29" name="Shape 26"/>
          <p:cNvSpPr/>
          <p:nvPr/>
        </p:nvSpPr>
        <p:spPr>
          <a:xfrm>
            <a:off x="457200" y="5102352"/>
            <a:ext cx="11292840" cy="804672"/>
          </a:xfrm>
          <a:prstGeom prst="roundRect">
            <a:avLst>
              <a:gd name="adj" fmla="val 11364"/>
            </a:avLst>
          </a:prstGeom>
          <a:solidFill>
            <a:srgbClr val="FCE4EC"/>
          </a:solidFill>
          <a:ln w="25400">
            <a:solidFill>
              <a:srgbClr val="990033"/>
            </a:solidFill>
            <a:prstDash val="solid"/>
          </a:ln>
        </p:spPr>
      </p:sp>
      <p:sp>
        <p:nvSpPr>
          <p:cNvPr id="30" name="Text 27"/>
          <p:cNvSpPr/>
          <p:nvPr/>
        </p:nvSpPr>
        <p:spPr>
          <a:xfrm>
            <a:off x="566928" y="5138928"/>
            <a:ext cx="11073384" cy="713232"/>
          </a:xfrm>
          <a:prstGeom prst="rect">
            <a:avLst/>
          </a:prstGeom>
          <a:noFill/>
          <a:ln/>
        </p:spPr>
        <p:txBody>
          <a:bodyPr wrap="square" lIns="0" tIns="0" rIns="0" bIns="0" rtlCol="0" anchor="ctr"/>
          <a:lstStyle/>
          <a:p>
            <a:pPr indent="0" marL="0">
              <a:buNone/>
            </a:pPr>
            <a:r>
              <a:rPr lang="en-US" sz="1400" b="1" dirty="0">
                <a:solidFill>
                  <a:srgbClr val="990033"/>
                </a:solidFill>
                <a:latin typeface="Arial" pitchFamily="34" charset="0"/>
                <a:ea typeface="Arial" pitchFamily="34" charset="-122"/>
                <a:cs typeface="Arial" pitchFamily="34" charset="-120"/>
              </a:rPr>
              <a:t>Question: A patient tests positive (T⁺). What is P(D | T⁺)?  Most people guess ≈ 99%  … the answer is SHOCKING.</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Mathematical Foundations of Computer Science</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000" b="1" dirty="0">
                <a:solidFill>
                  <a:srgbClr val="990033"/>
                </a:solidFill>
                <a:latin typeface="Arial" pitchFamily="34" charset="0"/>
                <a:ea typeface="Arial" pitchFamily="34" charset="-122"/>
                <a:cs typeface="Arial" pitchFamily="34" charset="-120"/>
              </a:rPr>
              <a:t>Solving with Bayes' Theorem</a:t>
            </a:r>
            <a:endParaRPr lang="en-US" sz="20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347472"/>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Apply the expanded form of Bayes' Theorem:</a:t>
            </a:r>
            <a:endParaRPr lang="en-US" sz="1400" dirty="0"/>
          </a:p>
        </p:txBody>
      </p:sp>
      <p:sp>
        <p:nvSpPr>
          <p:cNvPr id="16" name="Shape 13"/>
          <p:cNvSpPr/>
          <p:nvPr/>
        </p:nvSpPr>
        <p:spPr>
          <a:xfrm>
            <a:off x="457200" y="1993392"/>
            <a:ext cx="11292840" cy="685800"/>
          </a:xfrm>
          <a:prstGeom prst="roundRect">
            <a:avLst>
              <a:gd name="adj" fmla="val 10667"/>
            </a:avLst>
          </a:prstGeom>
          <a:solidFill>
            <a:srgbClr val="E3F2FD"/>
          </a:solidFill>
          <a:ln w="12700">
            <a:solidFill>
              <a:srgbClr val="CCCCCC"/>
            </a:solidFill>
            <a:prstDash val="solid"/>
          </a:ln>
        </p:spPr>
      </p:sp>
      <p:sp>
        <p:nvSpPr>
          <p:cNvPr id="17" name="Text 14"/>
          <p:cNvSpPr/>
          <p:nvPr/>
        </p:nvSpPr>
        <p:spPr>
          <a:xfrm>
            <a:off x="566928" y="2075688"/>
            <a:ext cx="11073384" cy="530352"/>
          </a:xfrm>
          <a:prstGeom prst="rect">
            <a:avLst/>
          </a:prstGeom>
          <a:noFill/>
          <a:ln/>
        </p:spPr>
        <p:txBody>
          <a:bodyPr wrap="square" lIns="0" tIns="0" rIns="0" bIns="0" rtlCol="0" anchor="ctr"/>
          <a:lstStyle/>
          <a:p>
            <a:pPr indent="0" marL="0">
              <a:buNone/>
            </a:pPr>
            <a:r>
              <a:rPr lang="en-US" sz="1350" b="1" dirty="0">
                <a:solidFill>
                  <a:srgbClr val="990033"/>
                </a:solidFill>
                <a:latin typeface="Arial" pitchFamily="34" charset="0"/>
                <a:ea typeface="Arial" pitchFamily="34" charset="-122"/>
                <a:cs typeface="Arial" pitchFamily="34" charset="-120"/>
              </a:rPr>
              <a:t>Formula:  </a:t>
            </a:r>
            <a:pPr indent="0" marL="0">
              <a:buNone/>
            </a:pPr>
            <a:r>
              <a:rPr lang="en-US" sz="1350" dirty="0">
                <a:solidFill>
                  <a:srgbClr val="000000"/>
                </a:solidFill>
                <a:latin typeface="Arial" pitchFamily="34" charset="0"/>
                <a:ea typeface="Arial" pitchFamily="34" charset="-122"/>
                <a:cs typeface="Arial" pitchFamily="34" charset="-120"/>
              </a:rPr>
              <a:t>P(D|T⁺) = P(T⁺|D) × P(D)  /  [P(T⁺|D)×P(D)  +  P(T⁺|¬D)×P(¬D)]</a:t>
            </a:r>
            <a:endParaRPr lang="en-US" sz="1350" dirty="0"/>
          </a:p>
        </p:txBody>
      </p:sp>
      <p:sp>
        <p:nvSpPr>
          <p:cNvPr id="18" name="Shape 15"/>
          <p:cNvSpPr/>
          <p:nvPr/>
        </p:nvSpPr>
        <p:spPr>
          <a:xfrm>
            <a:off x="457200" y="2743200"/>
            <a:ext cx="11292840" cy="685800"/>
          </a:xfrm>
          <a:prstGeom prst="roundRect">
            <a:avLst>
              <a:gd name="adj" fmla="val 10667"/>
            </a:avLst>
          </a:prstGeom>
          <a:solidFill>
            <a:srgbClr val="F8F8F8"/>
          </a:solidFill>
          <a:ln w="12700">
            <a:solidFill>
              <a:srgbClr val="CCCCCC"/>
            </a:solidFill>
            <a:prstDash val="solid"/>
          </a:ln>
        </p:spPr>
      </p:sp>
      <p:sp>
        <p:nvSpPr>
          <p:cNvPr id="19" name="Text 16"/>
          <p:cNvSpPr/>
          <p:nvPr/>
        </p:nvSpPr>
        <p:spPr>
          <a:xfrm>
            <a:off x="566928" y="2825496"/>
            <a:ext cx="11073384" cy="530352"/>
          </a:xfrm>
          <a:prstGeom prst="rect">
            <a:avLst/>
          </a:prstGeom>
          <a:noFill/>
          <a:ln/>
        </p:spPr>
        <p:txBody>
          <a:bodyPr wrap="square" lIns="0" tIns="0" rIns="0" bIns="0" rtlCol="0" anchor="ctr"/>
          <a:lstStyle/>
          <a:p>
            <a:pPr indent="0" marL="0">
              <a:buNone/>
            </a:pPr>
            <a:r>
              <a:rPr lang="en-US" sz="1350" b="1" dirty="0">
                <a:solidFill>
                  <a:srgbClr val="990033"/>
                </a:solidFill>
                <a:latin typeface="Arial" pitchFamily="34" charset="0"/>
                <a:ea typeface="Arial" pitchFamily="34" charset="-122"/>
                <a:cs typeface="Arial" pitchFamily="34" charset="-120"/>
              </a:rPr>
              <a:t>Substitute values:  </a:t>
            </a:r>
            <a:pPr indent="0" marL="0">
              <a:buNone/>
            </a:pPr>
            <a:r>
              <a:rPr lang="en-US" sz="1350" dirty="0">
                <a:solidFill>
                  <a:srgbClr val="000000"/>
                </a:solidFill>
                <a:latin typeface="Arial" pitchFamily="34" charset="0"/>
                <a:ea typeface="Arial" pitchFamily="34" charset="-122"/>
                <a:cs typeface="Arial" pitchFamily="34" charset="-120"/>
              </a:rPr>
              <a:t>P(D|T⁺) = (0.99 × 0.01)  /  [(0.99 × 0.01) + (0.01 × 0.99)]</a:t>
            </a:r>
            <a:endParaRPr lang="en-US" sz="1350" dirty="0"/>
          </a:p>
        </p:txBody>
      </p:sp>
      <p:sp>
        <p:nvSpPr>
          <p:cNvPr id="20" name="Shape 17"/>
          <p:cNvSpPr/>
          <p:nvPr/>
        </p:nvSpPr>
        <p:spPr>
          <a:xfrm>
            <a:off x="457200" y="3493008"/>
            <a:ext cx="11292840" cy="685800"/>
          </a:xfrm>
          <a:prstGeom prst="roundRect">
            <a:avLst>
              <a:gd name="adj" fmla="val 10667"/>
            </a:avLst>
          </a:prstGeom>
          <a:solidFill>
            <a:srgbClr val="E8F5E9"/>
          </a:solidFill>
          <a:ln w="12700">
            <a:solidFill>
              <a:srgbClr val="CCCCCC"/>
            </a:solidFill>
            <a:prstDash val="solid"/>
          </a:ln>
        </p:spPr>
      </p:sp>
      <p:sp>
        <p:nvSpPr>
          <p:cNvPr id="21" name="Text 18"/>
          <p:cNvSpPr/>
          <p:nvPr/>
        </p:nvSpPr>
        <p:spPr>
          <a:xfrm>
            <a:off x="566928" y="3575304"/>
            <a:ext cx="11073384" cy="530352"/>
          </a:xfrm>
          <a:prstGeom prst="rect">
            <a:avLst/>
          </a:prstGeom>
          <a:noFill/>
          <a:ln/>
        </p:spPr>
        <p:txBody>
          <a:bodyPr wrap="square" lIns="0" tIns="0" rIns="0" bIns="0" rtlCol="0" anchor="ctr"/>
          <a:lstStyle/>
          <a:p>
            <a:pPr indent="0" marL="0">
              <a:buNone/>
            </a:pPr>
            <a:r>
              <a:rPr lang="en-US" sz="1350" b="1" dirty="0">
                <a:solidFill>
                  <a:srgbClr val="990033"/>
                </a:solidFill>
                <a:latin typeface="Arial" pitchFamily="34" charset="0"/>
                <a:ea typeface="Arial" pitchFamily="34" charset="-122"/>
                <a:cs typeface="Arial" pitchFamily="34" charset="-120"/>
              </a:rPr>
              <a:t>Numerator:  </a:t>
            </a:r>
            <a:pPr indent="0" marL="0">
              <a:buNone/>
            </a:pPr>
            <a:r>
              <a:rPr lang="en-US" sz="1350" dirty="0">
                <a:solidFill>
                  <a:srgbClr val="000000"/>
                </a:solidFill>
                <a:latin typeface="Arial" pitchFamily="34" charset="0"/>
                <a:ea typeface="Arial" pitchFamily="34" charset="-122"/>
                <a:cs typeface="Arial" pitchFamily="34" charset="-120"/>
              </a:rPr>
              <a:t>0.99 × 0.01  =  0.0099</a:t>
            </a:r>
            <a:endParaRPr lang="en-US" sz="1350" dirty="0"/>
          </a:p>
        </p:txBody>
      </p:sp>
      <p:sp>
        <p:nvSpPr>
          <p:cNvPr id="22" name="Shape 19"/>
          <p:cNvSpPr/>
          <p:nvPr/>
        </p:nvSpPr>
        <p:spPr>
          <a:xfrm>
            <a:off x="457200" y="4242816"/>
            <a:ext cx="11292840" cy="685800"/>
          </a:xfrm>
          <a:prstGeom prst="roundRect">
            <a:avLst>
              <a:gd name="adj" fmla="val 10667"/>
            </a:avLst>
          </a:prstGeom>
          <a:solidFill>
            <a:srgbClr val="FFF9C4"/>
          </a:solidFill>
          <a:ln w="12700">
            <a:solidFill>
              <a:srgbClr val="CCCCCC"/>
            </a:solidFill>
            <a:prstDash val="solid"/>
          </a:ln>
        </p:spPr>
      </p:sp>
      <p:sp>
        <p:nvSpPr>
          <p:cNvPr id="23" name="Text 20"/>
          <p:cNvSpPr/>
          <p:nvPr/>
        </p:nvSpPr>
        <p:spPr>
          <a:xfrm>
            <a:off x="566928" y="4325112"/>
            <a:ext cx="11073384" cy="530352"/>
          </a:xfrm>
          <a:prstGeom prst="rect">
            <a:avLst/>
          </a:prstGeom>
          <a:noFill/>
          <a:ln/>
        </p:spPr>
        <p:txBody>
          <a:bodyPr wrap="square" lIns="0" tIns="0" rIns="0" bIns="0" rtlCol="0" anchor="ctr"/>
          <a:lstStyle/>
          <a:p>
            <a:pPr indent="0" marL="0">
              <a:buNone/>
            </a:pPr>
            <a:r>
              <a:rPr lang="en-US" sz="1350" b="1" dirty="0">
                <a:solidFill>
                  <a:srgbClr val="990033"/>
                </a:solidFill>
                <a:latin typeface="Arial" pitchFamily="34" charset="0"/>
                <a:ea typeface="Arial" pitchFamily="34" charset="-122"/>
                <a:cs typeface="Arial" pitchFamily="34" charset="-120"/>
              </a:rPr>
              <a:t>Denominator:  </a:t>
            </a:r>
            <a:pPr indent="0" marL="0">
              <a:buNone/>
            </a:pPr>
            <a:r>
              <a:rPr lang="en-US" sz="1350" dirty="0">
                <a:solidFill>
                  <a:srgbClr val="000000"/>
                </a:solidFill>
                <a:latin typeface="Arial" pitchFamily="34" charset="0"/>
                <a:ea typeface="Arial" pitchFamily="34" charset="-122"/>
                <a:cs typeface="Arial" pitchFamily="34" charset="-120"/>
              </a:rPr>
              <a:t>(0.99×0.01) + (0.01×0.99)  =  0.0099 + 0.0099  =  0.0198</a:t>
            </a:r>
            <a:endParaRPr lang="en-US" sz="1350" dirty="0"/>
          </a:p>
        </p:txBody>
      </p:sp>
      <p:sp>
        <p:nvSpPr>
          <p:cNvPr id="24" name="Shape 21"/>
          <p:cNvSpPr/>
          <p:nvPr/>
        </p:nvSpPr>
        <p:spPr>
          <a:xfrm>
            <a:off x="457200" y="4992624"/>
            <a:ext cx="11292840" cy="685800"/>
          </a:xfrm>
          <a:prstGeom prst="roundRect">
            <a:avLst>
              <a:gd name="adj" fmla="val 10667"/>
            </a:avLst>
          </a:prstGeom>
          <a:solidFill>
            <a:srgbClr val="FCE4EC"/>
          </a:solidFill>
          <a:ln w="12700">
            <a:solidFill>
              <a:srgbClr val="CCCCCC"/>
            </a:solidFill>
            <a:prstDash val="solid"/>
          </a:ln>
        </p:spPr>
      </p:sp>
      <p:sp>
        <p:nvSpPr>
          <p:cNvPr id="25" name="Text 22"/>
          <p:cNvSpPr/>
          <p:nvPr/>
        </p:nvSpPr>
        <p:spPr>
          <a:xfrm>
            <a:off x="566928" y="5074920"/>
            <a:ext cx="11073384" cy="530352"/>
          </a:xfrm>
          <a:prstGeom prst="rect">
            <a:avLst/>
          </a:prstGeom>
          <a:noFill/>
          <a:ln/>
        </p:spPr>
        <p:txBody>
          <a:bodyPr wrap="square" lIns="0" tIns="0" rIns="0" bIns="0" rtlCol="0" anchor="ctr"/>
          <a:lstStyle/>
          <a:p>
            <a:pPr indent="0" marL="0">
              <a:buNone/>
            </a:pPr>
            <a:r>
              <a:rPr lang="en-US" sz="1500" b="1" dirty="0">
                <a:solidFill>
                  <a:srgbClr val="990033"/>
                </a:solidFill>
                <a:latin typeface="Arial" pitchFamily="34" charset="0"/>
                <a:ea typeface="Arial" pitchFamily="34" charset="-122"/>
                <a:cs typeface="Arial" pitchFamily="34" charset="-120"/>
              </a:rPr>
              <a:t>Final Answer:  </a:t>
            </a:r>
            <a:pPr indent="0" marL="0">
              <a:buNone/>
            </a:pPr>
            <a:r>
              <a:rPr lang="en-US" sz="1500" dirty="0">
                <a:solidFill>
                  <a:srgbClr val="000000"/>
                </a:solidFill>
                <a:latin typeface="Arial" pitchFamily="34" charset="0"/>
                <a:ea typeface="Arial" pitchFamily="34" charset="-122"/>
                <a:cs typeface="Arial" pitchFamily="34" charset="-120"/>
              </a:rPr>
              <a:t>P(D|T⁺) = 0.0099 / 0.0198  =  0.50  =  50%  !!</a:t>
            </a:r>
            <a:endParaRPr lang="en-US" sz="1500" dirty="0"/>
          </a:p>
        </p:txBody>
      </p:sp>
      <p:sp>
        <p:nvSpPr>
          <p:cNvPr id="26" name="Shape 23"/>
          <p:cNvSpPr/>
          <p:nvPr/>
        </p:nvSpPr>
        <p:spPr>
          <a:xfrm>
            <a:off x="457200" y="5760720"/>
            <a:ext cx="11292840" cy="1024128"/>
          </a:xfrm>
          <a:prstGeom prst="roundRect">
            <a:avLst>
              <a:gd name="adj" fmla="val 8929"/>
            </a:avLst>
          </a:prstGeom>
          <a:solidFill>
            <a:srgbClr val="FFF9C4"/>
          </a:solidFill>
          <a:ln w="25400">
            <a:solidFill>
              <a:srgbClr val="F57F17"/>
            </a:solidFill>
            <a:prstDash val="solid"/>
          </a:ln>
        </p:spPr>
      </p:sp>
      <p:sp>
        <p:nvSpPr>
          <p:cNvPr id="27" name="Text 24"/>
          <p:cNvSpPr/>
          <p:nvPr/>
        </p:nvSpPr>
        <p:spPr>
          <a:xfrm>
            <a:off x="566928" y="5797296"/>
            <a:ext cx="11073384" cy="950976"/>
          </a:xfrm>
          <a:prstGeom prst="rect">
            <a:avLst/>
          </a:prstGeom>
          <a:noFill/>
          <a:ln/>
        </p:spPr>
        <p:txBody>
          <a:bodyPr wrap="square" lIns="0" tIns="0" rIns="0" bIns="0" rtlCol="0" anchor="ctr"/>
          <a:lstStyle/>
          <a:p>
            <a:pPr indent="0" marL="0">
              <a:buNone/>
            </a:pPr>
            <a:r>
              <a:rPr lang="en-US" sz="1200" b="1" dirty="0">
                <a:solidFill>
                  <a:srgbClr val="F57F17"/>
                </a:solidFill>
                <a:latin typeface="Arial" pitchFamily="34" charset="0"/>
                <a:ea typeface="Arial" pitchFamily="34" charset="-122"/>
                <a:cs typeface="Arial" pitchFamily="34" charset="-120"/>
              </a:rPr>
              <a:t>Why only 50%?  </a:t>
            </a:r>
            <a:pPr indent="0" marL="0">
              <a:buNone/>
            </a:pPr>
            <a:r>
              <a:rPr lang="en-US" sz="1200" dirty="0">
                <a:solidFill>
                  <a:srgbClr val="000000"/>
                </a:solidFill>
                <a:latin typeface="Arial" pitchFamily="34" charset="0"/>
                <a:ea typeface="Arial" pitchFamily="34" charset="-122"/>
                <a:cs typeface="Arial" pitchFamily="34" charset="-120"/>
              </a:rPr>
              <a:t>Of 10,000 people: 100 have disease (99 test positive) + 9,900 healthy (99 test false-positive). So of 198 positive tests, only 99 truly have the disease = 50%!
</a:t>
            </a:r>
            <a:pPr indent="0" marL="0">
              <a:buNone/>
            </a:pPr>
            <a:r>
              <a:rPr lang="en-US" sz="1200" b="1" dirty="0">
                <a:solidFill>
                  <a:srgbClr val="990033"/>
                </a:solidFill>
                <a:latin typeface="Arial" pitchFamily="34" charset="0"/>
                <a:ea typeface="Arial" pitchFamily="34" charset="-122"/>
                <a:cs typeface="Arial" pitchFamily="34" charset="-120"/>
              </a:rPr>
              <a:t>Key Lesson: Low prior probability dramatically reduces the posterior even with accurate tests.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Mathematical Foundations of Computer Science</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000" b="1" dirty="0">
                <a:solidFill>
                  <a:srgbClr val="990033"/>
                </a:solidFill>
                <a:latin typeface="Arial" pitchFamily="34" charset="0"/>
                <a:ea typeface="Arial" pitchFamily="34" charset="-122"/>
                <a:cs typeface="Arial" pitchFamily="34" charset="-120"/>
              </a:rPr>
              <a:t>Applications in Computer Science</a:t>
            </a:r>
            <a:endParaRPr lang="en-US" sz="20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36576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Bayes' Theorem is the foundation of probabilistic reasoning in AI and data science:</a:t>
            </a:r>
            <a:endParaRPr lang="en-US" sz="1400" dirty="0"/>
          </a:p>
        </p:txBody>
      </p:sp>
      <p:sp>
        <p:nvSpPr>
          <p:cNvPr id="16" name="Shape 13"/>
          <p:cNvSpPr/>
          <p:nvPr/>
        </p:nvSpPr>
        <p:spPr>
          <a:xfrm>
            <a:off x="457200" y="2011680"/>
            <a:ext cx="5532120" cy="1956816"/>
          </a:xfrm>
          <a:prstGeom prst="roundRect">
            <a:avLst>
              <a:gd name="adj" fmla="val 4673"/>
            </a:avLst>
          </a:prstGeom>
          <a:solidFill>
            <a:srgbClr val="E8F5E9"/>
          </a:solidFill>
          <a:ln w="19050">
            <a:solidFill>
              <a:srgbClr val="009900"/>
            </a:solidFill>
            <a:prstDash val="solid"/>
          </a:ln>
        </p:spPr>
      </p:sp>
      <p:sp>
        <p:nvSpPr>
          <p:cNvPr id="17" name="Text 14"/>
          <p:cNvSpPr/>
          <p:nvPr/>
        </p:nvSpPr>
        <p:spPr>
          <a:xfrm>
            <a:off x="566928" y="2103120"/>
            <a:ext cx="5312664" cy="347472"/>
          </a:xfrm>
          <a:prstGeom prst="rect">
            <a:avLst/>
          </a:prstGeom>
          <a:noFill/>
          <a:ln/>
        </p:spPr>
        <p:txBody>
          <a:bodyPr wrap="square" lIns="0" tIns="0" rIns="0" bIns="0" rtlCol="0" anchor="ctr"/>
          <a:lstStyle/>
          <a:p>
            <a:pPr indent="0" marL="0">
              <a:buNone/>
            </a:pPr>
            <a:r>
              <a:rPr lang="en-US" sz="1300" b="1" dirty="0">
                <a:solidFill>
                  <a:srgbClr val="009900"/>
                </a:solidFill>
                <a:latin typeface="Arial" pitchFamily="34" charset="0"/>
                <a:ea typeface="Arial" pitchFamily="34" charset="-122"/>
                <a:cs typeface="Arial" pitchFamily="34" charset="-120"/>
              </a:rPr>
              <a:t>📧  Naive Bayes Spam Filter</a:t>
            </a:r>
            <a:endParaRPr lang="en-US" sz="1300" dirty="0"/>
          </a:p>
        </p:txBody>
      </p:sp>
      <p:sp>
        <p:nvSpPr>
          <p:cNvPr id="18" name="Text 15"/>
          <p:cNvSpPr/>
          <p:nvPr/>
        </p:nvSpPr>
        <p:spPr>
          <a:xfrm>
            <a:off x="566928" y="2487168"/>
            <a:ext cx="5312664" cy="1426464"/>
          </a:xfrm>
          <a:prstGeom prst="rect">
            <a:avLst/>
          </a:prstGeom>
          <a:noFill/>
          <a:ln/>
        </p:spPr>
        <p:txBody>
          <a:bodyPr wrap="square" lIns="0" tIns="0" rIns="0" bIns="0" rtlCol="0" anchor="ctr"/>
          <a:lstStyle/>
          <a:p>
            <a:pPr indent="0" marL="0">
              <a:buNone/>
            </a:pPr>
            <a:r>
              <a:rPr lang="en-US" sz="1150" dirty="0">
                <a:solidFill>
                  <a:srgbClr val="000000"/>
                </a:solidFill>
                <a:latin typeface="Arial" pitchFamily="34" charset="0"/>
                <a:ea typeface="Arial" pitchFamily="34" charset="-122"/>
                <a:cs typeface="Arial" pitchFamily="34" charset="-120"/>
              </a:rPr>
              <a:t>Given an email, compute P(spam | words in email). Train on labeled emails to learn P(word|spam) and P(word|not-spam). The 'Naive' assumption: words are independent given the class. Very fast and still competitive.</a:t>
            </a:r>
            <a:endParaRPr lang="en-US" sz="1150" dirty="0"/>
          </a:p>
        </p:txBody>
      </p:sp>
      <p:sp>
        <p:nvSpPr>
          <p:cNvPr id="19" name="Shape 16"/>
          <p:cNvSpPr/>
          <p:nvPr/>
        </p:nvSpPr>
        <p:spPr>
          <a:xfrm>
            <a:off x="6144768" y="2011680"/>
            <a:ext cx="5532120" cy="1956816"/>
          </a:xfrm>
          <a:prstGeom prst="roundRect">
            <a:avLst>
              <a:gd name="adj" fmla="val 4673"/>
            </a:avLst>
          </a:prstGeom>
          <a:solidFill>
            <a:srgbClr val="FCE4EC"/>
          </a:solidFill>
          <a:ln w="19050">
            <a:solidFill>
              <a:srgbClr val="990033"/>
            </a:solidFill>
            <a:prstDash val="solid"/>
          </a:ln>
        </p:spPr>
      </p:sp>
      <p:sp>
        <p:nvSpPr>
          <p:cNvPr id="20" name="Text 17"/>
          <p:cNvSpPr/>
          <p:nvPr/>
        </p:nvSpPr>
        <p:spPr>
          <a:xfrm>
            <a:off x="6254496" y="2103120"/>
            <a:ext cx="5312664" cy="347472"/>
          </a:xfrm>
          <a:prstGeom prst="rect">
            <a:avLst/>
          </a:prstGeom>
          <a:noFill/>
          <a:ln/>
        </p:spPr>
        <p:txBody>
          <a:bodyPr wrap="square" lIns="0" tIns="0" rIns="0" bIns="0" rtlCol="0" anchor="ctr"/>
          <a:lstStyle/>
          <a:p>
            <a:pPr indent="0" marL="0">
              <a:buNone/>
            </a:pPr>
            <a:r>
              <a:rPr lang="en-US" sz="1300" b="1" dirty="0">
                <a:solidFill>
                  <a:srgbClr val="990033"/>
                </a:solidFill>
                <a:latin typeface="Arial" pitchFamily="34" charset="0"/>
                <a:ea typeface="Arial" pitchFamily="34" charset="-122"/>
                <a:cs typeface="Arial" pitchFamily="34" charset="-120"/>
              </a:rPr>
              <a:t>🏥  Medical Diagnosis AI</a:t>
            </a:r>
            <a:endParaRPr lang="en-US" sz="1300" dirty="0"/>
          </a:p>
        </p:txBody>
      </p:sp>
      <p:sp>
        <p:nvSpPr>
          <p:cNvPr id="21" name="Text 18"/>
          <p:cNvSpPr/>
          <p:nvPr/>
        </p:nvSpPr>
        <p:spPr>
          <a:xfrm>
            <a:off x="6254496" y="2487168"/>
            <a:ext cx="5312664" cy="1426464"/>
          </a:xfrm>
          <a:prstGeom prst="rect">
            <a:avLst/>
          </a:prstGeom>
          <a:noFill/>
          <a:ln/>
        </p:spPr>
        <p:txBody>
          <a:bodyPr wrap="square" lIns="0" tIns="0" rIns="0" bIns="0" rtlCol="0" anchor="ctr"/>
          <a:lstStyle/>
          <a:p>
            <a:pPr indent="0" marL="0">
              <a:buNone/>
            </a:pPr>
            <a:r>
              <a:rPr lang="en-US" sz="1150" dirty="0">
                <a:solidFill>
                  <a:srgbClr val="000000"/>
                </a:solidFill>
                <a:latin typeface="Arial" pitchFamily="34" charset="0"/>
                <a:ea typeface="Arial" pitchFamily="34" charset="-122"/>
                <a:cs typeface="Arial" pitchFamily="34" charset="-120"/>
              </a:rPr>
              <a:t>AI systems compute P(disease | symptoms, test results). Updated with new evidence as more tests are run. IBM Watson Health uses Bayesian reasoning to recommend treatments based on patient history and literature.</a:t>
            </a:r>
            <a:endParaRPr lang="en-US" sz="1150" dirty="0"/>
          </a:p>
        </p:txBody>
      </p:sp>
      <p:sp>
        <p:nvSpPr>
          <p:cNvPr id="22" name="Shape 19"/>
          <p:cNvSpPr/>
          <p:nvPr/>
        </p:nvSpPr>
        <p:spPr>
          <a:xfrm>
            <a:off x="457200" y="4114800"/>
            <a:ext cx="5532120" cy="1956816"/>
          </a:xfrm>
          <a:prstGeom prst="roundRect">
            <a:avLst>
              <a:gd name="adj" fmla="val 4673"/>
            </a:avLst>
          </a:prstGeom>
          <a:solidFill>
            <a:srgbClr val="E3F2FD"/>
          </a:solidFill>
          <a:ln w="19050">
            <a:solidFill>
              <a:srgbClr val="1565C0"/>
            </a:solidFill>
            <a:prstDash val="solid"/>
          </a:ln>
        </p:spPr>
      </p:sp>
      <p:sp>
        <p:nvSpPr>
          <p:cNvPr id="23" name="Text 20"/>
          <p:cNvSpPr/>
          <p:nvPr/>
        </p:nvSpPr>
        <p:spPr>
          <a:xfrm>
            <a:off x="566928" y="4206240"/>
            <a:ext cx="5312664" cy="347472"/>
          </a:xfrm>
          <a:prstGeom prst="rect">
            <a:avLst/>
          </a:prstGeom>
          <a:noFill/>
          <a:ln/>
        </p:spPr>
        <p:txBody>
          <a:bodyPr wrap="square" lIns="0" tIns="0" rIns="0" bIns="0" rtlCol="0" anchor="ctr"/>
          <a:lstStyle/>
          <a:p>
            <a:pPr indent="0" marL="0">
              <a:buNone/>
            </a:pPr>
            <a:r>
              <a:rPr lang="en-US" sz="1300" b="1" dirty="0">
                <a:solidFill>
                  <a:srgbClr val="1565C0"/>
                </a:solidFill>
                <a:latin typeface="Arial" pitchFamily="34" charset="0"/>
                <a:ea typeface="Arial" pitchFamily="34" charset="-122"/>
                <a:cs typeface="Arial" pitchFamily="34" charset="-120"/>
              </a:rPr>
              <a:t>🔍  Search &amp; Recommendation</a:t>
            </a:r>
            <a:endParaRPr lang="en-US" sz="1300" dirty="0"/>
          </a:p>
        </p:txBody>
      </p:sp>
      <p:sp>
        <p:nvSpPr>
          <p:cNvPr id="24" name="Text 21"/>
          <p:cNvSpPr/>
          <p:nvPr/>
        </p:nvSpPr>
        <p:spPr>
          <a:xfrm>
            <a:off x="566928" y="4590288"/>
            <a:ext cx="5312664" cy="1426464"/>
          </a:xfrm>
          <a:prstGeom prst="rect">
            <a:avLst/>
          </a:prstGeom>
          <a:noFill/>
          <a:ln/>
        </p:spPr>
        <p:txBody>
          <a:bodyPr wrap="square" lIns="0" tIns="0" rIns="0" bIns="0" rtlCol="0" anchor="ctr"/>
          <a:lstStyle/>
          <a:p>
            <a:pPr indent="0" marL="0">
              <a:buNone/>
            </a:pPr>
            <a:r>
              <a:rPr lang="en-US" sz="1150" dirty="0">
                <a:solidFill>
                  <a:srgbClr val="000000"/>
                </a:solidFill>
                <a:latin typeface="Arial" pitchFamily="34" charset="0"/>
                <a:ea typeface="Arial" pitchFamily="34" charset="-122"/>
                <a:cs typeface="Arial" pitchFamily="34" charset="-120"/>
              </a:rPr>
              <a:t>Google's ranking algorithms incorporate Bayesian principles. Collaborative filtering in recommendation systems (Netflix, Amazon) estimates P(user likes item | ratings of similar users) using Bayesian updates.</a:t>
            </a:r>
            <a:endParaRPr lang="en-US" sz="1150" dirty="0"/>
          </a:p>
        </p:txBody>
      </p:sp>
      <p:sp>
        <p:nvSpPr>
          <p:cNvPr id="25" name="Shape 22"/>
          <p:cNvSpPr/>
          <p:nvPr/>
        </p:nvSpPr>
        <p:spPr>
          <a:xfrm>
            <a:off x="6144768" y="4114800"/>
            <a:ext cx="5532120" cy="1956816"/>
          </a:xfrm>
          <a:prstGeom prst="roundRect">
            <a:avLst>
              <a:gd name="adj" fmla="val 4673"/>
            </a:avLst>
          </a:prstGeom>
          <a:solidFill>
            <a:srgbClr val="FFF9C4"/>
          </a:solidFill>
          <a:ln w="19050">
            <a:solidFill>
              <a:srgbClr val="F57F17"/>
            </a:solidFill>
            <a:prstDash val="solid"/>
          </a:ln>
        </p:spPr>
      </p:sp>
      <p:sp>
        <p:nvSpPr>
          <p:cNvPr id="26" name="Text 23"/>
          <p:cNvSpPr/>
          <p:nvPr/>
        </p:nvSpPr>
        <p:spPr>
          <a:xfrm>
            <a:off x="6254496" y="4206240"/>
            <a:ext cx="5312664" cy="347472"/>
          </a:xfrm>
          <a:prstGeom prst="rect">
            <a:avLst/>
          </a:prstGeom>
          <a:noFill/>
          <a:ln/>
        </p:spPr>
        <p:txBody>
          <a:bodyPr wrap="square" lIns="0" tIns="0" rIns="0" bIns="0" rtlCol="0" anchor="ctr"/>
          <a:lstStyle/>
          <a:p>
            <a:pPr indent="0" marL="0">
              <a:buNone/>
            </a:pPr>
            <a:r>
              <a:rPr lang="en-US" sz="1300" b="1" dirty="0">
                <a:solidFill>
                  <a:srgbClr val="F57F17"/>
                </a:solidFill>
                <a:latin typeface="Arial" pitchFamily="34" charset="0"/>
                <a:ea typeface="Arial" pitchFamily="34" charset="-122"/>
                <a:cs typeface="Arial" pitchFamily="34" charset="-120"/>
              </a:rPr>
              <a:t>🛡️  Intrusion Detection</a:t>
            </a:r>
            <a:endParaRPr lang="en-US" sz="1300" dirty="0"/>
          </a:p>
        </p:txBody>
      </p:sp>
      <p:sp>
        <p:nvSpPr>
          <p:cNvPr id="27" name="Text 24"/>
          <p:cNvSpPr/>
          <p:nvPr/>
        </p:nvSpPr>
        <p:spPr>
          <a:xfrm>
            <a:off x="6254496" y="4590288"/>
            <a:ext cx="5312664" cy="1426464"/>
          </a:xfrm>
          <a:prstGeom prst="rect">
            <a:avLst/>
          </a:prstGeom>
          <a:noFill/>
          <a:ln/>
        </p:spPr>
        <p:txBody>
          <a:bodyPr wrap="square" lIns="0" tIns="0" rIns="0" bIns="0" rtlCol="0" anchor="ctr"/>
          <a:lstStyle/>
          <a:p>
            <a:pPr indent="0" marL="0">
              <a:buNone/>
            </a:pPr>
            <a:r>
              <a:rPr lang="en-US" sz="1150" dirty="0">
                <a:solidFill>
                  <a:srgbClr val="000000"/>
                </a:solidFill>
                <a:latin typeface="Arial" pitchFamily="34" charset="0"/>
                <a:ea typeface="Arial" pitchFamily="34" charset="-122"/>
                <a:cs typeface="Arial" pitchFamily="34" charset="-120"/>
              </a:rPr>
              <a:t>Network security systems compute P(attack | observed traffic patterns). Start with P(attack) as the base rate, update with each suspicious packet. Bayesian Networks model complex multi-step attack scenarios.</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Mathematical Foundations of Computer Science</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2377440"/>
            <a:ext cx="11292840" cy="1371600"/>
          </a:xfrm>
          <a:prstGeom prst="rect">
            <a:avLst/>
          </a:prstGeom>
          <a:noFill/>
          <a:ln/>
        </p:spPr>
        <p:txBody>
          <a:bodyPr wrap="square" rtlCol="0" anchor="ctr"/>
          <a:lstStyle/>
          <a:p>
            <a:pPr algn="ctr" indent="0" marL="0">
              <a:buNone/>
            </a:pPr>
            <a:r>
              <a:rPr lang="en-US" sz="4800" b="1" dirty="0">
                <a:solidFill>
                  <a:srgbClr val="990033"/>
                </a:solidFill>
                <a:latin typeface="Arial" pitchFamily="34" charset="0"/>
                <a:ea typeface="Arial" pitchFamily="34" charset="-122"/>
                <a:cs typeface="Arial" pitchFamily="34" charset="-120"/>
              </a:rPr>
              <a:t>THANK YOU</a:t>
            </a:r>
            <a:endParaRPr lang="en-US" sz="4800" dirty="0"/>
          </a:p>
        </p:txBody>
      </p:sp>
      <p:sp>
        <p:nvSpPr>
          <p:cNvPr id="14" name="Text 11"/>
          <p:cNvSpPr/>
          <p:nvPr/>
        </p:nvSpPr>
        <p:spPr>
          <a:xfrm>
            <a:off x="457200" y="5029200"/>
            <a:ext cx="11292840" cy="822960"/>
          </a:xfrm>
          <a:prstGeom prst="rect">
            <a:avLst/>
          </a:prstGeom>
          <a:noFill/>
          <a:ln/>
        </p:spPr>
        <p:txBody>
          <a:bodyPr wrap="square" rtlCol="0" anchor="ctr"/>
          <a:lstStyle/>
          <a:p>
            <a:pPr algn="ctr" indent="0" marL="0">
              <a:buNone/>
            </a:pPr>
            <a:r>
              <a:rPr lang="en-US" sz="1200" dirty="0">
                <a:solidFill>
                  <a:srgbClr val="555555"/>
                </a:solidFill>
                <a:latin typeface="Arial" pitchFamily="34" charset="0"/>
                <a:ea typeface="Arial" pitchFamily="34" charset="-122"/>
                <a:cs typeface="Arial" pitchFamily="34" charset="-120"/>
              </a:rPr>
              <a:t>Department of Computer Science and Engineering</a:t>
            </a:r>
            <a:endParaRPr lang="en-US" sz="1200" dirty="0"/>
          </a:p>
          <a:p>
            <a:pPr algn="ctr" indent="0" marL="0">
              <a:buNone/>
            </a:pPr>
            <a:r>
              <a:rPr lang="en-US" sz="1200" dirty="0">
                <a:solidFill>
                  <a:srgbClr val="555555"/>
                </a:solidFill>
                <a:latin typeface="Arial" pitchFamily="34" charset="0"/>
                <a:ea typeface="Arial" pitchFamily="34" charset="-122"/>
                <a:cs typeface="Arial" pitchFamily="34" charset="-120"/>
              </a:rPr>
              <a:t>Marri Laxman Reddy Institute of Technology and Management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2026-06-14T11:41:04Z</dcterms:created>
  <dcterms:modified xsi:type="dcterms:W3CDTF">2026-06-14T11:41:04Z</dcterms:modified>
</cp:coreProperties>
</file>