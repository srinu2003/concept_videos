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my name is Srinivas Rao Tammireddy, and today I will be presenting on 'Intellectual Property Rights' as part of the Research Methodology and IPR course for my M.Tech in Computer Science and Engineering. In this presentation, we will define intellectual property, discuss the purpose of IPR, examine the four primary types of intellectual property, detail the patentability criteria for inventions, outline the patenting process, and look at real-world business applications of IPR.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begin by defining intellectual property, or IP. Intellectual property refers to creations of the mind—such as inventions, literary and artistic works, designs, symbols, and brand names. Intellectual Property Rights, or IPR, represent the legal rights that protect these creations. The purpose of IPR is to encourage innovation by granting creators exclusive monopoly rights, allowing them to recover R&amp;D costs and profit from their work. In exchange for this legal protection, inventors must publicly disclose the details of their creation, expanding global scientific knowledge. IP acts as an economic asset that can be bought, sold, licensed, or used as collateral. It also protects consumers by using trademarks to prevent customer confusion about product origins. The four primary types of IP are Patents, which protect novel inventions; Industrial Designs, which protect aesthetics; Trademarks, which protect brand logos; and Copyrights, which protect artistic works and software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patent is a government grant giving an inventor exclusive rights to exclude others from using their invention. To be patentable, an invention must meet three criteria. First, novelty: the invention must not be described in prior art anywhere in the world before the filing date. Second, inventive step, or non-obviousness: the invention must not be obvious to a person with ordinary skill in that technical field. Third, industrial applicability: the invention must be useful and capable of being manufactured or used in industry. Most patent systems, including India's, exclude mathematical formulas, laws of nature, abstract business methods, and raw software code from patentability. Raw software code is protected by copyrights rather than patents, though software that controls physical hardware functions is patentable in some countries.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Patents are territorial, meaning they are valid only within the borders of the granting nation. The patenting process involves searching patent databases to verify novelty, drafting specifications with precise claims, filing an application to secure a priority date, publication, examination, and the final grant. Because of territorial limits, a patent granted in India does not protect an invention in the United States. To address this, the Patent Cooperation Treaty, or PCT, administered by WIPO, allows inventors to file a single international application to secure priority in over 150 member countries simultaneously. This secures a priority window of 30 months, giving inventors time to search for foreign investors and evaluate market potential before paying expensive local filing fees in each individual country.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Intellectual property rights are critical business assets across the tech sector. First, software companies protect proprietary algorithms and codecs using patents, while protecting source code files using copyrights. Second, consumer tech companies register industrial designs to protect smartphone shapes and product aesthetics from copycats. Third, pharmaceutical firms patent new chemical compounds to recover their massive R&amp;D costs before generic competition enters the market. Finally, telecommunications groups patent technologies essential to global standards, like 5G, and license them as Standard Essential Patents on fair, reasonable, and non-discriminatory terms, earning substantial licensing royalties. Protecting intellectual property ensures companies can secure their innovations and generate revenue.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intellectual property rights protect creative and technical innovations, driving economic growth and scientific progress. By understanding patentability criteria and utilizing international filing systems like the PCT, inventors can secure their designs globally. Thank you for your time, and I am happy to answer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Research Methodology &amp; IPR</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78992"/>
            <a:ext cx="11292840" cy="384048"/>
          </a:xfrm>
          <a:prstGeom prst="rect">
            <a:avLst/>
          </a:prstGeom>
          <a:noFill/>
          <a:ln/>
        </p:spPr>
        <p:txBody>
          <a:bodyPr wrap="square" rtlCol="0" anchor="ctr"/>
          <a:lstStyle/>
          <a:p>
            <a:pPr algn="ctr" indent="0" marL="0">
              <a:buNone/>
            </a:pPr>
            <a:r>
              <a:rPr lang="en-US" sz="1400" i="1" dirty="0">
                <a:solidFill>
                  <a:srgbClr val="990033"/>
                </a:solidFill>
                <a:latin typeface="Arial" pitchFamily="34" charset="0"/>
                <a:ea typeface="Arial" pitchFamily="34" charset="-122"/>
                <a:cs typeface="Arial" pitchFamily="34" charset="-120"/>
              </a:rPr>
              <a:t>Unit IV: Intellectual Property</a:t>
            </a:r>
            <a:endParaRPr lang="en-US" sz="1400" dirty="0"/>
          </a:p>
        </p:txBody>
      </p:sp>
      <p:sp>
        <p:nvSpPr>
          <p:cNvPr id="14" name="Shape 11"/>
          <p:cNvSpPr/>
          <p:nvPr/>
        </p:nvSpPr>
        <p:spPr>
          <a:xfrm>
            <a:off x="1645920" y="1572768"/>
            <a:ext cx="8897112" cy="1280160"/>
          </a:xfrm>
          <a:prstGeom prst="rect">
            <a:avLst/>
          </a:prstGeom>
          <a:solidFill>
            <a:srgbClr val="990033"/>
          </a:solidFill>
          <a:ln w="12700">
            <a:solidFill>
              <a:srgbClr val="990033"/>
            </a:solidFill>
            <a:prstDash val="solid"/>
          </a:ln>
        </p:spPr>
      </p:sp>
      <p:sp>
        <p:nvSpPr>
          <p:cNvPr id="15" name="Text 12"/>
          <p:cNvSpPr/>
          <p:nvPr/>
        </p:nvSpPr>
        <p:spPr>
          <a:xfrm>
            <a:off x="1645920" y="1572768"/>
            <a:ext cx="8897112" cy="1280160"/>
          </a:xfrm>
          <a:prstGeom prst="rect">
            <a:avLst/>
          </a:prstGeom>
          <a:noFill/>
          <a:ln/>
        </p:spPr>
        <p:txBody>
          <a:bodyPr wrap="square" lIns="0" tIns="0" rIns="0" bIns="0"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Intellectual Property Rights (IPR)</a:t>
            </a:r>
            <a:endParaRPr lang="en-US" sz="2800" dirty="0"/>
          </a:p>
        </p:txBody>
      </p:sp>
      <p:sp>
        <p:nvSpPr>
          <p:cNvPr id="16" name="Text 13"/>
          <p:cNvSpPr/>
          <p:nvPr/>
        </p:nvSpPr>
        <p:spPr>
          <a:xfrm>
            <a:off x="457200" y="2999232"/>
            <a:ext cx="11292840" cy="365760"/>
          </a:xfrm>
          <a:prstGeom prst="rect">
            <a:avLst/>
          </a:prstGeom>
          <a:noFill/>
          <a:ln/>
        </p:spPr>
        <p:txBody>
          <a:bodyPr wrap="square" rtlCol="0" anchor="ctr"/>
          <a:lstStyle/>
          <a:p>
            <a:pPr algn="ctr" indent="0" marL="0">
              <a:buNone/>
            </a:pPr>
            <a:r>
              <a:rPr lang="en-US" sz="1500" b="1" dirty="0">
                <a:solidFill>
                  <a:srgbClr val="990033"/>
                </a:solidFill>
                <a:latin typeface="Arial" pitchFamily="34" charset="0"/>
                <a:ea typeface="Arial" pitchFamily="34" charset="-122"/>
                <a:cs typeface="Arial" pitchFamily="34" charset="-120"/>
              </a:rPr>
              <a:t>PPT PRESENTED BY</a:t>
            </a:r>
            <a:endParaRPr lang="en-US" sz="1500" dirty="0"/>
          </a:p>
        </p:txBody>
      </p:sp>
      <p:sp>
        <p:nvSpPr>
          <p:cNvPr id="17" name="Text 14"/>
          <p:cNvSpPr/>
          <p:nvPr/>
        </p:nvSpPr>
        <p:spPr>
          <a:xfrm>
            <a:off x="2926080" y="3438144"/>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NAME :   Srinivas Rao Tammireddy</a:t>
            </a:r>
            <a:endParaRPr lang="en-US" sz="1300" dirty="0"/>
          </a:p>
        </p:txBody>
      </p:sp>
      <p:sp>
        <p:nvSpPr>
          <p:cNvPr id="18" name="Text 15"/>
          <p:cNvSpPr/>
          <p:nvPr/>
        </p:nvSpPr>
        <p:spPr>
          <a:xfrm>
            <a:off x="2926080" y="3840480"/>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ROLL NO :   257Y1D5805</a:t>
            </a:r>
            <a:endParaRPr lang="en-US" sz="1300" dirty="0"/>
          </a:p>
        </p:txBody>
      </p:sp>
      <p:sp>
        <p:nvSpPr>
          <p:cNvPr id="19" name="Text 16"/>
          <p:cNvSpPr/>
          <p:nvPr/>
        </p:nvSpPr>
        <p:spPr>
          <a:xfrm>
            <a:off x="2926080" y="4242816"/>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YEAR :   I Year  I Semester</a:t>
            </a:r>
            <a:endParaRPr lang="en-US" sz="1300" dirty="0"/>
          </a:p>
        </p:txBody>
      </p:sp>
      <p:sp>
        <p:nvSpPr>
          <p:cNvPr id="20" name="Text 17"/>
          <p:cNvSpPr/>
          <p:nvPr/>
        </p:nvSpPr>
        <p:spPr>
          <a:xfrm>
            <a:off x="2926080" y="4645152"/>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ACADEMIC YEAR :   2025 - 2026</a:t>
            </a:r>
            <a:endParaRPr lang="en-US" sz="1300" dirty="0"/>
          </a:p>
        </p:txBody>
      </p:sp>
      <p:sp>
        <p:nvSpPr>
          <p:cNvPr id="21" name="Text 18"/>
          <p:cNvSpPr/>
          <p:nvPr/>
        </p:nvSpPr>
        <p:spPr>
          <a:xfrm>
            <a:off x="457200" y="6080760"/>
            <a:ext cx="11292840" cy="411480"/>
          </a:xfrm>
          <a:prstGeom prst="rect">
            <a:avLst/>
          </a:prstGeom>
          <a:noFill/>
          <a:ln/>
        </p:spPr>
        <p:txBody>
          <a:bodyPr wrap="square" rtlCol="0" anchor="ctr"/>
          <a:lstStyle/>
          <a:p>
            <a:pPr algn="ctr" indent="0" marL="0">
              <a:buNone/>
            </a:pPr>
            <a:r>
              <a:rPr lang="en-US" sz="1400" b="1" dirty="0">
                <a:solidFill>
                  <a:srgbClr val="990033"/>
                </a:solidFill>
                <a:latin typeface="Arial" pitchFamily="34" charset="0"/>
                <a:ea typeface="Arial" pitchFamily="34" charset="-122"/>
                <a:cs typeface="Arial" pitchFamily="34" charset="-120"/>
              </a:rPr>
              <a:t>DEPARTMENT OF COMPUTER SCIENCE AND ENGINEERING</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Research Methodology &amp; IPR</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What is Intellectual Property?</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502920"/>
          </a:xfrm>
          <a:prstGeom prst="rect">
            <a:avLst/>
          </a:prstGeom>
          <a:noFill/>
          <a:ln/>
        </p:spPr>
        <p:txBody>
          <a:bodyPr wrap="square" rtlCol="0" anchor="ctr"/>
          <a:lstStyle/>
          <a:p>
            <a:pPr indent="0" marL="0">
              <a:buNone/>
            </a:pPr>
            <a:r>
              <a:rPr lang="en-US" sz="1400" b="1" dirty="0">
                <a:solidFill>
                  <a:srgbClr val="000000"/>
                </a:solidFill>
                <a:latin typeface="Arial" pitchFamily="34" charset="0"/>
                <a:ea typeface="Arial" pitchFamily="34" charset="-122"/>
                <a:cs typeface="Arial" pitchFamily="34" charset="-120"/>
              </a:rPr>
              <a:t>Intellectual Property (IP) </a:t>
            </a:r>
            <a:pPr indent="0" marL="0">
              <a:buNone/>
            </a:pPr>
            <a:r>
              <a:rPr lang="en-US" sz="1400" dirty="0">
                <a:solidFill>
                  <a:srgbClr val="000000"/>
                </a:solidFill>
                <a:latin typeface="Arial" pitchFamily="34" charset="0"/>
                <a:ea typeface="Arial" pitchFamily="34" charset="-122"/>
                <a:cs typeface="Arial" pitchFamily="34" charset="-120"/>
              </a:rPr>
              <a:t>refers to creations of the mind — such as inventions, literary and artistic works, designs, symbols, and brand names. IPR represents the legal rights that protect these creations.</a:t>
            </a:r>
            <a:endParaRPr lang="en-US" sz="1400" dirty="0"/>
          </a:p>
        </p:txBody>
      </p:sp>
      <p:sp>
        <p:nvSpPr>
          <p:cNvPr id="16" name="Shape 13"/>
          <p:cNvSpPr/>
          <p:nvPr/>
        </p:nvSpPr>
        <p:spPr>
          <a:xfrm>
            <a:off x="457200" y="2103120"/>
            <a:ext cx="5394960" cy="3895344"/>
          </a:xfrm>
          <a:prstGeom prst="roundRect">
            <a:avLst>
              <a:gd name="adj" fmla="val 2347"/>
            </a:avLst>
          </a:prstGeom>
          <a:solidFill>
            <a:srgbClr val="E3F2FD"/>
          </a:solidFill>
          <a:ln w="19050">
            <a:solidFill>
              <a:srgbClr val="1565C0"/>
            </a:solidFill>
            <a:prstDash val="solid"/>
          </a:ln>
        </p:spPr>
      </p:sp>
      <p:sp>
        <p:nvSpPr>
          <p:cNvPr id="17" name="Text 14"/>
          <p:cNvSpPr/>
          <p:nvPr/>
        </p:nvSpPr>
        <p:spPr>
          <a:xfrm>
            <a:off x="566928" y="2176272"/>
            <a:ext cx="5212080" cy="347472"/>
          </a:xfrm>
          <a:prstGeom prst="rect">
            <a:avLst/>
          </a:prstGeom>
          <a:noFill/>
          <a:ln/>
        </p:spPr>
        <p:txBody>
          <a:bodyPr wrap="square" lIns="0" tIns="0" rIns="0" bIns="0" rtlCol="0" anchor="ctr"/>
          <a:lstStyle/>
          <a:p>
            <a:pPr indent="0" marL="0">
              <a:buNone/>
            </a:pPr>
            <a:r>
              <a:rPr lang="en-US" sz="1500" b="1" dirty="0">
                <a:solidFill>
                  <a:srgbClr val="1565C0"/>
                </a:solidFill>
                <a:latin typeface="Arial" pitchFamily="34" charset="0"/>
                <a:ea typeface="Arial" pitchFamily="34" charset="-122"/>
                <a:cs typeface="Arial" pitchFamily="34" charset="-120"/>
              </a:rPr>
              <a:t>The Purpose of IPR</a:t>
            </a:r>
            <a:endParaRPr lang="en-US" sz="1500" dirty="0"/>
          </a:p>
        </p:txBody>
      </p:sp>
      <p:sp>
        <p:nvSpPr>
          <p:cNvPr id="18" name="Text 15"/>
          <p:cNvSpPr/>
          <p:nvPr/>
        </p:nvSpPr>
        <p:spPr>
          <a:xfrm>
            <a:off x="566928" y="2560320"/>
            <a:ext cx="5212080" cy="3364992"/>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 Encourage Innovation:</a:t>
            </a:r>
            <a:pPr indent="0" marL="0">
              <a:buNone/>
            </a:pPr>
            <a:r>
              <a:rPr lang="en-US" sz="1300" dirty="0">
                <a:solidFill>
                  <a:srgbClr val="000000"/>
                </a:solidFill>
                <a:latin typeface="Arial" pitchFamily="34" charset="0"/>
                <a:ea typeface="Arial" pitchFamily="34" charset="-122"/>
                <a:cs typeface="Arial" pitchFamily="34" charset="-120"/>
              </a:rPr>
              <a:t> Grants creators exclusive monopoly rights, allowing them to recover R&amp;D costs and profit from their work.</a:t>
            </a:r>
            <a:endParaRPr lang="en-US" sz="1300" dirty="0"/>
          </a:p>
          <a:p>
            <a:pPr indent="0" marL="0">
              <a:buNone/>
            </a:pPr>
            <a:r>
              <a:rPr lang="en-US" sz="1300" b="1" dirty="0">
                <a:solidFill>
                  <a:srgbClr val="006400"/>
                </a:solidFill>
                <a:latin typeface="Arial" pitchFamily="34" charset="0"/>
                <a:ea typeface="Arial" pitchFamily="34" charset="-122"/>
                <a:cs typeface="Arial" pitchFamily="34" charset="-120"/>
              </a:rPr>
              <a:t>• Public Disclosure:</a:t>
            </a:r>
            <a:pPr indent="0" marL="0">
              <a:buNone/>
            </a:pPr>
            <a:r>
              <a:rPr lang="en-US" sz="1300" dirty="0">
                <a:solidFill>
                  <a:srgbClr val="000000"/>
                </a:solidFill>
                <a:latin typeface="Arial" pitchFamily="34" charset="0"/>
                <a:ea typeface="Arial" pitchFamily="34" charset="-122"/>
                <a:cs typeface="Arial" pitchFamily="34" charset="-120"/>
              </a:rPr>
              <a:t> In exchange for legal protection, inventors must publish the details of their creation, expanding global scientific knowledge.</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Economic Asset:</a:t>
            </a:r>
            <a:pPr indent="0" marL="0">
              <a:buNone/>
            </a:pPr>
            <a:r>
              <a:rPr lang="en-US" sz="1300" dirty="0">
                <a:solidFill>
                  <a:srgbClr val="000000"/>
                </a:solidFill>
                <a:latin typeface="Arial" pitchFamily="34" charset="0"/>
                <a:ea typeface="Arial" pitchFamily="34" charset="-122"/>
                <a:cs typeface="Arial" pitchFamily="34" charset="-120"/>
              </a:rPr>
              <a:t> IP can be bought, sold, licensed, or used as collateral for corporate funding.</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Consumer Protection:</a:t>
            </a:r>
            <a:pPr indent="0" marL="0">
              <a:buNone/>
            </a:pPr>
            <a:r>
              <a:rPr lang="en-US" sz="1300" dirty="0">
                <a:solidFill>
                  <a:srgbClr val="000000"/>
                </a:solidFill>
                <a:latin typeface="Arial" pitchFamily="34" charset="0"/>
                <a:ea typeface="Arial" pitchFamily="34" charset="-122"/>
                <a:cs typeface="Arial" pitchFamily="34" charset="-120"/>
              </a:rPr>
              <a:t> Trademarks prevent customer confusion by verifying the origin of products.</a:t>
            </a:r>
            <a:endParaRPr lang="en-US" sz="1300" dirty="0"/>
          </a:p>
        </p:txBody>
      </p:sp>
      <p:sp>
        <p:nvSpPr>
          <p:cNvPr id="19" name="Shape 16"/>
          <p:cNvSpPr/>
          <p:nvPr/>
        </p:nvSpPr>
        <p:spPr>
          <a:xfrm>
            <a:off x="6035040" y="2103120"/>
            <a:ext cx="5715000" cy="3895344"/>
          </a:xfrm>
          <a:prstGeom prst="roundRect">
            <a:avLst>
              <a:gd name="adj" fmla="val 2347"/>
            </a:avLst>
          </a:prstGeom>
          <a:solidFill>
            <a:srgbClr val="FCE4EC"/>
          </a:solidFill>
          <a:ln w="19050">
            <a:solidFill>
              <a:srgbClr val="990033"/>
            </a:solidFill>
            <a:prstDash val="solid"/>
          </a:ln>
        </p:spPr>
      </p:sp>
      <p:sp>
        <p:nvSpPr>
          <p:cNvPr id="20" name="Text 17"/>
          <p:cNvSpPr/>
          <p:nvPr/>
        </p:nvSpPr>
        <p:spPr>
          <a:xfrm>
            <a:off x="6144768" y="2176272"/>
            <a:ext cx="5513832" cy="347472"/>
          </a:xfrm>
          <a:prstGeom prst="rect">
            <a:avLst/>
          </a:prstGeom>
          <a:noFill/>
          <a:ln/>
        </p:spPr>
        <p:txBody>
          <a:bodyPr wrap="square" lIns="0" tIns="0" rIns="0" bIns="0" rtlCol="0" anchor="ctr"/>
          <a:lstStyle/>
          <a:p>
            <a:pPr indent="0" marL="0">
              <a:buNone/>
            </a:pPr>
            <a:r>
              <a:rPr lang="en-US" sz="1500" b="1" dirty="0">
                <a:solidFill>
                  <a:srgbClr val="990033"/>
                </a:solidFill>
                <a:latin typeface="Arial" pitchFamily="34" charset="0"/>
                <a:ea typeface="Arial" pitchFamily="34" charset="-122"/>
                <a:cs typeface="Arial" pitchFamily="34" charset="-120"/>
              </a:rPr>
              <a:t>Four Primary Types of IP</a:t>
            </a:r>
            <a:endParaRPr lang="en-US" sz="1500" dirty="0"/>
          </a:p>
        </p:txBody>
      </p:sp>
      <p:sp>
        <p:nvSpPr>
          <p:cNvPr id="21" name="Text 18"/>
          <p:cNvSpPr/>
          <p:nvPr/>
        </p:nvSpPr>
        <p:spPr>
          <a:xfrm>
            <a:off x="6144768" y="2560320"/>
            <a:ext cx="5513832" cy="3364992"/>
          </a:xfrm>
          <a:prstGeom prst="rect">
            <a:avLst/>
          </a:prstGeom>
          <a:noFill/>
          <a:ln/>
        </p:spPr>
        <p:txBody>
          <a:bodyPr wrap="square" lIns="0" tIns="0" rIns="0" bIns="0" rtlCol="0" anchor="ctr"/>
          <a:lstStyle/>
          <a:p>
            <a:pPr indent="0" marL="0">
              <a:buNone/>
            </a:pPr>
            <a:r>
              <a:rPr lang="en-US" sz="1300" b="1" dirty="0">
                <a:solidFill>
                  <a:srgbClr val="990033"/>
                </a:solidFill>
                <a:latin typeface="Arial" pitchFamily="34" charset="0"/>
                <a:ea typeface="Arial" pitchFamily="34" charset="-122"/>
                <a:cs typeface="Arial" pitchFamily="34" charset="-120"/>
              </a:rPr>
              <a:t>• Patents:</a:t>
            </a:r>
            <a:pPr indent="0" marL="0">
              <a:buNone/>
            </a:pPr>
            <a:r>
              <a:rPr lang="en-US" sz="1300" dirty="0">
                <a:solidFill>
                  <a:srgbClr val="000000"/>
                </a:solidFill>
                <a:latin typeface="Arial" pitchFamily="34" charset="0"/>
                <a:ea typeface="Arial" pitchFamily="34" charset="-122"/>
                <a:cs typeface="Arial" pitchFamily="34" charset="-120"/>
              </a:rPr>
              <a:t> Protects novel, useful inventions and processes (e.g. computer processors). Typically granted for 20 years.</a:t>
            </a:r>
            <a:endParaRPr lang="en-US" sz="1300" dirty="0"/>
          </a:p>
          <a:p>
            <a:pPr indent="0" marL="0">
              <a:buNone/>
            </a:pPr>
            <a:r>
              <a:rPr lang="en-US" sz="1300" b="1" dirty="0">
                <a:solidFill>
                  <a:srgbClr val="990033"/>
                </a:solidFill>
                <a:latin typeface="Arial" pitchFamily="34" charset="0"/>
                <a:ea typeface="Arial" pitchFamily="34" charset="-122"/>
                <a:cs typeface="Arial" pitchFamily="34" charset="-120"/>
              </a:rPr>
              <a:t>• Industrial Designs:</a:t>
            </a:r>
            <a:pPr indent="0" marL="0">
              <a:buNone/>
            </a:pPr>
            <a:r>
              <a:rPr lang="en-US" sz="1300" dirty="0">
                <a:solidFill>
                  <a:srgbClr val="000000"/>
                </a:solidFill>
                <a:latin typeface="Arial" pitchFamily="34" charset="0"/>
                <a:ea typeface="Arial" pitchFamily="34" charset="-122"/>
                <a:cs typeface="Arial" pitchFamily="34" charset="-120"/>
              </a:rPr>
              <a:t> Protects the visual, aesthetic appearance of an object (e.g. smart phone shape).</a:t>
            </a:r>
            <a:endParaRPr lang="en-US" sz="1300" dirty="0"/>
          </a:p>
          <a:p>
            <a:pPr indent="0" marL="0">
              <a:buNone/>
            </a:pPr>
            <a:r>
              <a:rPr lang="en-US" sz="1300" b="1" dirty="0">
                <a:solidFill>
                  <a:srgbClr val="990033"/>
                </a:solidFill>
                <a:latin typeface="Arial" pitchFamily="34" charset="0"/>
                <a:ea typeface="Arial" pitchFamily="34" charset="-122"/>
                <a:cs typeface="Arial" pitchFamily="34" charset="-120"/>
              </a:rPr>
              <a:t>• Trademarks:</a:t>
            </a:r>
            <a:pPr indent="0" marL="0">
              <a:buNone/>
            </a:pPr>
            <a:r>
              <a:rPr lang="en-US" sz="1300" dirty="0">
                <a:solidFill>
                  <a:srgbClr val="000000"/>
                </a:solidFill>
                <a:latin typeface="Arial" pitchFamily="34" charset="0"/>
                <a:ea typeface="Arial" pitchFamily="34" charset="-122"/>
                <a:cs typeface="Arial" pitchFamily="34" charset="-120"/>
              </a:rPr>
              <a:t> Protects brand names, logos, and slogans (e.g. 'Apple' leaf logo). Prevents brand copycats.</a:t>
            </a:r>
            <a:endParaRPr lang="en-US" sz="1300" dirty="0"/>
          </a:p>
          <a:p>
            <a:pPr indent="0" marL="0">
              <a:buNone/>
            </a:pPr>
            <a:r>
              <a:rPr lang="en-US" sz="1300" b="1" dirty="0">
                <a:solidFill>
                  <a:srgbClr val="990033"/>
                </a:solidFill>
                <a:latin typeface="Arial" pitchFamily="34" charset="0"/>
                <a:ea typeface="Arial" pitchFamily="34" charset="-122"/>
                <a:cs typeface="Arial" pitchFamily="34" charset="-120"/>
              </a:rPr>
              <a:t>• Copyrights:</a:t>
            </a:r>
            <a:pPr indent="0" marL="0">
              <a:buNone/>
            </a:pPr>
            <a:r>
              <a:rPr lang="en-US" sz="1300" dirty="0">
                <a:solidFill>
                  <a:srgbClr val="000000"/>
                </a:solidFill>
                <a:latin typeface="Arial" pitchFamily="34" charset="0"/>
                <a:ea typeface="Arial" pitchFamily="34" charset="-122"/>
                <a:cs typeface="Arial" pitchFamily="34" charset="-120"/>
              </a:rPr>
              <a:t> Protects original artistic, musical, or literary works. E.g. books, music, and software code.</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Research Methodology &amp; IPR</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Inventions and Patentability Criteria</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45720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A patent is a government grant giving an inventor exclusive rights to exclude others from using the invention:</a:t>
            </a:r>
            <a:endParaRPr lang="en-US" sz="1400" dirty="0"/>
          </a:p>
        </p:txBody>
      </p:sp>
      <p:sp>
        <p:nvSpPr>
          <p:cNvPr id="16" name="Shape 13"/>
          <p:cNvSpPr/>
          <p:nvPr/>
        </p:nvSpPr>
        <p:spPr>
          <a:xfrm>
            <a:off x="457200" y="2103120"/>
            <a:ext cx="5394960" cy="4114800"/>
          </a:xfrm>
          <a:prstGeom prst="roundRect">
            <a:avLst>
              <a:gd name="adj" fmla="val 2222"/>
            </a:avLst>
          </a:prstGeom>
          <a:solidFill>
            <a:srgbClr val="E8F5E9"/>
          </a:solidFill>
          <a:ln w="19050">
            <a:solidFill>
              <a:srgbClr val="009900"/>
            </a:solidFill>
            <a:prstDash val="solid"/>
          </a:ln>
        </p:spPr>
      </p:sp>
      <p:sp>
        <p:nvSpPr>
          <p:cNvPr id="17" name="Text 14"/>
          <p:cNvSpPr/>
          <p:nvPr/>
        </p:nvSpPr>
        <p:spPr>
          <a:xfrm>
            <a:off x="566928" y="2176272"/>
            <a:ext cx="5212080" cy="347472"/>
          </a:xfrm>
          <a:prstGeom prst="rect">
            <a:avLst/>
          </a:prstGeom>
          <a:noFill/>
          <a:ln/>
        </p:spPr>
        <p:txBody>
          <a:bodyPr wrap="square" lIns="0" tIns="0" rIns="0" bIns="0" rtlCol="0" anchor="ctr"/>
          <a:lstStyle/>
          <a:p>
            <a:pPr indent="0" marL="0">
              <a:buNone/>
            </a:pPr>
            <a:r>
              <a:rPr lang="en-US" sz="1500" b="1" dirty="0">
                <a:solidFill>
                  <a:srgbClr val="009900"/>
                </a:solidFill>
                <a:latin typeface="Arial" pitchFamily="34" charset="0"/>
                <a:ea typeface="Arial" pitchFamily="34" charset="-122"/>
                <a:cs typeface="Arial" pitchFamily="34" charset="-120"/>
              </a:rPr>
              <a:t>Three Criteria for Patentability</a:t>
            </a:r>
            <a:endParaRPr lang="en-US" sz="1500" dirty="0"/>
          </a:p>
        </p:txBody>
      </p:sp>
      <p:sp>
        <p:nvSpPr>
          <p:cNvPr id="18" name="Text 15"/>
          <p:cNvSpPr/>
          <p:nvPr/>
        </p:nvSpPr>
        <p:spPr>
          <a:xfrm>
            <a:off x="566928" y="2606040"/>
            <a:ext cx="5212080" cy="3474720"/>
          </a:xfrm>
          <a:prstGeom prst="rect">
            <a:avLst/>
          </a:prstGeom>
          <a:noFill/>
          <a:ln/>
        </p:spPr>
        <p:txBody>
          <a:bodyPr wrap="square" lIns="0" tIns="0" rIns="0" bIns="0" rtlCol="0" anchor="ctr"/>
          <a:lstStyle/>
          <a:p>
            <a:pPr indent="0" marL="0">
              <a:buNone/>
            </a:pPr>
            <a:r>
              <a:rPr lang="en-US" sz="1300" b="1" dirty="0">
                <a:solidFill>
                  <a:srgbClr val="006400"/>
                </a:solidFill>
                <a:latin typeface="Arial" pitchFamily="34" charset="0"/>
                <a:ea typeface="Arial" pitchFamily="34" charset="-122"/>
                <a:cs typeface="Arial" pitchFamily="34" charset="-120"/>
              </a:rPr>
              <a:t>1. Novelty (Newness):
</a:t>
            </a:r>
            <a:pPr indent="0" marL="0">
              <a:buNone/>
            </a:pPr>
            <a:r>
              <a:rPr lang="en-US" sz="1300" dirty="0">
                <a:solidFill>
                  <a:srgbClr val="000000"/>
                </a:solidFill>
                <a:latin typeface="Arial" pitchFamily="34" charset="0"/>
                <a:ea typeface="Arial" pitchFamily="34" charset="-122"/>
                <a:cs typeface="Arial" pitchFamily="34" charset="-120"/>
              </a:rPr>
              <a:t>   The invention must not be described in prior art anywhere in the world before the filing date.
</a:t>
            </a:r>
            <a:pPr indent="0" marL="0">
              <a:buNone/>
            </a:pPr>
            <a:r>
              <a:rPr lang="en-US" sz="1300" b="1" dirty="0">
                <a:solidFill>
                  <a:srgbClr val="006400"/>
                </a:solidFill>
                <a:latin typeface="Arial" pitchFamily="34" charset="0"/>
                <a:ea typeface="Arial" pitchFamily="34" charset="-122"/>
                <a:cs typeface="Arial" pitchFamily="34" charset="-120"/>
              </a:rPr>
              <a:t>2. Inventive Step (Non-Obviousness):
</a:t>
            </a:r>
            <a:pPr indent="0" marL="0">
              <a:buNone/>
            </a:pPr>
            <a:r>
              <a:rPr lang="en-US" sz="1300" dirty="0">
                <a:solidFill>
                  <a:srgbClr val="000000"/>
                </a:solidFill>
                <a:latin typeface="Arial" pitchFamily="34" charset="0"/>
                <a:ea typeface="Arial" pitchFamily="34" charset="-122"/>
                <a:cs typeface="Arial" pitchFamily="34" charset="-120"/>
              </a:rPr>
              <a:t>   Must not be obvious to a person with ordinary skill in that technical field.
</a:t>
            </a:r>
            <a:pPr indent="0" marL="0">
              <a:buNone/>
            </a:pPr>
            <a:r>
              <a:rPr lang="en-US" sz="1300" b="1" dirty="0">
                <a:solidFill>
                  <a:srgbClr val="006400"/>
                </a:solidFill>
                <a:latin typeface="Arial" pitchFamily="34" charset="0"/>
                <a:ea typeface="Arial" pitchFamily="34" charset="-122"/>
                <a:cs typeface="Arial" pitchFamily="34" charset="-120"/>
              </a:rPr>
              <a:t>3. Industrial Applicability (Utility):
</a:t>
            </a:r>
            <a:pPr indent="0" marL="0">
              <a:buNone/>
            </a:pPr>
            <a:r>
              <a:rPr lang="en-US" sz="1300" dirty="0">
                <a:solidFill>
                  <a:srgbClr val="000000"/>
                </a:solidFill>
                <a:latin typeface="Arial" pitchFamily="34" charset="0"/>
                <a:ea typeface="Arial" pitchFamily="34" charset="-122"/>
                <a:cs typeface="Arial" pitchFamily="34" charset="-120"/>
              </a:rPr>
              <a:t>   Must be useful and capable of being manufactured or used in some industry.</a:t>
            </a:r>
            <a:endParaRPr lang="en-US" sz="1300" dirty="0"/>
          </a:p>
        </p:txBody>
      </p:sp>
      <p:sp>
        <p:nvSpPr>
          <p:cNvPr id="19" name="Shape 16"/>
          <p:cNvSpPr/>
          <p:nvPr/>
        </p:nvSpPr>
        <p:spPr>
          <a:xfrm>
            <a:off x="6035040" y="2103120"/>
            <a:ext cx="5715000" cy="4114800"/>
          </a:xfrm>
          <a:prstGeom prst="roundRect">
            <a:avLst>
              <a:gd name="adj" fmla="val 2222"/>
            </a:avLst>
          </a:prstGeom>
          <a:solidFill>
            <a:srgbClr val="FFF9C4"/>
          </a:solidFill>
          <a:ln w="19050">
            <a:solidFill>
              <a:srgbClr val="F57F17"/>
            </a:solidFill>
            <a:prstDash val="solid"/>
          </a:ln>
        </p:spPr>
      </p:sp>
      <p:sp>
        <p:nvSpPr>
          <p:cNvPr id="20" name="Text 17"/>
          <p:cNvSpPr/>
          <p:nvPr/>
        </p:nvSpPr>
        <p:spPr>
          <a:xfrm>
            <a:off x="6144768" y="2176272"/>
            <a:ext cx="5513832" cy="347472"/>
          </a:xfrm>
          <a:prstGeom prst="rect">
            <a:avLst/>
          </a:prstGeom>
          <a:noFill/>
          <a:ln/>
        </p:spPr>
        <p:txBody>
          <a:bodyPr wrap="square" lIns="0" tIns="0" rIns="0" bIns="0" rtlCol="0" anchor="ctr"/>
          <a:lstStyle/>
          <a:p>
            <a:pPr indent="0" marL="0">
              <a:buNone/>
            </a:pPr>
            <a:r>
              <a:rPr lang="en-US" sz="1500" b="1" dirty="0">
                <a:solidFill>
                  <a:srgbClr val="F57F17"/>
                </a:solidFill>
                <a:latin typeface="Arial" pitchFamily="34" charset="0"/>
                <a:ea typeface="Arial" pitchFamily="34" charset="-122"/>
                <a:cs typeface="Arial" pitchFamily="34" charset="-120"/>
              </a:rPr>
              <a:t>What CANNOT be Patented?</a:t>
            </a:r>
            <a:endParaRPr lang="en-US" sz="1500" dirty="0"/>
          </a:p>
        </p:txBody>
      </p:sp>
      <p:sp>
        <p:nvSpPr>
          <p:cNvPr id="21" name="Text 18"/>
          <p:cNvSpPr/>
          <p:nvPr/>
        </p:nvSpPr>
        <p:spPr>
          <a:xfrm>
            <a:off x="6144768" y="2606040"/>
            <a:ext cx="5513832" cy="3474720"/>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Most patent systems (including India's) exclude:</a:t>
            </a:r>
            <a:endParaRPr lang="en-US" sz="1300" dirty="0"/>
          </a:p>
          <a:p>
            <a:pPr indent="0" marL="0">
              <a:buNone/>
            </a:pPr>
            <a:r>
              <a:rPr lang="en-US" sz="1300" b="1" dirty="0">
                <a:solidFill>
                  <a:srgbClr val="990033"/>
                </a:solidFill>
                <a:latin typeface="Arial" pitchFamily="34" charset="0"/>
                <a:ea typeface="Arial" pitchFamily="34" charset="-122"/>
                <a:cs typeface="Arial" pitchFamily="34" charset="-120"/>
              </a:rPr>
              <a:t>• Mathematical Formulas:</a:t>
            </a:r>
            <a:pPr indent="0" marL="0">
              <a:buNone/>
            </a:pPr>
            <a:r>
              <a:rPr lang="en-US" sz="1300" dirty="0">
                <a:solidFill>
                  <a:srgbClr val="000000"/>
                </a:solidFill>
                <a:latin typeface="Arial" pitchFamily="34" charset="0"/>
                <a:ea typeface="Arial" pitchFamily="34" charset="-122"/>
                <a:cs typeface="Arial" pitchFamily="34" charset="-120"/>
              </a:rPr>
              <a:t> Pure algorithms or mathematical models (e.g. Einstein's E=mc²).</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Laws of Nature:</a:t>
            </a:r>
            <a:pPr indent="0" marL="0">
              <a:buNone/>
            </a:pPr>
            <a:r>
              <a:rPr lang="en-US" sz="1300" dirty="0">
                <a:solidFill>
                  <a:srgbClr val="000000"/>
                </a:solidFill>
                <a:latin typeface="Arial" pitchFamily="34" charset="0"/>
                <a:ea typeface="Arial" pitchFamily="34" charset="-122"/>
                <a:cs typeface="Arial" pitchFamily="34" charset="-120"/>
              </a:rPr>
              <a:t> Discovering a new plant or natural mineral in the wild.</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Business Methods:</a:t>
            </a:r>
            <a:pPr indent="0" marL="0">
              <a:buNone/>
            </a:pPr>
            <a:r>
              <a:rPr lang="en-US" sz="1300" dirty="0">
                <a:solidFill>
                  <a:srgbClr val="000000"/>
                </a:solidFill>
                <a:latin typeface="Arial" pitchFamily="34" charset="0"/>
                <a:ea typeface="Arial" pitchFamily="34" charset="-122"/>
                <a:cs typeface="Arial" pitchFamily="34" charset="-120"/>
              </a:rPr>
              <a:t> Abstract business concepts (e.g., standard auction steps).</a:t>
            </a:r>
            <a:endParaRPr lang="en-US" sz="1300" dirty="0"/>
          </a:p>
          <a:p>
            <a:pPr indent="0" marL="0">
              <a:buNone/>
            </a:pPr>
            <a:r>
              <a:rPr lang="en-US" sz="1300" b="1" dirty="0">
                <a:solidFill>
                  <a:srgbClr val="990033"/>
                </a:solidFill>
                <a:latin typeface="Arial" pitchFamily="34" charset="0"/>
                <a:ea typeface="Arial" pitchFamily="34" charset="-122"/>
                <a:cs typeface="Arial" pitchFamily="34" charset="-120"/>
              </a:rPr>
              <a:t>• Software as Code:</a:t>
            </a:r>
            <a:pPr indent="0" marL="0">
              <a:buNone/>
            </a:pPr>
            <a:r>
              <a:rPr lang="en-US" sz="1300" dirty="0">
                <a:solidFill>
                  <a:srgbClr val="000000"/>
                </a:solidFill>
                <a:latin typeface="Arial" pitchFamily="34" charset="0"/>
                <a:ea typeface="Arial" pitchFamily="34" charset="-122"/>
                <a:cs typeface="Arial" pitchFamily="34" charset="-120"/>
              </a:rPr>
              <a:t> Raw code is protected by Copyrights, not patents. However, software that controls physical hardware can be patented in some regions.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Research Methodology &amp; IPR</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Process of Patenting &amp; PCT</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45720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How patents are filed locally and globally using international treaties:</a:t>
            </a:r>
            <a:endParaRPr lang="en-US" sz="1400" dirty="0"/>
          </a:p>
        </p:txBody>
      </p:sp>
      <p:sp>
        <p:nvSpPr>
          <p:cNvPr id="16" name="Shape 13"/>
          <p:cNvSpPr/>
          <p:nvPr/>
        </p:nvSpPr>
        <p:spPr>
          <a:xfrm>
            <a:off x="457200" y="2103120"/>
            <a:ext cx="5394960" cy="4114800"/>
          </a:xfrm>
          <a:prstGeom prst="roundRect">
            <a:avLst>
              <a:gd name="adj" fmla="val 2222"/>
            </a:avLst>
          </a:prstGeom>
          <a:solidFill>
            <a:srgbClr val="F8F8F8"/>
          </a:solidFill>
          <a:ln w="19050">
            <a:solidFill>
              <a:srgbClr val="555555"/>
            </a:solidFill>
            <a:prstDash val="solid"/>
          </a:ln>
        </p:spPr>
      </p:sp>
      <p:sp>
        <p:nvSpPr>
          <p:cNvPr id="17" name="Text 14"/>
          <p:cNvSpPr/>
          <p:nvPr/>
        </p:nvSpPr>
        <p:spPr>
          <a:xfrm>
            <a:off x="566928" y="2176272"/>
            <a:ext cx="5212080" cy="347472"/>
          </a:xfrm>
          <a:prstGeom prst="rect">
            <a:avLst/>
          </a:prstGeom>
          <a:noFill/>
          <a:ln/>
        </p:spPr>
        <p:txBody>
          <a:bodyPr wrap="square" lIns="0" tIns="0" rIns="0" bIns="0" rtlCol="0" anchor="ctr"/>
          <a:lstStyle/>
          <a:p>
            <a:pPr indent="0" marL="0">
              <a:buNone/>
            </a:pPr>
            <a:r>
              <a:rPr lang="en-US" sz="1500" b="1" dirty="0">
                <a:solidFill>
                  <a:srgbClr val="990033"/>
                </a:solidFill>
                <a:latin typeface="Arial" pitchFamily="34" charset="0"/>
                <a:ea typeface="Arial" pitchFamily="34" charset="-122"/>
                <a:cs typeface="Arial" pitchFamily="34" charset="-120"/>
              </a:rPr>
              <a:t>Standard Patenting Timeline</a:t>
            </a:r>
            <a:endParaRPr lang="en-US" sz="1500" dirty="0"/>
          </a:p>
        </p:txBody>
      </p:sp>
      <p:sp>
        <p:nvSpPr>
          <p:cNvPr id="18" name="Text 15"/>
          <p:cNvSpPr/>
          <p:nvPr/>
        </p:nvSpPr>
        <p:spPr>
          <a:xfrm>
            <a:off x="566928" y="2606040"/>
            <a:ext cx="5212080" cy="3474720"/>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1. Innovation &amp; Prior Art Search:</a:t>
            </a:r>
            <a:pPr indent="0" marL="0">
              <a:buNone/>
            </a:pPr>
            <a:r>
              <a:rPr lang="en-US" sz="1300" dirty="0">
                <a:solidFill>
                  <a:srgbClr val="000000"/>
                </a:solidFill>
                <a:latin typeface="Arial" pitchFamily="34" charset="0"/>
                <a:ea typeface="Arial" pitchFamily="34" charset="-122"/>
                <a:cs typeface="Arial" pitchFamily="34" charset="-120"/>
              </a:rPr>
              <a:t> Verify novelty using patent databases (Espacenet, USPTO).</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2. Draft Specification:</a:t>
            </a:r>
            <a:pPr indent="0" marL="0">
              <a:buNone/>
            </a:pPr>
            <a:r>
              <a:rPr lang="en-US" sz="1300" dirty="0">
                <a:solidFill>
                  <a:srgbClr val="000000"/>
                </a:solidFill>
                <a:latin typeface="Arial" pitchFamily="34" charset="0"/>
                <a:ea typeface="Arial" pitchFamily="34" charset="-122"/>
                <a:cs typeface="Arial" pitchFamily="34" charset="-120"/>
              </a:rPr>
              <a:t> Write the patent description and compile the precise 'claims' defining your invention's boundaries.</a:t>
            </a:r>
            <a:endParaRPr lang="en-US" sz="1300" dirty="0"/>
          </a:p>
          <a:p>
            <a:pPr indent="0" marL="0">
              <a:buNone/>
            </a:pPr>
            <a:r>
              <a:rPr lang="en-US" sz="1300" b="1" dirty="0">
                <a:solidFill>
                  <a:srgbClr val="1565C0"/>
                </a:solidFill>
                <a:latin typeface="Arial" pitchFamily="34" charset="0"/>
                <a:ea typeface="Arial" pitchFamily="34" charset="-122"/>
                <a:cs typeface="Arial" pitchFamily="34" charset="-120"/>
              </a:rPr>
              <a:t>3. File Application:</a:t>
            </a:r>
            <a:pPr indent="0" marL="0">
              <a:buNone/>
            </a:pPr>
            <a:r>
              <a:rPr lang="en-US" sz="1300" dirty="0">
                <a:solidFill>
                  <a:srgbClr val="000000"/>
                </a:solidFill>
                <a:latin typeface="Arial" pitchFamily="34" charset="0"/>
                <a:ea typeface="Arial" pitchFamily="34" charset="-122"/>
                <a:cs typeface="Arial" pitchFamily="34" charset="-120"/>
              </a:rPr>
              <a:t> File a provisional application to secure your 'priority date'.</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4. Publication &amp; Examination:</a:t>
            </a:r>
            <a:pPr indent="0" marL="0">
              <a:buNone/>
            </a:pPr>
            <a:r>
              <a:rPr lang="en-US" sz="1300" dirty="0">
                <a:solidFill>
                  <a:srgbClr val="000000"/>
                </a:solidFill>
                <a:latin typeface="Arial" pitchFamily="34" charset="0"/>
                <a:ea typeface="Arial" pitchFamily="34" charset="-122"/>
                <a:cs typeface="Arial" pitchFamily="34" charset="-120"/>
              </a:rPr>
              <a:t> Patent office publishes the application and reviews claims against prior art.</a:t>
            </a:r>
            <a:endParaRPr lang="en-US" sz="1300" dirty="0"/>
          </a:p>
          <a:p>
            <a:pPr indent="0" marL="0">
              <a:buNone/>
            </a:pPr>
            <a:r>
              <a:rPr lang="en-US" sz="1300" b="1" dirty="0">
                <a:solidFill>
                  <a:srgbClr val="006400"/>
                </a:solidFill>
                <a:latin typeface="Arial" pitchFamily="34" charset="0"/>
                <a:ea typeface="Arial" pitchFamily="34" charset="-122"/>
                <a:cs typeface="Arial" pitchFamily="34" charset="-120"/>
              </a:rPr>
              <a:t>5. Grant of Patent:</a:t>
            </a:r>
            <a:pPr indent="0" marL="0">
              <a:buNone/>
            </a:pPr>
            <a:r>
              <a:rPr lang="en-US" sz="1300" dirty="0">
                <a:solidFill>
                  <a:srgbClr val="000000"/>
                </a:solidFill>
                <a:latin typeface="Arial" pitchFamily="34" charset="0"/>
                <a:ea typeface="Arial" pitchFamily="34" charset="-122"/>
                <a:cs typeface="Arial" pitchFamily="34" charset="-120"/>
              </a:rPr>
              <a:t> If approved, the patent is granted, requiring annual renewal fees.</a:t>
            </a:r>
            <a:endParaRPr lang="en-US" sz="1300" dirty="0"/>
          </a:p>
        </p:txBody>
      </p:sp>
      <p:sp>
        <p:nvSpPr>
          <p:cNvPr id="19" name="Shape 16"/>
          <p:cNvSpPr/>
          <p:nvPr/>
        </p:nvSpPr>
        <p:spPr>
          <a:xfrm>
            <a:off x="6035040" y="2103120"/>
            <a:ext cx="5715000" cy="4114800"/>
          </a:xfrm>
          <a:prstGeom prst="roundRect">
            <a:avLst>
              <a:gd name="adj" fmla="val 2222"/>
            </a:avLst>
          </a:prstGeom>
          <a:solidFill>
            <a:srgbClr val="E3F2FD"/>
          </a:solidFill>
          <a:ln w="19050">
            <a:solidFill>
              <a:srgbClr val="1565C0"/>
            </a:solidFill>
            <a:prstDash val="solid"/>
          </a:ln>
        </p:spPr>
      </p:sp>
      <p:sp>
        <p:nvSpPr>
          <p:cNvPr id="20" name="Text 17"/>
          <p:cNvSpPr/>
          <p:nvPr/>
        </p:nvSpPr>
        <p:spPr>
          <a:xfrm>
            <a:off x="6144768" y="2176272"/>
            <a:ext cx="5513832" cy="347472"/>
          </a:xfrm>
          <a:prstGeom prst="rect">
            <a:avLst/>
          </a:prstGeom>
          <a:noFill/>
          <a:ln/>
        </p:spPr>
        <p:txBody>
          <a:bodyPr wrap="square" lIns="0" tIns="0" rIns="0" bIns="0" rtlCol="0" anchor="ctr"/>
          <a:lstStyle/>
          <a:p>
            <a:pPr indent="0" marL="0">
              <a:buNone/>
            </a:pPr>
            <a:r>
              <a:rPr lang="en-US" sz="1500" b="1" dirty="0">
                <a:solidFill>
                  <a:srgbClr val="1565C0"/>
                </a:solidFill>
                <a:latin typeface="Arial" pitchFamily="34" charset="0"/>
                <a:ea typeface="Arial" pitchFamily="34" charset="-122"/>
                <a:cs typeface="Arial" pitchFamily="34" charset="-120"/>
              </a:rPr>
              <a:t>Patent Cooperation Treaty (PCT)</a:t>
            </a:r>
            <a:endParaRPr lang="en-US" sz="1500" dirty="0"/>
          </a:p>
        </p:txBody>
      </p:sp>
      <p:sp>
        <p:nvSpPr>
          <p:cNvPr id="21" name="Text 18"/>
          <p:cNvSpPr/>
          <p:nvPr/>
        </p:nvSpPr>
        <p:spPr>
          <a:xfrm>
            <a:off x="6144768" y="2606040"/>
            <a:ext cx="5513832" cy="3474720"/>
          </a:xfrm>
          <a:prstGeom prst="rect">
            <a:avLst/>
          </a:prstGeom>
          <a:noFill/>
          <a:ln/>
        </p:spPr>
        <p:txBody>
          <a:bodyPr wrap="square" lIns="0" tIns="0" rIns="0" bIns="0" rtlCol="0" anchor="ctr"/>
          <a:lstStyle/>
          <a:p>
            <a:pPr indent="0" marL="0">
              <a:buNone/>
            </a:pPr>
            <a:r>
              <a:rPr lang="en-US" sz="1250" b="1" dirty="0">
                <a:solidFill>
                  <a:srgbClr val="990033"/>
                </a:solidFill>
                <a:latin typeface="Arial" pitchFamily="34" charset="0"/>
                <a:ea typeface="Arial" pitchFamily="34" charset="-122"/>
                <a:cs typeface="Arial" pitchFamily="34" charset="-120"/>
              </a:rPr>
              <a:t>• Territorial Limitation:</a:t>
            </a:r>
            <a:pPr indent="0" marL="0">
              <a:buNone/>
            </a:pPr>
            <a:r>
              <a:rPr lang="en-US" sz="1250" dirty="0">
                <a:solidFill>
                  <a:srgbClr val="000000"/>
                </a:solidFill>
                <a:latin typeface="Arial" pitchFamily="34" charset="0"/>
                <a:ea typeface="Arial" pitchFamily="34" charset="-122"/>
                <a:cs typeface="Arial" pitchFamily="34" charset="-120"/>
              </a:rPr>
              <a:t> Patents are national. A patent granted in India does not protect your invention in the USA.</a:t>
            </a:r>
            <a:endParaRPr lang="en-US" sz="1250" dirty="0"/>
          </a:p>
          <a:p>
            <a:pPr indent="0" marL="0">
              <a:buNone/>
            </a:pPr>
            <a:r>
              <a:rPr lang="en-US" sz="1250" b="1" dirty="0">
                <a:solidFill>
                  <a:srgbClr val="000000"/>
                </a:solidFill>
                <a:latin typeface="Arial" pitchFamily="34" charset="0"/>
                <a:ea typeface="Arial" pitchFamily="34" charset="-122"/>
                <a:cs typeface="Arial" pitchFamily="34" charset="-120"/>
              </a:rPr>
              <a:t>• The PCT Solution:</a:t>
            </a:r>
            <a:pPr indent="0" marL="0">
              <a:buNone/>
            </a:pPr>
            <a:r>
              <a:rPr lang="en-US" sz="1250" dirty="0">
                <a:solidFill>
                  <a:srgbClr val="000000"/>
                </a:solidFill>
                <a:latin typeface="Arial" pitchFamily="34" charset="0"/>
                <a:ea typeface="Arial" pitchFamily="34" charset="-122"/>
                <a:cs typeface="Arial" pitchFamily="34" charset="-120"/>
              </a:rPr>
              <a:t> Administered by WIPO, the PCT allows inventors to file a SINGLE 'international' application to secure priority in 150+ member countries simultaneously.</a:t>
            </a:r>
            <a:endParaRPr lang="en-US" sz="1250" dirty="0"/>
          </a:p>
          <a:p>
            <a:pPr indent="0" marL="0">
              <a:buNone/>
            </a:pPr>
            <a:r>
              <a:rPr lang="en-US" sz="1250" b="1" dirty="0">
                <a:solidFill>
                  <a:srgbClr val="006400"/>
                </a:solidFill>
                <a:latin typeface="Arial" pitchFamily="34" charset="0"/>
                <a:ea typeface="Arial" pitchFamily="34" charset="-122"/>
                <a:cs typeface="Arial" pitchFamily="34" charset="-120"/>
              </a:rPr>
              <a:t>• Priority Window:</a:t>
            </a:r>
            <a:pPr indent="0" marL="0">
              <a:buNone/>
            </a:pPr>
            <a:r>
              <a:rPr lang="en-US" sz="1250" dirty="0">
                <a:solidFill>
                  <a:srgbClr val="000000"/>
                </a:solidFill>
                <a:latin typeface="Arial" pitchFamily="34" charset="0"/>
                <a:ea typeface="Arial" pitchFamily="34" charset="-122"/>
                <a:cs typeface="Arial" pitchFamily="34" charset="-120"/>
              </a:rPr>
              <a:t> Secures a priority window of 30 months. This gives inventors time to search for foreign investors before paying expensive foreign filing fees.</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Research Methodology &amp; IPR</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Applications of IP Protection</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36576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Intellectual property rights are critical business assets across the tech sector:</a:t>
            </a:r>
            <a:endParaRPr lang="en-US" sz="1400" dirty="0"/>
          </a:p>
        </p:txBody>
      </p:sp>
      <p:sp>
        <p:nvSpPr>
          <p:cNvPr id="16" name="Shape 13"/>
          <p:cNvSpPr/>
          <p:nvPr/>
        </p:nvSpPr>
        <p:spPr>
          <a:xfrm>
            <a:off x="457200" y="2011680"/>
            <a:ext cx="5532120" cy="1956816"/>
          </a:xfrm>
          <a:prstGeom prst="roundRect">
            <a:avLst>
              <a:gd name="adj" fmla="val 4673"/>
            </a:avLst>
          </a:prstGeom>
          <a:solidFill>
            <a:srgbClr val="E8F5E9"/>
          </a:solidFill>
          <a:ln w="19050">
            <a:solidFill>
              <a:srgbClr val="009900"/>
            </a:solidFill>
            <a:prstDash val="solid"/>
          </a:ln>
        </p:spPr>
      </p:sp>
      <p:sp>
        <p:nvSpPr>
          <p:cNvPr id="17" name="Text 14"/>
          <p:cNvSpPr/>
          <p:nvPr/>
        </p:nvSpPr>
        <p:spPr>
          <a:xfrm>
            <a:off x="566928" y="2103120"/>
            <a:ext cx="5312664" cy="347472"/>
          </a:xfrm>
          <a:prstGeom prst="rect">
            <a:avLst/>
          </a:prstGeom>
          <a:noFill/>
          <a:ln/>
        </p:spPr>
        <p:txBody>
          <a:bodyPr wrap="square" lIns="0" tIns="0" rIns="0" bIns="0" rtlCol="0" anchor="ctr"/>
          <a:lstStyle/>
          <a:p>
            <a:pPr indent="0" marL="0">
              <a:buNone/>
            </a:pPr>
            <a:r>
              <a:rPr lang="en-US" sz="1450" b="1" dirty="0">
                <a:solidFill>
                  <a:srgbClr val="009900"/>
                </a:solidFill>
                <a:latin typeface="Arial" pitchFamily="34" charset="0"/>
                <a:ea typeface="Arial" pitchFamily="34" charset="-122"/>
                <a:cs typeface="Arial" pitchFamily="34" charset="-120"/>
              </a:rPr>
              <a:t>💻  Software Innovations Protection</a:t>
            </a:r>
            <a:endParaRPr lang="en-US" sz="1450" dirty="0"/>
          </a:p>
        </p:txBody>
      </p:sp>
      <p:sp>
        <p:nvSpPr>
          <p:cNvPr id="18" name="Text 15"/>
          <p:cNvSpPr/>
          <p:nvPr/>
        </p:nvSpPr>
        <p:spPr>
          <a:xfrm>
            <a:off x="566928" y="248716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Tech companies protect proprietary software engines (like search algorithms or video compression codecs) using patents, while protecting source code files using copyrights.</a:t>
            </a:r>
            <a:endParaRPr lang="en-US" sz="1300" dirty="0"/>
          </a:p>
        </p:txBody>
      </p:sp>
      <p:sp>
        <p:nvSpPr>
          <p:cNvPr id="19" name="Shape 16"/>
          <p:cNvSpPr/>
          <p:nvPr/>
        </p:nvSpPr>
        <p:spPr>
          <a:xfrm>
            <a:off x="6144768" y="2011680"/>
            <a:ext cx="5532120" cy="1956816"/>
          </a:xfrm>
          <a:prstGeom prst="roundRect">
            <a:avLst>
              <a:gd name="adj" fmla="val 4673"/>
            </a:avLst>
          </a:prstGeom>
          <a:solidFill>
            <a:srgbClr val="E3F2FD"/>
          </a:solidFill>
          <a:ln w="19050">
            <a:solidFill>
              <a:srgbClr val="1565C0"/>
            </a:solidFill>
            <a:prstDash val="solid"/>
          </a:ln>
        </p:spPr>
      </p:sp>
      <p:sp>
        <p:nvSpPr>
          <p:cNvPr id="20" name="Text 17"/>
          <p:cNvSpPr/>
          <p:nvPr/>
        </p:nvSpPr>
        <p:spPr>
          <a:xfrm>
            <a:off x="6254496" y="2103120"/>
            <a:ext cx="5312664" cy="347472"/>
          </a:xfrm>
          <a:prstGeom prst="rect">
            <a:avLst/>
          </a:prstGeom>
          <a:noFill/>
          <a:ln/>
        </p:spPr>
        <p:txBody>
          <a:bodyPr wrap="square" lIns="0" tIns="0" rIns="0" bIns="0" rtlCol="0" anchor="ctr"/>
          <a:lstStyle/>
          <a:p>
            <a:pPr indent="0" marL="0">
              <a:buNone/>
            </a:pPr>
            <a:r>
              <a:rPr lang="en-US" sz="1450" b="1" dirty="0">
                <a:solidFill>
                  <a:srgbClr val="1565C0"/>
                </a:solidFill>
                <a:latin typeface="Arial" pitchFamily="34" charset="0"/>
                <a:ea typeface="Arial" pitchFamily="34" charset="-122"/>
                <a:cs typeface="Arial" pitchFamily="34" charset="-120"/>
              </a:rPr>
              <a:t>🚗  Industrial Design Rights</a:t>
            </a:r>
            <a:endParaRPr lang="en-US" sz="1450" dirty="0"/>
          </a:p>
        </p:txBody>
      </p:sp>
      <p:sp>
        <p:nvSpPr>
          <p:cNvPr id="21" name="Text 18"/>
          <p:cNvSpPr/>
          <p:nvPr/>
        </p:nvSpPr>
        <p:spPr>
          <a:xfrm>
            <a:off x="6254496" y="248716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Automotive and consumer tech companies register visual designs (like smartphone cases, car body lines, or watch faces) to prevent competitors from mimicking their aesthetics.</a:t>
            </a:r>
            <a:endParaRPr lang="en-US" sz="1300" dirty="0"/>
          </a:p>
        </p:txBody>
      </p:sp>
      <p:sp>
        <p:nvSpPr>
          <p:cNvPr id="22" name="Shape 19"/>
          <p:cNvSpPr/>
          <p:nvPr/>
        </p:nvSpPr>
        <p:spPr>
          <a:xfrm>
            <a:off x="457200" y="4114800"/>
            <a:ext cx="5532120" cy="1956816"/>
          </a:xfrm>
          <a:prstGeom prst="roundRect">
            <a:avLst>
              <a:gd name="adj" fmla="val 4673"/>
            </a:avLst>
          </a:prstGeom>
          <a:solidFill>
            <a:srgbClr val="FCE4EC"/>
          </a:solidFill>
          <a:ln w="19050">
            <a:solidFill>
              <a:srgbClr val="990033"/>
            </a:solidFill>
            <a:prstDash val="solid"/>
          </a:ln>
        </p:spPr>
      </p:sp>
      <p:sp>
        <p:nvSpPr>
          <p:cNvPr id="23" name="Text 20"/>
          <p:cNvSpPr/>
          <p:nvPr/>
        </p:nvSpPr>
        <p:spPr>
          <a:xfrm>
            <a:off x="566928" y="4206240"/>
            <a:ext cx="5312664" cy="347472"/>
          </a:xfrm>
          <a:prstGeom prst="rect">
            <a:avLst/>
          </a:prstGeom>
          <a:noFill/>
          <a:ln/>
        </p:spPr>
        <p:txBody>
          <a:bodyPr wrap="square" lIns="0" tIns="0" rIns="0" bIns="0" rtlCol="0" anchor="ctr"/>
          <a:lstStyle/>
          <a:p>
            <a:pPr indent="0" marL="0">
              <a:buNone/>
            </a:pPr>
            <a:r>
              <a:rPr lang="en-US" sz="1450" b="1" dirty="0">
                <a:solidFill>
                  <a:srgbClr val="990033"/>
                </a:solidFill>
                <a:latin typeface="Arial" pitchFamily="34" charset="0"/>
                <a:ea typeface="Arial" pitchFamily="34" charset="-122"/>
                <a:cs typeface="Arial" pitchFamily="34" charset="-120"/>
              </a:rPr>
              <a:t>💊  Pharmaceutical R&amp;D Patents</a:t>
            </a:r>
            <a:endParaRPr lang="en-US" sz="1450" dirty="0"/>
          </a:p>
        </p:txBody>
      </p:sp>
      <p:sp>
        <p:nvSpPr>
          <p:cNvPr id="24" name="Text 21"/>
          <p:cNvSpPr/>
          <p:nvPr/>
        </p:nvSpPr>
        <p:spPr>
          <a:xfrm>
            <a:off x="566928" y="459028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Drug companies patent new chemical compounds (typically costing billions to develop). Exclusive rights allow them to recover development costs prior to generic competition.</a:t>
            </a:r>
            <a:endParaRPr lang="en-US" sz="1300" dirty="0"/>
          </a:p>
        </p:txBody>
      </p:sp>
      <p:sp>
        <p:nvSpPr>
          <p:cNvPr id="25" name="Shape 22"/>
          <p:cNvSpPr/>
          <p:nvPr/>
        </p:nvSpPr>
        <p:spPr>
          <a:xfrm>
            <a:off x="6144768" y="4114800"/>
            <a:ext cx="5532120" cy="1956816"/>
          </a:xfrm>
          <a:prstGeom prst="roundRect">
            <a:avLst>
              <a:gd name="adj" fmla="val 4673"/>
            </a:avLst>
          </a:prstGeom>
          <a:solidFill>
            <a:srgbClr val="FFF9C4"/>
          </a:solidFill>
          <a:ln w="19050">
            <a:solidFill>
              <a:srgbClr val="F57F17"/>
            </a:solidFill>
            <a:prstDash val="solid"/>
          </a:ln>
        </p:spPr>
      </p:sp>
      <p:sp>
        <p:nvSpPr>
          <p:cNvPr id="26" name="Text 23"/>
          <p:cNvSpPr/>
          <p:nvPr/>
        </p:nvSpPr>
        <p:spPr>
          <a:xfrm>
            <a:off x="6254496" y="4206240"/>
            <a:ext cx="5312664" cy="347472"/>
          </a:xfrm>
          <a:prstGeom prst="rect">
            <a:avLst/>
          </a:prstGeom>
          <a:noFill/>
          <a:ln/>
        </p:spPr>
        <p:txBody>
          <a:bodyPr wrap="square" lIns="0" tIns="0" rIns="0" bIns="0" rtlCol="0" anchor="ctr"/>
          <a:lstStyle/>
          <a:p>
            <a:pPr indent="0" marL="0">
              <a:buNone/>
            </a:pPr>
            <a:r>
              <a:rPr lang="en-US" sz="1450" b="1" dirty="0">
                <a:solidFill>
                  <a:srgbClr val="F57F17"/>
                </a:solidFill>
                <a:latin typeface="Arial" pitchFamily="34" charset="0"/>
                <a:ea typeface="Arial" pitchFamily="34" charset="-122"/>
                <a:cs typeface="Arial" pitchFamily="34" charset="-120"/>
              </a:rPr>
              <a:t>🤝  Standard Essential Patents (SEPs)</a:t>
            </a:r>
            <a:endParaRPr lang="en-US" sz="1450" dirty="0"/>
          </a:p>
        </p:txBody>
      </p:sp>
      <p:sp>
        <p:nvSpPr>
          <p:cNvPr id="27" name="Text 24"/>
          <p:cNvSpPr/>
          <p:nvPr/>
        </p:nvSpPr>
        <p:spPr>
          <a:xfrm>
            <a:off x="6254496" y="459028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Telecommunications groups patent technologies essential to standards (like 5G). They license these to hardware makers on FRAND terms, earning royalties.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Research Methodology &amp; IPR</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2377440"/>
            <a:ext cx="11292840" cy="1371600"/>
          </a:xfrm>
          <a:prstGeom prst="rect">
            <a:avLst/>
          </a:prstGeom>
          <a:noFill/>
          <a:ln/>
        </p:spPr>
        <p:txBody>
          <a:bodyPr wrap="square" rtlCol="0" anchor="ctr"/>
          <a:lstStyle/>
          <a:p>
            <a:pPr algn="ctr" indent="0" marL="0">
              <a:buNone/>
            </a:pPr>
            <a:r>
              <a:rPr lang="en-US" sz="4800" b="1" dirty="0">
                <a:solidFill>
                  <a:srgbClr val="990033"/>
                </a:solidFill>
                <a:latin typeface="Arial" pitchFamily="34" charset="0"/>
                <a:ea typeface="Arial" pitchFamily="34" charset="-122"/>
                <a:cs typeface="Arial" pitchFamily="34" charset="-120"/>
              </a:rPr>
              <a:t>THANK YOU</a:t>
            </a:r>
            <a:endParaRPr lang="en-US" sz="4800" dirty="0"/>
          </a:p>
        </p:txBody>
      </p:sp>
      <p:sp>
        <p:nvSpPr>
          <p:cNvPr id="14" name="Text 11"/>
          <p:cNvSpPr/>
          <p:nvPr/>
        </p:nvSpPr>
        <p:spPr>
          <a:xfrm>
            <a:off x="457200" y="5029200"/>
            <a:ext cx="11292840" cy="822960"/>
          </a:xfrm>
          <a:prstGeom prst="rect">
            <a:avLst/>
          </a:prstGeom>
          <a:noFill/>
          <a:ln/>
        </p:spPr>
        <p:txBody>
          <a:bodyPr wrap="square" rtlCol="0" anchor="ctr"/>
          <a:lstStyle/>
          <a:p>
            <a:pPr algn="ctr" indent="0" marL="0">
              <a:buNone/>
            </a:pPr>
            <a:r>
              <a:rPr lang="en-US" sz="1300" dirty="0">
                <a:solidFill>
                  <a:srgbClr val="555555"/>
                </a:solidFill>
                <a:latin typeface="Arial" pitchFamily="34" charset="0"/>
                <a:ea typeface="Arial" pitchFamily="34" charset="-122"/>
                <a:cs typeface="Arial" pitchFamily="34" charset="-120"/>
              </a:rPr>
              <a:t>Department of Computer Science and Engineering</a:t>
            </a:r>
            <a:endParaRPr lang="en-US" sz="1300" dirty="0"/>
          </a:p>
          <a:p>
            <a:pPr algn="ctr" indent="0" marL="0">
              <a:buNone/>
            </a:pPr>
            <a:r>
              <a:rPr lang="en-US" sz="1300" dirty="0">
                <a:solidFill>
                  <a:srgbClr val="555555"/>
                </a:solidFill>
                <a:latin typeface="Arial" pitchFamily="34" charset="0"/>
                <a:ea typeface="Arial" pitchFamily="34" charset="-122"/>
                <a:cs typeface="Arial" pitchFamily="34" charset="-120"/>
              </a:rPr>
              <a:t>Marri Laxman Reddy Institute of Technology and Management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2026-06-14T11:41:06Z</dcterms:created>
  <dcterms:modified xsi:type="dcterms:W3CDTF">2026-06-14T11:41:06Z</dcterms:modified>
</cp:coreProperties>
</file>