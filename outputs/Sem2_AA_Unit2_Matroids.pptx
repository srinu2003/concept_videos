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today I will be presenting on 'Matroids and the Greedy Paradigm' as part of the Advanced Algorithms course for my M.Tech in Computer Science and Engineering. In this presentation, we will define the mathematical structure of matroids, examine the general greedy algorithm on matroids, prove the correctness using the Rado-Edmonds theorem, apply these concepts to Kruskal's Minimum Spanning Tree algorithm, and discuss wider applications of matroids in scheduling and coding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by defining what a matroid is. A matroid is a mathematical structure that generalizes the concept of linear independence from vector spaces to general sets. Formally, a matroid M is represented as a pair containing a ground set S and a family of independent subsets I. It must satisfy three fundamental axioms. First, the ground set S must be finite. Second, the hereditary property, which states that if a set B is independent, then any subset A of B must also be independent. Third, the exchange property, which states that if we have two independent sets A and B, where A is smaller than B, there exists an element in B minus A that can be added to A to form a larger independent set. This matches vector space properties, where subsets of linearly independent vectors are independent, and a smaller set of vectors can be extended using vectors from a larger spanning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examine the greedy algorithm as applied to matroids. If we assign positive weights to the elements of our ground set S, we want to find an independent set in I that has the maximum total weight. The matroid greedy algorithm works by first sorting all elements in descending order of their weights. We initialize our target set A as an empty set. Then, we loop through the sorted elements. For each element, we check if adding it to A maintains independence. If it does, we add it to A; otherwise, we skip it. The Rado-Edmonds theorem states that a hereditary system is a matroid if and only if this simple greedy approach is guaranteed to find an optimal maximum-weight independent set. In non-matroid systems, like the knapsack problem, local greedy choices lead to suboptimal results, meaning matroids define the mathematical limits of greedy solvability.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classic application of matroid theory is Kruskal's algorithm for finding a Minimum Spanning Tree. We can model a graph G as a graphic matroid where the ground set S represents the graph's edges, and the independent sets I represent any subset of edges that is acyclic. This structure satisfies the hereditary property because any subset of a forest is also a forest. It satisfies the exchange property because if we have two forests A and B, and A has fewer edges, we can always find an edge in B that connects two separate trees in A, allowing us to add it without creating a cycle. Kruskal's algorithm sorts edges by weight and greedily adds them only if they do not create a cycle. This matches the matroid greedy template exactly, proving mathematically why Kruskal's algorithm is guaranteed to find the optimal MST.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minimum spanning trees, matroids have several key applications in computer science. First, they are used to solve unit-time task scheduling problems with deadlines and penalties, where greedily scheduling jobs with the highest penalties first minimizes total loss. Second, algebraic matroids help optimize sparse matrix matchings and row reductions in high-performance computing solvers. Third, matroid theory is applied in coding theory and cryptography to establish linear bounds for error-correcting codes and design secure secret-sharing schemes. By framing these complex problems within matroid theory, designers can replace complex dynamic programming solvers with simple, efficient greedy algorithms that run in O of n log n time while guaranteeing global optimality.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matroids provide the theoretical foundation that guarantees when greedy algorithms will find globally optimal solutions. By recognizing matroid properties in graph structures, scheduling problems, and vector spaces, we can design simple and highly efficient algorithms. Thank you for your attention, and I am ready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Algorithms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II: Greedy Paradigm &amp; Matroids</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Matroids &amp; The Greedy Paradigm</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Algorithms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What is a Matroid?</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A Matroid </a:t>
            </a:r>
            <a:pPr indent="0" marL="0">
              <a:buNone/>
            </a:pPr>
            <a:r>
              <a:rPr lang="en-US" sz="1400" dirty="0">
                <a:solidFill>
                  <a:srgbClr val="000000"/>
                </a:solidFill>
                <a:latin typeface="Arial" pitchFamily="34" charset="0"/>
                <a:ea typeface="Arial" pitchFamily="34" charset="-122"/>
                <a:cs typeface="Arial" pitchFamily="34" charset="-120"/>
              </a:rPr>
              <a:t>is a mathematical structure that generalizes the concept of linear independence in vector spaces. It defines a family of subsets where a simple greedy algorithm is guaranteed to find an optimal solution.</a:t>
            </a:r>
            <a:endParaRPr lang="en-US" sz="140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Formal Definition M = (S, I)</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A matroid is an ordered pair (S, I) satisfying three axioms:</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1. Finite Ground Set S:</a:t>
            </a:r>
            <a:pPr indent="0" marL="0">
              <a:buNone/>
            </a:pPr>
            <a:r>
              <a:rPr lang="en-US" sz="1300" dirty="0">
                <a:solidFill>
                  <a:srgbClr val="000000"/>
                </a:solidFill>
                <a:latin typeface="Arial" pitchFamily="34" charset="0"/>
                <a:ea typeface="Arial" pitchFamily="34" charset="-122"/>
                <a:cs typeface="Arial" pitchFamily="34" charset="-120"/>
              </a:rPr>
              <a:t> A non-empty finite set of elements.</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2. Hereditary Property:</a:t>
            </a:r>
            <a:pPr indent="0" marL="0">
              <a:buNone/>
            </a:pPr>
            <a:r>
              <a:rPr lang="en-US" sz="1300" dirty="0">
                <a:solidFill>
                  <a:srgbClr val="000000"/>
                </a:solidFill>
                <a:latin typeface="Arial" pitchFamily="34" charset="0"/>
                <a:ea typeface="Arial" pitchFamily="34" charset="-122"/>
                <a:cs typeface="Arial" pitchFamily="34" charset="-120"/>
              </a:rPr>
              <a:t> I is a non-empty family of subsets of S (independent sets) such that if B ∈ I and A ⊆ B, then A ∈ I. (Subsets of independent sets are independent).</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3. Exchange Property:</a:t>
            </a:r>
            <a:pPr indent="0" marL="0">
              <a:buNone/>
            </a:pPr>
            <a:r>
              <a:rPr lang="en-US" sz="1300" dirty="0">
                <a:solidFill>
                  <a:srgbClr val="000000"/>
                </a:solidFill>
                <a:latin typeface="Arial" pitchFamily="34" charset="0"/>
                <a:ea typeface="Arial" pitchFamily="34" charset="-122"/>
                <a:cs typeface="Arial" pitchFamily="34" charset="-120"/>
              </a:rPr>
              <a:t> If A, B ∈ I and |A| &lt; |B|, there exists some element x ∈ B - A such that A ∪ {x} ∈ I. (We can extend independent sets).</a:t>
            </a:r>
            <a:endParaRPr lang="en-US" sz="1300" dirty="0"/>
          </a:p>
        </p:txBody>
      </p:sp>
      <p:sp>
        <p:nvSpPr>
          <p:cNvPr id="19" name="Shape 16"/>
          <p:cNvSpPr/>
          <p:nvPr/>
        </p:nvSpPr>
        <p:spPr>
          <a:xfrm>
            <a:off x="6035040" y="2103120"/>
            <a:ext cx="5715000" cy="3895344"/>
          </a:xfrm>
          <a:prstGeom prst="roundRect">
            <a:avLst>
              <a:gd name="adj" fmla="val 2347"/>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Vector Space Analogy</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Matroid axioms match properties of vectors: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Ground Set S:</a:t>
            </a:r>
            <a:pPr indent="0" marL="0">
              <a:buNone/>
            </a:pPr>
            <a:r>
              <a:rPr lang="en-US" sz="1300" dirty="0">
                <a:solidFill>
                  <a:srgbClr val="000000"/>
                </a:solidFill>
                <a:latin typeface="Arial" pitchFamily="34" charset="0"/>
                <a:ea typeface="Arial" pitchFamily="34" charset="-122"/>
                <a:cs typeface="Arial" pitchFamily="34" charset="-120"/>
              </a:rPr>
              <a:t> A set of vectors in a vector space.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Independent Sets I:</a:t>
            </a:r>
            <a:pPr indent="0" marL="0">
              <a:buNone/>
            </a:pPr>
            <a:r>
              <a:rPr lang="en-US" sz="1300" dirty="0">
                <a:solidFill>
                  <a:srgbClr val="000000"/>
                </a:solidFill>
                <a:latin typeface="Arial" pitchFamily="34" charset="0"/>
                <a:ea typeface="Arial" pitchFamily="34" charset="-122"/>
                <a:cs typeface="Arial" pitchFamily="34" charset="-120"/>
              </a:rPr>
              <a:t> Subsets of vectors that are linearly independent (no vector is a linear combination of others).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Hereditary:</a:t>
            </a:r>
            <a:pPr indent="0" marL="0">
              <a:buNone/>
            </a:pPr>
            <a:r>
              <a:rPr lang="en-US" sz="1300" dirty="0">
                <a:solidFill>
                  <a:srgbClr val="000000"/>
                </a:solidFill>
                <a:latin typeface="Arial" pitchFamily="34" charset="0"/>
                <a:ea typeface="Arial" pitchFamily="34" charset="-122"/>
                <a:cs typeface="Arial" pitchFamily="34" charset="-120"/>
              </a:rPr>
              <a:t> Subsets of linearly independent vectors are also linearly independent. ✔</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Exchange:</a:t>
            </a:r>
            <a:pPr indent="0" marL="0">
              <a:buNone/>
            </a:pPr>
            <a:r>
              <a:rPr lang="en-US" sz="1300" dirty="0">
                <a:solidFill>
                  <a:srgbClr val="000000"/>
                </a:solidFill>
                <a:latin typeface="Arial" pitchFamily="34" charset="0"/>
                <a:ea typeface="Arial" pitchFamily="34" charset="-122"/>
                <a:cs typeface="Arial" pitchFamily="34" charset="-120"/>
              </a:rPr>
              <a:t> If you have a basis of size 3 and another of size 4, you can find a vector in the larger set to extend the smaller one. ✔</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Algorithms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The Matroid Greedy Algorithm</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If we assign weights to ground elements, a greedy algorithm finds a maximum-weight independent set:</a:t>
            </a:r>
            <a:endParaRPr lang="en-US" sz="1400" dirty="0"/>
          </a:p>
        </p:txBody>
      </p:sp>
      <p:sp>
        <p:nvSpPr>
          <p:cNvPr id="16" name="Shape 13"/>
          <p:cNvSpPr/>
          <p:nvPr/>
        </p:nvSpPr>
        <p:spPr>
          <a:xfrm>
            <a:off x="457200" y="2103120"/>
            <a:ext cx="5394960" cy="4114800"/>
          </a:xfrm>
          <a:prstGeom prst="roundRect">
            <a:avLst>
              <a:gd name="adj" fmla="val 2222"/>
            </a:avLst>
          </a:prstGeom>
          <a:solidFill>
            <a:srgbClr val="FCE4EC"/>
          </a:solidFill>
          <a:ln w="19050">
            <a:solidFill>
              <a:srgbClr val="990033"/>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The General Greedy Algorithm</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Given Matroid M = (S, I) and weight function w(x) &gt; 0 for x ∈ S:
</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1. Sort Ground elements:</a:t>
            </a:r>
            <a:pPr indent="0" marL="0">
              <a:buNone/>
            </a:pPr>
            <a:r>
              <a:rPr lang="en-US" sz="1300" dirty="0">
                <a:solidFill>
                  <a:srgbClr val="000000"/>
                </a:solidFill>
                <a:latin typeface="Arial" pitchFamily="34" charset="0"/>
                <a:ea typeface="Arial" pitchFamily="34" charset="-122"/>
                <a:cs typeface="Arial" pitchFamily="34" charset="-120"/>
              </a:rPr>
              <a:t> Sort all x ∈ S in descending order of weights:</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w(x₁) ≥ w(x₂) ≥ … ≥ w(xₙ).</a:t>
            </a:r>
            <a:endParaRPr lang="en-US" sz="1300" dirty="0"/>
          </a:p>
          <a:p>
            <a:pPr indent="0" marL="0">
              <a:buNone/>
            </a:pPr>
            <a:r>
              <a:rPr lang="en-US" sz="1300" b="1" dirty="0">
                <a:solidFill>
                  <a:srgbClr val="1565C0"/>
                </a:solidFill>
                <a:latin typeface="Arial" pitchFamily="34" charset="0"/>
                <a:ea typeface="Arial" pitchFamily="34" charset="-122"/>
                <a:cs typeface="Arial" pitchFamily="34" charset="-120"/>
              </a:rPr>
              <a:t>2. Initialize Set:</a:t>
            </a:r>
            <a:pPr indent="0" marL="0">
              <a:buNone/>
            </a:pPr>
            <a:r>
              <a:rPr lang="en-US" sz="1300" dirty="0">
                <a:solidFill>
                  <a:srgbClr val="000000"/>
                </a:solidFill>
                <a:latin typeface="Arial" pitchFamily="34" charset="0"/>
                <a:ea typeface="Arial" pitchFamily="34" charset="-122"/>
                <a:cs typeface="Arial" pitchFamily="34" charset="-120"/>
              </a:rPr>
              <a:t> Set A = ∅ (empty set).</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3. Greedy Loop:</a:t>
            </a:r>
            <a:pPr indent="0" marL="0">
              <a:buNone/>
            </a:pPr>
            <a:r>
              <a:rPr lang="en-US" sz="1300" dirty="0">
                <a:solidFill>
                  <a:srgbClr val="000000"/>
                </a:solidFill>
                <a:latin typeface="Arial" pitchFamily="34" charset="0"/>
                <a:ea typeface="Arial" pitchFamily="34" charset="-122"/>
                <a:cs typeface="Arial" pitchFamily="34" charset="-120"/>
              </a:rPr>
              <a:t> For i = 1 to n:
</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 If A ∪ {x_i} ∈ I (independent):
</a:t>
            </a:r>
            <a:pPr indent="0" marL="0">
              <a:buNone/>
            </a:pPr>
            <a:r>
              <a:rPr lang="en-US" sz="1300" dirty="0">
                <a:solidFill>
                  <a:srgbClr val="000000"/>
                </a:solidFill>
                <a:latin typeface="Arial" pitchFamily="34" charset="0"/>
                <a:ea typeface="Arial" pitchFamily="34" charset="-122"/>
                <a:cs typeface="Arial" pitchFamily="34" charset="-120"/>
              </a:rPr>
              <a:t>   • Update: A = A ∪ {x_i}.
</a:t>
            </a:r>
            <a:pPr indent="0" marL="0">
              <a:buNone/>
            </a:pPr>
            <a:r>
              <a:rPr lang="en-US" sz="1300" b="1" dirty="0">
                <a:solidFill>
                  <a:srgbClr val="006400"/>
                </a:solidFill>
                <a:latin typeface="Arial" pitchFamily="34" charset="0"/>
                <a:ea typeface="Arial" pitchFamily="34" charset="-122"/>
                <a:cs typeface="Arial" pitchFamily="34" charset="-120"/>
              </a:rPr>
              <a:t>4. Return A:</a:t>
            </a:r>
            <a:pPr indent="0" marL="0">
              <a:buNone/>
            </a:pPr>
            <a:r>
              <a:rPr lang="en-US" sz="1300" dirty="0">
                <a:solidFill>
                  <a:srgbClr val="000000"/>
                </a:solidFill>
                <a:latin typeface="Arial" pitchFamily="34" charset="0"/>
                <a:ea typeface="Arial" pitchFamily="34" charset="-122"/>
                <a:cs typeface="Arial" pitchFamily="34" charset="-120"/>
              </a:rPr>
              <a:t> A is guaranteed to be a maximum-weight maximal independent set (basis) of the Matroid.</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Why Greedy Works (Matroid Theorem)</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F57F17"/>
                </a:solidFill>
                <a:latin typeface="Arial" pitchFamily="34" charset="0"/>
                <a:ea typeface="Arial" pitchFamily="34" charset="-122"/>
                <a:cs typeface="Arial" pitchFamily="34" charset="-120"/>
              </a:rPr>
              <a:t>• Rado-Edmonds Theorem:</a:t>
            </a:r>
            <a:pPr indent="0" marL="0">
              <a:buNone/>
            </a:pPr>
            <a:r>
              <a:rPr lang="en-US" sz="1300" dirty="0">
                <a:solidFill>
                  <a:srgbClr val="000000"/>
                </a:solidFill>
                <a:latin typeface="Arial" pitchFamily="34" charset="0"/>
                <a:ea typeface="Arial" pitchFamily="34" charset="-122"/>
                <a:cs typeface="Arial" pitchFamily="34" charset="-120"/>
              </a:rPr>
              <a:t> A hereditary system (S, I) is a matroid if and only if the greedy algorithm finds an optimal independent set for all positive weight functions.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Optimization Guarantee:</a:t>
            </a:r>
            <a:pPr indent="0" marL="0">
              <a:buNone/>
            </a:pPr>
            <a:r>
              <a:rPr lang="en-US" sz="1300" dirty="0">
                <a:solidFill>
                  <a:srgbClr val="000000"/>
                </a:solidFill>
                <a:latin typeface="Arial" pitchFamily="34" charset="0"/>
                <a:ea typeface="Arial" pitchFamily="34" charset="-122"/>
                <a:cs typeface="Arial" pitchFamily="34" charset="-120"/>
              </a:rPr>
              <a:t> The exchange property guarantees that a local greedy choice never blocks reaching the global optimum.</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Contrast with Non-Matroids:</a:t>
            </a:r>
            <a:pPr indent="0" marL="0">
              <a:buNone/>
            </a:pPr>
            <a:r>
              <a:rPr lang="en-US" sz="1300" dirty="0">
                <a:solidFill>
                  <a:srgbClr val="000000"/>
                </a:solidFill>
                <a:latin typeface="Arial" pitchFamily="34" charset="0"/>
                <a:ea typeface="Arial" pitchFamily="34" charset="-122"/>
                <a:cs typeface="Arial" pitchFamily="34" charset="-120"/>
              </a:rPr>
              <a:t> In non-matroid systems (e.g. Knapsack, TSP), greedy decisions can lead to sub-optimal solutions. Matroids are the boundary of greedy solvability.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Algorithms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 Kruskal's MST Algorithm</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Kruskal's Minimum Spanning Tree algorithm is a direct application of the Matroid Greedy algorithm:</a:t>
            </a:r>
            <a:endParaRPr lang="en-US" sz="1400" dirty="0"/>
          </a:p>
        </p:txBody>
      </p:sp>
      <p:sp>
        <p:nvSpPr>
          <p:cNvPr id="16" name="Shape 13"/>
          <p:cNvSpPr/>
          <p:nvPr/>
        </p:nvSpPr>
        <p:spPr>
          <a:xfrm>
            <a:off x="457200" y="2103120"/>
            <a:ext cx="5394960" cy="4114800"/>
          </a:xfrm>
          <a:prstGeom prst="roundRect">
            <a:avLst>
              <a:gd name="adj" fmla="val 2222"/>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Graphic Matroids</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We can model graphs as matroids. Given G = (V, E):
</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Ground Set S:</a:t>
            </a:r>
            <a:pPr indent="0" marL="0">
              <a:buNone/>
            </a:pPr>
            <a:r>
              <a:rPr lang="en-US" sz="1300" dirty="0">
                <a:solidFill>
                  <a:srgbClr val="000000"/>
                </a:solidFill>
                <a:latin typeface="Arial" pitchFamily="34" charset="0"/>
                <a:ea typeface="Arial" pitchFamily="34" charset="-122"/>
                <a:cs typeface="Arial" pitchFamily="34" charset="-120"/>
              </a:rPr>
              <a:t> The edge set E of G.</a:t>
            </a:r>
            <a:endParaRPr lang="en-US" sz="1300" dirty="0"/>
          </a:p>
          <a:p>
            <a:pPr indent="0" marL="0">
              <a:buNone/>
            </a:pPr>
            <a:r>
              <a:rPr lang="en-US" sz="1300" b="1" dirty="0">
                <a:solidFill>
                  <a:srgbClr val="1565C0"/>
                </a:solidFill>
                <a:latin typeface="Arial" pitchFamily="34" charset="0"/>
                <a:ea typeface="Arial" pitchFamily="34" charset="-122"/>
                <a:cs typeface="Arial" pitchFamily="34" charset="-120"/>
              </a:rPr>
              <a:t>• Independent Sets I:</a:t>
            </a:r>
            <a:pPr indent="0" marL="0">
              <a:buNone/>
            </a:pPr>
            <a:r>
              <a:rPr lang="en-US" sz="1300" dirty="0">
                <a:solidFill>
                  <a:srgbClr val="000000"/>
                </a:solidFill>
                <a:latin typeface="Arial" pitchFamily="34" charset="0"/>
                <a:ea typeface="Arial" pitchFamily="34" charset="-122"/>
                <a:cs typeface="Arial" pitchFamily="34" charset="-120"/>
              </a:rPr>
              <a:t> Any subset of edges that is acyclic (contains no cycles, forming a forest).</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Hereditary Property:</a:t>
            </a:r>
            <a:pPr indent="0" marL="0">
              <a:buNone/>
            </a:pPr>
            <a:r>
              <a:rPr lang="en-US" sz="1300" dirty="0">
                <a:solidFill>
                  <a:srgbClr val="000000"/>
                </a:solidFill>
                <a:latin typeface="Arial" pitchFamily="34" charset="0"/>
                <a:ea typeface="Arial" pitchFamily="34" charset="-122"/>
                <a:cs typeface="Arial" pitchFamily="34" charset="-120"/>
              </a:rPr>
              <a:t> Subsets of acyclic edges are also acyclic. ✔</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Exchange Property:</a:t>
            </a:r>
            <a:pPr indent="0" marL="0">
              <a:buNone/>
            </a:pPr>
            <a:r>
              <a:rPr lang="en-US" sz="1300" dirty="0">
                <a:solidFill>
                  <a:srgbClr val="000000"/>
                </a:solidFill>
                <a:latin typeface="Arial" pitchFamily="34" charset="0"/>
                <a:ea typeface="Arial" pitchFamily="34" charset="-122"/>
                <a:cs typeface="Arial" pitchFamily="34" charset="-120"/>
              </a:rPr>
              <a:t> If forest A has fewer edges than forest B, we can always find an edge in B to add to A without forming a cycle. ✔</a:t>
            </a:r>
            <a:endParaRPr lang="en-US" sz="1300" dirty="0"/>
          </a:p>
        </p:txBody>
      </p:sp>
      <p:sp>
        <p:nvSpPr>
          <p:cNvPr id="19" name="Shape 16"/>
          <p:cNvSpPr/>
          <p:nvPr/>
        </p:nvSpPr>
        <p:spPr>
          <a:xfrm>
            <a:off x="6035040" y="2103120"/>
            <a:ext cx="5715000" cy="4114800"/>
          </a:xfrm>
          <a:prstGeom prst="roundRect">
            <a:avLst>
              <a:gd name="adj" fmla="val 2222"/>
            </a:avLst>
          </a:prstGeom>
          <a:solidFill>
            <a:srgbClr val="E8F5E9"/>
          </a:solidFill>
          <a:ln w="19050">
            <a:solidFill>
              <a:srgbClr val="00640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006400"/>
                </a:solidFill>
                <a:latin typeface="Arial" pitchFamily="34" charset="0"/>
                <a:ea typeface="Arial" pitchFamily="34" charset="-122"/>
                <a:cs typeface="Arial" pitchFamily="34" charset="-120"/>
              </a:rPr>
              <a:t>Kruskal's Code Map</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Kruskal's steps map directly to the Matroid algorithm:</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1. Sort Edges:</a:t>
            </a:r>
            <a:pPr indent="0" marL="0">
              <a:buNone/>
            </a:pPr>
            <a:r>
              <a:rPr lang="en-US" sz="1300" dirty="0">
                <a:solidFill>
                  <a:srgbClr val="000000"/>
                </a:solidFill>
                <a:latin typeface="Arial" pitchFamily="34" charset="0"/>
                <a:ea typeface="Arial" pitchFamily="34" charset="-122"/>
                <a:cs typeface="Arial" pitchFamily="34" charset="-120"/>
              </a:rPr>
              <a:t> Sort edges by weight in ascending order (we find the minimum spanning tree, which is equivalent to maximizing negative weights).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2. Select Edges:</a:t>
            </a:r>
            <a:pPr indent="0" marL="0">
              <a:buNone/>
            </a:pPr>
            <a:r>
              <a:rPr lang="en-US" sz="1300" dirty="0">
                <a:solidFill>
                  <a:srgbClr val="000000"/>
                </a:solidFill>
                <a:latin typeface="Arial" pitchFamily="34" charset="0"/>
                <a:ea typeface="Arial" pitchFamily="34" charset="-122"/>
                <a:cs typeface="Arial" pitchFamily="34" charset="-120"/>
              </a:rPr>
              <a:t> Add edges one-by-one to our MST.</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3. Cycle Check (Independence):</a:t>
            </a:r>
            <a:pPr indent="0" marL="0">
              <a:buNone/>
            </a:pPr>
            <a:r>
              <a:rPr lang="en-US" sz="1300" dirty="0">
                <a:solidFill>
                  <a:srgbClr val="000000"/>
                </a:solidFill>
                <a:latin typeface="Arial" pitchFamily="34" charset="0"/>
                <a:ea typeface="Arial" pitchFamily="34" charset="-122"/>
                <a:cs typeface="Arial" pitchFamily="34" charset="-120"/>
              </a:rPr>
              <a:t> Only add an edge if it does not form a cycle with already-selected edges (checking independence in the graphic matroid).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Algorithms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Matroids in CS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Matroid structures guarantee optimal greedy solutions across scheduling and network designs:</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Kruskal's MST Networks</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Graphic matroids prove the correctness of Kruskal's MST algorithm. Used to construct optimal telecommunication, power grid, and computer network wiring systems.</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Task Scheduling with Deadlines</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Scheduling unit-time jobs with deadlines and penalties is modeled as a matroid. The greedy algorithm yields the optimal schedule that minimizes penalties.</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Network Flow &amp; Matrix Matching</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Algebraic matroids solve structural matching in matrix computations, optimizing index allocations for high-performance solvers.</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Coding Theory &amp; Cryptography</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Matroid theory is utilized in error-correcting codes and secret sharing schemes to design linear bounds for secure communications.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Algorithms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2026-06-14T18:38:45Z</dcterms:created>
  <dcterms:modified xsi:type="dcterms:W3CDTF">2026-06-14T18:38:45Z</dcterms:modified>
</cp:coreProperties>
</file>