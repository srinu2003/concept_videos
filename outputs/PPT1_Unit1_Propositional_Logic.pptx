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What is Propositional Logic?
Propositional Logic is the foundation of all formal reasoning in computer science and mathematics. It studies how we form and reason about propositions — declarative statements that can be assigned a definite truth value of TRUE or FALSE.
The keyword here is 'declarative'. The statement must make a factual claim about something. 'Two plus two equals four' is a proposition — it is always true. 'Paris is in Germany' is a proposition — it is always false. However, a command like 'Close the door' is not a proposition because we cannot assign it a truth value. A question like 'What time is it?' is not a proposition either. An open formula like 'x plus 1 equals 5' is not a proposition because its truth depends on the unknown variable x.
We use lowercase letters p, q, r, s as variables to represent propositions. Each variable takes a truth value: T (True, also written as 1) or F (False, also written as 0).
When we combine simple (atomic) propositions using logical connectives — NOT, AND, OR, IMPLIES, and IF-AND-ONLY-IF — we form compound propositions. For example, if p means 'it is raining' and q means 'it is cloudy', then p arrow q is the compound proposition 'if it is raining, then it is cloudy'. The entire field of propositional logic studies how to evaluate, simplify, and reason about such compound statements.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Logical Connectives
The five logical connectives are the building blocks that allow us to form compound propositions.
NEGATION (¬): The simplest connective. It inverts the truth value. If p is TRUE, ¬p is FALSE, and vice versa. It corresponds to the word NOT.
CONJUNCTION (∧): Corresponds to AND. The compound statement p ∧ q is TRUE ONLY when BOTH p and q are TRUE. If either is FALSE, the conjunction is FALSE. Think of it as a chain — the whole thing fails if any link breaks.
DISJUNCTION (∨): Corresponds to OR. The compound statement p ∨ q is TRUE when AT LEAST ONE of p or q is TRUE. This is the inclusive OR, meaning it is TRUE even when both are TRUE. It is FALSE only when BOTH are FALSE.
CONDITIONAL (→): Represents IF...THEN, also called IMPLICATION. p → q is FALSE only when the hypothesis p is TRUE and the conclusion q is FALSE. In all other cases — especially when p is FALSE — the implication is TRUE (called 'vacuously true'). This is the most frequently used connective in mathematical proofs.
BICONDITIONAL (↔): Represents IF AND ONLY IF. p ↔ q is TRUE when p and q have exactly the same truth value — both TRUE or both FALSE. It is equivalent to writing both p→q AND q→p.
Using our example: p = 'it is hot', q = 'it is humid' — each connective creates a completely different compound statement as shown in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Truth Tables
The truth table is the most powerful tool in propositional logic. It exhaustively lists every possible combination of truth values for the variables and shows the resulting value of the compound proposition.
With two variables p and q, we have exactly 4 rows: TT, TF, FT, and FF.
¬p column: Simply flips the value of p. T becomes F and F becomes T.
p∧q (AND): TRUE only in Row 1 where BOTH p and q are TRUE.
p∨q (OR): FALSE only in Row 4 where BOTH are FALSE. TRUE in all other rows.
p→q (IMPLIES): This is the most important. It is FALSE ONLY in Row 2 — when p is TRUE and q is FALSE. In Rows 3 and 4, p is FALSE, so the implication is TRUE regardless of q. This is called 'vacuous truth'. For example, 'If the moon is made of cheese, then 2+2=5' is technically TRUE in propositional logic, because the hypothesis is FALSE!
p↔q (BICONDITIONAL): TRUE in Rows 1 and 4 where both variables have the SAME truth value. FALSE in Rows 2 and 3.
Truth tables are used to verify logical equivalences, design digital circuits, simplify logical expressions, and create systematic software test cases through a method called Condition Coverage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Logical Equivalence and Key Laws
Two logical formulas are called logically equivalent if they produce the exact same truth value for every possible assignment of truth values to the variables. We write P ≡ Q to denote equivalence.
The most famous equivalences are De Morgan's Laws, named after the 19th-century mathematician Augustus De Morgan.
First De Morgan's Law: NOT(p AND q) is equivalent to (NOT p) OR (NOT q). In plain English: 'It is not the case that both p and q are true' is the same as saying 'either p is false, or q is false, or both'. For example: 'It is NOT (hot AND humid)' means 'It is not hot OR it is not humid'.
Second De Morgan's Law: NOT(p OR q) is equivalent to (NOT p) AND (NOT q). 'Neither p nor q' means 'p is false AND q is false'. Example: 'It is neither hot nor humid' means 'It is not hot AND it is not humid'.
De Morgan's Laws are extensively used in circuit minimization, simplifying if-else conditions in programming, and database query optimization.
The Contrapositive: p→q is equivalent to NOT q→NOT p. To prove 'if p then q', we can equivalently prove 'if not q then not p'. This is used extensively in proofs by contrapositive.
Double Negation: Negating twice brings back the original, just like multiplying by minus one twice.
Implication Rewrite: p→q can be rewritten as NOT p OR q. This form is used in resolution proofs in automated theorem proving.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Applications of Propositional Logic in Computer Science
Propositional logic is far from an abstract exercise — it has direct, essential applications across computer science.
Digital Circuit Design: Every logic gate in a computer chip is a physical implementation of a logical connective. The AND gate outputs 1 only when both inputs are 1. The OR gate outputs 1 when at least one input is 1. The NOT gate inverts the input. Engineers use Boolean algebra — the mathematical system of propositional logic — to design circuits using a technique called Karnaugh Map minimization, which reduces the number of gates needed, saving space, power, and cost.
Database Query Optimization: When you write a SQL query with a WHERE clause, you are writing propositional logic. Database management systems internally apply logical equivalences, including De Morgan's Laws, to rewrite your query into an equivalent but more efficient form before execution.
Programming and Software Testing: Every conditional statement in any programming language is propositional logic. The technique of Condition Coverage Testing uses truth tables to systematically verify that all logical combinations of conditions in the code are tested, helping catch hard-to-find bugs.
Artificial Intelligence: Expert systems — like early medical diagnosis systems — store knowledge as propositional rules of the form IF condition THEN conclusion. Automated theorem provers use Resolution Refutation, which is a propositional logic-based algorithm, to formally verify the correctness of software and hardware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300" i="1" dirty="0">
                <a:solidFill>
                  <a:srgbClr val="990033"/>
                </a:solidFill>
                <a:latin typeface="Arial" pitchFamily="34" charset="0"/>
                <a:ea typeface="Arial" pitchFamily="34" charset="-122"/>
                <a:cs typeface="Arial" pitchFamily="34" charset="-120"/>
              </a:rPr>
              <a:t>Unit I: The Foundations – Logic and Proofs</a:t>
            </a:r>
            <a:endParaRPr lang="en-US" sz="13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Propositional Logic</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PPT PRESENTED BY</a:t>
            </a:r>
            <a:endParaRPr lang="en-US" sz="14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200" dirty="0">
                <a:solidFill>
                  <a:srgbClr val="000000"/>
                </a:solidFill>
                <a:latin typeface="Arial" pitchFamily="34" charset="0"/>
                <a:ea typeface="Arial" pitchFamily="34" charset="-122"/>
                <a:cs typeface="Arial" pitchFamily="34" charset="-120"/>
              </a:rPr>
              <a:t>NAME :   Srinivas Rao Tammireddy</a:t>
            </a:r>
            <a:endParaRPr lang="en-US" sz="12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200" dirty="0">
                <a:solidFill>
                  <a:srgbClr val="000000"/>
                </a:solidFill>
                <a:latin typeface="Arial" pitchFamily="34" charset="0"/>
                <a:ea typeface="Arial" pitchFamily="34" charset="-122"/>
                <a:cs typeface="Arial" pitchFamily="34" charset="-120"/>
              </a:rPr>
              <a:t>ROLL NO :   257Y1D5805</a:t>
            </a:r>
            <a:endParaRPr lang="en-US" sz="12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200" dirty="0">
                <a:solidFill>
                  <a:srgbClr val="000000"/>
                </a:solidFill>
                <a:latin typeface="Arial" pitchFamily="34" charset="0"/>
                <a:ea typeface="Arial" pitchFamily="34" charset="-122"/>
                <a:cs typeface="Arial" pitchFamily="34" charset="-120"/>
              </a:rPr>
              <a:t>YEAR :   I Year  I Semester</a:t>
            </a:r>
            <a:endParaRPr lang="en-US" sz="12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200" dirty="0">
                <a:solidFill>
                  <a:srgbClr val="000000"/>
                </a:solidFill>
                <a:latin typeface="Arial" pitchFamily="34" charset="0"/>
                <a:ea typeface="Arial" pitchFamily="34" charset="-122"/>
                <a:cs typeface="Arial" pitchFamily="34" charset="-120"/>
              </a:rPr>
              <a:t>ACADEMIC YEAR :   2025 - 2026</a:t>
            </a:r>
            <a:endParaRPr lang="en-US" sz="12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300" b="1" dirty="0">
                <a:solidFill>
                  <a:srgbClr val="990033"/>
                </a:solidFill>
                <a:latin typeface="Arial" pitchFamily="34" charset="0"/>
                <a:ea typeface="Arial" pitchFamily="34" charset="-122"/>
                <a:cs typeface="Arial" pitchFamily="34" charset="-120"/>
              </a:rPr>
              <a:t>DEPARTMENT OF COMPUTER SCIENCE AND ENGINEERING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What is Propositional Logic?</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75488"/>
          </a:xfrm>
          <a:prstGeom prst="rect">
            <a:avLst/>
          </a:prstGeom>
          <a:noFill/>
          <a:ln/>
        </p:spPr>
        <p:txBody>
          <a:bodyPr wrap="square" rtlCol="0" anchor="ctr"/>
          <a:lstStyle/>
          <a:p>
            <a:pPr indent="0" marL="0">
              <a:buNone/>
            </a:pPr>
            <a:r>
              <a:rPr lang="en-US" sz="1350" b="1" dirty="0">
                <a:solidFill>
                  <a:srgbClr val="000000"/>
                </a:solidFill>
                <a:latin typeface="Arial" pitchFamily="34" charset="0"/>
                <a:ea typeface="Arial" pitchFamily="34" charset="-122"/>
                <a:cs typeface="Arial" pitchFamily="34" charset="-120"/>
              </a:rPr>
              <a:t>Propositional Logic </a:t>
            </a:r>
            <a:pPr indent="0" marL="0">
              <a:buNone/>
            </a:pPr>
            <a:r>
              <a:rPr lang="en-US" sz="1350" dirty="0">
                <a:solidFill>
                  <a:srgbClr val="000000"/>
                </a:solidFill>
                <a:latin typeface="Arial" pitchFamily="34" charset="0"/>
                <a:ea typeface="Arial" pitchFamily="34" charset="-122"/>
                <a:cs typeface="Arial" pitchFamily="34" charset="-120"/>
              </a:rPr>
              <a:t>is a branch of formal logic dealing with propositions and their combinations using logical connectives.</a:t>
            </a:r>
            <a:endParaRPr lang="en-US" sz="1350" dirty="0"/>
          </a:p>
        </p:txBody>
      </p:sp>
      <p:sp>
        <p:nvSpPr>
          <p:cNvPr id="16" name="Shape 13"/>
          <p:cNvSpPr/>
          <p:nvPr/>
        </p:nvSpPr>
        <p:spPr>
          <a:xfrm>
            <a:off x="457200" y="2103120"/>
            <a:ext cx="5394960" cy="3895344"/>
          </a:xfrm>
          <a:prstGeom prst="roundRect">
            <a:avLst>
              <a:gd name="adj" fmla="val 2347"/>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400" b="1" dirty="0">
                <a:solidFill>
                  <a:srgbClr val="009900"/>
                </a:solidFill>
                <a:latin typeface="Arial" pitchFamily="34" charset="0"/>
                <a:ea typeface="Arial" pitchFamily="34" charset="-122"/>
                <a:cs typeface="Arial" pitchFamily="34" charset="-120"/>
              </a:rPr>
              <a:t>What is a Proposition?</a:t>
            </a:r>
            <a:endParaRPr lang="en-US" sz="14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A declarative statement that is either </a:t>
            </a:r>
            <a:pPr indent="0" marL="0">
              <a:buNone/>
            </a:pPr>
            <a:r>
              <a:rPr lang="en-US" sz="1250" b="1" dirty="0">
                <a:solidFill>
                  <a:srgbClr val="006400"/>
                </a:solidFill>
                <a:latin typeface="Arial" pitchFamily="34" charset="0"/>
                <a:ea typeface="Arial" pitchFamily="34" charset="-122"/>
                <a:cs typeface="Arial" pitchFamily="34" charset="-120"/>
              </a:rPr>
              <a:t>TRUE</a:t>
            </a:r>
            <a:pPr indent="0" marL="0">
              <a:buNone/>
            </a:pPr>
            <a:r>
              <a:rPr lang="en-US" sz="1250" dirty="0">
                <a:solidFill>
                  <a:srgbClr val="000000"/>
                </a:solidFill>
                <a:latin typeface="Arial" pitchFamily="34" charset="0"/>
                <a:ea typeface="Arial" pitchFamily="34" charset="-122"/>
                <a:cs typeface="Arial" pitchFamily="34" charset="-120"/>
              </a:rPr>
              <a:t> or </a:t>
            </a:r>
            <a:pPr indent="0" marL="0">
              <a:buNone/>
            </a:pPr>
            <a:r>
              <a:rPr lang="en-US" sz="1250" b="1" dirty="0">
                <a:solidFill>
                  <a:srgbClr val="990033"/>
                </a:solidFill>
                <a:latin typeface="Arial" pitchFamily="34" charset="0"/>
                <a:ea typeface="Arial" pitchFamily="34" charset="-122"/>
                <a:cs typeface="Arial" pitchFamily="34" charset="-120"/>
              </a:rPr>
              <a:t>FALSE</a:t>
            </a:r>
            <a:pPr indent="0" marL="0">
              <a:buNone/>
            </a:pPr>
            <a:r>
              <a:rPr lang="en-US" sz="1250" dirty="0">
                <a:solidFill>
                  <a:srgbClr val="000000"/>
                </a:solidFill>
                <a:latin typeface="Arial" pitchFamily="34" charset="0"/>
                <a:ea typeface="Arial" pitchFamily="34" charset="-122"/>
                <a:cs typeface="Arial" pitchFamily="34" charset="-120"/>
              </a:rPr>
              <a:t> — never both.</a:t>
            </a:r>
            <a:endParaRPr lang="en-US" sz="1250" dirty="0"/>
          </a:p>
          <a:p>
            <a:pPr indent="0" marL="0">
              <a:buNone/>
            </a:pPr>
            <a:r>
              <a:rPr lang="en-US" sz="6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Propositions (have truth values):</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"2 + 2 = 4"  →  TRUE</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"Paris is in Germany"  →  FALSE</a:t>
            </a:r>
            <a:endParaRPr lang="en-US" sz="1250" dirty="0"/>
          </a:p>
          <a:p>
            <a:pPr indent="0" marL="0">
              <a:buNone/>
            </a:pPr>
            <a:r>
              <a:rPr lang="en-US" sz="6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NOT Propositions:</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"Close the door!"  (command)</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"What time is it?"  (question)</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"x + 1 = 5"  (depends on x)</a:t>
            </a:r>
            <a:endParaRPr lang="en-US" sz="1250" dirty="0"/>
          </a:p>
        </p:txBody>
      </p:sp>
      <p:sp>
        <p:nvSpPr>
          <p:cNvPr id="19" name="Shape 16"/>
          <p:cNvSpPr/>
          <p:nvPr/>
        </p:nvSpPr>
        <p:spPr>
          <a:xfrm>
            <a:off x="6035040" y="2103120"/>
            <a:ext cx="5715000" cy="3895344"/>
          </a:xfrm>
          <a:prstGeom prst="roundRect">
            <a:avLst>
              <a:gd name="adj" fmla="val 2347"/>
            </a:avLst>
          </a:prstGeom>
          <a:solidFill>
            <a:srgbClr val="FCE4EC"/>
          </a:solidFill>
          <a:ln w="19050">
            <a:solidFill>
              <a:srgbClr val="990033"/>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400" b="1" dirty="0">
                <a:solidFill>
                  <a:srgbClr val="990033"/>
                </a:solidFill>
                <a:latin typeface="Arial" pitchFamily="34" charset="0"/>
                <a:ea typeface="Arial" pitchFamily="34" charset="-122"/>
                <a:cs typeface="Arial" pitchFamily="34" charset="-120"/>
              </a:rPr>
              <a:t>Notation and Key Terms</a:t>
            </a:r>
            <a:endParaRPr lang="en-US" sz="14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250" b="1" dirty="0">
                <a:solidFill>
                  <a:srgbClr val="000000"/>
                </a:solidFill>
                <a:latin typeface="Arial" pitchFamily="34" charset="0"/>
                <a:ea typeface="Arial" pitchFamily="34" charset="-122"/>
                <a:cs typeface="Arial" pitchFamily="34" charset="-120"/>
              </a:rPr>
              <a:t>Variables:</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p, q, r, s  (lower-case letters for propositions)</a:t>
            </a:r>
            <a:endParaRPr lang="en-US" sz="1250" dirty="0"/>
          </a:p>
          <a:p>
            <a:pPr indent="0" marL="0">
              <a:buNone/>
            </a:pPr>
            <a:r>
              <a:rPr lang="en-US" sz="6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Truth Values:</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T = True = 1        F = False = 0</a:t>
            </a:r>
            <a:endParaRPr lang="en-US" sz="1250" dirty="0"/>
          </a:p>
          <a:p>
            <a:pPr indent="0" marL="0">
              <a:buNone/>
            </a:pPr>
            <a:r>
              <a:rPr lang="en-US" sz="6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Compound Proposition:</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Built using connectives:  ¬ ∧ ∨ → ↔</a:t>
            </a:r>
            <a:endParaRPr lang="en-US" sz="1250" dirty="0"/>
          </a:p>
          <a:p>
            <a:pPr indent="0" marL="0">
              <a:buNone/>
            </a:pPr>
            <a:r>
              <a:rPr lang="en-US" sz="6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Example:</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p = "It is raining"</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q = "It is cloudy"</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p → q  =  "If raining, then cloudy"</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Logical Connectives</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Five fundamental connectives build compound propositions from atomic ones:</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993392"/>
          <a:ext cx="11292840" cy="4572000"/>
        </p:xfrm>
        <a:graphic>
          <a:graphicData uri="http://schemas.openxmlformats.org/drawingml/2006/table">
            <a:tbl>
              <a:tblPr/>
              <a:tblGrid>
                <a:gridCol w="1417320"/>
                <a:gridCol w="1938528"/>
                <a:gridCol w="2029968"/>
                <a:gridCol w="5907024"/>
              </a:tblGrid>
              <a:tr h="762000">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Symbol</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900"/>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Name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900"/>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Read As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9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Example  (p = 'it is hot',  q = 'it is humid')</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900"/>
                    </a:solidFill>
                  </a:tcPr>
                </a:tc>
              </a:tr>
              <a:tr h="762000">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 p</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Negation</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NOT p</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300" i="1" dirty="0">
                          <a:solidFill>
                            <a:srgbClr val="000000"/>
                          </a:solidFill>
                          <a:latin typeface="Arial" pitchFamily="34" charset="0"/>
                          <a:ea typeface="Arial" pitchFamily="34" charset="-122"/>
                          <a:cs typeface="Arial" pitchFamily="34" charset="-120"/>
                        </a:rPr>
                        <a:t>"It is NOT hot"</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r>
              <a:tr h="762000">
                <a:tc>
                  <a:txBody>
                    <a:bodyPr/>
                    <a:lstStyle/>
                    <a:p>
                      <a:pPr algn="ctr" indent="0" marL="0">
                        <a:buNone/>
                      </a:pPr>
                      <a:r>
                        <a:rPr lang="en-US" sz="1300" b="1" dirty="0">
                          <a:solidFill>
                            <a:srgbClr val="1565C0"/>
                          </a:solidFill>
                          <a:latin typeface="Arial" pitchFamily="34" charset="0"/>
                          <a:ea typeface="Arial" pitchFamily="34" charset="-122"/>
                          <a:cs typeface="Arial" pitchFamily="34" charset="-120"/>
                        </a:rPr>
                        <a:t>p ∧ q</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Conjunction</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 AND q</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indent="0" marL="0">
                        <a:buNone/>
                      </a:pPr>
                      <a:r>
                        <a:rPr lang="en-US" sz="1300" i="1" dirty="0">
                          <a:solidFill>
                            <a:srgbClr val="000000"/>
                          </a:solidFill>
                          <a:latin typeface="Arial" pitchFamily="34" charset="0"/>
                          <a:ea typeface="Arial" pitchFamily="34" charset="-122"/>
                          <a:cs typeface="Arial" pitchFamily="34" charset="-120"/>
                        </a:rPr>
                        <a:t>"It is hot AND humid"</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r>
              <a:tr h="762000">
                <a:tc>
                  <a:txBody>
                    <a:bodyPr/>
                    <a:lstStyle/>
                    <a:p>
                      <a:pPr algn="ctr" indent="0" marL="0">
                        <a:buNone/>
                      </a:pPr>
                      <a:r>
                        <a:rPr lang="en-US" sz="1300" b="1" dirty="0">
                          <a:solidFill>
                            <a:srgbClr val="006400"/>
                          </a:solidFill>
                          <a:latin typeface="Arial" pitchFamily="34" charset="0"/>
                          <a:ea typeface="Arial" pitchFamily="34" charset="-122"/>
                          <a:cs typeface="Arial" pitchFamily="34" charset="-120"/>
                        </a:rPr>
                        <a:t>p ∨ q</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Disjunction</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 OR q  (inclusive)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indent="0" marL="0">
                        <a:buNone/>
                      </a:pPr>
                      <a:r>
                        <a:rPr lang="en-US" sz="1300" i="1" dirty="0">
                          <a:solidFill>
                            <a:srgbClr val="000000"/>
                          </a:solidFill>
                          <a:latin typeface="Arial" pitchFamily="34" charset="0"/>
                          <a:ea typeface="Arial" pitchFamily="34" charset="-122"/>
                          <a:cs typeface="Arial" pitchFamily="34" charset="-120"/>
                        </a:rPr>
                        <a:t>"It is hot OR humid (or both)"</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r>
              <a:tr h="762000">
                <a:tc>
                  <a:txBody>
                    <a:bodyPr/>
                    <a:lstStyle/>
                    <a:p>
                      <a:pPr algn="ctr" indent="0" marL="0">
                        <a:buNone/>
                      </a:pPr>
                      <a:r>
                        <a:rPr lang="en-US" sz="1300" b="1" dirty="0">
                          <a:solidFill>
                            <a:srgbClr val="990033"/>
                          </a:solidFill>
                          <a:latin typeface="Arial" pitchFamily="34" charset="0"/>
                          <a:ea typeface="Arial" pitchFamily="34" charset="-122"/>
                          <a:cs typeface="Arial" pitchFamily="34" charset="-120"/>
                        </a:rPr>
                        <a:t>p → q</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Conditional</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If p, then q</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indent="0" marL="0">
                        <a:buNone/>
                      </a:pPr>
                      <a:r>
                        <a:rPr lang="en-US" sz="1300" i="1" dirty="0">
                          <a:solidFill>
                            <a:srgbClr val="000000"/>
                          </a:solidFill>
                          <a:latin typeface="Arial" pitchFamily="34" charset="0"/>
                          <a:ea typeface="Arial" pitchFamily="34" charset="-122"/>
                          <a:cs typeface="Arial" pitchFamily="34" charset="-120"/>
                        </a:rPr>
                        <a:t>"If it is hot, then it is humid"</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r>
              <a:tr h="762000">
                <a:tc>
                  <a:txBody>
                    <a:bodyPr/>
                    <a:lstStyle/>
                    <a:p>
                      <a:pPr algn="ctr" indent="0" marL="0">
                        <a:buNone/>
                      </a:pPr>
                      <a:r>
                        <a:rPr lang="en-US" sz="1300" b="1" dirty="0">
                          <a:solidFill>
                            <a:srgbClr val="F57F17"/>
                          </a:solidFill>
                          <a:latin typeface="Arial" pitchFamily="34" charset="0"/>
                          <a:ea typeface="Arial" pitchFamily="34" charset="-122"/>
                          <a:cs typeface="Arial" pitchFamily="34" charset="-120"/>
                        </a:rPr>
                        <a:t>p ↔ q</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Biconditional</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 if and only if q</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indent="0" marL="0">
                        <a:buNone/>
                      </a:pPr>
                      <a:r>
                        <a:rPr lang="en-US" sz="1300" i="1" dirty="0">
                          <a:solidFill>
                            <a:srgbClr val="000000"/>
                          </a:solidFill>
                          <a:latin typeface="Arial" pitchFamily="34" charset="0"/>
                          <a:ea typeface="Arial" pitchFamily="34" charset="-122"/>
                          <a:cs typeface="Arial" pitchFamily="34" charset="-120"/>
                        </a:rPr>
                        <a:t>"Hot if and only if humid"</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Truth Tables</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350" dirty="0">
                <a:solidFill>
                  <a:srgbClr val="000000"/>
                </a:solidFill>
                <a:latin typeface="Arial" pitchFamily="34" charset="0"/>
                <a:ea typeface="Arial" pitchFamily="34" charset="-122"/>
                <a:cs typeface="Arial" pitchFamily="34" charset="-120"/>
              </a:rPr>
              <a:t>A truth table systematically evaluates a compound proposition for every possible combination of truth values:</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084832"/>
          <a:ext cx="11292840" cy="3337560"/>
        </p:xfrm>
        <a:graphic>
          <a:graphicData uri="http://schemas.openxmlformats.org/drawingml/2006/table">
            <a:tbl>
              <a:tblPr/>
              <a:tblGrid>
                <a:gridCol w="1417320"/>
                <a:gridCol w="1417320"/>
                <a:gridCol w="1444752"/>
                <a:gridCol w="1591056"/>
                <a:gridCol w="1591056"/>
                <a:gridCol w="1691640"/>
                <a:gridCol w="2139696"/>
              </a:tblGrid>
              <a:tr h="667512">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p</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q</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 p</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p ∧ q</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p ∨ q</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p → q</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p ↔ q</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r>
              <a:tr h="667512">
                <a:tc>
                  <a:txBody>
                    <a:bodyPr/>
                    <a:lstStyle/>
                    <a:p>
                      <a:pPr algn="ctr" indent="0" marL="0">
                        <a:buNone/>
                      </a:pPr>
                      <a:r>
                        <a:rPr lang="en-US" sz="1400" b="1" dirty="0">
                          <a:solidFill>
                            <a:srgbClr val="000000"/>
                          </a:solidFill>
                          <a:latin typeface="Arial" pitchFamily="34" charset="0"/>
                          <a:ea typeface="Arial" pitchFamily="34" charset="-122"/>
                          <a:cs typeface="Arial" pitchFamily="34" charset="-120"/>
                        </a:rPr>
                        <a:t>T</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400" b="1" dirty="0">
                          <a:solidFill>
                            <a:srgbClr val="000000"/>
                          </a:solidFill>
                          <a:latin typeface="Arial" pitchFamily="34" charset="0"/>
                          <a:ea typeface="Arial" pitchFamily="34" charset="-122"/>
                          <a:cs typeface="Arial" pitchFamily="34" charset="-120"/>
                        </a:rPr>
                        <a:t>T</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F</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400" b="1" dirty="0">
                          <a:solidFill>
                            <a:srgbClr val="006400"/>
                          </a:solidFill>
                          <a:latin typeface="Arial" pitchFamily="34" charset="0"/>
                          <a:ea typeface="Arial" pitchFamily="34" charset="-122"/>
                          <a:cs typeface="Arial" pitchFamily="34" charset="-120"/>
                        </a:rPr>
                        <a:t>T</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400" b="1" dirty="0">
                          <a:solidFill>
                            <a:srgbClr val="006400"/>
                          </a:solidFill>
                          <a:latin typeface="Arial" pitchFamily="34" charset="0"/>
                          <a:ea typeface="Arial" pitchFamily="34" charset="-122"/>
                          <a:cs typeface="Arial" pitchFamily="34" charset="-120"/>
                        </a:rPr>
                        <a:t>T</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400" b="1" dirty="0">
                          <a:solidFill>
                            <a:srgbClr val="006400"/>
                          </a:solidFill>
                          <a:latin typeface="Arial" pitchFamily="34" charset="0"/>
                          <a:ea typeface="Arial" pitchFamily="34" charset="-122"/>
                          <a:cs typeface="Arial" pitchFamily="34" charset="-120"/>
                        </a:rPr>
                        <a:t>T</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400" b="1" dirty="0">
                          <a:solidFill>
                            <a:srgbClr val="006400"/>
                          </a:solidFill>
                          <a:latin typeface="Arial" pitchFamily="34" charset="0"/>
                          <a:ea typeface="Arial" pitchFamily="34" charset="-122"/>
                          <a:cs typeface="Arial" pitchFamily="34" charset="-120"/>
                        </a:rPr>
                        <a:t>T</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r>
              <a:tr h="667512">
                <a:tc>
                  <a:txBody>
                    <a:bodyPr/>
                    <a:lstStyle/>
                    <a:p>
                      <a:pPr algn="ctr" indent="0" marL="0">
                        <a:buNone/>
                      </a:pPr>
                      <a:r>
                        <a:rPr lang="en-US" sz="1400" b="1" dirty="0">
                          <a:solidFill>
                            <a:srgbClr val="000000"/>
                          </a:solidFill>
                          <a:latin typeface="Arial" pitchFamily="34" charset="0"/>
                          <a:ea typeface="Arial" pitchFamily="34" charset="-122"/>
                          <a:cs typeface="Arial" pitchFamily="34" charset="-120"/>
                        </a:rPr>
                        <a:t>T</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algn="ctr" indent="0" marL="0">
                        <a:buNone/>
                      </a:pPr>
                      <a:r>
                        <a:rPr lang="en-US" sz="1400" b="1" dirty="0">
                          <a:solidFill>
                            <a:srgbClr val="000000"/>
                          </a:solidFill>
                          <a:latin typeface="Arial" pitchFamily="34" charset="0"/>
                          <a:ea typeface="Arial" pitchFamily="34" charset="-122"/>
                          <a:cs typeface="Arial" pitchFamily="34" charset="-120"/>
                        </a:rPr>
                        <a:t>F</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F</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algn="ctr" indent="0" marL="0">
                        <a:buNone/>
                      </a:pPr>
                      <a:r>
                        <a:rPr lang="en-US" sz="1400" b="1" dirty="0">
                          <a:solidFill>
                            <a:srgbClr val="990033"/>
                          </a:solidFill>
                          <a:latin typeface="Arial" pitchFamily="34" charset="0"/>
                          <a:ea typeface="Arial" pitchFamily="34" charset="-122"/>
                          <a:cs typeface="Arial" pitchFamily="34" charset="-120"/>
                        </a:rPr>
                        <a:t>F</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algn="ctr" indent="0" marL="0">
                        <a:buNone/>
                      </a:pPr>
                      <a:r>
                        <a:rPr lang="en-US" sz="1400" b="1" dirty="0">
                          <a:solidFill>
                            <a:srgbClr val="006400"/>
                          </a:solidFill>
                          <a:latin typeface="Arial" pitchFamily="34" charset="0"/>
                          <a:ea typeface="Arial" pitchFamily="34" charset="-122"/>
                          <a:cs typeface="Arial" pitchFamily="34" charset="-120"/>
                        </a:rPr>
                        <a:t>T</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algn="ctr" indent="0" marL="0">
                        <a:buNone/>
                      </a:pPr>
                      <a:r>
                        <a:rPr lang="en-US" sz="1400" b="1" dirty="0">
                          <a:solidFill>
                            <a:srgbClr val="990033"/>
                          </a:solidFill>
                          <a:latin typeface="Arial" pitchFamily="34" charset="0"/>
                          <a:ea typeface="Arial" pitchFamily="34" charset="-122"/>
                          <a:cs typeface="Arial" pitchFamily="34" charset="-120"/>
                        </a:rPr>
                        <a:t>F</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algn="ctr" indent="0" marL="0">
                        <a:buNone/>
                      </a:pPr>
                      <a:r>
                        <a:rPr lang="en-US" sz="1400" b="1" dirty="0">
                          <a:solidFill>
                            <a:srgbClr val="990033"/>
                          </a:solidFill>
                          <a:latin typeface="Arial" pitchFamily="34" charset="0"/>
                          <a:ea typeface="Arial" pitchFamily="34" charset="-122"/>
                          <a:cs typeface="Arial" pitchFamily="34" charset="-120"/>
                        </a:rPr>
                        <a:t>F</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r>
              <a:tr h="667512">
                <a:tc>
                  <a:txBody>
                    <a:bodyPr/>
                    <a:lstStyle/>
                    <a:p>
                      <a:pPr algn="ctr" indent="0" marL="0">
                        <a:buNone/>
                      </a:pPr>
                      <a:r>
                        <a:rPr lang="en-US" sz="1400" b="1" dirty="0">
                          <a:solidFill>
                            <a:srgbClr val="000000"/>
                          </a:solidFill>
                          <a:latin typeface="Arial" pitchFamily="34" charset="0"/>
                          <a:ea typeface="Arial" pitchFamily="34" charset="-122"/>
                          <a:cs typeface="Arial" pitchFamily="34" charset="-120"/>
                        </a:rPr>
                        <a:t>F</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400" b="1" dirty="0">
                          <a:solidFill>
                            <a:srgbClr val="000000"/>
                          </a:solidFill>
                          <a:latin typeface="Arial" pitchFamily="34" charset="0"/>
                          <a:ea typeface="Arial" pitchFamily="34" charset="-122"/>
                          <a:cs typeface="Arial" pitchFamily="34" charset="-120"/>
                        </a:rPr>
                        <a:t>T</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400" b="1" dirty="0">
                          <a:solidFill>
                            <a:srgbClr val="006400"/>
                          </a:solidFill>
                          <a:latin typeface="Arial" pitchFamily="34" charset="0"/>
                          <a:ea typeface="Arial" pitchFamily="34" charset="-122"/>
                          <a:cs typeface="Arial" pitchFamily="34" charset="-120"/>
                        </a:rPr>
                        <a:t>T</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400" dirty="0">
                          <a:solidFill>
                            <a:srgbClr val="990033"/>
                          </a:solidFill>
                          <a:latin typeface="Arial" pitchFamily="34" charset="0"/>
                          <a:ea typeface="Arial" pitchFamily="34" charset="-122"/>
                          <a:cs typeface="Arial" pitchFamily="34" charset="-120"/>
                        </a:rPr>
                        <a:t>F</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400" b="1" dirty="0">
                          <a:solidFill>
                            <a:srgbClr val="006400"/>
                          </a:solidFill>
                          <a:latin typeface="Arial" pitchFamily="34" charset="0"/>
                          <a:ea typeface="Arial" pitchFamily="34" charset="-122"/>
                          <a:cs typeface="Arial" pitchFamily="34" charset="-120"/>
                        </a:rPr>
                        <a:t>T</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400" b="1" dirty="0">
                          <a:solidFill>
                            <a:srgbClr val="006400"/>
                          </a:solidFill>
                          <a:latin typeface="Arial" pitchFamily="34" charset="0"/>
                          <a:ea typeface="Arial" pitchFamily="34" charset="-122"/>
                          <a:cs typeface="Arial" pitchFamily="34" charset="-120"/>
                        </a:rPr>
                        <a:t>T</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400" dirty="0">
                          <a:solidFill>
                            <a:srgbClr val="990033"/>
                          </a:solidFill>
                          <a:latin typeface="Arial" pitchFamily="34" charset="0"/>
                          <a:ea typeface="Arial" pitchFamily="34" charset="-122"/>
                          <a:cs typeface="Arial" pitchFamily="34" charset="-120"/>
                        </a:rPr>
                        <a:t>F</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r>
              <a:tr h="667512">
                <a:tc>
                  <a:txBody>
                    <a:bodyPr/>
                    <a:lstStyle/>
                    <a:p>
                      <a:pPr algn="ctr" indent="0" marL="0">
                        <a:buNone/>
                      </a:pPr>
                      <a:r>
                        <a:rPr lang="en-US" sz="1400" b="1" dirty="0">
                          <a:solidFill>
                            <a:srgbClr val="000000"/>
                          </a:solidFill>
                          <a:latin typeface="Arial" pitchFamily="34" charset="0"/>
                          <a:ea typeface="Arial" pitchFamily="34" charset="-122"/>
                          <a:cs typeface="Arial" pitchFamily="34" charset="-120"/>
                        </a:rPr>
                        <a:t>F</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algn="ctr" indent="0" marL="0">
                        <a:buNone/>
                      </a:pPr>
                      <a:r>
                        <a:rPr lang="en-US" sz="1400" b="1" dirty="0">
                          <a:solidFill>
                            <a:srgbClr val="000000"/>
                          </a:solidFill>
                          <a:latin typeface="Arial" pitchFamily="34" charset="0"/>
                          <a:ea typeface="Arial" pitchFamily="34" charset="-122"/>
                          <a:cs typeface="Arial" pitchFamily="34" charset="-120"/>
                        </a:rPr>
                        <a:t>F</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algn="ctr" indent="0" marL="0">
                        <a:buNone/>
                      </a:pPr>
                      <a:r>
                        <a:rPr lang="en-US" sz="1400" b="1" dirty="0">
                          <a:solidFill>
                            <a:srgbClr val="006400"/>
                          </a:solidFill>
                          <a:latin typeface="Arial" pitchFamily="34" charset="0"/>
                          <a:ea typeface="Arial" pitchFamily="34" charset="-122"/>
                          <a:cs typeface="Arial" pitchFamily="34" charset="-120"/>
                        </a:rPr>
                        <a:t>T</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algn="ctr" indent="0" marL="0">
                        <a:buNone/>
                      </a:pPr>
                      <a:r>
                        <a:rPr lang="en-US" sz="1400" dirty="0">
                          <a:solidFill>
                            <a:srgbClr val="990033"/>
                          </a:solidFill>
                          <a:latin typeface="Arial" pitchFamily="34" charset="0"/>
                          <a:ea typeface="Arial" pitchFamily="34" charset="-122"/>
                          <a:cs typeface="Arial" pitchFamily="34" charset="-120"/>
                        </a:rPr>
                        <a:t>F</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algn="ctr" indent="0" marL="0">
                        <a:buNone/>
                      </a:pPr>
                      <a:r>
                        <a:rPr lang="en-US" sz="1400" dirty="0">
                          <a:solidFill>
                            <a:srgbClr val="990033"/>
                          </a:solidFill>
                          <a:latin typeface="Arial" pitchFamily="34" charset="0"/>
                          <a:ea typeface="Arial" pitchFamily="34" charset="-122"/>
                          <a:cs typeface="Arial" pitchFamily="34" charset="-120"/>
                        </a:rPr>
                        <a:t>F</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algn="ctr" indent="0" marL="0">
                        <a:buNone/>
                      </a:pPr>
                      <a:r>
                        <a:rPr lang="en-US" sz="1400" b="1" dirty="0">
                          <a:solidFill>
                            <a:srgbClr val="006400"/>
                          </a:solidFill>
                          <a:latin typeface="Arial" pitchFamily="34" charset="0"/>
                          <a:ea typeface="Arial" pitchFamily="34" charset="-122"/>
                          <a:cs typeface="Arial" pitchFamily="34" charset="-120"/>
                        </a:rPr>
                        <a:t>T</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algn="ctr" indent="0" marL="0">
                        <a:buNone/>
                      </a:pPr>
                      <a:r>
                        <a:rPr lang="en-US" sz="1400" b="1" dirty="0">
                          <a:solidFill>
                            <a:srgbClr val="006400"/>
                          </a:solidFill>
                          <a:latin typeface="Arial" pitchFamily="34" charset="0"/>
                          <a:ea typeface="Arial" pitchFamily="34" charset="-122"/>
                          <a:cs typeface="Arial" pitchFamily="34" charset="-120"/>
                        </a:rPr>
                        <a:t>T</a:t>
                      </a:r>
                      <a:endParaRPr lang="en-US" sz="14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r>
            </a:tbl>
          </a:graphicData>
        </a:graphic>
      </p:graphicFrame>
      <p:sp>
        <p:nvSpPr>
          <p:cNvPr id="17" name="Shape 13"/>
          <p:cNvSpPr/>
          <p:nvPr/>
        </p:nvSpPr>
        <p:spPr>
          <a:xfrm>
            <a:off x="457200" y="5559552"/>
            <a:ext cx="11292840" cy="804672"/>
          </a:xfrm>
          <a:prstGeom prst="roundRect">
            <a:avLst>
              <a:gd name="adj" fmla="val 11364"/>
            </a:avLst>
          </a:prstGeom>
          <a:solidFill>
            <a:srgbClr val="FFF9C4"/>
          </a:solidFill>
          <a:ln w="25400">
            <a:solidFill>
              <a:srgbClr val="F9DD67"/>
            </a:solidFill>
            <a:prstDash val="solid"/>
          </a:ln>
        </p:spPr>
      </p:sp>
      <p:sp>
        <p:nvSpPr>
          <p:cNvPr id="18" name="Text 14"/>
          <p:cNvSpPr/>
          <p:nvPr/>
        </p:nvSpPr>
        <p:spPr>
          <a:xfrm>
            <a:off x="566928" y="5586984"/>
            <a:ext cx="11082528" cy="749808"/>
          </a:xfrm>
          <a:prstGeom prst="rect">
            <a:avLst/>
          </a:prstGeom>
          <a:noFill/>
          <a:ln/>
        </p:spPr>
        <p:txBody>
          <a:bodyPr wrap="square" lIns="0" tIns="0" rIns="0" bIns="0" rtlCol="0" anchor="ctr"/>
          <a:lstStyle/>
          <a:p>
            <a:pPr indent="0" marL="0">
              <a:buNone/>
            </a:pPr>
            <a:r>
              <a:rPr lang="en-US" sz="1250" dirty="0">
                <a:solidFill>
                  <a:srgbClr val="4E342E"/>
                </a:solidFill>
                <a:latin typeface="Arial" pitchFamily="34" charset="0"/>
                <a:ea typeface="Arial" pitchFamily="34" charset="-122"/>
                <a:cs typeface="Arial" pitchFamily="34" charset="-120"/>
              </a:rPr>
              <a:t>★  Key Insight (p → q):  The conditional is FALSE only when p = TRUE and q = FALSE (Row 2). A FALSE hypothesis makes the implication vacuously TRUE — even 'If 1=2 then pigs fly' is TRUE!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Logical Equivalence &amp; Key Laws</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30352"/>
          </a:xfrm>
          <a:prstGeom prst="rect">
            <a:avLst/>
          </a:prstGeom>
          <a:noFill/>
          <a:ln/>
        </p:spPr>
        <p:txBody>
          <a:bodyPr wrap="square" rtlCol="0" anchor="ctr"/>
          <a:lstStyle/>
          <a:p>
            <a:pPr indent="0" marL="0">
              <a:buNone/>
            </a:pPr>
            <a:r>
              <a:rPr lang="en-US" sz="1350" dirty="0">
                <a:solidFill>
                  <a:srgbClr val="000000"/>
                </a:solidFill>
                <a:latin typeface="Arial" pitchFamily="34" charset="0"/>
                <a:ea typeface="Arial" pitchFamily="34" charset="-122"/>
                <a:cs typeface="Arial" pitchFamily="34" charset="-120"/>
              </a:rPr>
              <a:t>Two propositions P and Q are logically equivalent (P ≡ Q) if they have identical truth values for every possible assignment of variable values.</a:t>
            </a:r>
            <a:endParaRPr lang="en-US" sz="1350" dirty="0"/>
          </a:p>
        </p:txBody>
      </p:sp>
      <p:sp>
        <p:nvSpPr>
          <p:cNvPr id="16" name="Shape 13"/>
          <p:cNvSpPr/>
          <p:nvPr/>
        </p:nvSpPr>
        <p:spPr>
          <a:xfrm>
            <a:off x="457200" y="2176272"/>
            <a:ext cx="11292840" cy="1481328"/>
          </a:xfrm>
          <a:prstGeom prst="roundRect">
            <a:avLst>
              <a:gd name="adj" fmla="val 6173"/>
            </a:avLst>
          </a:prstGeom>
          <a:solidFill>
            <a:srgbClr val="E3F2FD"/>
          </a:solidFill>
          <a:ln w="19050">
            <a:solidFill>
              <a:srgbClr val="1565C0"/>
            </a:solidFill>
            <a:prstDash val="solid"/>
          </a:ln>
        </p:spPr>
      </p:sp>
      <p:sp>
        <p:nvSpPr>
          <p:cNvPr id="17" name="Text 14"/>
          <p:cNvSpPr/>
          <p:nvPr/>
        </p:nvSpPr>
        <p:spPr>
          <a:xfrm>
            <a:off x="566928" y="2231136"/>
            <a:ext cx="11073384" cy="347472"/>
          </a:xfrm>
          <a:prstGeom prst="rect">
            <a:avLst/>
          </a:prstGeom>
          <a:noFill/>
          <a:ln/>
        </p:spPr>
        <p:txBody>
          <a:bodyPr wrap="square" lIns="0" tIns="0" rIns="0" bIns="0" rtlCol="0" anchor="ctr"/>
          <a:lstStyle/>
          <a:p>
            <a:pPr indent="0" marL="0">
              <a:buNone/>
            </a:pPr>
            <a:r>
              <a:rPr lang="en-US" sz="1400" b="1" dirty="0">
                <a:solidFill>
                  <a:srgbClr val="1565C0"/>
                </a:solidFill>
                <a:latin typeface="Arial" pitchFamily="34" charset="0"/>
                <a:ea typeface="Arial" pitchFamily="34" charset="-122"/>
                <a:cs typeface="Arial" pitchFamily="34" charset="-120"/>
              </a:rPr>
              <a:t>De Morgan's Laws  (most important equivalences in logic)</a:t>
            </a:r>
            <a:endParaRPr lang="en-US" sz="1400" dirty="0"/>
          </a:p>
        </p:txBody>
      </p:sp>
      <p:sp>
        <p:nvSpPr>
          <p:cNvPr id="18" name="Text 15"/>
          <p:cNvSpPr/>
          <p:nvPr/>
        </p:nvSpPr>
        <p:spPr>
          <a:xfrm>
            <a:off x="566928" y="2615184"/>
            <a:ext cx="11073384" cy="987552"/>
          </a:xfrm>
          <a:prstGeom prst="rect">
            <a:avLst/>
          </a:prstGeom>
          <a:noFill/>
          <a:ln/>
        </p:spPr>
        <p:txBody>
          <a:bodyPr wrap="square" lIns="0" tIns="0" rIns="0" bIns="0" rtlCol="0" anchor="ctr"/>
          <a:lstStyle/>
          <a:p>
            <a:pPr indent="0" marL="0">
              <a:buNone/>
            </a:pPr>
            <a:r>
              <a:rPr lang="en-US" sz="1400" b="1" dirty="0">
                <a:solidFill>
                  <a:srgbClr val="990033"/>
                </a:solidFill>
                <a:latin typeface="Arial" pitchFamily="34" charset="0"/>
                <a:ea typeface="Arial" pitchFamily="34" charset="-122"/>
                <a:cs typeface="Arial" pitchFamily="34" charset="-120"/>
              </a:rPr>
              <a:t>¬(p ∧ q)  ≡  ¬p ∨ ¬q</a:t>
            </a:r>
            <a:pPr indent="0" marL="0">
              <a:buNone/>
            </a:pPr>
            <a:r>
              <a:rPr lang="en-US" sz="1400" i="1" dirty="0">
                <a:solidFill>
                  <a:srgbClr val="000000"/>
                </a:solidFill>
                <a:latin typeface="Arial" pitchFamily="34" charset="0"/>
                <a:ea typeface="Arial" pitchFamily="34" charset="-122"/>
                <a:cs typeface="Arial" pitchFamily="34" charset="-120"/>
              </a:rPr>
              <a:t>      → NOT of (AND)  =  OR of (NOTs)</a:t>
            </a:r>
            <a:endParaRPr lang="en-US" sz="1400" dirty="0"/>
          </a:p>
          <a:p>
            <a:pPr indent="0" marL="0">
              <a:buNone/>
            </a:pPr>
            <a:r>
              <a:rPr lang="en-US" sz="1400" b="1" dirty="0">
                <a:solidFill>
                  <a:srgbClr val="990033"/>
                </a:solidFill>
                <a:latin typeface="Arial" pitchFamily="34" charset="0"/>
                <a:ea typeface="Arial" pitchFamily="34" charset="-122"/>
                <a:cs typeface="Arial" pitchFamily="34" charset="-120"/>
              </a:rPr>
              <a:t>¬(p ∨ q)  ≡  ¬p ∧ ¬q</a:t>
            </a:r>
            <a:pPr indent="0" marL="0">
              <a:buNone/>
            </a:pPr>
            <a:r>
              <a:rPr lang="en-US" sz="1400" i="1" dirty="0">
                <a:solidFill>
                  <a:srgbClr val="000000"/>
                </a:solidFill>
                <a:latin typeface="Arial" pitchFamily="34" charset="0"/>
                <a:ea typeface="Arial" pitchFamily="34" charset="-122"/>
                <a:cs typeface="Arial" pitchFamily="34" charset="-120"/>
              </a:rPr>
              <a:t>      → NOT of (OR)  =  AND of (NOTs)</a:t>
            </a:r>
            <a:endParaRPr lang="en-US" sz="1400" dirty="0"/>
          </a:p>
        </p:txBody>
      </p:sp>
      <p:sp>
        <p:nvSpPr>
          <p:cNvPr id="19" name="Text 16"/>
          <p:cNvSpPr/>
          <p:nvPr/>
        </p:nvSpPr>
        <p:spPr>
          <a:xfrm>
            <a:off x="457200" y="3767328"/>
            <a:ext cx="11292840" cy="347472"/>
          </a:xfrm>
          <a:prstGeom prst="rect">
            <a:avLst/>
          </a:prstGeom>
          <a:noFill/>
          <a:ln/>
        </p:spPr>
        <p:txBody>
          <a:bodyPr wrap="square" rtlCol="0" anchor="ctr"/>
          <a:lstStyle/>
          <a:p>
            <a:pPr indent="0" marL="0">
              <a:buNone/>
            </a:pPr>
            <a:r>
              <a:rPr lang="en-US" sz="1400" b="1" dirty="0">
                <a:solidFill>
                  <a:srgbClr val="990033"/>
                </a:solidFill>
                <a:latin typeface="Arial" pitchFamily="34" charset="0"/>
                <a:ea typeface="Arial" pitchFamily="34" charset="-122"/>
                <a:cs typeface="Arial" pitchFamily="34" charset="-120"/>
              </a:rPr>
              <a:t>Other Key Equivalences:</a:t>
            </a:r>
            <a:endParaRPr lang="en-US" sz="1400" dirty="0"/>
          </a:p>
        </p:txBody>
      </p:sp>
      <p:sp>
        <p:nvSpPr>
          <p:cNvPr id="20" name="Shape 17"/>
          <p:cNvSpPr/>
          <p:nvPr/>
        </p:nvSpPr>
        <p:spPr>
          <a:xfrm>
            <a:off x="457200" y="4187952"/>
            <a:ext cx="5532120" cy="822960"/>
          </a:xfrm>
          <a:prstGeom prst="roundRect">
            <a:avLst>
              <a:gd name="adj" fmla="val 8889"/>
            </a:avLst>
          </a:prstGeom>
          <a:solidFill>
            <a:srgbClr val="FCE4EC"/>
          </a:solidFill>
          <a:ln w="12700">
            <a:solidFill>
              <a:srgbClr val="CCCCCC"/>
            </a:solidFill>
            <a:prstDash val="solid"/>
          </a:ln>
        </p:spPr>
      </p:sp>
      <p:sp>
        <p:nvSpPr>
          <p:cNvPr id="21" name="Text 18"/>
          <p:cNvSpPr/>
          <p:nvPr/>
        </p:nvSpPr>
        <p:spPr>
          <a:xfrm>
            <a:off x="548640" y="4279392"/>
            <a:ext cx="5349240" cy="658368"/>
          </a:xfrm>
          <a:prstGeom prst="rect">
            <a:avLst/>
          </a:prstGeom>
          <a:noFill/>
          <a:ln/>
        </p:spPr>
        <p:txBody>
          <a:bodyPr wrap="square" lIns="0" tIns="0" rIns="0" bIns="0" rtlCol="0" anchor="ctr"/>
          <a:lstStyle/>
          <a:p>
            <a:pPr indent="0" marL="0">
              <a:buNone/>
            </a:pPr>
            <a:r>
              <a:rPr lang="en-US" sz="1350" b="1" dirty="0">
                <a:solidFill>
                  <a:srgbClr val="990033"/>
                </a:solidFill>
                <a:latin typeface="Arial" pitchFamily="34" charset="0"/>
                <a:ea typeface="Arial" pitchFamily="34" charset="-122"/>
                <a:cs typeface="Arial" pitchFamily="34" charset="-120"/>
              </a:rPr>
              <a:t>Contrapositive:  </a:t>
            </a:r>
            <a:pPr indent="0" marL="0">
              <a:buNone/>
            </a:pPr>
            <a:r>
              <a:rPr lang="en-US" sz="1350" dirty="0">
                <a:solidFill>
                  <a:srgbClr val="000000"/>
                </a:solidFill>
                <a:latin typeface="Arial" pitchFamily="34" charset="0"/>
                <a:ea typeface="Arial" pitchFamily="34" charset="-122"/>
                <a:cs typeface="Arial" pitchFamily="34" charset="-120"/>
              </a:rPr>
              <a:t>p → q  ≡  ¬q → ¬p</a:t>
            </a:r>
            <a:endParaRPr lang="en-US" sz="1350" dirty="0"/>
          </a:p>
        </p:txBody>
      </p:sp>
      <p:sp>
        <p:nvSpPr>
          <p:cNvPr id="22" name="Shape 19"/>
          <p:cNvSpPr/>
          <p:nvPr/>
        </p:nvSpPr>
        <p:spPr>
          <a:xfrm>
            <a:off x="6144768" y="4187952"/>
            <a:ext cx="5532120" cy="822960"/>
          </a:xfrm>
          <a:prstGeom prst="roundRect">
            <a:avLst>
              <a:gd name="adj" fmla="val 8889"/>
            </a:avLst>
          </a:prstGeom>
          <a:solidFill>
            <a:srgbClr val="E8F5E9"/>
          </a:solidFill>
          <a:ln w="12700">
            <a:solidFill>
              <a:srgbClr val="CCCCCC"/>
            </a:solidFill>
            <a:prstDash val="solid"/>
          </a:ln>
        </p:spPr>
      </p:sp>
      <p:sp>
        <p:nvSpPr>
          <p:cNvPr id="23" name="Text 20"/>
          <p:cNvSpPr/>
          <p:nvPr/>
        </p:nvSpPr>
        <p:spPr>
          <a:xfrm>
            <a:off x="6236208" y="4279392"/>
            <a:ext cx="5349240" cy="658368"/>
          </a:xfrm>
          <a:prstGeom prst="rect">
            <a:avLst/>
          </a:prstGeom>
          <a:noFill/>
          <a:ln/>
        </p:spPr>
        <p:txBody>
          <a:bodyPr wrap="square" lIns="0" tIns="0" rIns="0" bIns="0" rtlCol="0" anchor="ctr"/>
          <a:lstStyle/>
          <a:p>
            <a:pPr indent="0" marL="0">
              <a:buNone/>
            </a:pPr>
            <a:r>
              <a:rPr lang="en-US" sz="1350" b="1" dirty="0">
                <a:solidFill>
                  <a:srgbClr val="990033"/>
                </a:solidFill>
                <a:latin typeface="Arial" pitchFamily="34" charset="0"/>
                <a:ea typeface="Arial" pitchFamily="34" charset="-122"/>
                <a:cs typeface="Arial" pitchFamily="34" charset="-120"/>
              </a:rPr>
              <a:t>Double Negation:  </a:t>
            </a:r>
            <a:pPr indent="0" marL="0">
              <a:buNone/>
            </a:pPr>
            <a:r>
              <a:rPr lang="en-US" sz="1350" dirty="0">
                <a:solidFill>
                  <a:srgbClr val="000000"/>
                </a:solidFill>
                <a:latin typeface="Arial" pitchFamily="34" charset="0"/>
                <a:ea typeface="Arial" pitchFamily="34" charset="-122"/>
                <a:cs typeface="Arial" pitchFamily="34" charset="-120"/>
              </a:rPr>
              <a:t>¬(¬p)  ≡  p</a:t>
            </a:r>
            <a:endParaRPr lang="en-US" sz="1350" dirty="0"/>
          </a:p>
        </p:txBody>
      </p:sp>
      <p:sp>
        <p:nvSpPr>
          <p:cNvPr id="24" name="Shape 21"/>
          <p:cNvSpPr/>
          <p:nvPr/>
        </p:nvSpPr>
        <p:spPr>
          <a:xfrm>
            <a:off x="457200" y="5120640"/>
            <a:ext cx="5532120" cy="822960"/>
          </a:xfrm>
          <a:prstGeom prst="roundRect">
            <a:avLst>
              <a:gd name="adj" fmla="val 8889"/>
            </a:avLst>
          </a:prstGeom>
          <a:solidFill>
            <a:srgbClr val="E3F2FD"/>
          </a:solidFill>
          <a:ln w="12700">
            <a:solidFill>
              <a:srgbClr val="CCCCCC"/>
            </a:solidFill>
            <a:prstDash val="solid"/>
          </a:ln>
        </p:spPr>
      </p:sp>
      <p:sp>
        <p:nvSpPr>
          <p:cNvPr id="25" name="Text 22"/>
          <p:cNvSpPr/>
          <p:nvPr/>
        </p:nvSpPr>
        <p:spPr>
          <a:xfrm>
            <a:off x="548640" y="5212080"/>
            <a:ext cx="5349240" cy="658368"/>
          </a:xfrm>
          <a:prstGeom prst="rect">
            <a:avLst/>
          </a:prstGeom>
          <a:noFill/>
          <a:ln/>
        </p:spPr>
        <p:txBody>
          <a:bodyPr wrap="square" lIns="0" tIns="0" rIns="0" bIns="0" rtlCol="0" anchor="ctr"/>
          <a:lstStyle/>
          <a:p>
            <a:pPr indent="0" marL="0">
              <a:buNone/>
            </a:pPr>
            <a:r>
              <a:rPr lang="en-US" sz="1350" b="1" dirty="0">
                <a:solidFill>
                  <a:srgbClr val="990033"/>
                </a:solidFill>
                <a:latin typeface="Arial" pitchFamily="34" charset="0"/>
                <a:ea typeface="Arial" pitchFamily="34" charset="-122"/>
                <a:cs typeface="Arial" pitchFamily="34" charset="-120"/>
              </a:rPr>
              <a:t>Idempotent:  </a:t>
            </a:r>
            <a:pPr indent="0" marL="0">
              <a:buNone/>
            </a:pPr>
            <a:r>
              <a:rPr lang="en-US" sz="1350" dirty="0">
                <a:solidFill>
                  <a:srgbClr val="000000"/>
                </a:solidFill>
                <a:latin typeface="Arial" pitchFamily="34" charset="0"/>
                <a:ea typeface="Arial" pitchFamily="34" charset="-122"/>
                <a:cs typeface="Arial" pitchFamily="34" charset="-120"/>
              </a:rPr>
              <a:t>p∧p ≡ p     and     p∨p ≡ p</a:t>
            </a:r>
            <a:endParaRPr lang="en-US" sz="1350" dirty="0"/>
          </a:p>
        </p:txBody>
      </p:sp>
      <p:sp>
        <p:nvSpPr>
          <p:cNvPr id="26" name="Shape 23"/>
          <p:cNvSpPr/>
          <p:nvPr/>
        </p:nvSpPr>
        <p:spPr>
          <a:xfrm>
            <a:off x="6144768" y="5120640"/>
            <a:ext cx="5532120" cy="822960"/>
          </a:xfrm>
          <a:prstGeom prst="roundRect">
            <a:avLst>
              <a:gd name="adj" fmla="val 8889"/>
            </a:avLst>
          </a:prstGeom>
          <a:solidFill>
            <a:srgbClr val="FFF9C4"/>
          </a:solidFill>
          <a:ln w="12700">
            <a:solidFill>
              <a:srgbClr val="CCCCCC"/>
            </a:solidFill>
            <a:prstDash val="solid"/>
          </a:ln>
        </p:spPr>
      </p:sp>
      <p:sp>
        <p:nvSpPr>
          <p:cNvPr id="27" name="Text 24"/>
          <p:cNvSpPr/>
          <p:nvPr/>
        </p:nvSpPr>
        <p:spPr>
          <a:xfrm>
            <a:off x="6236208" y="5212080"/>
            <a:ext cx="5349240" cy="658368"/>
          </a:xfrm>
          <a:prstGeom prst="rect">
            <a:avLst/>
          </a:prstGeom>
          <a:noFill/>
          <a:ln/>
        </p:spPr>
        <p:txBody>
          <a:bodyPr wrap="square" lIns="0" tIns="0" rIns="0" bIns="0" rtlCol="0" anchor="ctr"/>
          <a:lstStyle/>
          <a:p>
            <a:pPr indent="0" marL="0">
              <a:buNone/>
            </a:pPr>
            <a:r>
              <a:rPr lang="en-US" sz="1350" b="1" dirty="0">
                <a:solidFill>
                  <a:srgbClr val="990033"/>
                </a:solidFill>
                <a:latin typeface="Arial" pitchFamily="34" charset="0"/>
                <a:ea typeface="Arial" pitchFamily="34" charset="-122"/>
                <a:cs typeface="Arial" pitchFamily="34" charset="-120"/>
              </a:rPr>
              <a:t>Implication Rewrite:  </a:t>
            </a:r>
            <a:pPr indent="0" marL="0">
              <a:buNone/>
            </a:pPr>
            <a:r>
              <a:rPr lang="en-US" sz="1350" dirty="0">
                <a:solidFill>
                  <a:srgbClr val="000000"/>
                </a:solidFill>
                <a:latin typeface="Arial" pitchFamily="34" charset="0"/>
                <a:ea typeface="Arial" pitchFamily="34" charset="-122"/>
                <a:cs typeface="Arial" pitchFamily="34" charset="-120"/>
              </a:rPr>
              <a:t>p → q  ≡  ¬p ∨ q</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Applications in Computer Science</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Propositional Logic is the theoretical backbone of key areas in computer science:</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300" b="1" dirty="0">
                <a:solidFill>
                  <a:srgbClr val="009900"/>
                </a:solidFill>
                <a:latin typeface="Arial" pitchFamily="34" charset="0"/>
                <a:ea typeface="Arial" pitchFamily="34" charset="-122"/>
                <a:cs typeface="Arial" pitchFamily="34" charset="-120"/>
              </a:rPr>
              <a:t>⚙  Digital Circuit Design</a:t>
            </a:r>
            <a:endParaRPr lang="en-US" sz="130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150" dirty="0">
                <a:solidFill>
                  <a:srgbClr val="000000"/>
                </a:solidFill>
                <a:latin typeface="Arial" pitchFamily="34" charset="0"/>
                <a:ea typeface="Arial" pitchFamily="34" charset="-122"/>
                <a:cs typeface="Arial" pitchFamily="34" charset="-120"/>
              </a:rPr>
              <a:t>Logic gates (AND, OR, NOT, NAND, NOR, XOR) are direct hardware implementations of logical connectives. Boolean algebra — rooted in propositional logic — is used to design, analyze, and minimize digital circuits in processors, memory, and all digital devices.</a:t>
            </a:r>
            <a:endParaRPr lang="en-US" sz="115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300" b="1" dirty="0">
                <a:solidFill>
                  <a:srgbClr val="1565C0"/>
                </a:solidFill>
                <a:latin typeface="Arial" pitchFamily="34" charset="0"/>
                <a:ea typeface="Arial" pitchFamily="34" charset="-122"/>
                <a:cs typeface="Arial" pitchFamily="34" charset="-120"/>
              </a:rPr>
              <a:t>💾  Database Query Optimization</a:t>
            </a:r>
            <a:endParaRPr lang="en-US" sz="130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150" dirty="0">
                <a:solidFill>
                  <a:srgbClr val="000000"/>
                </a:solidFill>
                <a:latin typeface="Arial" pitchFamily="34" charset="0"/>
                <a:ea typeface="Arial" pitchFamily="34" charset="-122"/>
                <a:cs typeface="Arial" pitchFamily="34" charset="-120"/>
              </a:rPr>
              <a:t>SQL WHERE clauses use AND, OR, NOT operators: WHERE (age &gt; 18) AND (city = 'Hyderabad'). Database engines apply De Morgan's Laws and other equivalences to transform queries into faster, equivalent forms automatically.</a:t>
            </a:r>
            <a:endParaRPr lang="en-US" sz="115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300" b="1" dirty="0">
                <a:solidFill>
                  <a:srgbClr val="990033"/>
                </a:solidFill>
                <a:latin typeface="Arial" pitchFamily="34" charset="0"/>
                <a:ea typeface="Arial" pitchFamily="34" charset="-122"/>
                <a:cs typeface="Arial" pitchFamily="34" charset="-120"/>
              </a:rPr>
              <a:t>💻  Programming &amp; Software Testing</a:t>
            </a:r>
            <a:endParaRPr lang="en-US" sz="130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150" dirty="0">
                <a:solidFill>
                  <a:srgbClr val="000000"/>
                </a:solidFill>
                <a:latin typeface="Arial" pitchFamily="34" charset="0"/>
                <a:ea typeface="Arial" pitchFamily="34" charset="-122"/>
                <a:cs typeface="Arial" pitchFamily="34" charset="-120"/>
              </a:rPr>
              <a:t>Every if-else and loop condition is propositional logic in code. Software testers use truth tables to design test cases ensuring every logical combination of conditions is exercised — a technique called Condition Coverage Testing.</a:t>
            </a:r>
            <a:endParaRPr lang="en-US" sz="115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300" b="1" dirty="0">
                <a:solidFill>
                  <a:srgbClr val="F57F17"/>
                </a:solidFill>
                <a:latin typeface="Arial" pitchFamily="34" charset="0"/>
                <a:ea typeface="Arial" pitchFamily="34" charset="-122"/>
                <a:cs typeface="Arial" pitchFamily="34" charset="-120"/>
              </a:rPr>
              <a:t>🤖  Artificial Intelligence</a:t>
            </a:r>
            <a:endParaRPr lang="en-US" sz="130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150" dirty="0">
                <a:solidFill>
                  <a:srgbClr val="000000"/>
                </a:solidFill>
                <a:latin typeface="Arial" pitchFamily="34" charset="0"/>
                <a:ea typeface="Arial" pitchFamily="34" charset="-122"/>
                <a:cs typeface="Arial" pitchFamily="34" charset="-120"/>
              </a:rPr>
              <a:t>Expert systems use propositional logic for knowledge representation and rule-based inference. Automated theorem provers use Resolution Refutation — a proof technique built entirely on propositional logic — to verify program correctness.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200" dirty="0">
                <a:solidFill>
                  <a:srgbClr val="555555"/>
                </a:solidFill>
                <a:latin typeface="Arial" pitchFamily="34" charset="0"/>
                <a:ea typeface="Arial" pitchFamily="34" charset="-122"/>
                <a:cs typeface="Arial" pitchFamily="34" charset="-120"/>
              </a:rPr>
              <a:t>Department of Computer Science and Engineering</a:t>
            </a:r>
            <a:endParaRPr lang="en-US" sz="1200" dirty="0"/>
          </a:p>
          <a:p>
            <a:pPr algn="ctr" indent="0" marL="0">
              <a:buNone/>
            </a:pPr>
            <a:r>
              <a:rPr lang="en-US" sz="1200" dirty="0">
                <a:solidFill>
                  <a:srgbClr val="555555"/>
                </a:solidFill>
                <a:latin typeface="Arial" pitchFamily="34" charset="0"/>
                <a:ea typeface="Arial" pitchFamily="34" charset="-122"/>
                <a:cs typeface="Arial" pitchFamily="34" charset="-120"/>
              </a:rPr>
              <a:t>Marri Laxman Reddy Institute of Technology and Management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2026-06-14T11:41:03Z</dcterms:created>
  <dcterms:modified xsi:type="dcterms:W3CDTF">2026-06-14T11:41:03Z</dcterms:modified>
</cp:coreProperties>
</file>