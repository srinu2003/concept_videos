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'The CIA Triad and Threat Landscapes' as part of the Cyber Security course for my M.Tech in Computer Science and Engineering. In this presentation, we will explore the foundational concepts of cybersecurity, discuss the three pillars of the CIA Triad—Confidentiality, Integrity, and Availability—compare active versus passive attacks, and examine how these security concepts are implemented in real-world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by defining what Cyber Security is. In modern computing, cyber security is the broad practice of protecting our systems, networks, programs, and digital data from malicious digital attacks. These attacks are often aimed at accessing, changing, or destroying sensitive information, extorting money from users, or disrupting normal business operations. To secure our assets, we look at several core concepts. First, vulnerabilities are weaknesses or loopholes in our system code or configuration, such as unpatched software. Second, threats represent the potential danger that can exploit those vulnerabilities, which include threat actors like hacker groups or malware. Third, assets refer to the valuable data, services, or hardware we want to protect, and harm is the negative business impact when a threat succeeds. To defend our systems, we use a concept called 'Defense in Depth', which means placing overlapping security controls across physical, network, host, application, and data layers, so that if one control fails, others remain to block the attacker.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guiding model for security policies and controls is known as the CIA Triad. This triad is composed of three core pillars: Confidentiality, Integrity, and Availability. Confidentiality focuses on preventing unauthorized access to sensitive information. Violations of confidentiality include data breaches, packet sniffing, or unauthorized file access, and we enforce it using tools like Advanced Encryption Standard (AES), multi-factor authentication, and strict access control lists. The second pillar is Integrity, which ensures that data is not modified or tampered with in transit or storage. Violations include database tampering or code injection. We protect integrity through cryptographic hash functions like SHA-256, digital signatures, and file checksum audits. The third pillar is Availability, which guarantees that authorized users have reliable and timely access to their systems. Common threats to availability include distributed denial of service, or DDoS attacks, and hardware crashes. We secure availability using redundant servers, load balancers, and regular data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examine the difference between active and passive attacks, as this determines how we design our defenses. Passive attacks focus on monitoring, sniffing, and reading network traffic without altering any system state or data. Common examples are packet sniffing and traffic analysis. Because no data is modified, these attacks are extremely difficult to detect in real-time, meaning our primary defense must be strong encryption, which renders any intercepted data unreadable. On the other hand, active attacks involve modifying, blocking, or injecting fake data into the system, directly altering its state. Examples include DDoS attacks, man-in-the-middle exploits, and message replays. These attacks are usually easy to detect because they cause system failures, service disruptions, or authentication errors. We defend against active attacks using real-time controls like firewalls, intrusion detection and prevention systems, and rigorous session authentication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how these security concepts are applied in production environments. First, multi-factor authentication, or MFA, is widely used to protect confidentiality by requiring users to verify their identity using multiple factors like passwords, SMS tokens, and biometrics. Second, Intrusion Detection and Prevention Systems are deployed at the network perimeter to protect availability and integrity by scanning incoming traffic for known attack signatures and blocking malicious IP addresses. Third, End-to-End Encryption, or E2EE, is implemented in communication platforms to ensure both confidentiality and integrity, preventing passive interceptors from reading message payloads. Lastly, organizations maintain offsite data backups and disaster recovery plans to safeguard availability, allowing quick restoration of systems following a destructive ransomware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understanding the CIA Triad and the nature of active and passive threat vectors is critical to establishing robust security defenses in modern organizations. By implementing a defense-in-depth approach, we can safeguard our digital assets against evolving threat landscapes. Thank you so much for your time and attention. I am now open to any questions you might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Cyber Security Concepts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The CIA Triad &amp; Threat Landscapes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Cyber Security?</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Cyber Security </a:t>
            </a:r>
            <a:pPr indent="0" marL="0">
              <a:buNone/>
            </a:pPr>
            <a:r>
              <a:rPr lang="en-US" sz="1400" dirty="0">
                <a:solidFill>
                  <a:srgbClr val="000000"/>
                </a:solidFill>
                <a:latin typeface="Arial" pitchFamily="34" charset="0"/>
                <a:ea typeface="Arial" pitchFamily="34" charset="-122"/>
                <a:cs typeface="Arial" pitchFamily="34" charset="-120"/>
              </a:rPr>
              <a:t>is the practice of protecting systems, networks, programs, and data from digital attacks. It requires establishing multi-layered security controls across the computing infrastructure.</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Concepts &amp; Layers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Vulnerability:</a:t>
            </a:r>
            <a:pPr indent="0" marL="0">
              <a:buNone/>
            </a:pPr>
            <a:r>
              <a:rPr lang="en-US" sz="1300" dirty="0">
                <a:solidFill>
                  <a:srgbClr val="000000"/>
                </a:solidFill>
                <a:latin typeface="Arial" pitchFamily="34" charset="0"/>
                <a:ea typeface="Arial" pitchFamily="34" charset="-122"/>
                <a:cs typeface="Arial" pitchFamily="34" charset="-120"/>
              </a:rPr>
              <a:t> A weakness or loophole in system code or configuration (e.g. unpatched software).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Threat:</a:t>
            </a:r>
            <a:pPr indent="0" marL="0">
              <a:buNone/>
            </a:pPr>
            <a:r>
              <a:rPr lang="en-US" sz="1300" dirty="0">
                <a:solidFill>
                  <a:srgbClr val="000000"/>
                </a:solidFill>
                <a:latin typeface="Arial" pitchFamily="34" charset="0"/>
                <a:ea typeface="Arial" pitchFamily="34" charset="-122"/>
                <a:cs typeface="Arial" pitchFamily="34" charset="-120"/>
              </a:rPr>
              <a:t> A potential danger that could exploit a vulnerability (e.g. hacker group, malware).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Assets &amp; Harm:</a:t>
            </a:r>
            <a:pPr indent="0" marL="0">
              <a:buNone/>
            </a:pPr>
            <a:r>
              <a:rPr lang="en-US" sz="1300" dirty="0">
                <a:solidFill>
                  <a:srgbClr val="000000"/>
                </a:solidFill>
                <a:latin typeface="Arial" pitchFamily="34" charset="0"/>
                <a:ea typeface="Arial" pitchFamily="34" charset="-122"/>
                <a:cs typeface="Arial" pitchFamily="34" charset="-120"/>
              </a:rPr>
              <a:t> Assets are data, hardware, and services. Harm is the impact of a threat exploiting a vulnerability.</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Defense in Depth:</a:t>
            </a:r>
            <a:pPr indent="0" marL="0">
              <a:buNone/>
            </a:pPr>
            <a:r>
              <a:rPr lang="en-US" sz="1300" dirty="0">
                <a:solidFill>
                  <a:srgbClr val="000000"/>
                </a:solidFill>
                <a:latin typeface="Arial" pitchFamily="34" charset="0"/>
                <a:ea typeface="Arial" pitchFamily="34" charset="-122"/>
                <a:cs typeface="Arial" pitchFamily="34" charset="-120"/>
              </a:rPr>
              <a:t> Implementing security at multiple layers (Physical, Network, Host, Application, Data).</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Motives &amp; Attacker Profiles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Cyber Criminals:</a:t>
            </a:r>
            <a:pPr indent="0" marL="0">
              <a:buNone/>
            </a:pPr>
            <a:r>
              <a:rPr lang="en-US" sz="1300" dirty="0">
                <a:solidFill>
                  <a:srgbClr val="000000"/>
                </a:solidFill>
                <a:latin typeface="Arial" pitchFamily="34" charset="0"/>
                <a:ea typeface="Arial" pitchFamily="34" charset="-122"/>
                <a:cs typeface="Arial" pitchFamily="34" charset="-120"/>
              </a:rPr>
              <a:t> Primarily motivated by financial gain (e.g. ransomware, credit card fraud).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Hacktivists:</a:t>
            </a:r>
            <a:pPr indent="0" marL="0">
              <a:buNone/>
            </a:pPr>
            <a:r>
              <a:rPr lang="en-US" sz="1300" dirty="0">
                <a:solidFill>
                  <a:srgbClr val="000000"/>
                </a:solidFill>
                <a:latin typeface="Arial" pitchFamily="34" charset="0"/>
                <a:ea typeface="Arial" pitchFamily="34" charset="-122"/>
                <a:cs typeface="Arial" pitchFamily="34" charset="-120"/>
              </a:rPr>
              <a:t> Motivated by political or social causes (e.g. defacing websites, leaking documents).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Nation-State Agents:</a:t>
            </a:r>
            <a:pPr indent="0" marL="0">
              <a:buNone/>
            </a:pPr>
            <a:r>
              <a:rPr lang="en-US" sz="1300" dirty="0">
                <a:solidFill>
                  <a:srgbClr val="000000"/>
                </a:solidFill>
                <a:latin typeface="Arial" pitchFamily="34" charset="0"/>
                <a:ea typeface="Arial" pitchFamily="34" charset="-122"/>
                <a:cs typeface="Arial" pitchFamily="34" charset="-120"/>
              </a:rPr>
              <a:t> Cyber warfare, espionage, and sabotaging foreign infrastructure.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Insider Threats:</a:t>
            </a:r>
            <a:pPr indent="0" marL="0">
              <a:buNone/>
            </a:pPr>
            <a:r>
              <a:rPr lang="en-US" sz="1300" dirty="0">
                <a:solidFill>
                  <a:srgbClr val="000000"/>
                </a:solidFill>
                <a:latin typeface="Arial" pitchFamily="34" charset="0"/>
                <a:ea typeface="Arial" pitchFamily="34" charset="-122"/>
                <a:cs typeface="Arial" pitchFamily="34" charset="-120"/>
              </a:rPr>
              <a:t> Malicious or negligent employees leaking credentials from within.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CIA Triad</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 CIA Triad is the core model that guides security policies and controls:</a:t>
            </a:r>
            <a:endParaRPr lang="en-US" sz="1400" dirty="0"/>
          </a:p>
        </p:txBody>
      </p:sp>
      <p:sp>
        <p:nvSpPr>
          <p:cNvPr id="16" name="Shape 13"/>
          <p:cNvSpPr/>
          <p:nvPr/>
        </p:nvSpPr>
        <p:spPr>
          <a:xfrm>
            <a:off x="457200" y="2103120"/>
            <a:ext cx="3657600" cy="4206240"/>
          </a:xfrm>
          <a:prstGeom prst="roundRect">
            <a:avLst>
              <a:gd name="adj" fmla="val 2500"/>
            </a:avLst>
          </a:prstGeom>
          <a:solidFill>
            <a:srgbClr val="E8F5E9"/>
          </a:solidFill>
          <a:ln w="19050">
            <a:solidFill>
              <a:srgbClr val="009900"/>
            </a:solidFill>
            <a:prstDash val="solid"/>
          </a:ln>
        </p:spPr>
      </p:sp>
      <p:sp>
        <p:nvSpPr>
          <p:cNvPr id="17" name="Text 14"/>
          <p:cNvSpPr/>
          <p:nvPr/>
        </p:nvSpPr>
        <p:spPr>
          <a:xfrm>
            <a:off x="566928" y="2194560"/>
            <a:ext cx="343814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1. Confidentiality</a:t>
            </a:r>
            <a:endParaRPr lang="en-US" sz="1450" dirty="0"/>
          </a:p>
        </p:txBody>
      </p:sp>
      <p:sp>
        <p:nvSpPr>
          <p:cNvPr id="18" name="Text 15"/>
          <p:cNvSpPr/>
          <p:nvPr/>
        </p:nvSpPr>
        <p:spPr>
          <a:xfrm>
            <a:off x="56692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Goal: Prevent unauthorized access to sensitive information.</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Violations: Data breaches, packet sniffing, unauthorized file reads.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Controls: Encryption (AES), multi-factor authentication (MFA), access control lists.</a:t>
            </a:r>
            <a:endParaRPr lang="en-US" sz="1250" dirty="0"/>
          </a:p>
        </p:txBody>
      </p:sp>
      <p:sp>
        <p:nvSpPr>
          <p:cNvPr id="19" name="Shape 16"/>
          <p:cNvSpPr/>
          <p:nvPr/>
        </p:nvSpPr>
        <p:spPr>
          <a:xfrm>
            <a:off x="4251960" y="2103120"/>
            <a:ext cx="3657600" cy="4206240"/>
          </a:xfrm>
          <a:prstGeom prst="roundRect">
            <a:avLst>
              <a:gd name="adj" fmla="val 2500"/>
            </a:avLst>
          </a:prstGeom>
          <a:solidFill>
            <a:srgbClr val="E3F2FD"/>
          </a:solidFill>
          <a:ln w="19050">
            <a:solidFill>
              <a:srgbClr val="1565C0"/>
            </a:solidFill>
            <a:prstDash val="solid"/>
          </a:ln>
        </p:spPr>
      </p:sp>
      <p:sp>
        <p:nvSpPr>
          <p:cNvPr id="20" name="Text 17"/>
          <p:cNvSpPr/>
          <p:nvPr/>
        </p:nvSpPr>
        <p:spPr>
          <a:xfrm>
            <a:off x="4361688" y="2194560"/>
            <a:ext cx="343814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2. Integrity</a:t>
            </a:r>
            <a:endParaRPr lang="en-US" sz="1450" dirty="0"/>
          </a:p>
        </p:txBody>
      </p:sp>
      <p:sp>
        <p:nvSpPr>
          <p:cNvPr id="21" name="Text 18"/>
          <p:cNvSpPr/>
          <p:nvPr/>
        </p:nvSpPr>
        <p:spPr>
          <a:xfrm>
            <a:off x="436168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Goal: Prevent unauthorized or undetected modification of data.</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Violations: Man-in-the-middle edits, database tampering, virus code injection.</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Controls: Hashing (SHA-256), digital signatures, file checksums.</a:t>
            </a:r>
            <a:endParaRPr lang="en-US" sz="1250" dirty="0"/>
          </a:p>
        </p:txBody>
      </p:sp>
      <p:sp>
        <p:nvSpPr>
          <p:cNvPr id="22" name="Shape 19"/>
          <p:cNvSpPr/>
          <p:nvPr/>
        </p:nvSpPr>
        <p:spPr>
          <a:xfrm>
            <a:off x="8046720" y="2103120"/>
            <a:ext cx="3657600" cy="4206240"/>
          </a:xfrm>
          <a:prstGeom prst="roundRect">
            <a:avLst>
              <a:gd name="adj" fmla="val 2500"/>
            </a:avLst>
          </a:prstGeom>
          <a:solidFill>
            <a:srgbClr val="FCE4EC"/>
          </a:solidFill>
          <a:ln w="19050">
            <a:solidFill>
              <a:srgbClr val="990033"/>
            </a:solidFill>
            <a:prstDash val="solid"/>
          </a:ln>
        </p:spPr>
      </p:sp>
      <p:sp>
        <p:nvSpPr>
          <p:cNvPr id="23" name="Text 20"/>
          <p:cNvSpPr/>
          <p:nvPr/>
        </p:nvSpPr>
        <p:spPr>
          <a:xfrm>
            <a:off x="8156448" y="2194560"/>
            <a:ext cx="343814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3. Availability</a:t>
            </a:r>
            <a:endParaRPr lang="en-US" sz="1450" dirty="0"/>
          </a:p>
        </p:txBody>
      </p:sp>
      <p:sp>
        <p:nvSpPr>
          <p:cNvPr id="24" name="Text 21"/>
          <p:cNvSpPr/>
          <p:nvPr/>
        </p:nvSpPr>
        <p:spPr>
          <a:xfrm>
            <a:off x="815644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Goal: Guarantee reliable, timely access to systems for authorized users.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Violations: DDoS attacks, server crashes, power grid failures.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Controls: Redundant servers, load balancers, backups, DDoS protection.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Active vs. Passive Attacks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Understanding how threat actors interact with data determines our defensive controls: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92840" cy="4389120"/>
        </p:xfrm>
        <a:graphic>
          <a:graphicData uri="http://schemas.openxmlformats.org/drawingml/2006/table">
            <a:tbl>
              <a:tblPr/>
              <a:tblGrid>
                <a:gridCol w="2286000"/>
                <a:gridCol w="4498848"/>
                <a:gridCol w="4507992"/>
              </a:tblGrid>
              <a:tr h="731520">
                <a:tc>
                  <a:txBody>
                    <a:bodyPr/>
                    <a:lstStyle/>
                    <a:p>
                      <a:pPr indent="0" marL="0">
                        <a:buNone/>
                      </a:pPr>
                      <a:r>
                        <a:rPr lang="en-US" sz="1300" b="1" dirty="0">
                          <a:solidFill>
                            <a:srgbClr val="FFFFFF"/>
                          </a:solidFill>
                          <a:latin typeface="Arial" pitchFamily="34" charset="0"/>
                          <a:ea typeface="Arial" pitchFamily="34" charset="-122"/>
                          <a:cs typeface="Arial" pitchFamily="34" charset="-120"/>
                        </a:rPr>
                        <a:t>Characteristic</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Passive Attacks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Active Attacks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Core Action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Monitoring, sniffing, and reading traffic</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Modifying, blocking, or injecting fake data</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System Impact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 alteration of database or system state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Alters data, system states, or network operations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Examples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Packet sniffing, traffic analysis, eavesdropping</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DDoS, man-in-the-middle, replay, spoofing</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Detection Style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Hard to detect (requires packet audits)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Easy to detect (crashes or alerts trigger)</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Primary Defense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Encryption (hides readable content)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Firewalls, intrusion detection, authentication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Security Policies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organizations deploy the CIA triad and attack countermeasures in practice: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Multi-Factor Authentication (MFA)</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Protects Confidentiality. Requires users to provide two or more verification factors (password + SMS token + biometric fingerprint) to login.</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Intrusion Detection Systems (IDS)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Protects Availability and Integrity. Actively scans incoming network packets for signatures of active attacks, blocking malicious IPs automatically.</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End-to-End Encryption (E2EE)</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Protects Confidentiality and Integrity. Encrypts data at the source and decrypts only at destination, preventing passive packet sniffing mid-transit.</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System Backup &amp; DR plans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Protects Availability. Regularly clones database systems to offline locations, ensuring quick recovery in the event of a ransomware attack.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2026-06-14T11:41:10Z</dcterms:created>
  <dcterms:modified xsi:type="dcterms:W3CDTF">2026-06-14T11:41:10Z</dcterms:modified>
</cp:coreProperties>
</file>