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my name is Srinivas Rao Tammireddy, and today I will be presenting on RPA Device Pools, Workloads, and Administration as part of the M.Tech curriculum. In this presentation, we will discuss how to cluster runtime machines for high availability, how to manage transaction queues using workloads, and how to configure roles and system settings securely in an RPA enterprise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look at how we manage devices and workloads in a production environment. Device Pools group multiple runtime client machines, or bot runners, into a single cluster. This allows the Web Control Room to allocate tasks dynamically across available resources. Runtime clients are categorized into unattended, which execute scheduled tasks on servers, and attended, which run on user machines. By clustering these devices, we achieve high availability: if one machine encounters a hardware crash or loses network connection, the Web Control Room automatically redirects the remaining items in the queue to active runner nodes. Furthermore, administrators can dynamically scale capacity by adding or removing machines. Workloads utilize transaction queues to store items to be processed. The SLA Calculator tracks completion times and alerts administrators if a backlog risks breaching processing schedules, ensuring consistent operational efficiency.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RPA Administration provides the tools required to secure, configure, and maintain the Automation Anywhere platform. First, user management relies on Role-Based Access Control, or RBAC. Admins assign users to specific roles: Bot Creators can write and test scripts locally but cannot run them in production; Bot Runners can execute compiled bots but cannot alter code; and Control Room Admins manage licenses, users, and global configurations. This segregation of duties is a fundamental security practice. Second, the Web CR maintains an immutable Audit Log. It logs all configuration edits, password updates, and bot executions. Because this log cannot be altered by developers or administrators, it is a crucial resource for satisfying regulatory audits such as GDPR, HIPAA, and SOX, verifying that all system changes are authorized.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explore how these administration tools are applied in enterprise scenarios. First, device pools allow dynamic scaling. During high-volume periods like holiday sales, administrators add servers to the invoice processing pool to process records in parallel. Second, role segregation enforces compliance: developers are restricted to writing code in dev sandbox environments, while operations staff manage production runs. Third, financial auditors review the immutable audit logs to verify that only authorized bots executed bank transfers. Finally, migration tools help administrators move bot packages from dev to staging schemas safely, verifying license compliance at every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conclusion, robust device pooling, workload management, and role-based administration are the keys to running a secure and scalable RPA platform in any major enterprise. These tools ensure that automation remains high-performing, auditable, and compliant. Thank you for your attention, and I welcome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Robotic Process Automation</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78992"/>
            <a:ext cx="11292840" cy="384048"/>
          </a:xfrm>
          <a:prstGeom prst="rect">
            <a:avLst/>
          </a:prstGeom>
          <a:noFill/>
          <a:ln/>
        </p:spPr>
        <p:txBody>
          <a:bodyPr wrap="square" rtlCol="0" anchor="ctr"/>
          <a:lstStyle/>
          <a:p>
            <a:pPr algn="ctr" indent="0" marL="0">
              <a:buNone/>
            </a:pPr>
            <a:r>
              <a:rPr lang="en-US" sz="1400" i="1" dirty="0">
                <a:solidFill>
                  <a:srgbClr val="990033"/>
                </a:solidFill>
                <a:latin typeface="Arial" pitchFamily="34" charset="0"/>
                <a:ea typeface="Arial" pitchFamily="34" charset="-122"/>
                <a:cs typeface="Arial" pitchFamily="34" charset="-120"/>
              </a:rPr>
              <a:t>Unit III: Devices, Workloads &amp; Administration</a:t>
            </a:r>
            <a:endParaRPr lang="en-US" sz="1400" dirty="0"/>
          </a:p>
        </p:txBody>
      </p:sp>
      <p:sp>
        <p:nvSpPr>
          <p:cNvPr id="14" name="Shape 11"/>
          <p:cNvSpPr/>
          <p:nvPr/>
        </p:nvSpPr>
        <p:spPr>
          <a:xfrm>
            <a:off x="1645920" y="1572768"/>
            <a:ext cx="8897112" cy="1280160"/>
          </a:xfrm>
          <a:prstGeom prst="rect">
            <a:avLst/>
          </a:prstGeom>
          <a:solidFill>
            <a:srgbClr val="990033"/>
          </a:solidFill>
          <a:ln w="12700">
            <a:solidFill>
              <a:srgbClr val="990033"/>
            </a:solidFill>
            <a:prstDash val="solid"/>
          </a:ln>
        </p:spPr>
      </p:sp>
      <p:sp>
        <p:nvSpPr>
          <p:cNvPr id="15" name="Text 12"/>
          <p:cNvSpPr/>
          <p:nvPr/>
        </p:nvSpPr>
        <p:spPr>
          <a:xfrm>
            <a:off x="1645920" y="1572768"/>
            <a:ext cx="8897112" cy="1280160"/>
          </a:xfrm>
          <a:prstGeom prst="rect">
            <a:avLst/>
          </a:prstGeom>
          <a:noFill/>
          <a:ln/>
        </p:spPr>
        <p:txBody>
          <a:bodyPr wrap="square" lIns="0" tIns="0" rIns="0" bIns="0"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RPA Device Pools &amp; Administration</a:t>
            </a:r>
            <a:endParaRPr lang="en-US" sz="2800" dirty="0"/>
          </a:p>
        </p:txBody>
      </p:sp>
      <p:sp>
        <p:nvSpPr>
          <p:cNvPr id="16" name="Text 13"/>
          <p:cNvSpPr/>
          <p:nvPr/>
        </p:nvSpPr>
        <p:spPr>
          <a:xfrm>
            <a:off x="457200" y="2999232"/>
            <a:ext cx="11292840" cy="365760"/>
          </a:xfrm>
          <a:prstGeom prst="rect">
            <a:avLst/>
          </a:prstGeom>
          <a:noFill/>
          <a:ln/>
        </p:spPr>
        <p:txBody>
          <a:bodyPr wrap="square" rtlCol="0" anchor="ctr"/>
          <a:lstStyle/>
          <a:p>
            <a:pPr algn="ctr" indent="0" marL="0">
              <a:buNone/>
            </a:pPr>
            <a:r>
              <a:rPr lang="en-US" sz="1500" b="1" dirty="0">
                <a:solidFill>
                  <a:srgbClr val="990033"/>
                </a:solidFill>
                <a:latin typeface="Arial" pitchFamily="34" charset="0"/>
                <a:ea typeface="Arial" pitchFamily="34" charset="-122"/>
                <a:cs typeface="Arial" pitchFamily="34" charset="-120"/>
              </a:rPr>
              <a:t>PPT PRESENTED BY</a:t>
            </a:r>
            <a:endParaRPr lang="en-US" sz="1500" dirty="0"/>
          </a:p>
        </p:txBody>
      </p:sp>
      <p:sp>
        <p:nvSpPr>
          <p:cNvPr id="17" name="Text 14"/>
          <p:cNvSpPr/>
          <p:nvPr/>
        </p:nvSpPr>
        <p:spPr>
          <a:xfrm>
            <a:off x="2926080" y="3438144"/>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NAME :   Srinivas Rao Tammireddy</a:t>
            </a:r>
            <a:endParaRPr lang="en-US" sz="1300" dirty="0"/>
          </a:p>
        </p:txBody>
      </p:sp>
      <p:sp>
        <p:nvSpPr>
          <p:cNvPr id="18" name="Text 15"/>
          <p:cNvSpPr/>
          <p:nvPr/>
        </p:nvSpPr>
        <p:spPr>
          <a:xfrm>
            <a:off x="2926080" y="3840480"/>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ROLL NO :   257Y1D5805</a:t>
            </a:r>
            <a:endParaRPr lang="en-US" sz="1300" dirty="0"/>
          </a:p>
        </p:txBody>
      </p:sp>
      <p:sp>
        <p:nvSpPr>
          <p:cNvPr id="19" name="Text 16"/>
          <p:cNvSpPr/>
          <p:nvPr/>
        </p:nvSpPr>
        <p:spPr>
          <a:xfrm>
            <a:off x="2926080" y="4242816"/>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YEAR :   I Year  II Semester</a:t>
            </a:r>
            <a:endParaRPr lang="en-US" sz="1300" dirty="0"/>
          </a:p>
        </p:txBody>
      </p:sp>
      <p:sp>
        <p:nvSpPr>
          <p:cNvPr id="20" name="Text 17"/>
          <p:cNvSpPr/>
          <p:nvPr/>
        </p:nvSpPr>
        <p:spPr>
          <a:xfrm>
            <a:off x="2926080" y="4645152"/>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ACADEMIC YEAR :   2025 - 2026</a:t>
            </a:r>
            <a:endParaRPr lang="en-US" sz="1300" dirty="0"/>
          </a:p>
        </p:txBody>
      </p:sp>
      <p:sp>
        <p:nvSpPr>
          <p:cNvPr id="21" name="Text 18"/>
          <p:cNvSpPr/>
          <p:nvPr/>
        </p:nvSpPr>
        <p:spPr>
          <a:xfrm>
            <a:off x="457200" y="6080760"/>
            <a:ext cx="11292840" cy="411480"/>
          </a:xfrm>
          <a:prstGeom prst="rect">
            <a:avLst/>
          </a:prstGeom>
          <a:noFill/>
          <a:ln/>
        </p:spPr>
        <p:txBody>
          <a:bodyPr wrap="square" rtlCol="0" anchor="ctr"/>
          <a:lstStyle/>
          <a:p>
            <a:pPr algn="ctr" indent="0" marL="0">
              <a:buNone/>
            </a:pPr>
            <a:r>
              <a:rPr lang="en-US" sz="1400" b="1" dirty="0">
                <a:solidFill>
                  <a:srgbClr val="990033"/>
                </a:solidFill>
                <a:latin typeface="Arial" pitchFamily="34" charset="0"/>
                <a:ea typeface="Arial" pitchFamily="34" charset="-122"/>
                <a:cs typeface="Arial" pitchFamily="34" charset="-120"/>
              </a:rPr>
              <a:t>DEPARTMENT OF COMPUTER SCIENCE AND ENGINEERING</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Robotic Process Automation</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Device Pools &amp; Runtime Clients</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502920"/>
          </a:xfrm>
          <a:prstGeom prst="rect">
            <a:avLst/>
          </a:prstGeom>
          <a:noFill/>
          <a:ln/>
        </p:spPr>
        <p:txBody>
          <a:bodyPr wrap="square" rtlCol="0" anchor="ctr"/>
          <a:lstStyle/>
          <a:p>
            <a:pPr indent="0" marL="0">
              <a:buNone/>
            </a:pPr>
            <a:r>
              <a:rPr lang="en-US" sz="1400" b="1" dirty="0">
                <a:solidFill>
                  <a:srgbClr val="000000"/>
                </a:solidFill>
                <a:latin typeface="Arial" pitchFamily="34" charset="0"/>
                <a:ea typeface="Arial" pitchFamily="34" charset="-122"/>
                <a:cs typeface="Arial" pitchFamily="34" charset="-120"/>
              </a:rPr>
              <a:t>Device Pools </a:t>
            </a:r>
            <a:pPr indent="0" marL="0">
              <a:buNone/>
            </a:pPr>
            <a:r>
              <a:rPr lang="en-US" sz="1400" dirty="0">
                <a:solidFill>
                  <a:srgbClr val="000000"/>
                </a:solidFill>
                <a:latin typeface="Arial" pitchFamily="34" charset="0"/>
                <a:ea typeface="Arial" pitchFamily="34" charset="-122"/>
                <a:cs typeface="Arial" pitchFamily="34" charset="-120"/>
              </a:rPr>
              <a:t>group multiple runtime client machines (bot runners) into clusters. They allow the Web Control Room to allocate tasks dynamically, providing scalability and high availability.</a:t>
            </a:r>
            <a:endParaRPr lang="en-US" sz="1400" dirty="0"/>
          </a:p>
        </p:txBody>
      </p:sp>
      <p:sp>
        <p:nvSpPr>
          <p:cNvPr id="16" name="Shape 13"/>
          <p:cNvSpPr/>
          <p:nvPr/>
        </p:nvSpPr>
        <p:spPr>
          <a:xfrm>
            <a:off x="457200" y="2103120"/>
            <a:ext cx="5394960" cy="3895344"/>
          </a:xfrm>
          <a:prstGeom prst="roundRect">
            <a:avLst>
              <a:gd name="adj" fmla="val 2347"/>
            </a:avLst>
          </a:prstGeom>
          <a:solidFill>
            <a:srgbClr val="E8F5E9"/>
          </a:solidFill>
          <a:ln w="19050">
            <a:solidFill>
              <a:srgbClr val="009900"/>
            </a:solidFill>
            <a:prstDash val="solid"/>
          </a:ln>
        </p:spPr>
      </p:sp>
      <p:sp>
        <p:nvSpPr>
          <p:cNvPr id="17" name="Text 14"/>
          <p:cNvSpPr/>
          <p:nvPr/>
        </p:nvSpPr>
        <p:spPr>
          <a:xfrm>
            <a:off x="566928" y="2176272"/>
            <a:ext cx="5212080" cy="347472"/>
          </a:xfrm>
          <a:prstGeom prst="rect">
            <a:avLst/>
          </a:prstGeom>
          <a:noFill/>
          <a:ln/>
        </p:spPr>
        <p:txBody>
          <a:bodyPr wrap="square" lIns="0" tIns="0" rIns="0" bIns="0" rtlCol="0" anchor="ctr"/>
          <a:lstStyle/>
          <a:p>
            <a:pPr indent="0" marL="0">
              <a:buNone/>
            </a:pPr>
            <a:r>
              <a:rPr lang="en-US" sz="1500" b="1" dirty="0">
                <a:solidFill>
                  <a:srgbClr val="009900"/>
                </a:solidFill>
                <a:latin typeface="Arial" pitchFamily="34" charset="0"/>
                <a:ea typeface="Arial" pitchFamily="34" charset="-122"/>
                <a:cs typeface="Arial" pitchFamily="34" charset="-120"/>
              </a:rPr>
              <a:t>Managing Device Pools</a:t>
            </a:r>
            <a:endParaRPr lang="en-US" sz="1500" dirty="0"/>
          </a:p>
        </p:txBody>
      </p:sp>
      <p:sp>
        <p:nvSpPr>
          <p:cNvPr id="18" name="Text 15"/>
          <p:cNvSpPr/>
          <p:nvPr/>
        </p:nvSpPr>
        <p:spPr>
          <a:xfrm>
            <a:off x="566928" y="2560320"/>
            <a:ext cx="5212080" cy="3364992"/>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 Runtime Clients:</a:t>
            </a:r>
            <a:pPr indent="0" marL="0">
              <a:buNone/>
            </a:pPr>
            <a:r>
              <a:rPr lang="en-US" sz="1300" dirty="0">
                <a:solidFill>
                  <a:srgbClr val="000000"/>
                </a:solidFill>
                <a:latin typeface="Arial" pitchFamily="34" charset="0"/>
                <a:ea typeface="Arial" pitchFamily="34" charset="-122"/>
                <a:cs typeface="Arial" pitchFamily="34" charset="-120"/>
              </a:rPr>
              <a:t> Host machines that run compiled bots. Classified into unattended (automated) and attended (user-triggered).</a:t>
            </a:r>
            <a:endParaRPr lang="en-US" sz="1300" dirty="0"/>
          </a:p>
          <a:p>
            <a:pPr indent="0" marL="0">
              <a:buNone/>
            </a:pPr>
            <a:r>
              <a:rPr lang="en-US" sz="1300" b="1" dirty="0">
                <a:solidFill>
                  <a:srgbClr val="006400"/>
                </a:solidFill>
                <a:latin typeface="Arial" pitchFamily="34" charset="0"/>
                <a:ea typeface="Arial" pitchFamily="34" charset="-122"/>
                <a:cs typeface="Arial" pitchFamily="34" charset="-120"/>
              </a:rPr>
              <a:t>• Clustering:</a:t>
            </a:r>
            <a:pPr indent="0" marL="0">
              <a:buNone/>
            </a:pPr>
            <a:r>
              <a:rPr lang="en-US" sz="1300" dirty="0">
                <a:solidFill>
                  <a:srgbClr val="000000"/>
                </a:solidFill>
                <a:latin typeface="Arial" pitchFamily="34" charset="0"/>
                <a:ea typeface="Arial" pitchFamily="34" charset="-122"/>
                <a:cs typeface="Arial" pitchFamily="34" charset="-120"/>
              </a:rPr>
              <a:t> Grouping multiple runners into a device pool. If runner A is busy, Web CR routes tasks to runner B.</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High Availability:</a:t>
            </a:r>
            <a:pPr indent="0" marL="0">
              <a:buNone/>
            </a:pPr>
            <a:r>
              <a:rPr lang="en-US" sz="1300" dirty="0">
                <a:solidFill>
                  <a:srgbClr val="000000"/>
                </a:solidFill>
                <a:latin typeface="Arial" pitchFamily="34" charset="0"/>
                <a:ea typeface="Arial" pitchFamily="34" charset="-122"/>
                <a:cs typeface="Arial" pitchFamily="34" charset="-120"/>
              </a:rPr>
              <a:t> If a runner machine crashes, the pool automatically redirects the queue to active runner nodes.</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Dynamic Scaling:</a:t>
            </a:r>
            <a:pPr indent="0" marL="0">
              <a:buNone/>
            </a:pPr>
            <a:r>
              <a:rPr lang="en-US" sz="1300" dirty="0">
                <a:solidFill>
                  <a:srgbClr val="000000"/>
                </a:solidFill>
                <a:latin typeface="Arial" pitchFamily="34" charset="0"/>
                <a:ea typeface="Arial" pitchFamily="34" charset="-122"/>
                <a:cs typeface="Arial" pitchFamily="34" charset="-120"/>
              </a:rPr>
              <a:t> Admins can add or remove runner nodes to the pool to scale capacity.</a:t>
            </a:r>
            <a:endParaRPr lang="en-US" sz="1300" dirty="0"/>
          </a:p>
        </p:txBody>
      </p:sp>
      <p:sp>
        <p:nvSpPr>
          <p:cNvPr id="19" name="Shape 16"/>
          <p:cNvSpPr/>
          <p:nvPr/>
        </p:nvSpPr>
        <p:spPr>
          <a:xfrm>
            <a:off x="6035040" y="2103120"/>
            <a:ext cx="5715000" cy="3895344"/>
          </a:xfrm>
          <a:prstGeom prst="roundRect">
            <a:avLst>
              <a:gd name="adj" fmla="val 2347"/>
            </a:avLst>
          </a:prstGeom>
          <a:solidFill>
            <a:srgbClr val="E3F2FD"/>
          </a:solidFill>
          <a:ln w="19050">
            <a:solidFill>
              <a:srgbClr val="1565C0"/>
            </a:solidFill>
            <a:prstDash val="solid"/>
          </a:ln>
        </p:spPr>
      </p:sp>
      <p:sp>
        <p:nvSpPr>
          <p:cNvPr id="20" name="Text 17"/>
          <p:cNvSpPr/>
          <p:nvPr/>
        </p:nvSpPr>
        <p:spPr>
          <a:xfrm>
            <a:off x="6144768" y="2176272"/>
            <a:ext cx="5513832" cy="347472"/>
          </a:xfrm>
          <a:prstGeom prst="rect">
            <a:avLst/>
          </a:prstGeom>
          <a:noFill/>
          <a:ln/>
        </p:spPr>
        <p:txBody>
          <a:bodyPr wrap="square" lIns="0" tIns="0" rIns="0" bIns="0" rtlCol="0" anchor="ctr"/>
          <a:lstStyle/>
          <a:p>
            <a:pPr indent="0" marL="0">
              <a:buNone/>
            </a:pPr>
            <a:r>
              <a:rPr lang="en-US" sz="1500" b="1" dirty="0">
                <a:solidFill>
                  <a:srgbClr val="1565C0"/>
                </a:solidFill>
                <a:latin typeface="Arial" pitchFamily="34" charset="0"/>
                <a:ea typeface="Arial" pitchFamily="34" charset="-122"/>
                <a:cs typeface="Arial" pitchFamily="34" charset="-120"/>
              </a:rPr>
              <a:t>Workloads &amp; Queue Management</a:t>
            </a:r>
            <a:endParaRPr lang="en-US" sz="1500" dirty="0"/>
          </a:p>
        </p:txBody>
      </p:sp>
      <p:sp>
        <p:nvSpPr>
          <p:cNvPr id="21" name="Text 18"/>
          <p:cNvSpPr/>
          <p:nvPr/>
        </p:nvSpPr>
        <p:spPr>
          <a:xfrm>
            <a:off x="6144768" y="2560320"/>
            <a:ext cx="5513832" cy="3364992"/>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 Transaction Queues:</a:t>
            </a:r>
            <a:pPr indent="0" marL="0">
              <a:buNone/>
            </a:pPr>
            <a:r>
              <a:rPr lang="en-US" sz="1300" dirty="0">
                <a:solidFill>
                  <a:srgbClr val="000000"/>
                </a:solidFill>
                <a:latin typeface="Arial" pitchFamily="34" charset="0"/>
                <a:ea typeface="Arial" pitchFamily="34" charset="-122"/>
                <a:cs typeface="Arial" pitchFamily="34" charset="-120"/>
              </a:rPr>
              <a:t> Lists of data records (e.g. 5,000 invoices) to be processed by a bot.</a:t>
            </a:r>
            <a:endParaRPr lang="en-US" sz="1300" dirty="0"/>
          </a:p>
          <a:p>
            <a:pPr indent="0" marL="0">
              <a:buNone/>
            </a:pPr>
            <a:r>
              <a:rPr lang="en-US" sz="1300" b="1" dirty="0">
                <a:solidFill>
                  <a:srgbClr val="1565C0"/>
                </a:solidFill>
                <a:latin typeface="Arial" pitchFamily="34" charset="0"/>
                <a:ea typeface="Arial" pitchFamily="34" charset="-122"/>
                <a:cs typeface="Arial" pitchFamily="34" charset="-120"/>
              </a:rPr>
              <a:t>• Workload Distributor:</a:t>
            </a:r>
            <a:pPr indent="0" marL="0">
              <a:buNone/>
            </a:pPr>
            <a:r>
              <a:rPr lang="en-US" sz="1300" dirty="0">
                <a:solidFill>
                  <a:srgbClr val="000000"/>
                </a:solidFill>
                <a:latin typeface="Arial" pitchFamily="34" charset="0"/>
                <a:ea typeface="Arial" pitchFamily="34" charset="-122"/>
                <a:cs typeface="Arial" pitchFamily="34" charset="-120"/>
              </a:rPr>
              <a:t> Web CR reads items from the queue and distributes them across device pool runners concurrently.</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SLA Calculator:</a:t>
            </a:r>
            <a:pPr indent="0" marL="0">
              <a:buNone/>
            </a:pPr>
            <a:r>
              <a:rPr lang="en-US" sz="1300" dirty="0">
                <a:solidFill>
                  <a:srgbClr val="000000"/>
                </a:solidFill>
                <a:latin typeface="Arial" pitchFamily="34" charset="0"/>
                <a:ea typeface="Arial" pitchFamily="34" charset="-122"/>
                <a:cs typeface="Arial" pitchFamily="34" charset="-120"/>
              </a:rPr>
              <a:t> Calculates the estimated time to complete a queue based on processing speeds and node counts. Alerts admins if SLAs are at risk.</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Queue Security:</a:t>
            </a:r>
            <a:pPr indent="0" marL="0">
              <a:buNone/>
            </a:pPr>
            <a:r>
              <a:rPr lang="en-US" sz="1300" dirty="0">
                <a:solidFill>
                  <a:srgbClr val="000000"/>
                </a:solidFill>
                <a:latin typeface="Arial" pitchFamily="34" charset="0"/>
                <a:ea typeface="Arial" pitchFamily="34" charset="-122"/>
                <a:cs typeface="Arial" pitchFamily="34" charset="-120"/>
              </a:rPr>
              <a:t> Encrypts data elements inside database queues.</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Robotic Process Automation</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RPA Administration &amp; Roles</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45720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Administration tools secure, audit, and configure the enterprise RPA platform:</a:t>
            </a:r>
            <a:endParaRPr lang="en-US" sz="1400" dirty="0"/>
          </a:p>
        </p:txBody>
      </p:sp>
      <p:sp>
        <p:nvSpPr>
          <p:cNvPr id="16" name="Shape 13"/>
          <p:cNvSpPr/>
          <p:nvPr/>
        </p:nvSpPr>
        <p:spPr>
          <a:xfrm>
            <a:off x="457200" y="2103120"/>
            <a:ext cx="5394960" cy="4114800"/>
          </a:xfrm>
          <a:prstGeom prst="roundRect">
            <a:avLst>
              <a:gd name="adj" fmla="val 2222"/>
            </a:avLst>
          </a:prstGeom>
          <a:solidFill>
            <a:srgbClr val="FCE4EC"/>
          </a:solidFill>
          <a:ln w="19050">
            <a:solidFill>
              <a:srgbClr val="990033"/>
            </a:solidFill>
            <a:prstDash val="solid"/>
          </a:ln>
        </p:spPr>
      </p:sp>
      <p:sp>
        <p:nvSpPr>
          <p:cNvPr id="17" name="Text 14"/>
          <p:cNvSpPr/>
          <p:nvPr/>
        </p:nvSpPr>
        <p:spPr>
          <a:xfrm>
            <a:off x="566928" y="2176272"/>
            <a:ext cx="5212080" cy="347472"/>
          </a:xfrm>
          <a:prstGeom prst="rect">
            <a:avLst/>
          </a:prstGeom>
          <a:noFill/>
          <a:ln/>
        </p:spPr>
        <p:txBody>
          <a:bodyPr wrap="square" lIns="0" tIns="0" rIns="0" bIns="0" rtlCol="0" anchor="ctr"/>
          <a:lstStyle/>
          <a:p>
            <a:pPr indent="0" marL="0">
              <a:buNone/>
            </a:pPr>
            <a:r>
              <a:rPr lang="en-US" sz="1500" b="1" dirty="0">
                <a:solidFill>
                  <a:srgbClr val="990033"/>
                </a:solidFill>
                <a:latin typeface="Arial" pitchFamily="34" charset="0"/>
                <a:ea typeface="Arial" pitchFamily="34" charset="-122"/>
                <a:cs typeface="Arial" pitchFamily="34" charset="-120"/>
              </a:rPr>
              <a:t>User &amp; Role Management</a:t>
            </a:r>
            <a:endParaRPr lang="en-US" sz="1500" dirty="0"/>
          </a:p>
        </p:txBody>
      </p:sp>
      <p:sp>
        <p:nvSpPr>
          <p:cNvPr id="18" name="Text 15"/>
          <p:cNvSpPr/>
          <p:nvPr/>
        </p:nvSpPr>
        <p:spPr>
          <a:xfrm>
            <a:off x="566928" y="2606040"/>
            <a:ext cx="5212080" cy="3474720"/>
          </a:xfrm>
          <a:prstGeom prst="rect">
            <a:avLst/>
          </a:prstGeom>
          <a:noFill/>
          <a:ln/>
        </p:spPr>
        <p:txBody>
          <a:bodyPr wrap="square" lIns="0" tIns="0" rIns="0" bIns="0" rtlCol="0" anchor="ctr"/>
          <a:lstStyle/>
          <a:p>
            <a:pPr indent="0" marL="0">
              <a:buNone/>
            </a:pPr>
            <a:r>
              <a:rPr lang="en-US" sz="1300" b="1" dirty="0">
                <a:solidFill>
                  <a:srgbClr val="990033"/>
                </a:solidFill>
                <a:latin typeface="Arial" pitchFamily="34" charset="0"/>
                <a:ea typeface="Arial" pitchFamily="34" charset="-122"/>
                <a:cs typeface="Arial" pitchFamily="34" charset="-120"/>
              </a:rPr>
              <a:t>• Role-Based Access (RBAC):</a:t>
            </a:r>
            <a:pPr indent="0" marL="0">
              <a:buNone/>
            </a:pPr>
            <a:r>
              <a:rPr lang="en-US" sz="1300" dirty="0">
                <a:solidFill>
                  <a:srgbClr val="000000"/>
                </a:solidFill>
                <a:latin typeface="Arial" pitchFamily="34" charset="0"/>
                <a:ea typeface="Arial" pitchFamily="34" charset="-122"/>
                <a:cs typeface="Arial" pitchFamily="34" charset="-120"/>
              </a:rPr>
              <a:t> Admins configure roles with specific permissions, enforcing security rules:
</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 Bot Creator:</a:t>
            </a:r>
            <a:pPr indent="0" marL="0">
              <a:buNone/>
            </a:pPr>
            <a:r>
              <a:rPr lang="en-US" sz="1300" dirty="0">
                <a:solidFill>
                  <a:srgbClr val="000000"/>
                </a:solidFill>
                <a:latin typeface="Arial" pitchFamily="34" charset="0"/>
                <a:ea typeface="Arial" pitchFamily="34" charset="-122"/>
                <a:cs typeface="Arial" pitchFamily="34" charset="-120"/>
              </a:rPr>
              <a:t> Permissions to write scripts and edit local code. Cannot deploy to production.
</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 Bot Runner:</a:t>
            </a:r>
            <a:pPr indent="0" marL="0">
              <a:buNone/>
            </a:pPr>
            <a:r>
              <a:rPr lang="en-US" sz="1300" dirty="0">
                <a:solidFill>
                  <a:srgbClr val="000000"/>
                </a:solidFill>
                <a:latin typeface="Arial" pitchFamily="34" charset="0"/>
                <a:ea typeface="Arial" pitchFamily="34" charset="-122"/>
                <a:cs typeface="Arial" pitchFamily="34" charset="-120"/>
              </a:rPr>
              <a:t> Permissions to run scripts. Cannot edit code.
</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 Control Room Admin:</a:t>
            </a:r>
            <a:pPr indent="0" marL="0">
              <a:buNone/>
            </a:pPr>
            <a:r>
              <a:rPr lang="en-US" sz="1300" dirty="0">
                <a:solidFill>
                  <a:srgbClr val="000000"/>
                </a:solidFill>
                <a:latin typeface="Arial" pitchFamily="34" charset="0"/>
                <a:ea typeface="Arial" pitchFamily="34" charset="-122"/>
                <a:cs typeface="Arial" pitchFamily="34" charset="-120"/>
              </a:rPr>
              <a:t> Manages users, devices, licenses, and system configurations.
</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License Allocation:</a:t>
            </a:r>
            <a:pPr indent="0" marL="0">
              <a:buNone/>
            </a:pPr>
            <a:r>
              <a:rPr lang="en-US" sz="1300" dirty="0">
                <a:solidFill>
                  <a:srgbClr val="000000"/>
                </a:solidFill>
                <a:latin typeface="Arial" pitchFamily="34" charset="0"/>
                <a:ea typeface="Arial" pitchFamily="34" charset="-122"/>
                <a:cs typeface="Arial" pitchFamily="34" charset="-120"/>
              </a:rPr>
              <a:t> Allocates developer and runtime runner licenses.</a:t>
            </a:r>
            <a:endParaRPr lang="en-US" sz="1300" dirty="0"/>
          </a:p>
        </p:txBody>
      </p:sp>
      <p:sp>
        <p:nvSpPr>
          <p:cNvPr id="19" name="Shape 16"/>
          <p:cNvSpPr/>
          <p:nvPr/>
        </p:nvSpPr>
        <p:spPr>
          <a:xfrm>
            <a:off x="6035040" y="2103120"/>
            <a:ext cx="5715000" cy="4114800"/>
          </a:xfrm>
          <a:prstGeom prst="roundRect">
            <a:avLst>
              <a:gd name="adj" fmla="val 2222"/>
            </a:avLst>
          </a:prstGeom>
          <a:solidFill>
            <a:srgbClr val="FFF9C4"/>
          </a:solidFill>
          <a:ln w="19050">
            <a:solidFill>
              <a:srgbClr val="F57F17"/>
            </a:solidFill>
            <a:prstDash val="solid"/>
          </a:ln>
        </p:spPr>
      </p:sp>
      <p:sp>
        <p:nvSpPr>
          <p:cNvPr id="20" name="Text 17"/>
          <p:cNvSpPr/>
          <p:nvPr/>
        </p:nvSpPr>
        <p:spPr>
          <a:xfrm>
            <a:off x="6144768" y="2176272"/>
            <a:ext cx="5513832" cy="347472"/>
          </a:xfrm>
          <a:prstGeom prst="rect">
            <a:avLst/>
          </a:prstGeom>
          <a:noFill/>
          <a:ln/>
        </p:spPr>
        <p:txBody>
          <a:bodyPr wrap="square" lIns="0" tIns="0" rIns="0" bIns="0" rtlCol="0" anchor="ctr"/>
          <a:lstStyle/>
          <a:p>
            <a:pPr indent="0" marL="0">
              <a:buNone/>
            </a:pPr>
            <a:r>
              <a:rPr lang="en-US" sz="1500" b="1" dirty="0">
                <a:solidFill>
                  <a:srgbClr val="F57F17"/>
                </a:solidFill>
                <a:latin typeface="Arial" pitchFamily="34" charset="0"/>
                <a:ea typeface="Arial" pitchFamily="34" charset="-122"/>
                <a:cs typeface="Arial" pitchFamily="34" charset="-120"/>
              </a:rPr>
              <a:t>Audit Log Compliance</a:t>
            </a:r>
            <a:endParaRPr lang="en-US" sz="1500" dirty="0"/>
          </a:p>
        </p:txBody>
      </p:sp>
      <p:sp>
        <p:nvSpPr>
          <p:cNvPr id="21" name="Text 18"/>
          <p:cNvSpPr/>
          <p:nvPr/>
        </p:nvSpPr>
        <p:spPr>
          <a:xfrm>
            <a:off x="6144768" y="2606040"/>
            <a:ext cx="5513832" cy="3474720"/>
          </a:xfrm>
          <a:prstGeom prst="rect">
            <a:avLst/>
          </a:prstGeom>
          <a:noFill/>
          <a:ln/>
        </p:spPr>
        <p:txBody>
          <a:bodyPr wrap="square" lIns="0" tIns="0" rIns="0" bIns="0" rtlCol="0" anchor="ctr"/>
          <a:lstStyle/>
          <a:p>
            <a:pPr indent="0" marL="0">
              <a:buNone/>
            </a:pPr>
            <a:r>
              <a:rPr lang="en-US" sz="1250" b="1" dirty="0">
                <a:solidFill>
                  <a:srgbClr val="000000"/>
                </a:solidFill>
                <a:latin typeface="Arial" pitchFamily="34" charset="0"/>
                <a:ea typeface="Arial" pitchFamily="34" charset="-122"/>
                <a:cs typeface="Arial" pitchFamily="34" charset="-120"/>
              </a:rPr>
              <a:t>• Security Compliance Audits:</a:t>
            </a:r>
            <a:pPr indent="0" marL="0">
              <a:buNone/>
            </a:pPr>
            <a:r>
              <a:rPr lang="en-US" sz="1250" dirty="0">
                <a:solidFill>
                  <a:srgbClr val="000000"/>
                </a:solidFill>
                <a:latin typeface="Arial" pitchFamily="34" charset="0"/>
                <a:ea typeface="Arial" pitchFamily="34" charset="-122"/>
                <a:cs typeface="Arial" pitchFamily="34" charset="-120"/>
              </a:rPr>
              <a:t> Logs all activities in the Web CR. Cannot be edited by users or admins.
</a:t>
            </a:r>
            <a:endParaRPr lang="en-US" sz="1250" dirty="0"/>
          </a:p>
          <a:p>
            <a:pPr indent="0" marL="0">
              <a:buNone/>
            </a:pPr>
            <a:r>
              <a:rPr lang="en-US" sz="1250" b="1" dirty="0">
                <a:solidFill>
                  <a:srgbClr val="006400"/>
                </a:solidFill>
                <a:latin typeface="Arial" pitchFamily="34" charset="0"/>
                <a:ea typeface="Arial" pitchFamily="34" charset="-122"/>
                <a:cs typeface="Arial" pitchFamily="34" charset="-120"/>
              </a:rPr>
              <a:t>• Actions Tracked:</a:t>
            </a:r>
            <a:pPr indent="0" marL="0">
              <a:buNone/>
            </a:pPr>
            <a:r>
              <a:rPr lang="en-US" sz="1250" dirty="0">
                <a:solidFill>
                  <a:srgbClr val="000000"/>
                </a:solidFill>
                <a:latin typeface="Arial" pitchFamily="34" charset="0"/>
                <a:ea typeface="Arial" pitchFamily="34" charset="-122"/>
                <a:cs typeface="Arial" pitchFamily="34" charset="-120"/>
              </a:rPr>
              <a:t>
</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 User modifications (role updates, password changes).
</a:t>
            </a:r>
            <a:pPr indent="0" marL="0">
              <a:buNone/>
            </a:pPr>
            <a:r>
              <a:rPr lang="en-US" sz="1250" dirty="0">
                <a:solidFill>
                  <a:srgbClr val="000000"/>
                </a:solidFill>
                <a:latin typeface="Arial" pitchFamily="34" charset="0"/>
                <a:ea typeface="Arial" pitchFamily="34" charset="-122"/>
                <a:cs typeface="Arial" pitchFamily="34" charset="-120"/>
              </a:rPr>
              <a:t>   - Bot modifications (uploads, deletions, runs).
</a:t>
            </a:r>
            <a:pPr indent="0" marL="0">
              <a:buNone/>
            </a:pPr>
            <a:r>
              <a:rPr lang="en-US" sz="1250" dirty="0">
                <a:solidFill>
                  <a:srgbClr val="000000"/>
                </a:solidFill>
                <a:latin typeface="Arial" pitchFamily="34" charset="0"/>
                <a:ea typeface="Arial" pitchFamily="34" charset="-122"/>
                <a:cs typeface="Arial" pitchFamily="34" charset="-120"/>
              </a:rPr>
              <a:t>   - Device changes (pool creation, connection edits).
</a:t>
            </a:r>
            <a:pPr indent="0" marL="0">
              <a:buNone/>
            </a:pPr>
            <a:r>
              <a:rPr lang="en-US" sz="1250" b="1" dirty="0">
                <a:solidFill>
                  <a:srgbClr val="000000"/>
                </a:solidFill>
                <a:latin typeface="Arial" pitchFamily="34" charset="0"/>
                <a:ea typeface="Arial" pitchFamily="34" charset="-122"/>
                <a:cs typeface="Arial" pitchFamily="34" charset="-120"/>
              </a:rPr>
              <a:t>• Compliance value:</a:t>
            </a:r>
            <a:pPr indent="0" marL="0">
              <a:buNone/>
            </a:pPr>
            <a:r>
              <a:rPr lang="en-US" sz="1250" dirty="0">
                <a:solidFill>
                  <a:srgbClr val="000000"/>
                </a:solidFill>
                <a:latin typeface="Arial" pitchFamily="34" charset="0"/>
                <a:ea typeface="Arial" pitchFamily="34" charset="-122"/>
                <a:cs typeface="Arial" pitchFamily="34" charset="-120"/>
              </a:rPr>
              <a:t> Essential for SOX, HIPAA, and GDPR database audits.</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Robotic Process Automation</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Applications of RPA Administration</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36576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How organizations deploy device pooling and role segregation in production:</a:t>
            </a:r>
            <a:endParaRPr lang="en-US" sz="1400" dirty="0"/>
          </a:p>
        </p:txBody>
      </p:sp>
      <p:sp>
        <p:nvSpPr>
          <p:cNvPr id="16" name="Shape 13"/>
          <p:cNvSpPr/>
          <p:nvPr/>
        </p:nvSpPr>
        <p:spPr>
          <a:xfrm>
            <a:off x="457200" y="2011680"/>
            <a:ext cx="5532120" cy="1956816"/>
          </a:xfrm>
          <a:prstGeom prst="roundRect">
            <a:avLst>
              <a:gd name="adj" fmla="val 4673"/>
            </a:avLst>
          </a:prstGeom>
          <a:solidFill>
            <a:srgbClr val="E8F5E9"/>
          </a:solidFill>
          <a:ln w="19050">
            <a:solidFill>
              <a:srgbClr val="009900"/>
            </a:solidFill>
            <a:prstDash val="solid"/>
          </a:ln>
        </p:spPr>
      </p:sp>
      <p:sp>
        <p:nvSpPr>
          <p:cNvPr id="17" name="Text 14"/>
          <p:cNvSpPr/>
          <p:nvPr/>
        </p:nvSpPr>
        <p:spPr>
          <a:xfrm>
            <a:off x="566928" y="2103120"/>
            <a:ext cx="5312664" cy="347472"/>
          </a:xfrm>
          <a:prstGeom prst="rect">
            <a:avLst/>
          </a:prstGeom>
          <a:noFill/>
          <a:ln/>
        </p:spPr>
        <p:txBody>
          <a:bodyPr wrap="square" lIns="0" tIns="0" rIns="0" bIns="0" rtlCol="0" anchor="ctr"/>
          <a:lstStyle/>
          <a:p>
            <a:pPr indent="0" marL="0">
              <a:buNone/>
            </a:pPr>
            <a:r>
              <a:rPr lang="en-US" sz="1450" b="1" dirty="0">
                <a:solidFill>
                  <a:srgbClr val="009900"/>
                </a:solidFill>
                <a:latin typeface="Arial" pitchFamily="34" charset="0"/>
                <a:ea typeface="Arial" pitchFamily="34" charset="-122"/>
                <a:cs typeface="Arial" pitchFamily="34" charset="-120"/>
              </a:rPr>
              <a:t>📈  Scaling for Seasonal Invoices</a:t>
            </a:r>
            <a:endParaRPr lang="en-US" sz="1450" dirty="0"/>
          </a:p>
        </p:txBody>
      </p:sp>
      <p:sp>
        <p:nvSpPr>
          <p:cNvPr id="18" name="Text 15"/>
          <p:cNvSpPr/>
          <p:nvPr/>
        </p:nvSpPr>
        <p:spPr>
          <a:xfrm>
            <a:off x="566928" y="248716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During holiday sales, invoice volumes multiply. Admins add runtime servers to the billing device pool, allowing parallel processing and meeting SLAs.</a:t>
            </a:r>
            <a:endParaRPr lang="en-US" sz="1300" dirty="0"/>
          </a:p>
        </p:txBody>
      </p:sp>
      <p:sp>
        <p:nvSpPr>
          <p:cNvPr id="19" name="Shape 16"/>
          <p:cNvSpPr/>
          <p:nvPr/>
        </p:nvSpPr>
        <p:spPr>
          <a:xfrm>
            <a:off x="6144768" y="2011680"/>
            <a:ext cx="5532120" cy="1956816"/>
          </a:xfrm>
          <a:prstGeom prst="roundRect">
            <a:avLst>
              <a:gd name="adj" fmla="val 4673"/>
            </a:avLst>
          </a:prstGeom>
          <a:solidFill>
            <a:srgbClr val="E3F2FD"/>
          </a:solidFill>
          <a:ln w="19050">
            <a:solidFill>
              <a:srgbClr val="1565C0"/>
            </a:solidFill>
            <a:prstDash val="solid"/>
          </a:ln>
        </p:spPr>
      </p:sp>
      <p:sp>
        <p:nvSpPr>
          <p:cNvPr id="20" name="Text 17"/>
          <p:cNvSpPr/>
          <p:nvPr/>
        </p:nvSpPr>
        <p:spPr>
          <a:xfrm>
            <a:off x="6254496" y="2103120"/>
            <a:ext cx="5312664" cy="347472"/>
          </a:xfrm>
          <a:prstGeom prst="rect">
            <a:avLst/>
          </a:prstGeom>
          <a:noFill/>
          <a:ln/>
        </p:spPr>
        <p:txBody>
          <a:bodyPr wrap="square" lIns="0" tIns="0" rIns="0" bIns="0" rtlCol="0" anchor="ctr"/>
          <a:lstStyle/>
          <a:p>
            <a:pPr indent="0" marL="0">
              <a:buNone/>
            </a:pPr>
            <a:r>
              <a:rPr lang="en-US" sz="1450" b="1" dirty="0">
                <a:solidFill>
                  <a:srgbClr val="1565C0"/>
                </a:solidFill>
                <a:latin typeface="Arial" pitchFamily="34" charset="0"/>
                <a:ea typeface="Arial" pitchFamily="34" charset="-122"/>
                <a:cs typeface="Arial" pitchFamily="34" charset="-120"/>
              </a:rPr>
              <a:t>👥  Compliance Role Segregation</a:t>
            </a:r>
            <a:endParaRPr lang="en-US" sz="1450" dirty="0"/>
          </a:p>
        </p:txBody>
      </p:sp>
      <p:sp>
        <p:nvSpPr>
          <p:cNvPr id="21" name="Text 18"/>
          <p:cNvSpPr/>
          <p:nvPr/>
        </p:nvSpPr>
        <p:spPr>
          <a:xfrm>
            <a:off x="6254496" y="248716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Enforces security rules. Developers create bots but have no runner permissions in production. Operations staff run bots but cannot edit scripts.</a:t>
            </a:r>
            <a:endParaRPr lang="en-US" sz="1300" dirty="0"/>
          </a:p>
        </p:txBody>
      </p:sp>
      <p:sp>
        <p:nvSpPr>
          <p:cNvPr id="22" name="Shape 19"/>
          <p:cNvSpPr/>
          <p:nvPr/>
        </p:nvSpPr>
        <p:spPr>
          <a:xfrm>
            <a:off x="457200" y="4114800"/>
            <a:ext cx="5532120" cy="1956816"/>
          </a:xfrm>
          <a:prstGeom prst="roundRect">
            <a:avLst>
              <a:gd name="adj" fmla="val 4673"/>
            </a:avLst>
          </a:prstGeom>
          <a:solidFill>
            <a:srgbClr val="FCE4EC"/>
          </a:solidFill>
          <a:ln w="19050">
            <a:solidFill>
              <a:srgbClr val="990033"/>
            </a:solidFill>
            <a:prstDash val="solid"/>
          </a:ln>
        </p:spPr>
      </p:sp>
      <p:sp>
        <p:nvSpPr>
          <p:cNvPr id="23" name="Text 20"/>
          <p:cNvSpPr/>
          <p:nvPr/>
        </p:nvSpPr>
        <p:spPr>
          <a:xfrm>
            <a:off x="566928" y="4206240"/>
            <a:ext cx="5312664" cy="347472"/>
          </a:xfrm>
          <a:prstGeom prst="rect">
            <a:avLst/>
          </a:prstGeom>
          <a:noFill/>
          <a:ln/>
        </p:spPr>
        <p:txBody>
          <a:bodyPr wrap="square" lIns="0" tIns="0" rIns="0" bIns="0" rtlCol="0" anchor="ctr"/>
          <a:lstStyle/>
          <a:p>
            <a:pPr indent="0" marL="0">
              <a:buNone/>
            </a:pPr>
            <a:r>
              <a:rPr lang="en-US" sz="1450" b="1" dirty="0">
                <a:solidFill>
                  <a:srgbClr val="990033"/>
                </a:solidFill>
                <a:latin typeface="Arial" pitchFamily="34" charset="0"/>
                <a:ea typeface="Arial" pitchFamily="34" charset="-122"/>
                <a:cs typeface="Arial" pitchFamily="34" charset="-120"/>
              </a:rPr>
              <a:t>🩺  Auditing Financial Bot Runs</a:t>
            </a:r>
            <a:endParaRPr lang="en-US" sz="1450" dirty="0"/>
          </a:p>
        </p:txBody>
      </p:sp>
      <p:sp>
        <p:nvSpPr>
          <p:cNvPr id="24" name="Text 21"/>
          <p:cNvSpPr/>
          <p:nvPr/>
        </p:nvSpPr>
        <p:spPr>
          <a:xfrm>
            <a:off x="566928" y="459028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Auditors review Web CR audit logs to confirm only authorized bots executed bank transfers, matching transaction timestamps.</a:t>
            </a:r>
            <a:endParaRPr lang="en-US" sz="1300" dirty="0"/>
          </a:p>
        </p:txBody>
      </p:sp>
      <p:sp>
        <p:nvSpPr>
          <p:cNvPr id="25" name="Shape 22"/>
          <p:cNvSpPr/>
          <p:nvPr/>
        </p:nvSpPr>
        <p:spPr>
          <a:xfrm>
            <a:off x="6144768" y="4114800"/>
            <a:ext cx="5532120" cy="1956816"/>
          </a:xfrm>
          <a:prstGeom prst="roundRect">
            <a:avLst>
              <a:gd name="adj" fmla="val 4673"/>
            </a:avLst>
          </a:prstGeom>
          <a:solidFill>
            <a:srgbClr val="FFF9C4"/>
          </a:solidFill>
          <a:ln w="19050">
            <a:solidFill>
              <a:srgbClr val="F57F17"/>
            </a:solidFill>
            <a:prstDash val="solid"/>
          </a:ln>
        </p:spPr>
      </p:sp>
      <p:sp>
        <p:nvSpPr>
          <p:cNvPr id="26" name="Text 23"/>
          <p:cNvSpPr/>
          <p:nvPr/>
        </p:nvSpPr>
        <p:spPr>
          <a:xfrm>
            <a:off x="6254496" y="4206240"/>
            <a:ext cx="5312664" cy="347472"/>
          </a:xfrm>
          <a:prstGeom prst="rect">
            <a:avLst/>
          </a:prstGeom>
          <a:noFill/>
          <a:ln/>
        </p:spPr>
        <p:txBody>
          <a:bodyPr wrap="square" lIns="0" tIns="0" rIns="0" bIns="0" rtlCol="0" anchor="ctr"/>
          <a:lstStyle/>
          <a:p>
            <a:pPr indent="0" marL="0">
              <a:buNone/>
            </a:pPr>
            <a:r>
              <a:rPr lang="en-US" sz="1450" b="1" dirty="0">
                <a:solidFill>
                  <a:srgbClr val="F57F17"/>
                </a:solidFill>
                <a:latin typeface="Arial" pitchFamily="34" charset="0"/>
                <a:ea typeface="Arial" pitchFamily="34" charset="-122"/>
                <a:cs typeface="Arial" pitchFamily="34" charset="-120"/>
              </a:rPr>
              <a:t>🔄  System Migration &amp; Updates</a:t>
            </a:r>
            <a:endParaRPr lang="en-US" sz="1450" dirty="0"/>
          </a:p>
        </p:txBody>
      </p:sp>
      <p:sp>
        <p:nvSpPr>
          <p:cNvPr id="27" name="Text 24"/>
          <p:cNvSpPr/>
          <p:nvPr/>
        </p:nvSpPr>
        <p:spPr>
          <a:xfrm>
            <a:off x="6254496" y="459028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RPA administrators manage migrations (e.g. importing bot packages from dev to staging schemas) and verify licensing compliance.</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Robotic Process Automation</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2377440"/>
            <a:ext cx="11292840" cy="1371600"/>
          </a:xfrm>
          <a:prstGeom prst="rect">
            <a:avLst/>
          </a:prstGeom>
          <a:noFill/>
          <a:ln/>
        </p:spPr>
        <p:txBody>
          <a:bodyPr wrap="square" rtlCol="0" anchor="ctr"/>
          <a:lstStyle/>
          <a:p>
            <a:pPr algn="ctr" indent="0" marL="0">
              <a:buNone/>
            </a:pPr>
            <a:r>
              <a:rPr lang="en-US" sz="4800" b="1" dirty="0">
                <a:solidFill>
                  <a:srgbClr val="990033"/>
                </a:solidFill>
                <a:latin typeface="Arial" pitchFamily="34" charset="0"/>
                <a:ea typeface="Arial" pitchFamily="34" charset="-122"/>
                <a:cs typeface="Arial" pitchFamily="34" charset="-120"/>
              </a:rPr>
              <a:t>THANK YOU</a:t>
            </a:r>
            <a:endParaRPr lang="en-US" sz="4800" dirty="0"/>
          </a:p>
        </p:txBody>
      </p:sp>
      <p:sp>
        <p:nvSpPr>
          <p:cNvPr id="14" name="Text 11"/>
          <p:cNvSpPr/>
          <p:nvPr/>
        </p:nvSpPr>
        <p:spPr>
          <a:xfrm>
            <a:off x="457200" y="5029200"/>
            <a:ext cx="11292840" cy="822960"/>
          </a:xfrm>
          <a:prstGeom prst="rect">
            <a:avLst/>
          </a:prstGeom>
          <a:noFill/>
          <a:ln/>
        </p:spPr>
        <p:txBody>
          <a:bodyPr wrap="square" rtlCol="0" anchor="ctr"/>
          <a:lstStyle/>
          <a:p>
            <a:pPr algn="ctr" indent="0" marL="0">
              <a:buNone/>
            </a:pPr>
            <a:r>
              <a:rPr lang="en-US" sz="1300" dirty="0">
                <a:solidFill>
                  <a:srgbClr val="555555"/>
                </a:solidFill>
                <a:latin typeface="Arial" pitchFamily="34" charset="0"/>
                <a:ea typeface="Arial" pitchFamily="34" charset="-122"/>
                <a:cs typeface="Arial" pitchFamily="34" charset="-120"/>
              </a:rPr>
              <a:t>Department of Computer Science and Engineering</a:t>
            </a:r>
            <a:endParaRPr lang="en-US" sz="1300" dirty="0"/>
          </a:p>
          <a:p>
            <a:pPr algn="ctr" indent="0" marL="0">
              <a:buNone/>
            </a:pPr>
            <a:r>
              <a:rPr lang="en-US" sz="1300" dirty="0">
                <a:solidFill>
                  <a:srgbClr val="555555"/>
                </a:solidFill>
                <a:latin typeface="Arial" pitchFamily="34" charset="0"/>
                <a:ea typeface="Arial" pitchFamily="34" charset="-122"/>
                <a:cs typeface="Arial" pitchFamily="34" charset="-120"/>
              </a:rPr>
              <a:t>Marri Laxman Reddy Institute of Technology and Management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2026-06-14T11:41:11Z</dcterms:created>
  <dcterms:modified xsi:type="dcterms:W3CDTF">2026-06-14T11:41:11Z</dcterms:modified>
</cp:coreProperties>
</file>