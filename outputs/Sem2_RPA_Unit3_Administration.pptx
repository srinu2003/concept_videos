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RPA Device Pools, Workloads, and Administration as part of the M.Tech curriculum. In this presentation, we will discuss how to cluster runtime machines for high availability, how to manage transaction queues using workloads, and how to configure roles and system settings securely in an RPA enterprise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how we manage devices and workloads in a production environment. Device Pools group multiple runtime client machines, or bot runners, into a single cluster. This allows the Web Control Room to allocate tasks dynamically across available resources. Runtime clients are categorized into unattended, which execute scheduled tasks on servers, and attended, which run on user machines. By clustering these devices, we achieve high availability: if one machine encounters a hardware crash or loses network connection, the Web Control Room automatically redirects the remaining items in the queue to active runner nodes. Furthermore, administrators can dynamically scale capacity by adding or removing machines. Workloads utilize transaction queues to store items to be processed. The SLA Calculator tracks completion times and alerts administrators if a backlog risks breaching processing schedules, ensuring consistent operational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RPA Administration provides the tools required to secure, configure, and maintain the Automation Anywhere platform. First, user management relies on Role-Based Access Control, or RBAC. Admins assign users to specific roles: Bot Creators can write and test scripts locally but cannot run them in production; Bot Runners can execute compiled bots but cannot alter code; and Control Room Admins manage licenses, users, and global configurations. This segregation of duties is a fundamental security practice. Second, the Web CR maintains an immutable Audit Log. It logs all configuration edits, password updates, and bot executions. Because this log cannot be altered by developers or administrators, it is a crucial resource for satisfying regulatory audits such as GDPR, HIPAA, and SOX, verifying that all system changes are authorized.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how these administration tools are applied in enterprise scenarios. First, device pools allow dynamic scaling. During high-volume periods like holiday sales, administrators add servers to the invoice processing pool to process records in parallel. Second, role segregation enforces compliance: developers are restricted to writing code in dev sandbox environments, while operations staff manage production runs. Third, financial auditors review the immutable audit logs to verify that only authorized bots executed bank transfers. Finally, migration tools help administrators move bot packages from dev to staging schemas safely, verifying license compliance at every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robust device pooling, workload management, and role-based administration are the keys to running a secure and scalable RPA platform in any major enterprise. These tools ensure that automation remains high-performing, auditable, and compliant. Thank you for your attention, and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III: Devices, Workloads &amp; Administration</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RPA Device Pools &amp; Administration</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Device Pools &amp; Runtime Clients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Device Pools </a:t>
            </a:r>
            <a:pPr indent="0" marL="0">
              <a:buNone/>
            </a:pPr>
            <a:r>
              <a:rPr lang="en-US" sz="1400" dirty="0">
                <a:solidFill>
                  <a:srgbClr val="000000"/>
                </a:solidFill>
                <a:latin typeface="Arial" pitchFamily="34" charset="0"/>
                <a:ea typeface="Arial" pitchFamily="34" charset="-122"/>
                <a:cs typeface="Arial" pitchFamily="34" charset="-120"/>
              </a:rPr>
              <a:t>group multiple runtime client machines (bot runners) into clusters. They allow the Web Control Room to allocate tasks dynamically, providing scalability and high availability.</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Managing Device Pools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Runtime Clients:</a:t>
            </a:r>
            <a:pPr indent="0" marL="0">
              <a:buNone/>
            </a:pPr>
            <a:r>
              <a:rPr lang="en-US" sz="1300" dirty="0">
                <a:solidFill>
                  <a:srgbClr val="000000"/>
                </a:solidFill>
                <a:latin typeface="Arial" pitchFamily="34" charset="0"/>
                <a:ea typeface="Arial" pitchFamily="34" charset="-122"/>
                <a:cs typeface="Arial" pitchFamily="34" charset="-120"/>
              </a:rPr>
              <a:t> Host machines that run compiled bots. Classified into unattended (automated) and attended (user-triggered).</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Clustering:</a:t>
            </a:r>
            <a:pPr indent="0" marL="0">
              <a:buNone/>
            </a:pPr>
            <a:r>
              <a:rPr lang="en-US" sz="1300" dirty="0">
                <a:solidFill>
                  <a:srgbClr val="000000"/>
                </a:solidFill>
                <a:latin typeface="Arial" pitchFamily="34" charset="0"/>
                <a:ea typeface="Arial" pitchFamily="34" charset="-122"/>
                <a:cs typeface="Arial" pitchFamily="34" charset="-120"/>
              </a:rPr>
              <a:t> Grouping multiple runners into a device pool. If runner A is busy, Web CR routes tasks to runner B.</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High Availability:</a:t>
            </a:r>
            <a:pPr indent="0" marL="0">
              <a:buNone/>
            </a:pPr>
            <a:r>
              <a:rPr lang="en-US" sz="1300" dirty="0">
                <a:solidFill>
                  <a:srgbClr val="000000"/>
                </a:solidFill>
                <a:latin typeface="Arial" pitchFamily="34" charset="0"/>
                <a:ea typeface="Arial" pitchFamily="34" charset="-122"/>
                <a:cs typeface="Arial" pitchFamily="34" charset="-120"/>
              </a:rPr>
              <a:t> If a runner machine crashes, the pool automatically redirects the queue to active runner nodes.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Dynamic Scaling:</a:t>
            </a:r>
            <a:pPr indent="0" marL="0">
              <a:buNone/>
            </a:pPr>
            <a:r>
              <a:rPr lang="en-US" sz="1300" dirty="0">
                <a:solidFill>
                  <a:srgbClr val="000000"/>
                </a:solidFill>
                <a:latin typeface="Arial" pitchFamily="34" charset="0"/>
                <a:ea typeface="Arial" pitchFamily="34" charset="-122"/>
                <a:cs typeface="Arial" pitchFamily="34" charset="-120"/>
              </a:rPr>
              <a:t> Admins can add or remove runner nodes to the pool to scale capacity.</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Workloads &amp; Queue Management</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Transaction Queues:</a:t>
            </a:r>
            <a:pPr indent="0" marL="0">
              <a:buNone/>
            </a:pPr>
            <a:r>
              <a:rPr lang="en-US" sz="1300" dirty="0">
                <a:solidFill>
                  <a:srgbClr val="000000"/>
                </a:solidFill>
                <a:latin typeface="Arial" pitchFamily="34" charset="0"/>
                <a:ea typeface="Arial" pitchFamily="34" charset="-122"/>
                <a:cs typeface="Arial" pitchFamily="34" charset="-120"/>
              </a:rPr>
              <a:t> Lists of data records (e.g. 5,000 invoices) to be processed by a bot.</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Workload Distributor:</a:t>
            </a:r>
            <a:pPr indent="0" marL="0">
              <a:buNone/>
            </a:pPr>
            <a:r>
              <a:rPr lang="en-US" sz="1300" dirty="0">
                <a:solidFill>
                  <a:srgbClr val="000000"/>
                </a:solidFill>
                <a:latin typeface="Arial" pitchFamily="34" charset="0"/>
                <a:ea typeface="Arial" pitchFamily="34" charset="-122"/>
                <a:cs typeface="Arial" pitchFamily="34" charset="-120"/>
              </a:rPr>
              <a:t> Web CR reads items from the queue and distributes them across device pool runners concurrently.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SLA Calculator:</a:t>
            </a:r>
            <a:pPr indent="0" marL="0">
              <a:buNone/>
            </a:pPr>
            <a:r>
              <a:rPr lang="en-US" sz="1300" dirty="0">
                <a:solidFill>
                  <a:srgbClr val="000000"/>
                </a:solidFill>
                <a:latin typeface="Arial" pitchFamily="34" charset="0"/>
                <a:ea typeface="Arial" pitchFamily="34" charset="-122"/>
                <a:cs typeface="Arial" pitchFamily="34" charset="-120"/>
              </a:rPr>
              <a:t> Calculates the estimated time to complete a queue based on processing speeds and node counts. Alerts admins if SLAs are at risk.</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Queue Security:</a:t>
            </a:r>
            <a:pPr indent="0" marL="0">
              <a:buNone/>
            </a:pPr>
            <a:r>
              <a:rPr lang="en-US" sz="1300" dirty="0">
                <a:solidFill>
                  <a:srgbClr val="000000"/>
                </a:solidFill>
                <a:latin typeface="Arial" pitchFamily="34" charset="0"/>
                <a:ea typeface="Arial" pitchFamily="34" charset="-122"/>
                <a:cs typeface="Arial" pitchFamily="34" charset="-120"/>
              </a:rPr>
              <a:t> Encrypts data elements inside database queues.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RPA Administration &amp; Roles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Administration tools secure, audit, and configure the enterprise RPA platform:</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User &amp; Role Management</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Role-Based Access (RBAC):</a:t>
            </a:r>
            <a:pPr indent="0" marL="0">
              <a:buNone/>
            </a:pPr>
            <a:r>
              <a:rPr lang="en-US" sz="1300" dirty="0">
                <a:solidFill>
                  <a:srgbClr val="000000"/>
                </a:solidFill>
                <a:latin typeface="Arial" pitchFamily="34" charset="0"/>
                <a:ea typeface="Arial" pitchFamily="34" charset="-122"/>
                <a:cs typeface="Arial" pitchFamily="34" charset="-120"/>
              </a:rPr>
              <a:t> Admins configure roles with specific permissions, enforcing security rules: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 Bot Creator:</a:t>
            </a:r>
            <a:pPr indent="0" marL="0">
              <a:buNone/>
            </a:pPr>
            <a:r>
              <a:rPr lang="en-US" sz="1300" dirty="0">
                <a:solidFill>
                  <a:srgbClr val="000000"/>
                </a:solidFill>
                <a:latin typeface="Arial" pitchFamily="34" charset="0"/>
                <a:ea typeface="Arial" pitchFamily="34" charset="-122"/>
                <a:cs typeface="Arial" pitchFamily="34" charset="-120"/>
              </a:rPr>
              <a:t> Permissions to write scripts and edit local code. Cannot deploy to production.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 Bot Runner:</a:t>
            </a:r>
            <a:pPr indent="0" marL="0">
              <a:buNone/>
            </a:pPr>
            <a:r>
              <a:rPr lang="en-US" sz="1300" dirty="0">
                <a:solidFill>
                  <a:srgbClr val="000000"/>
                </a:solidFill>
                <a:latin typeface="Arial" pitchFamily="34" charset="0"/>
                <a:ea typeface="Arial" pitchFamily="34" charset="-122"/>
                <a:cs typeface="Arial" pitchFamily="34" charset="-120"/>
              </a:rPr>
              <a:t> Permissions to run scripts. Cannot edit code.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 Control Room Admin:</a:t>
            </a:r>
            <a:pPr indent="0" marL="0">
              <a:buNone/>
            </a:pPr>
            <a:r>
              <a:rPr lang="en-US" sz="1300" dirty="0">
                <a:solidFill>
                  <a:srgbClr val="000000"/>
                </a:solidFill>
                <a:latin typeface="Arial" pitchFamily="34" charset="0"/>
                <a:ea typeface="Arial" pitchFamily="34" charset="-122"/>
                <a:cs typeface="Arial" pitchFamily="34" charset="-120"/>
              </a:rPr>
              <a:t> Manages users, devices, licenses, and system configurations.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License Allocation:</a:t>
            </a:r>
            <a:pPr indent="0" marL="0">
              <a:buNone/>
            </a:pPr>
            <a:r>
              <a:rPr lang="en-US" sz="1300" dirty="0">
                <a:solidFill>
                  <a:srgbClr val="000000"/>
                </a:solidFill>
                <a:latin typeface="Arial" pitchFamily="34" charset="0"/>
                <a:ea typeface="Arial" pitchFamily="34" charset="-122"/>
                <a:cs typeface="Arial" pitchFamily="34" charset="-120"/>
              </a:rPr>
              <a:t> Allocates developer and runtime runner licenses.</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Audit Log Compliance</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 Security Compliance Audits:</a:t>
            </a:r>
            <a:pPr indent="0" marL="0">
              <a:buNone/>
            </a:pPr>
            <a:r>
              <a:rPr lang="en-US" sz="1250" dirty="0">
                <a:solidFill>
                  <a:srgbClr val="000000"/>
                </a:solidFill>
                <a:latin typeface="Arial" pitchFamily="34" charset="0"/>
                <a:ea typeface="Arial" pitchFamily="34" charset="-122"/>
                <a:cs typeface="Arial" pitchFamily="34" charset="-120"/>
              </a:rPr>
              <a:t> Logs all activities in the Web CR. Cannot be edited by users or admins.
</a:t>
            </a:r>
            <a:endParaRPr lang="en-US" sz="1250" dirty="0"/>
          </a:p>
          <a:p>
            <a:pPr indent="0" marL="0">
              <a:buNone/>
            </a:pPr>
            <a:r>
              <a:rPr lang="en-US" sz="1250" b="1" dirty="0">
                <a:solidFill>
                  <a:srgbClr val="006400"/>
                </a:solidFill>
                <a:latin typeface="Arial" pitchFamily="34" charset="0"/>
                <a:ea typeface="Arial" pitchFamily="34" charset="-122"/>
                <a:cs typeface="Arial" pitchFamily="34" charset="-120"/>
              </a:rPr>
              <a:t>• Actions Tracked:</a:t>
            </a:r>
            <a:pPr indent="0" marL="0">
              <a:buNone/>
            </a:pPr>
            <a:r>
              <a:rPr lang="en-US" sz="125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User modifications (role updates, password changes).
</a:t>
            </a:r>
            <a:pPr indent="0" marL="0">
              <a:buNone/>
            </a:pPr>
            <a:r>
              <a:rPr lang="en-US" sz="1250" dirty="0">
                <a:solidFill>
                  <a:srgbClr val="000000"/>
                </a:solidFill>
                <a:latin typeface="Arial" pitchFamily="34" charset="0"/>
                <a:ea typeface="Arial" pitchFamily="34" charset="-122"/>
                <a:cs typeface="Arial" pitchFamily="34" charset="-120"/>
              </a:rPr>
              <a:t>   - Bot modifications (uploads, deletions, runs).
</a:t>
            </a:r>
            <a:pPr indent="0" marL="0">
              <a:buNone/>
            </a:pPr>
            <a:r>
              <a:rPr lang="en-US" sz="1250" dirty="0">
                <a:solidFill>
                  <a:srgbClr val="000000"/>
                </a:solidFill>
                <a:latin typeface="Arial" pitchFamily="34" charset="0"/>
                <a:ea typeface="Arial" pitchFamily="34" charset="-122"/>
                <a:cs typeface="Arial" pitchFamily="34" charset="-120"/>
              </a:rPr>
              <a:t>   - Device changes (pool creation, connection edits).
</a:t>
            </a:r>
            <a:pPr indent="0" marL="0">
              <a:buNone/>
            </a:pPr>
            <a:r>
              <a:rPr lang="en-US" sz="1250" b="1" dirty="0">
                <a:solidFill>
                  <a:srgbClr val="000000"/>
                </a:solidFill>
                <a:latin typeface="Arial" pitchFamily="34" charset="0"/>
                <a:ea typeface="Arial" pitchFamily="34" charset="-122"/>
                <a:cs typeface="Arial" pitchFamily="34" charset="-120"/>
              </a:rPr>
              <a:t>• Compliance value:</a:t>
            </a:r>
            <a:pPr indent="0" marL="0">
              <a:buNone/>
            </a:pPr>
            <a:r>
              <a:rPr lang="en-US" sz="1250" dirty="0">
                <a:solidFill>
                  <a:srgbClr val="000000"/>
                </a:solidFill>
                <a:latin typeface="Arial" pitchFamily="34" charset="0"/>
                <a:ea typeface="Arial" pitchFamily="34" charset="-122"/>
                <a:cs typeface="Arial" pitchFamily="34" charset="-120"/>
              </a:rPr>
              <a:t> Essential for SOX, HIPAA, and GDPR database audits.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RPA Administration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organizations deploy device pooling and role segregation in production:</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Scaling for Seasonal Invoices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During holiday sales, invoice volumes multiply. Admins add runtime servers to the billing device pool, allowing parallel processing and meeting SLAs.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Compliance Role Segregation</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Enforces security rules. Developers create bots but have no runner permissions in production. Operations staff run bots but cannot edit scripts.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Auditing Financial Bot Runs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Auditors review Web CR audit logs to confirm only authorized bots executed bank transfers, matching transaction timestamps.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System Migration &amp; Updates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RPA administrators manage migrations (e.g. importing bot packages from dev to staging schemas) and verify licensing compliance.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2026-06-14T18:39:21Z</dcterms:created>
  <dcterms:modified xsi:type="dcterms:W3CDTF">2026-06-14T18:39:21Z</dcterms:modified>
</cp:coreProperties>
</file>