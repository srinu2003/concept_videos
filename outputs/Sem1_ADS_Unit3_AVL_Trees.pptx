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What is an AVL Tree?
An AVL Tree is the very first self-balancing binary search tree ever invented. In a standard BST, if we insert sorted keys, the tree becomes highly skewed, resulting in O(n) search operations.
AVL trees guarantee logarithmic time by maintaining a balance condition. The heights of the left and right subtrees of every node can differ by at most 1. This condition is monitored using a Balance Factor.
If an insertion or deletion causes the Balance Factor to deviate to +2 or -2, we perform rotations to restore balance. This guarantees that search, insertion, and deletion are always O(log n) in the worst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Single Rotations
Single rotations handle straight-line imbalances. There are two symmetric cases:
1. Left-Left (LL) case: The tree is heavy on the left-of-the-left. We perform a Single Right Rotation to balance it. The middle node becomes the new root, and the old root becomes its right child.
2. Right-Right (RR) case: The tree is heavy on the right-of-the-right. We perform a Single Left Rotation to restore balance.
Both single rotations take O(1) time since they only involve reassigning a few pointers. They do not alter the BST ordering property, so keys remain sorted.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Double Rotations
When imbalances are 'zig-zag' (inner subtrees), a single rotation is not enough to balance the tree. We must perform a double rotation.
For the Left-Right (LR) case, we first perform a Left Rotation on the left child, which transforms the structure into a Left-Left (LL) shape. Then, we perform a Right Rotation on the parent node to restore balance.
The Right-Left (RL) case is the exact mirror image. We first perform a Right Rotation on the right child, and then a Left Rotation on the parent node. Both operations are O(1) in terms of pointer changes, maintaining the theoretical efficiency of AVL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Dynamic Operations
When inserting into an AVL tree, we insert the node as a leaf, and then walk back up to the root updating balance factors. If we detect an imbalance, we perform a single or double rotation. Once a rotation is performed at the lowest unbalanced node, the height of that subtree is restored to its pre-insertion state, so no further rotations are required.
Deletion is more complex. Removing a node can shorten a path, which can cause imbalances above it. Retracing back up, we may need to perform rotations at multiple levels, up to O(log n) times. However, each rotation still takes O(1) time, so the overall deletion complexity remains O(log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Applications
AVL trees are used when lookup speed is paramount. Because AVL trees have a strict balance factor condition, their average and worst-case heights are closer to log₂ n. In comparison, Red-Black trees have a more relaxed balance condition, making Red-Black trees faster for insertions but slightly slower for search lookups.
This makes AVL trees the preferred choice for indexing datasets that are mostly read-only or have minimal write operations, such as search indexes, network route tables, and lookup maps in real-time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III: Search Structures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AVL Trees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an AVL Tree?</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An AVL Tree </a:t>
            </a:r>
            <a:pPr indent="0" marL="0">
              <a:buNone/>
            </a:pPr>
            <a:r>
              <a:rPr lang="en-US" sz="1400" dirty="0">
                <a:solidFill>
                  <a:srgbClr val="000000"/>
                </a:solidFill>
                <a:latin typeface="Arial" pitchFamily="34" charset="0"/>
                <a:ea typeface="Arial" pitchFamily="34" charset="-122"/>
                <a:cs typeface="Arial" pitchFamily="34" charset="-120"/>
              </a:rPr>
              <a:t>(named after Adelson-Velsky and Landis) is a self-balancing Binary Search Tree (BST) where the heights of the two child subtrees of any node differ by at most one.</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Key Rules &amp; Properties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Balance Factor (BF):</a:t>
            </a:r>
            <a:pPr indent="0" marL="0">
              <a:buNone/>
            </a:pPr>
            <a:r>
              <a:rPr lang="en-US" sz="1300" dirty="0">
                <a:solidFill>
                  <a:srgbClr val="000000"/>
                </a:solidFill>
                <a:latin typeface="Arial" pitchFamily="34" charset="0"/>
                <a:ea typeface="Arial" pitchFamily="34" charset="-122"/>
                <a:cs typeface="Arial" pitchFamily="34" charset="-120"/>
              </a:rPr>
              <a:t> For any node N, BF(N) = Height(LeftSubtree) − Height(RightSubtree).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AVL Property:</a:t>
            </a:r>
            <a:pPr indent="0" marL="0">
              <a:buNone/>
            </a:pPr>
            <a:r>
              <a:rPr lang="en-US" sz="1300" dirty="0">
                <a:solidFill>
                  <a:srgbClr val="000000"/>
                </a:solidFill>
                <a:latin typeface="Arial" pitchFamily="34" charset="0"/>
                <a:ea typeface="Arial" pitchFamily="34" charset="-122"/>
                <a:cs typeface="Arial" pitchFamily="34" charset="-120"/>
              </a:rPr>
              <a:t> The balance factor of EVERY node must be in {-1, 0, 1}.</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Height Bound:</a:t>
            </a:r>
            <a:pPr indent="0" marL="0">
              <a:buNone/>
            </a:pPr>
            <a:r>
              <a:rPr lang="en-US" sz="1300" dirty="0">
                <a:solidFill>
                  <a:srgbClr val="000000"/>
                </a:solidFill>
                <a:latin typeface="Arial" pitchFamily="34" charset="0"/>
                <a:ea typeface="Arial" pitchFamily="34" charset="-122"/>
                <a:cs typeface="Arial" pitchFamily="34" charset="-120"/>
              </a:rPr>
              <a:t> The height of an AVL tree with n nodes is strictly bounded by 1.44 log₂(n), making it highly balanced.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Time Complexity:</a:t>
            </a:r>
            <a:pPr indent="0" marL="0">
              <a:buNone/>
            </a:pPr>
            <a:r>
              <a:rPr lang="en-US" sz="1300" dirty="0">
                <a:solidFill>
                  <a:srgbClr val="000000"/>
                </a:solidFill>
                <a:latin typeface="Arial" pitchFamily="34" charset="0"/>
                <a:ea typeface="Arial" pitchFamily="34" charset="-122"/>
                <a:cs typeface="Arial" pitchFamily="34" charset="-120"/>
              </a:rPr>
              <a:t> Search, Insert, and Delete operations all take O(log n) worst-case time.</a:t>
            </a:r>
            <a:endParaRPr lang="en-US" sz="1300" dirty="0"/>
          </a:p>
        </p:txBody>
      </p:sp>
      <p:sp>
        <p:nvSpPr>
          <p:cNvPr id="19" name="Shape 16"/>
          <p:cNvSpPr/>
          <p:nvPr/>
        </p:nvSpPr>
        <p:spPr>
          <a:xfrm>
            <a:off x="6035040" y="2103120"/>
            <a:ext cx="5715000" cy="3895344"/>
          </a:xfrm>
          <a:prstGeom prst="roundRect">
            <a:avLst>
              <a:gd name="adj" fmla="val 2347"/>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The Need for Balancing</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Standard BST Problem:</a:t>
            </a:r>
            <a:pPr indent="0" marL="0">
              <a:buNone/>
            </a:pPr>
            <a:r>
              <a:rPr lang="en-US" sz="1300" dirty="0">
                <a:solidFill>
                  <a:srgbClr val="000000"/>
                </a:solidFill>
                <a:latin typeface="Arial" pitchFamily="34" charset="0"/>
                <a:ea typeface="Arial" pitchFamily="34" charset="-122"/>
                <a:cs typeface="Arial" pitchFamily="34" charset="-120"/>
              </a:rPr>
              <a:t> If keys are inserted in sorted order (e.g. 1, 2, 3, 4), a normal BST degenerates into a linear linked list with O(n) search time.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Active Balancing:</a:t>
            </a:r>
            <a:pPr indent="0" marL="0">
              <a:buNone/>
            </a:pPr>
            <a:r>
              <a:rPr lang="en-US" sz="1300" dirty="0">
                <a:solidFill>
                  <a:srgbClr val="000000"/>
                </a:solidFill>
                <a:latin typeface="Arial" pitchFamily="34" charset="0"/>
                <a:ea typeface="Arial" pitchFamily="34" charset="-122"/>
                <a:cs typeface="Arial" pitchFamily="34" charset="-120"/>
              </a:rPr>
              <a:t> AVL trees monitor the balance factor during insertions and deletions.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Self-Correction:</a:t>
            </a:r>
            <a:pPr indent="0" marL="0">
              <a:buNone/>
            </a:pPr>
            <a:r>
              <a:rPr lang="en-US" sz="1300" dirty="0">
                <a:solidFill>
                  <a:srgbClr val="000000"/>
                </a:solidFill>
                <a:latin typeface="Arial" pitchFamily="34" charset="0"/>
                <a:ea typeface="Arial" pitchFamily="34" charset="-122"/>
                <a:cs typeface="Arial" pitchFamily="34" charset="-120"/>
              </a:rPr>
              <a:t> If any node's BF becomes +2 or -2, the tree performs localized rotations to restore the AVL balance property immediately.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Single Rotations (LL &amp; RR Cases)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Single rotations are used when the insertion occurs in the 'outer' subtrees (Left-Left or Right-Right):</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Right Rotation (LL Case)</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Trigger:</a:t>
            </a:r>
            <a:pPr indent="0" marL="0">
              <a:buNone/>
            </a:pPr>
            <a:r>
              <a:rPr lang="en-US" sz="1300" dirty="0">
                <a:solidFill>
                  <a:srgbClr val="000000"/>
                </a:solidFill>
                <a:latin typeface="Arial" pitchFamily="34" charset="0"/>
                <a:ea typeface="Arial" pitchFamily="34" charset="-122"/>
                <a:cs typeface="Arial" pitchFamily="34" charset="-120"/>
              </a:rPr>
              <a:t> Node y is inserted into the left subtree of the left child x of root z (Left-of-Left violation). z has BF = +2.</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Operation:</a:t>
            </a:r>
            <a:pPr indent="0" marL="0">
              <a:buNone/>
            </a:pPr>
            <a:r>
              <a:rPr lang="en-US" sz="1300" dirty="0">
                <a:solidFill>
                  <a:srgbClr val="000000"/>
                </a:solidFill>
                <a:latin typeface="Arial" pitchFamily="34" charset="0"/>
                <a:ea typeface="Arial" pitchFamily="34" charset="-122"/>
                <a:cs typeface="Arial" pitchFamily="34" charset="-120"/>
              </a:rPr>
              <a:t> Pivot around x. Pull z down to become the right child of x. Move x's right child to become z's left child.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Result:</a:t>
            </a:r>
            <a:pPr indent="0" marL="0">
              <a:buNone/>
            </a:pPr>
            <a:r>
              <a:rPr lang="en-US" sz="1300" dirty="0">
                <a:solidFill>
                  <a:srgbClr val="000000"/>
                </a:solidFill>
                <a:latin typeface="Arial" pitchFamily="34" charset="0"/>
                <a:ea typeface="Arial" pitchFamily="34" charset="-122"/>
                <a:cs typeface="Arial" pitchFamily="34" charset="-120"/>
              </a:rPr>
              <a:t> x becomes the new root of this subtree, with y on its left and z on its right. Height is balanced.</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 Code Logic:</a:t>
            </a:r>
            <a:pPr indent="0" marL="0">
              <a:buNone/>
            </a:pPr>
            <a:r>
              <a:rPr lang="en-US" sz="1300" dirty="0">
                <a:solidFill>
                  <a:srgbClr val="000000"/>
                </a:solidFill>
                <a:latin typeface="Arial" pitchFamily="34" charset="0"/>
                <a:ea typeface="Arial" pitchFamily="34" charset="-122"/>
                <a:cs typeface="Arial" pitchFamily="34" charset="-120"/>
              </a:rPr>
              <a:t> z.left = x.right; x.right = z;</a:t>
            </a:r>
            <a:endParaRPr lang="en-US" sz="1300" dirty="0"/>
          </a:p>
        </p:txBody>
      </p:sp>
      <p:sp>
        <p:nvSpPr>
          <p:cNvPr id="19" name="Shape 16"/>
          <p:cNvSpPr/>
          <p:nvPr/>
        </p:nvSpPr>
        <p:spPr>
          <a:xfrm>
            <a:off x="6035040" y="2103120"/>
            <a:ext cx="5715000" cy="4114800"/>
          </a:xfrm>
          <a:prstGeom prst="roundRect">
            <a:avLst>
              <a:gd name="adj" fmla="val 2222"/>
            </a:avLst>
          </a:prstGeom>
          <a:solidFill>
            <a:srgbClr val="E8F5E9"/>
          </a:solidFill>
          <a:ln w="19050">
            <a:solidFill>
              <a:srgbClr val="00640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006400"/>
                </a:solidFill>
                <a:latin typeface="Arial" pitchFamily="34" charset="0"/>
                <a:ea typeface="Arial" pitchFamily="34" charset="-122"/>
                <a:cs typeface="Arial" pitchFamily="34" charset="-120"/>
              </a:rPr>
              <a:t>Left Rotation (RR Case)</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Trigger:</a:t>
            </a:r>
            <a:pPr indent="0" marL="0">
              <a:buNone/>
            </a:pPr>
            <a:r>
              <a:rPr lang="en-US" sz="1300" dirty="0">
                <a:solidFill>
                  <a:srgbClr val="000000"/>
                </a:solidFill>
                <a:latin typeface="Arial" pitchFamily="34" charset="0"/>
                <a:ea typeface="Arial" pitchFamily="34" charset="-122"/>
                <a:cs typeface="Arial" pitchFamily="34" charset="-120"/>
              </a:rPr>
              <a:t> Node y is inserted into the right subtree of the right child x of root z (Right-of-Right violation). z has BF = -2.</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Operation:</a:t>
            </a:r>
            <a:pPr indent="0" marL="0">
              <a:buNone/>
            </a:pPr>
            <a:r>
              <a:rPr lang="en-US" sz="1300" dirty="0">
                <a:solidFill>
                  <a:srgbClr val="000000"/>
                </a:solidFill>
                <a:latin typeface="Arial" pitchFamily="34" charset="0"/>
                <a:ea typeface="Arial" pitchFamily="34" charset="-122"/>
                <a:cs typeface="Arial" pitchFamily="34" charset="-120"/>
              </a:rPr>
              <a:t> Pivot around x. Pull z down to become the left child of x. Move x's left child to become z's right child.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Result:</a:t>
            </a:r>
            <a:pPr indent="0" marL="0">
              <a:buNone/>
            </a:pPr>
            <a:r>
              <a:rPr lang="en-US" sz="1300" dirty="0">
                <a:solidFill>
                  <a:srgbClr val="000000"/>
                </a:solidFill>
                <a:latin typeface="Arial" pitchFamily="34" charset="0"/>
                <a:ea typeface="Arial" pitchFamily="34" charset="-122"/>
                <a:cs typeface="Arial" pitchFamily="34" charset="-120"/>
              </a:rPr>
              <a:t> x becomes the new root of this subtree, with z on its left and y on its right. Balance restored.</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Code Logic:</a:t>
            </a:r>
            <a:pPr indent="0" marL="0">
              <a:buNone/>
            </a:pPr>
            <a:r>
              <a:rPr lang="en-US" sz="1300" dirty="0">
                <a:solidFill>
                  <a:srgbClr val="000000"/>
                </a:solidFill>
                <a:latin typeface="Arial" pitchFamily="34" charset="0"/>
                <a:ea typeface="Arial" pitchFamily="34" charset="-122"/>
                <a:cs typeface="Arial" pitchFamily="34" charset="-120"/>
              </a:rPr>
              <a:t> z.right = x.left; x.left = z;</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Double Rotations (LR &amp; RL Cases)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Double rotations are required when the insertion occurs in the 'inner' subtrees (Left-Right or Right-Left):</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Left-Right Rotation (LR Case)</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Trigger:</a:t>
            </a:r>
            <a:pPr indent="0" marL="0">
              <a:buNone/>
            </a:pPr>
            <a:r>
              <a:rPr lang="en-US" sz="1300" dirty="0">
                <a:solidFill>
                  <a:srgbClr val="000000"/>
                </a:solidFill>
                <a:latin typeface="Arial" pitchFamily="34" charset="0"/>
                <a:ea typeface="Arial" pitchFamily="34" charset="-122"/>
                <a:cs typeface="Arial" pitchFamily="34" charset="-120"/>
              </a:rPr>
              <a:t> Node is inserted into the right subtree of the left child of root z (Left-Right violation). z has BF = +2.</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Two Steps to Resolve:</a:t>
            </a:r>
            <a:pPr indent="0" marL="0">
              <a:buNone/>
            </a:pPr>
            <a:r>
              <a:rPr lang="en-US" sz="13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1. Left Rotation on Left Child:</a:t>
            </a:r>
            <a:pPr indent="0" marL="0">
              <a:buNone/>
            </a:pPr>
            <a:r>
              <a:rPr lang="en-US" sz="1300" dirty="0">
                <a:solidFill>
                  <a:srgbClr val="000000"/>
                </a:solidFill>
                <a:latin typeface="Arial" pitchFamily="34" charset="0"/>
                <a:ea typeface="Arial" pitchFamily="34" charset="-122"/>
                <a:cs typeface="Arial" pitchFamily="34" charset="-120"/>
              </a:rPr>
              <a:t> Align the imbalance into a straight line (turns LR case into LL case).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2. Right Rotation on Root z:</a:t>
            </a:r>
            <a:pPr indent="0" marL="0">
              <a:buNone/>
            </a:pPr>
            <a:r>
              <a:rPr lang="en-US" sz="1300" dirty="0">
                <a:solidFill>
                  <a:srgbClr val="000000"/>
                </a:solidFill>
                <a:latin typeface="Arial" pitchFamily="34" charset="0"/>
                <a:ea typeface="Arial" pitchFamily="34" charset="-122"/>
                <a:cs typeface="Arial" pitchFamily="34" charset="-120"/>
              </a:rPr>
              <a:t> Restores the actual height balance of the tree.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Final state:</a:t>
            </a:r>
            <a:pPr indent="0" marL="0">
              <a:buNone/>
            </a:pPr>
            <a:r>
              <a:rPr lang="en-US" sz="1300" dirty="0">
                <a:solidFill>
                  <a:srgbClr val="000000"/>
                </a:solidFill>
                <a:latin typeface="Arial" pitchFamily="34" charset="0"/>
                <a:ea typeface="Arial" pitchFamily="34" charset="-122"/>
                <a:cs typeface="Arial" pitchFamily="34" charset="-120"/>
              </a:rPr>
              <a:t> The deepest node is promoted to become the root of this subtree.</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Right-Left Rotation (RL Case)</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Trigger:</a:t>
            </a:r>
            <a:pPr indent="0" marL="0">
              <a:buNone/>
            </a:pPr>
            <a:r>
              <a:rPr lang="en-US" sz="1300" dirty="0">
                <a:solidFill>
                  <a:srgbClr val="000000"/>
                </a:solidFill>
                <a:latin typeface="Arial" pitchFamily="34" charset="0"/>
                <a:ea typeface="Arial" pitchFamily="34" charset="-122"/>
                <a:cs typeface="Arial" pitchFamily="34" charset="-120"/>
              </a:rPr>
              <a:t> Node is inserted into the left subtree of the right child of root z (Right-Left violation). z has BF = -2.</a:t>
            </a:r>
            <a:endParaRPr lang="en-US" sz="1300" dirty="0"/>
          </a:p>
          <a:p>
            <a:pPr indent="0" marL="0">
              <a:buNone/>
            </a:pPr>
            <a:r>
              <a:rPr lang="en-US" sz="1300" b="1" dirty="0">
                <a:solidFill>
                  <a:srgbClr val="F57F17"/>
                </a:solidFill>
                <a:latin typeface="Arial" pitchFamily="34" charset="0"/>
                <a:ea typeface="Arial" pitchFamily="34" charset="-122"/>
                <a:cs typeface="Arial" pitchFamily="34" charset="-120"/>
              </a:rPr>
              <a:t>• Two Steps to Resolve:</a:t>
            </a:r>
            <a:pPr indent="0" marL="0">
              <a:buNone/>
            </a:pPr>
            <a:r>
              <a:rPr lang="en-US" sz="13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1. Right Rotation on Right Child:</a:t>
            </a:r>
            <a:pPr indent="0" marL="0">
              <a:buNone/>
            </a:pPr>
            <a:r>
              <a:rPr lang="en-US" sz="1300" dirty="0">
                <a:solidFill>
                  <a:srgbClr val="000000"/>
                </a:solidFill>
                <a:latin typeface="Arial" pitchFamily="34" charset="0"/>
                <a:ea typeface="Arial" pitchFamily="34" charset="-122"/>
                <a:cs typeface="Arial" pitchFamily="34" charset="-120"/>
              </a:rPr>
              <a:t> Align the imbalance into a straight line (turns RL case into RR case).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2. Left Rotation on Root z:</a:t>
            </a:r>
            <a:pPr indent="0" marL="0">
              <a:buNone/>
            </a:pPr>
            <a:r>
              <a:rPr lang="en-US" sz="1300" dirty="0">
                <a:solidFill>
                  <a:srgbClr val="000000"/>
                </a:solidFill>
                <a:latin typeface="Arial" pitchFamily="34" charset="0"/>
                <a:ea typeface="Arial" pitchFamily="34" charset="-122"/>
                <a:cs typeface="Arial" pitchFamily="34" charset="-120"/>
              </a:rPr>
              <a:t> Restores the actual height balance of the tree.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Final state:</a:t>
            </a:r>
            <a:pPr indent="0" marL="0">
              <a:buNone/>
            </a:pPr>
            <a:r>
              <a:rPr lang="en-US" sz="1300" dirty="0">
                <a:solidFill>
                  <a:srgbClr val="000000"/>
                </a:solidFill>
                <a:latin typeface="Arial" pitchFamily="34" charset="0"/>
                <a:ea typeface="Arial" pitchFamily="34" charset="-122"/>
                <a:cs typeface="Arial" pitchFamily="34" charset="-120"/>
              </a:rPr>
              <a:t> The deepest node is promoted to become the root of this subtree.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AVL Insertion &amp; Deletion Complexity</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AVL trees maintain balance during dynamic insertions and deletions:</a:t>
            </a:r>
            <a:endParaRPr lang="en-US" sz="1400" dirty="0"/>
          </a:p>
        </p:txBody>
      </p:sp>
      <p:sp>
        <p:nvSpPr>
          <p:cNvPr id="16" name="Shape 13"/>
          <p:cNvSpPr/>
          <p:nvPr/>
        </p:nvSpPr>
        <p:spPr>
          <a:xfrm>
            <a:off x="457200" y="2103120"/>
            <a:ext cx="5394960" cy="4114800"/>
          </a:xfrm>
          <a:prstGeom prst="roundRect">
            <a:avLst>
              <a:gd name="adj" fmla="val 2222"/>
            </a:avLst>
          </a:prstGeom>
          <a:solidFill>
            <a:srgbClr val="F8F8F8"/>
          </a:solidFill>
          <a:ln w="19050">
            <a:solidFill>
              <a:srgbClr val="555555"/>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555555"/>
                </a:solidFill>
                <a:latin typeface="Arial" pitchFamily="34" charset="0"/>
                <a:ea typeface="Arial" pitchFamily="34" charset="-122"/>
                <a:cs typeface="Arial" pitchFamily="34" charset="-120"/>
              </a:rPr>
              <a:t>Insertion Process &amp; Rebalancing</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1. Standard BST Insert:</a:t>
            </a:r>
            <a:pPr indent="0" marL="0">
              <a:buNone/>
            </a:pPr>
            <a:r>
              <a:rPr lang="en-US" sz="1300" dirty="0">
                <a:solidFill>
                  <a:srgbClr val="000000"/>
                </a:solidFill>
                <a:latin typeface="Arial" pitchFamily="34" charset="0"/>
                <a:ea typeface="Arial" pitchFamily="34" charset="-122"/>
                <a:cs typeface="Arial" pitchFamily="34" charset="-120"/>
              </a:rPr>
              <a:t> Insert the node recursively at a leaf slot. O(log n) search steps.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2. Backtrack and Update:</a:t>
            </a:r>
            <a:pPr indent="0" marL="0">
              <a:buNone/>
            </a:pPr>
            <a:r>
              <a:rPr lang="en-US" sz="1300" dirty="0">
                <a:solidFill>
                  <a:srgbClr val="000000"/>
                </a:solidFill>
                <a:latin typeface="Arial" pitchFamily="34" charset="0"/>
                <a:ea typeface="Arial" pitchFamily="34" charset="-122"/>
                <a:cs typeface="Arial" pitchFamily="34" charset="-120"/>
              </a:rPr>
              <a:t> Retrace the path upwards towards the root, updating balance factors.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3. Detect Imbalance:</a:t>
            </a:r>
            <a:pPr indent="0" marL="0">
              <a:buNone/>
            </a:pPr>
            <a:r>
              <a:rPr lang="en-US" sz="1300" dirty="0">
                <a:solidFill>
                  <a:srgbClr val="000000"/>
                </a:solidFill>
                <a:latin typeface="Arial" pitchFamily="34" charset="0"/>
                <a:ea typeface="Arial" pitchFamily="34" charset="-122"/>
                <a:cs typeface="Arial" pitchFamily="34" charset="-120"/>
              </a:rPr>
              <a:t> Identify the first node where BF becomes +2 or -2.</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4. Perform Rotations:</a:t>
            </a:r>
            <a:pPr indent="0" marL="0">
              <a:buNone/>
            </a:pPr>
            <a:r>
              <a:rPr lang="en-US" sz="1300" dirty="0">
                <a:solidFill>
                  <a:srgbClr val="000000"/>
                </a:solidFill>
                <a:latin typeface="Arial" pitchFamily="34" charset="0"/>
                <a:ea typeface="Arial" pitchFamily="34" charset="-122"/>
                <a:cs typeface="Arial" pitchFamily="34" charset="-120"/>
              </a:rPr>
              <a:t> Execute LL, RR, LR, or RL rotation as appropriate. At most ONE rotation is needed to restore balance to the entire tree after an insertion.</a:t>
            </a:r>
            <a:endParaRPr lang="en-US" sz="1300" dirty="0"/>
          </a:p>
        </p:txBody>
      </p:sp>
      <p:sp>
        <p:nvSpPr>
          <p:cNvPr id="19" name="Shape 16"/>
          <p:cNvSpPr/>
          <p:nvPr/>
        </p:nvSpPr>
        <p:spPr>
          <a:xfrm>
            <a:off x="6035040" y="2103120"/>
            <a:ext cx="5715000" cy="4114800"/>
          </a:xfrm>
          <a:prstGeom prst="roundRect">
            <a:avLst>
              <a:gd name="adj" fmla="val 2222"/>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Deletion Process &amp; Rebalancing</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1. Standard BST Delete:</a:t>
            </a:r>
            <a:pPr indent="0" marL="0">
              <a:buNone/>
            </a:pPr>
            <a:r>
              <a:rPr lang="en-US" sz="1300" dirty="0">
                <a:solidFill>
                  <a:srgbClr val="000000"/>
                </a:solidFill>
                <a:latin typeface="Arial" pitchFamily="34" charset="0"/>
                <a:ea typeface="Arial" pitchFamily="34" charset="-122"/>
                <a:cs typeface="Arial" pitchFamily="34" charset="-120"/>
              </a:rPr>
              <a:t> Remove the node. If it has two children, swap with its inorder predecessor or successor, then remove.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2. Retrace and Rebalance:</a:t>
            </a:r>
            <a:pPr indent="0" marL="0">
              <a:buNone/>
            </a:pPr>
            <a:r>
              <a:rPr lang="en-US" sz="1300" dirty="0">
                <a:solidFill>
                  <a:srgbClr val="000000"/>
                </a:solidFill>
                <a:latin typeface="Arial" pitchFamily="34" charset="0"/>
                <a:ea typeface="Arial" pitchFamily="34" charset="-122"/>
                <a:cs typeface="Arial" pitchFamily="34" charset="-120"/>
              </a:rPr>
              <a:t> Retrace upwards, updating balance factors.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3. Multiple Rotations:</a:t>
            </a:r>
            <a:pPr indent="0" marL="0">
              <a:buNone/>
            </a:pPr>
            <a:r>
              <a:rPr lang="en-US" sz="1300" dirty="0">
                <a:solidFill>
                  <a:srgbClr val="000000"/>
                </a:solidFill>
                <a:latin typeface="Arial" pitchFamily="34" charset="0"/>
                <a:ea typeface="Arial" pitchFamily="34" charset="-122"/>
                <a:cs typeface="Arial" pitchFamily="34" charset="-120"/>
              </a:rPr>
              <a:t> Unlike insertion, a single rotation after a deletion may balance a subtree but reduce its height, causing imbalances further up. We may need to perform up to O(log n) rotations up to the root.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AVL Trees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AVL trees are highly efficient for lookup-heavy, dynamic key-value storage:</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High-Performance Databases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Used in database indexing where read operations outnumber write operations. AVL trees are more strictly balanced than Red-Black trees, providing faster search lookups (at the cost of slightly slower insertions).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Language Symbol Lookups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Used in language runtimes and memory tables to search for variable names, functions, and object keys where quick access is crucial.</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Network Routing Tables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Router tables use AVL structures to index subnet IPs and prefixes, ensuring rapid packet forwarding routing paths.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Real-time Systems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Real-time simulation and gaming engines use AVL trees for spatial indexing and quick nearest-neighbor queries where worst-case lookup bounds are strict.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2026-06-14T11:41:04Z</dcterms:created>
  <dcterms:modified xsi:type="dcterms:W3CDTF">2026-06-14T11:41:04Z</dcterms:modified>
</cp:coreProperties>
</file>