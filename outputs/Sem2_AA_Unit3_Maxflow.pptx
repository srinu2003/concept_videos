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the 'Maxflow-Mincut Theorem and the Ford-Fulkerson Method' as part of the Advanced Algorithms course for my M.Tech in Computer Science and Engineering. In this presentation, we will define flow networks and their constraints, explain the Ford-Fulkerson method and its Edmonds-Karp optimization, prove correctness using the Maxflow-Mincut theorem, and look at practical applications such as bipartite matching, image segmentation, and network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by defining flow networks. A flow network is a directed graph where each edge has a positive capacity. We model the flow of material from a source node s to a sink node t. The flow along any edge must satisfy two core constraints. First, the capacity constraint, which states that the flow on an edge cannot exceed its capacity. Second, flow conservation, which requires that for every node other than the source and the sink, the total incoming flow must equal the total outgoing flow. To optimize this flow, we define the residual network, which represents the remaining capacity on each edge, and includes reverse edges to push back existing flow. An augmenting path is a simple path from source to sink in the residual network. Finding these paths allows us to increase the total flow through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 us look at the Ford-Fulkerson method. This method starts with zero flow on all edges and iteratively increases flow. In each iteration, we search for an augmenting path from source to sink in the residual network. Once a path is found, we identify the bottleneck edge with the minimum residual capacity along that path. We then augment the flow by adding this bottleneck value to forward edges and subtracting it from reverse edges. We repeat this process until no augmenting paths exist. The Edmonds-Karp algorithm improves Ford-Fulkerson by using Breadth-First Search to find the shortest augmenting path. This BFS selection guarantees that the algorithm terminates in O of V times E squared time, making the execution time independent of edge capacities.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correctness of the Ford-Fulkerson method is established by the Maxflow-Mincut theorem. To understand the theorem, we define a cut as a partition of the vertices into two sets, S and T, with the source in S and the sink in T. The capacity of a cut is the sum of all edge capacities going from S to T. The net flow across any cut equals the total flow of the network. The Maxflow-Mincut theorem states that the maximum flow in a network is exactly equal to the minimum capacity of any cut separating the source and sink. At maximum flow, the residual network contains no augmenting paths, and the edges crossing the minimum cut are completely saturated. This equivalence bridges flow maximization with cut capacity minimization.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let us explore the diverse applications of the Maxflow-Mincut theorem. First, it solves the maximum bipartite matching problem, which pairs elements of two sets, like matching job candidates to open positions. Second, it optimizes data routing in computer networks to maximize bandwidth without exceeding channel limits. Third, in computer vision, min-cut algorithms segment images into foreground and background by partitioning pixels based on color similarity. Fourth, it schedules airline crews to flights while meeting work hour and location constraints. By modeling these scheduling and optimization problems as flow networks, we can solve them efficiently using standard max-flow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Maxflow-Mincut theorem is a powerful optimization duality that guarantees the correctness of flow algorithms. From network routing to image processing, modeling systems as flow networks provides elegant and efficient solutions to complex problems. Thank you for your time, and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III: Flow Networks &amp; Matrix Computations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Maxflow-Mincut Theorem &amp; Ford-Fulkerson</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Flow Networks &amp; Constraints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Flow Network </a:t>
            </a:r>
            <a:pPr indent="0" marL="0">
              <a:buNone/>
            </a:pPr>
            <a:r>
              <a:rPr lang="en-US" sz="1400" dirty="0">
                <a:solidFill>
                  <a:srgbClr val="000000"/>
                </a:solidFill>
                <a:latin typeface="Arial" pitchFamily="34" charset="0"/>
                <a:ea typeface="Arial" pitchFamily="34" charset="-122"/>
                <a:cs typeface="Arial" pitchFamily="34" charset="-120"/>
              </a:rPr>
              <a:t>is a directed graph G = (V, E) where each edge has a positive capacity c(u, v) &gt; 0. We model the flow of material from a source s to a sink t under two constraints.</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Core Mathematical Constraints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 flow f on G must satisfy two properties for all u, v ∈ V:</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1. Capacity Constraint:</a:t>
            </a:r>
            <a:pPr indent="0" marL="0">
              <a:buNone/>
            </a:pPr>
            <a:r>
              <a:rPr lang="en-US" sz="1300" dirty="0">
                <a:solidFill>
                  <a:srgbClr val="000000"/>
                </a:solidFill>
                <a:latin typeface="Arial" pitchFamily="34" charset="0"/>
                <a:ea typeface="Arial" pitchFamily="34" charset="-122"/>
                <a:cs typeface="Arial" pitchFamily="34" charset="-120"/>
              </a:rPr>
              <a:t> The flow along any edge cannot exceed its capacity:</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0 ≤ f(u, v) ≤ c(u, v).</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2. Flow Conservation:</a:t>
            </a:r>
            <a:pPr indent="0" marL="0">
              <a:buNone/>
            </a:pPr>
            <a:r>
              <a:rPr lang="en-US" sz="1300" dirty="0">
                <a:solidFill>
                  <a:srgbClr val="000000"/>
                </a:solidFill>
                <a:latin typeface="Arial" pitchFamily="34" charset="0"/>
                <a:ea typeface="Arial" pitchFamily="34" charset="-122"/>
                <a:cs typeface="Arial" pitchFamily="34" charset="-120"/>
              </a:rPr>
              <a:t> For all nodes except source s and sink t, the total incoming flow must equal the total outgoing flow:</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f(w, u) = ∑ f(u, w). (No material is stored or lost).</a:t>
            </a:r>
            <a:endParaRPr lang="en-US" sz="1300" dirty="0"/>
          </a:p>
        </p:txBody>
      </p:sp>
      <p:sp>
        <p:nvSpPr>
          <p:cNvPr id="19" name="Shape 16"/>
          <p:cNvSpPr/>
          <p:nvPr/>
        </p:nvSpPr>
        <p:spPr>
          <a:xfrm>
            <a:off x="6035040" y="2103120"/>
            <a:ext cx="5715000" cy="3895344"/>
          </a:xfrm>
          <a:prstGeom prst="roundRect">
            <a:avLst>
              <a:gd name="adj" fmla="val 2347"/>
            </a:avLst>
          </a:prstGeom>
          <a:solidFill>
            <a:srgbClr val="E8F5E9"/>
          </a:solidFill>
          <a:ln w="19050">
            <a:solidFill>
              <a:srgbClr val="0099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Residual Networks &amp; Augmentation</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Residual Capacity c_f:</a:t>
            </a:r>
            <a:pPr indent="0" marL="0">
              <a:buNone/>
            </a:pPr>
            <a:r>
              <a:rPr lang="en-US" sz="1300" dirty="0">
                <a:solidFill>
                  <a:srgbClr val="000000"/>
                </a:solidFill>
                <a:latin typeface="Arial" pitchFamily="34" charset="0"/>
                <a:ea typeface="Arial" pitchFamily="34" charset="-122"/>
                <a:cs typeface="Arial" pitchFamily="34" charset="-120"/>
              </a:rPr>
              <a:t> The remaining capacity on an edge:</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c_f(u, v) = c(u, v) − f(u, v) (forward capacity),</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c_f(v, u) = f(u, v) (unused flow that can be pushed back).</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Residual Graph G_f:</a:t>
            </a:r>
            <a:pPr indent="0" marL="0">
              <a:buNone/>
            </a:pPr>
            <a:r>
              <a:rPr lang="en-US" sz="1300" dirty="0">
                <a:solidFill>
                  <a:srgbClr val="000000"/>
                </a:solidFill>
                <a:latin typeface="Arial" pitchFamily="34" charset="0"/>
                <a:ea typeface="Arial" pitchFamily="34" charset="-122"/>
                <a:cs typeface="Arial" pitchFamily="34" charset="-120"/>
              </a:rPr>
              <a:t> A graph containing edges with positive residual capacity.</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Augmenting Path:</a:t>
            </a:r>
            <a:pPr indent="0" marL="0">
              <a:buNone/>
            </a:pPr>
            <a:r>
              <a:rPr lang="en-US" sz="1300" dirty="0">
                <a:solidFill>
                  <a:srgbClr val="000000"/>
                </a:solidFill>
                <a:latin typeface="Arial" pitchFamily="34" charset="0"/>
                <a:ea typeface="Arial" pitchFamily="34" charset="-122"/>
                <a:cs typeface="Arial" pitchFamily="34" charset="-120"/>
              </a:rPr>
              <a:t> A simple path from s to t in the residual graph G_f. Allows us to push additional flow through the network.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Ford-Fulkerson Method</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Ford-Fulkerson iteratively increases flow along augmenting paths until none remain:</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Ford-Fulkerson Method Steps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1. Initialize Flow:</a:t>
            </a:r>
            <a:pPr indent="0" marL="0">
              <a:buNone/>
            </a:pPr>
            <a:r>
              <a:rPr lang="en-US" sz="1300" dirty="0">
                <a:solidFill>
                  <a:srgbClr val="000000"/>
                </a:solidFill>
                <a:latin typeface="Arial" pitchFamily="34" charset="0"/>
                <a:ea typeface="Arial" pitchFamily="34" charset="-122"/>
                <a:cs typeface="Arial" pitchFamily="34" charset="-120"/>
              </a:rPr>
              <a:t> Set f(u, v) = 0 for all edges.</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2. Find Augmenting Path:</a:t>
            </a:r>
            <a:pPr indent="0" marL="0">
              <a:buNone/>
            </a:pPr>
            <a:r>
              <a:rPr lang="en-US" sz="1300" dirty="0">
                <a:solidFill>
                  <a:srgbClr val="000000"/>
                </a:solidFill>
                <a:latin typeface="Arial" pitchFamily="34" charset="0"/>
                <a:ea typeface="Arial" pitchFamily="34" charset="-122"/>
                <a:cs typeface="Arial" pitchFamily="34" charset="-120"/>
              </a:rPr>
              <a:t> Search G_f for a path P from s to 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3. Find Bottleneck Capacity (c_f(P)):</a:t>
            </a:r>
            <a:pPr indent="0" marL="0">
              <a:buNone/>
            </a:pPr>
            <a:r>
              <a:rPr lang="en-US" sz="1300" dirty="0">
                <a:solidFill>
                  <a:srgbClr val="000000"/>
                </a:solidFill>
                <a:latin typeface="Arial" pitchFamily="34" charset="0"/>
                <a:ea typeface="Arial" pitchFamily="34" charset="-122"/>
                <a:cs typeface="Arial" pitchFamily="34" charset="-120"/>
              </a:rPr>
              <a:t> Locate the minimum residual capacity in path P:</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c_f(P) = min { c_f(u, v) for (u, v) in P }.</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4. Augment Flow:</a:t>
            </a:r>
            <a:pPr indent="0" marL="0">
              <a:buNone/>
            </a:pPr>
            <a:r>
              <a:rPr lang="en-US" sz="1300" dirty="0">
                <a:solidFill>
                  <a:srgbClr val="000000"/>
                </a:solidFill>
                <a:latin typeface="Arial" pitchFamily="34" charset="0"/>
                <a:ea typeface="Arial" pitchFamily="34" charset="-122"/>
                <a:cs typeface="Arial" pitchFamily="34" charset="-120"/>
              </a:rPr>
              <a:t> Push c_f(P) along the path. For each edge (u, v) in P, set f(u, v) += c_f(P).</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5. Repeat:</a:t>
            </a:r>
            <a:pPr indent="0" marL="0">
              <a:buNone/>
            </a:pPr>
            <a:r>
              <a:rPr lang="en-US" sz="1300" dirty="0">
                <a:solidFill>
                  <a:srgbClr val="000000"/>
                </a:solidFill>
                <a:latin typeface="Arial" pitchFamily="34" charset="0"/>
                <a:ea typeface="Arial" pitchFamily="34" charset="-122"/>
                <a:cs typeface="Arial" pitchFamily="34" charset="-120"/>
              </a:rPr>
              <a:t> Reconstruct G_f and repeat until no path from s to t exists.</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Edmonds-Karp Optimization</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Path Search Selection:</a:t>
            </a:r>
            <a:pPr indent="0" marL="0">
              <a:buNone/>
            </a:pPr>
            <a:r>
              <a:rPr lang="en-US" sz="1300" dirty="0">
                <a:solidFill>
                  <a:srgbClr val="000000"/>
                </a:solidFill>
                <a:latin typeface="Arial" pitchFamily="34" charset="0"/>
                <a:ea typeface="Arial" pitchFamily="34" charset="-122"/>
                <a:cs typeface="Arial" pitchFamily="34" charset="-120"/>
              </a:rPr>
              <a:t> Ford-Fulkerson does not define how to search for paths. Using DFS can lead to slow execution times if capacity values are large.</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Edmonds-Karp Improvement:</a:t>
            </a:r>
            <a:pPr indent="0" marL="0">
              <a:buNone/>
            </a:pPr>
            <a:r>
              <a:rPr lang="en-US" sz="1300" dirty="0">
                <a:solidFill>
                  <a:srgbClr val="000000"/>
                </a:solidFill>
                <a:latin typeface="Arial" pitchFamily="34" charset="0"/>
                <a:ea typeface="Arial" pitchFamily="34" charset="-122"/>
                <a:cs typeface="Arial" pitchFamily="34" charset="-120"/>
              </a:rPr>
              <a:t> Uses Breadth-First Search (BFS) to select the shortest augmenting path (minimum number of edges) in each iteration.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Time Complexity:</a:t>
            </a:r>
            <a:pPr indent="0" marL="0">
              <a:buNone/>
            </a:pPr>
            <a:r>
              <a:rPr lang="en-US" sz="1300" dirty="0">
                <a:solidFill>
                  <a:srgbClr val="000000"/>
                </a:solidFill>
                <a:latin typeface="Arial" pitchFamily="34" charset="0"/>
                <a:ea typeface="Arial" pitchFamily="34" charset="-122"/>
                <a:cs typeface="Arial" pitchFamily="34" charset="-120"/>
              </a:rPr>
              <a:t> Edmonds-Karp is guaranteed to run in O(V · E²) time, completely independent of the edge capacities.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Maxflow-Mincut Theorem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The Maxflow-Mincut theorem proves the correctness of the Ford-Fulkerson method:</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Cuts in Flow Networks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Defining a Cut (S, T):</a:t>
            </a:r>
            <a:pPr indent="0" marL="0">
              <a:buNone/>
            </a:pPr>
            <a:r>
              <a:rPr lang="en-US" sz="1300" dirty="0">
                <a:solidFill>
                  <a:srgbClr val="000000"/>
                </a:solidFill>
                <a:latin typeface="Arial" pitchFamily="34" charset="0"/>
                <a:ea typeface="Arial" pitchFamily="34" charset="-122"/>
                <a:cs typeface="Arial" pitchFamily="34" charset="-120"/>
              </a:rPr>
              <a:t> A partition of V into two disjoint sets S and T such that source s ∈ S and sink t ∈ T.</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Capacity of a Cut c(S, T):</a:t>
            </a:r>
            <a:pPr indent="0" marL="0">
              <a:buNone/>
            </a:pPr>
            <a:r>
              <a:rPr lang="en-US" sz="1300" dirty="0">
                <a:solidFill>
                  <a:srgbClr val="000000"/>
                </a:solidFill>
                <a:latin typeface="Arial" pitchFamily="34" charset="0"/>
                <a:ea typeface="Arial" pitchFamily="34" charset="-122"/>
                <a:cs typeface="Arial" pitchFamily="34" charset="-120"/>
              </a:rPr>
              <a:t> The sum of capacities of all edges crossing the cut from S to T:</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c(S, T) = ∑ c(u, v) for u in S, v in 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Flow Across a Cut f(S, T):</a:t>
            </a:r>
            <a:pPr indent="0" marL="0">
              <a:buNone/>
            </a:pPr>
            <a:r>
              <a:rPr lang="en-US" sz="1300" dirty="0">
                <a:solidFill>
                  <a:srgbClr val="000000"/>
                </a:solidFill>
                <a:latin typeface="Arial" pitchFamily="34" charset="0"/>
                <a:ea typeface="Arial" pitchFamily="34" charset="-122"/>
                <a:cs typeface="Arial" pitchFamily="34" charset="-120"/>
              </a:rPr>
              <a:t> Net flow is the sum of flows from S to T minus the return flows from T to S. For any flow, f(S, T) is equal to the total value of the flow |f|.</a:t>
            </a:r>
            <a:endParaRPr lang="en-US" sz="1300" dirty="0"/>
          </a:p>
        </p:txBody>
      </p:sp>
      <p:sp>
        <p:nvSpPr>
          <p:cNvPr id="19" name="Shape 16"/>
          <p:cNvSpPr/>
          <p:nvPr/>
        </p:nvSpPr>
        <p:spPr>
          <a:xfrm>
            <a:off x="6035040" y="2103120"/>
            <a:ext cx="5715000" cy="4114800"/>
          </a:xfrm>
          <a:prstGeom prst="roundRect">
            <a:avLst>
              <a:gd name="adj" fmla="val 2222"/>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The Theorem Statement &amp; Equivalence</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990033"/>
                </a:solidFill>
                <a:latin typeface="Arial" pitchFamily="34" charset="0"/>
                <a:ea typeface="Arial" pitchFamily="34" charset="-122"/>
                <a:cs typeface="Arial" pitchFamily="34" charset="-120"/>
              </a:rPr>
              <a:t>The Theorem (L.R. Ford &amp; D.R. Fulkerson, 1956):
</a:t>
            </a:r>
            <a:pPr indent="0" marL="0">
              <a:buNone/>
            </a:pPr>
            <a:r>
              <a:rPr lang="en-US" sz="1250" b="1" dirty="0">
                <a:solidFill>
                  <a:srgbClr val="000000"/>
                </a:solidFill>
                <a:latin typeface="Arial" pitchFamily="34" charset="0"/>
                <a:ea typeface="Arial" pitchFamily="34" charset="-122"/>
                <a:cs typeface="Arial" pitchFamily="34" charset="-120"/>
              </a:rPr>
              <a:t>The maximum value of a flow in a network is equal to the minimum capacity of a cut that separates the source from the sink.
</a:t>
            </a:r>
            <a:pPr indent="0" marL="0">
              <a:buNone/>
            </a:pPr>
            <a:r>
              <a:rPr lang="en-US" sz="1250" b="1" dirty="0">
                <a:solidFill>
                  <a:srgbClr val="006400"/>
                </a:solidFill>
                <a:latin typeface="Arial" pitchFamily="34" charset="0"/>
                <a:ea typeface="Arial" pitchFamily="34" charset="-122"/>
                <a:cs typeface="Arial" pitchFamily="34" charset="-120"/>
              </a:rPr>
              <a:t>Equivalence Conditions:
</a:t>
            </a:r>
            <a:pPr indent="0" marL="0">
              <a:buNone/>
            </a:pPr>
            <a:r>
              <a:rPr lang="en-US" sz="1250" dirty="0">
                <a:solidFill>
                  <a:srgbClr val="000000"/>
                </a:solidFill>
                <a:latin typeface="Arial" pitchFamily="34" charset="0"/>
                <a:ea typeface="Arial" pitchFamily="34" charset="-122"/>
                <a:cs typeface="Arial" pitchFamily="34" charset="-120"/>
              </a:rPr>
              <a:t>1. f is a maximum flow in G.
</a:t>
            </a:r>
            <a:pPr indent="0" marL="0">
              <a:buNone/>
            </a:pPr>
            <a:r>
              <a:rPr lang="en-US" sz="1250" dirty="0">
                <a:solidFill>
                  <a:srgbClr val="000000"/>
                </a:solidFill>
                <a:latin typeface="Arial" pitchFamily="34" charset="0"/>
                <a:ea typeface="Arial" pitchFamily="34" charset="-122"/>
                <a:cs typeface="Arial" pitchFamily="34" charset="-120"/>
              </a:rPr>
              <a:t>2. The residual network G_f contains no augmenting paths.
</a:t>
            </a:r>
            <a:pPr indent="0" marL="0">
              <a:buNone/>
            </a:pPr>
            <a:r>
              <a:rPr lang="en-US" sz="1250" dirty="0">
                <a:solidFill>
                  <a:srgbClr val="000000"/>
                </a:solidFill>
                <a:latin typeface="Arial" pitchFamily="34" charset="0"/>
                <a:ea typeface="Arial" pitchFamily="34" charset="-122"/>
                <a:cs typeface="Arial" pitchFamily="34" charset="-120"/>
              </a:rPr>
              <a:t>3. |f| = c(S, T) for some cut (S, 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Maxflow</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Maxflow-Mincut models many scheduling and resource allocation problems in CS: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Maximum Bipartite Matching</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Matches candidates to jobs, or tasks to processors. Model as a flow network by connecting source s to candidates, candidates to jobs, and jobs to sink t with capacity 1. Max flow yields the maximum matching size.</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Data Routing in Networks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Determines the maximum data transmission rate between server routers over channels with capacity limits, routing traffic without congestion.</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Image Segmentation in CV</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Divides an image into foreground and background. Pixels are nodes; edges are color similarities. The min-cut partition separates the foreground from the background optimally.</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Airline Crew Scheduling</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Schedules flight crews to flight paths while respecting constraints (rest hours, locations). Modeled as a circulation flow network with demands.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2026-06-14T11:41:09Z</dcterms:created>
  <dcterms:modified xsi:type="dcterms:W3CDTF">2026-06-14T11:41:09Z</dcterms:modified>
</cp:coreProperties>
</file>