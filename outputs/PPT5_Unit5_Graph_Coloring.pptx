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is Graph Coloring?
Graph coloring is one of the most studied and most applicable problems in graph theory. Given a graph G with vertices V and edges E, we want to assign colors (or labels) to the vertices such that no two vertices connected by an edge have the same color. Such an assignment is called a 'proper coloring'.
Formally, a proper k-coloring is a function c from the vertex set V to a set of k colors, such that for every edge {u,v} in E, the colors of u and v are different: c(u) ≠ c(v).
The word 'colors' is just a metaphor — in practice we might use integers {1,2,3,...,k} or any k distinct labels. What matters is only that adjacent vertices get different labels.
Consider the triangle K₃ — the complete graph on 3 vertices, where every pair of vertices is connected. We need to color vertices A, B, and C. Since A is connected to B, A and B must get different colors. Since B is connected to C, B and C must get different colors. Since A is connected to C, A and C must get different colors. Therefore all three must have different colors — we cannot 2-color a triangle. The minimum is 3 colors.
This minimum number of colors needed to properly color a graph is called the chromatic number, which we will study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Chromatic Number
The chromatic number χ(G) — read as 'chi of G' — is the minimum number of colors needed to properly color the graph G. Finding the chromatic number is generally one of the hardest problems in computer science — it is NP-complete for arbitrary graphs.
Let us survey the chromatic numbers of common graph families:
COMPLETE GRAPH Kₙ: In Kₙ, every vertex is connected to every other vertex. So every pair of vertices is adjacent, and all n vertices must receive different colors. Therefore χ(Kₙ) = n.
BIPARTITE GRAPH: A bipartite graph has its vertices split into two sets, say X and Y, with edges only going between X and Y (no edges within X or within Y). We can color all of X with Color 1 and all of Y with Color 2. Therefore χ(bipartite) = 2 (assuming at least one edge exists). All trees and even cycles are bipartite.
ODD CYCLE C₂ₖ₊₁: An odd cycle with 2k+1 vertices cannot be 2-colored. If we try to alternate two colors around the cycle, we eventually reach a conflict when the last vertex is adjacent to the first. We need a third color. So χ(odd cycle) = 3. But EVEN cycles are bipartite, so χ(even cycle) = 2.
TREES: Trees are acyclic graphs and are always bipartite. A simple BFS from any root, coloring vertices by their level parity (even levels = color 1, odd levels = color 2) gives a valid 2-coloring. So χ(tree) = 2 for any tree with at least one edge.
PLANAR GRAPHS: The famous Four Color Theorem states that any planar graph can be colored with at most 4 colors.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Greedy Coloring Algorithm
The Greedy Coloring algorithm is the simplest and most efficient approach to graph coloring, even though it is not guaranteed to find the minimum number of colors.
The algorithm works as follows: We process the vertices in some fixed order v₁, v₂, ..., vₙ. For each vertex, we look at its already-colored neighbors, collect the set of colors they use, and then assign to the current vertex the smallest color number NOT in that forbidden set.
Let us trace through the example in the table. We have 5 vertices with edges forming a cycle-like structure.
v₁: No neighbors are colored yet, so we assign Color 1 (Red).
v₂: Neighbor v₁ has Red. The smallest available color is Blue (2).
v₃: Neighbors v₁ (Red) and v₂ (Blue) are both colored. We need Green (3).
v₄: Neighbors v₂ (Blue) and v₃ (Green) are colored. Red (1) is free — assign Red!
v₅: Neighbors v₁ (Red) and v₄ (Red) are both Red. Blue (2) is free — assign Blue.
Result: We used 3 colors. For this particular graph, this is optimal.
However, the Greedy algorithm's result heavily depends on the vertex ordering. A different ordering might give a different (possibly worse) coloring. For example, adversarially ordered bipartite graphs can be made to require n/2 colors by Greedy even though 2 colors suffice. More sophisticated algorithms like Welsh-Powell use degree-based ordering to improve results.
The Greedy algorithm runs in O(V + E) time, making it practical for large graphs even when optimal coloring is computationally infeasible.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The Four Color Theorem
The Four Color Theorem states that any planar graph can be properly vertex-colored using at most four colors. Equivalently, any geographic map can be colored with just four colors so that no two adjacent countries share the same color.
The history of this theorem is one of the most fascinating in mathematics. In 1852, Francis Guthrie noticed while coloring a map of English counties that four colors seemed to always suffice. He asked his mathematician brother if this was always true.
For over a century, the theorem resisted proof. In 1879, Alfred Kempe published what he claimed was a proof, but it was found to contain a subtle error 11 years later by Percy Heawood. Heawood did manage to prove the weaker 5-Color Theorem.
Finally, in 1976, Kenneth Appel and Wolfgang Haken at the University of Illinois achieved the first correct proof — but it was unlike any proof before it. They reduced the problem to checking 1,936 special configurations, each of which was verified by a computer program. This was the first major theorem in mathematics proved with computer assistance, which sparked significant philosophical debate about what constitutes a valid mathematical proof.
The 5-Color Theorem has an elegant inductive proof: Every planar graph has a vertex of degree at most 5 (provable using Euler's formula V - E + F = 2). Remove this vertex, 5-color the rest by induction, then re-insert the vertex. With at most 5 neighbors already using at most 5 colors, at least one color is available.
The jump from 5 to 4 is what required the massive computer-assisted case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Applications of Graph Coloring in Computer Science
Graph coloring is not just a theoretical concept — it models real-world resource allocation and conflict resolution problems across computer science.
Register Allocation in Compilers: This is one of the most important applications. When a compiler generates machine code, it must decide which CPU registers to assign to which variables. Two variables that are 'live' at the same time cannot share a register. We build an interference graph where vertices are variables and edges connect variables that are simultaneously live. Coloring this graph assigns registers, with each color representing one register. If the graph requires more colors than available registers, some variables are 'spilled' to slower memory. This is why register allocation is studied in every compiler design course.
Frequency Assignment in Mobile Networks: Cell towers that are geographically close to each other use different radio frequencies to avoid interference. This is modeled as graph coloring where towers are vertices and proximity defines edges. The goal is to minimize the number of distinct frequencies used — which directly translates to minimizing the expensive electromagnetic spectrum licensed from governments.
Exam Scheduling: A classic scheduling application. We build a conflict graph where courses are vertices and two courses are adjacent if they have at least one common student (who obviously cannot be in two places at once). Coloring this graph gives a schedule where each color (time slot) groups courses that can run simultaneously without conflicts. The chromatic number gives the minimum number of time slots needed.
Sudoku Solving: A 9×9 Sudoku is equivalent to a graph coloring problem. Each of the 81 cells is a vertex, and two cells are connected if they are in the same row, column, or 3×3 box. Filling in the Sudoku is equivalent to finding a valid 9-coloring of this graph respecting the pre-filled cells as fixed color assignments.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300" i="1" dirty="0">
                <a:solidFill>
                  <a:srgbClr val="990033"/>
                </a:solidFill>
                <a:latin typeface="Arial" pitchFamily="34" charset="0"/>
                <a:ea typeface="Arial" pitchFamily="34" charset="-122"/>
                <a:cs typeface="Arial" pitchFamily="34" charset="-120"/>
              </a:rPr>
              <a:t>Unit V: Graphs and Trees</a:t>
            </a:r>
            <a:endParaRPr lang="en-US" sz="13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Graph Coloring</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PPT PRESENTED BY</a:t>
            </a:r>
            <a:endParaRPr lang="en-US" sz="14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NAME :   Srinivas Rao Tammireddy</a:t>
            </a:r>
            <a:endParaRPr lang="en-US" sz="12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ROLL NO :   257Y1D5805</a:t>
            </a:r>
            <a:endParaRPr lang="en-US" sz="12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YEAR :   I Year  I Semester</a:t>
            </a:r>
            <a:endParaRPr lang="en-US" sz="12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200" dirty="0">
                <a:solidFill>
                  <a:srgbClr val="000000"/>
                </a:solidFill>
                <a:latin typeface="Arial" pitchFamily="34" charset="0"/>
                <a:ea typeface="Arial" pitchFamily="34" charset="-122"/>
                <a:cs typeface="Arial" pitchFamily="34" charset="-120"/>
              </a:rPr>
              <a:t>ACADEMIC YEAR :   2025 - 2026</a:t>
            </a:r>
            <a:endParaRPr lang="en-US" sz="12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300" b="1" dirty="0">
                <a:solidFill>
                  <a:srgbClr val="990033"/>
                </a:solidFill>
                <a:latin typeface="Arial" pitchFamily="34" charset="0"/>
                <a:ea typeface="Arial" pitchFamily="34" charset="-122"/>
                <a:cs typeface="Arial" pitchFamily="34" charset="-120"/>
              </a:rPr>
              <a:t>DEPARTMENT OF COMPUTER SCIENCE AND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What is Graph Coloring?</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Graph Coloring </a:t>
            </a:r>
            <a:pPr indent="0" marL="0">
              <a:buNone/>
            </a:pPr>
            <a:r>
              <a:rPr lang="en-US" sz="1350" dirty="0">
                <a:solidFill>
                  <a:srgbClr val="000000"/>
                </a:solidFill>
                <a:latin typeface="Arial" pitchFamily="34" charset="0"/>
                <a:ea typeface="Arial" pitchFamily="34" charset="-122"/>
                <a:cs typeface="Arial" pitchFamily="34" charset="-120"/>
              </a:rPr>
              <a:t>is the assignment of labels ('colors') to the vertices of a graph such that no two adjacent vertices (connected by an edge) receive the same color.</a:t>
            </a:r>
            <a:endParaRPr lang="en-US" sz="1350" dirty="0"/>
          </a:p>
        </p:txBody>
      </p:sp>
      <p:sp>
        <p:nvSpPr>
          <p:cNvPr id="16" name="Shape 13"/>
          <p:cNvSpPr/>
          <p:nvPr/>
        </p:nvSpPr>
        <p:spPr>
          <a:xfrm>
            <a:off x="457200" y="2148840"/>
            <a:ext cx="5532120" cy="3858768"/>
          </a:xfrm>
          <a:prstGeom prst="roundRect">
            <a:avLst>
              <a:gd name="adj" fmla="val 2370"/>
            </a:avLst>
          </a:prstGeom>
          <a:solidFill>
            <a:srgbClr val="E3F2FD"/>
          </a:solidFill>
          <a:ln w="19050">
            <a:solidFill>
              <a:srgbClr val="1565C0"/>
            </a:solidFill>
            <a:prstDash val="solid"/>
          </a:ln>
        </p:spPr>
      </p:sp>
      <p:sp>
        <p:nvSpPr>
          <p:cNvPr id="17" name="Text 14"/>
          <p:cNvSpPr/>
          <p:nvPr/>
        </p:nvSpPr>
        <p:spPr>
          <a:xfrm>
            <a:off x="566928" y="2221992"/>
            <a:ext cx="5321808" cy="347472"/>
          </a:xfrm>
          <a:prstGeom prst="rect">
            <a:avLst/>
          </a:prstGeom>
          <a:noFill/>
          <a:ln/>
        </p:spPr>
        <p:txBody>
          <a:bodyPr wrap="square" lIns="0" tIns="0" rIns="0" bIns="0" rtlCol="0" anchor="ctr"/>
          <a:lstStyle/>
          <a:p>
            <a:pPr indent="0" marL="0">
              <a:buNone/>
            </a:pPr>
            <a:r>
              <a:rPr lang="en-US" sz="1400" b="1" dirty="0">
                <a:solidFill>
                  <a:srgbClr val="1565C0"/>
                </a:solidFill>
                <a:latin typeface="Arial" pitchFamily="34" charset="0"/>
                <a:ea typeface="Arial" pitchFamily="34" charset="-122"/>
                <a:cs typeface="Arial" pitchFamily="34" charset="-120"/>
              </a:rPr>
              <a:t>Formal Definition</a:t>
            </a:r>
            <a:endParaRPr lang="en-US" sz="1400" dirty="0"/>
          </a:p>
        </p:txBody>
      </p:sp>
      <p:sp>
        <p:nvSpPr>
          <p:cNvPr id="18" name="Text 15"/>
          <p:cNvSpPr/>
          <p:nvPr/>
        </p:nvSpPr>
        <p:spPr>
          <a:xfrm>
            <a:off x="566928" y="2606040"/>
            <a:ext cx="5321808" cy="333756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Given graph G = (V, 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V = set of vertices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E = set of edges</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A proper k-coloring is a function:</a:t>
            </a:r>
            <a:endParaRPr lang="en-US" sz="1250" dirty="0"/>
          </a:p>
          <a:p>
            <a:pPr indent="0" marL="0">
              <a:buNone/>
            </a:pPr>
            <a:r>
              <a:rPr lang="en-US" sz="1250" b="1" dirty="0">
                <a:solidFill>
                  <a:srgbClr val="1565C0"/>
                </a:solidFill>
                <a:latin typeface="Arial" pitchFamily="34" charset="0"/>
                <a:ea typeface="Arial" pitchFamily="34" charset="-122"/>
                <a:cs typeface="Arial" pitchFamily="34" charset="-120"/>
              </a:rPr>
              <a:t>  c : V → {1, 2, …, k}</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such that c(u) ≠ c(v)  whenever  {u,v} ∈ E</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A graph is k-colorable if a proper</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k-coloring exists for it.</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Note: Colors are just labels — the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actual colors used don't matter,</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only that adjacent vertices differ.</a:t>
            </a:r>
            <a:endParaRPr lang="en-US" sz="1250" dirty="0"/>
          </a:p>
        </p:txBody>
      </p:sp>
      <p:sp>
        <p:nvSpPr>
          <p:cNvPr id="19" name="Shape 16"/>
          <p:cNvSpPr/>
          <p:nvPr/>
        </p:nvSpPr>
        <p:spPr>
          <a:xfrm>
            <a:off x="6035040" y="2148840"/>
            <a:ext cx="5715000" cy="3858768"/>
          </a:xfrm>
          <a:prstGeom prst="roundRect">
            <a:avLst>
              <a:gd name="adj" fmla="val 2370"/>
            </a:avLst>
          </a:prstGeom>
          <a:solidFill>
            <a:srgbClr val="FFF9C4"/>
          </a:solidFill>
          <a:ln w="19050">
            <a:solidFill>
              <a:srgbClr val="F57F17"/>
            </a:solidFill>
            <a:prstDash val="solid"/>
          </a:ln>
        </p:spPr>
      </p:sp>
      <p:sp>
        <p:nvSpPr>
          <p:cNvPr id="20" name="Text 17"/>
          <p:cNvSpPr/>
          <p:nvPr/>
        </p:nvSpPr>
        <p:spPr>
          <a:xfrm>
            <a:off x="6144768" y="2221992"/>
            <a:ext cx="5513832" cy="347472"/>
          </a:xfrm>
          <a:prstGeom prst="rect">
            <a:avLst/>
          </a:prstGeom>
          <a:noFill/>
          <a:ln/>
        </p:spPr>
        <p:txBody>
          <a:bodyPr wrap="square" lIns="0" tIns="0" rIns="0" bIns="0" rtlCol="0" anchor="ctr"/>
          <a:lstStyle/>
          <a:p>
            <a:pPr indent="0" marL="0">
              <a:buNone/>
            </a:pPr>
            <a:r>
              <a:rPr lang="en-US" sz="1350" b="1" dirty="0">
                <a:solidFill>
                  <a:srgbClr val="F57F17"/>
                </a:solidFill>
                <a:latin typeface="Arial" pitchFamily="34" charset="0"/>
                <a:ea typeface="Arial" pitchFamily="34" charset="-122"/>
                <a:cs typeface="Arial" pitchFamily="34" charset="-120"/>
              </a:rPr>
              <a:t>Illustrative Example: K₃ (Triangle)</a:t>
            </a:r>
            <a:endParaRPr lang="en-US" sz="1350" dirty="0"/>
          </a:p>
        </p:txBody>
      </p:sp>
      <p:sp>
        <p:nvSpPr>
          <p:cNvPr id="21" name="Shape 18"/>
          <p:cNvSpPr/>
          <p:nvPr/>
        </p:nvSpPr>
        <p:spPr>
          <a:xfrm flipH="1">
            <a:off x="8012887" y="2880360"/>
            <a:ext cx="875081" cy="1508760"/>
          </a:xfrm>
          <a:prstGeom prst="line">
            <a:avLst/>
          </a:prstGeom>
          <a:noFill/>
          <a:ln w="31750">
            <a:solidFill>
              <a:srgbClr val="333333"/>
            </a:solidFill>
            <a:prstDash val="solid"/>
          </a:ln>
        </p:spPr>
      </p:sp>
      <p:sp>
        <p:nvSpPr>
          <p:cNvPr id="22" name="Shape 19"/>
          <p:cNvSpPr/>
          <p:nvPr/>
        </p:nvSpPr>
        <p:spPr>
          <a:xfrm>
            <a:off x="8012887" y="4389120"/>
            <a:ext cx="1750162" cy="9144"/>
          </a:xfrm>
          <a:prstGeom prst="line">
            <a:avLst/>
          </a:prstGeom>
          <a:noFill/>
          <a:ln w="31750">
            <a:solidFill>
              <a:srgbClr val="333333"/>
            </a:solidFill>
            <a:prstDash val="solid"/>
          </a:ln>
        </p:spPr>
      </p:sp>
      <p:sp>
        <p:nvSpPr>
          <p:cNvPr id="23" name="Shape 20"/>
          <p:cNvSpPr/>
          <p:nvPr/>
        </p:nvSpPr>
        <p:spPr>
          <a:xfrm>
            <a:off x="8887968" y="2880360"/>
            <a:ext cx="875081" cy="1508760"/>
          </a:xfrm>
          <a:prstGeom prst="line">
            <a:avLst/>
          </a:prstGeom>
          <a:noFill/>
          <a:ln w="31750">
            <a:solidFill>
              <a:srgbClr val="333333"/>
            </a:solidFill>
            <a:prstDash val="solid"/>
          </a:ln>
        </p:spPr>
      </p:sp>
      <p:sp>
        <p:nvSpPr>
          <p:cNvPr id="24" name="Shape 21"/>
          <p:cNvSpPr/>
          <p:nvPr/>
        </p:nvSpPr>
        <p:spPr>
          <a:xfrm>
            <a:off x="8613648" y="2606040"/>
            <a:ext cx="548640" cy="548640"/>
          </a:xfrm>
          <a:prstGeom prst="ellipse">
            <a:avLst/>
          </a:prstGeom>
          <a:solidFill>
            <a:srgbClr val="FF4444"/>
          </a:solidFill>
          <a:ln w="19050">
            <a:solidFill>
              <a:srgbClr val="333333"/>
            </a:solidFill>
            <a:prstDash val="solid"/>
          </a:ln>
        </p:spPr>
      </p:sp>
      <p:sp>
        <p:nvSpPr>
          <p:cNvPr id="25" name="Text 22"/>
          <p:cNvSpPr/>
          <p:nvPr/>
        </p:nvSpPr>
        <p:spPr>
          <a:xfrm>
            <a:off x="8631936" y="2624328"/>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26" name="Shape 23"/>
          <p:cNvSpPr/>
          <p:nvPr/>
        </p:nvSpPr>
        <p:spPr>
          <a:xfrm>
            <a:off x="7738567" y="4114800"/>
            <a:ext cx="548640" cy="548640"/>
          </a:xfrm>
          <a:prstGeom prst="ellipse">
            <a:avLst/>
          </a:prstGeom>
          <a:solidFill>
            <a:srgbClr val="4477FF"/>
          </a:solidFill>
          <a:ln w="19050">
            <a:solidFill>
              <a:srgbClr val="333333"/>
            </a:solidFill>
            <a:prstDash val="solid"/>
          </a:ln>
        </p:spPr>
      </p:sp>
      <p:sp>
        <p:nvSpPr>
          <p:cNvPr id="27" name="Text 24"/>
          <p:cNvSpPr/>
          <p:nvPr/>
        </p:nvSpPr>
        <p:spPr>
          <a:xfrm>
            <a:off x="7756855" y="4133088"/>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28" name="Shape 25"/>
          <p:cNvSpPr/>
          <p:nvPr/>
        </p:nvSpPr>
        <p:spPr>
          <a:xfrm>
            <a:off x="9488729" y="4114800"/>
            <a:ext cx="548640" cy="548640"/>
          </a:xfrm>
          <a:prstGeom prst="ellipse">
            <a:avLst/>
          </a:prstGeom>
          <a:solidFill>
            <a:srgbClr val="22AA44"/>
          </a:solidFill>
          <a:ln w="19050">
            <a:solidFill>
              <a:srgbClr val="333333"/>
            </a:solidFill>
            <a:prstDash val="solid"/>
          </a:ln>
        </p:spPr>
      </p:sp>
      <p:sp>
        <p:nvSpPr>
          <p:cNvPr id="29" name="Text 26"/>
          <p:cNvSpPr/>
          <p:nvPr/>
        </p:nvSpPr>
        <p:spPr>
          <a:xfrm>
            <a:off x="9507017" y="4133088"/>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30" name="Text 27"/>
          <p:cNvSpPr/>
          <p:nvPr/>
        </p:nvSpPr>
        <p:spPr>
          <a:xfrm>
            <a:off x="6144768" y="5047488"/>
            <a:ext cx="5513832" cy="914400"/>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K₃: 3 vertices, all connected</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A–B edge: A≠B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B–C edge: B≠C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A–C edge: A≠C  ✔</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990033"/>
                </a:solidFill>
                <a:latin typeface="Arial" pitchFamily="34" charset="0"/>
                <a:ea typeface="Arial" pitchFamily="34" charset="-122"/>
                <a:cs typeface="Arial" pitchFamily="34" charset="-120"/>
              </a:rPr>
              <a:t>Minimum colors needed = 3</a:t>
            </a:r>
            <a:endParaRPr lang="en-US" sz="1250" dirty="0"/>
          </a:p>
          <a:p>
            <a:pPr indent="0" marL="0">
              <a:buNone/>
            </a:pPr>
            <a:r>
              <a:rPr lang="en-US" sz="1250" i="1" dirty="0">
                <a:solidFill>
                  <a:srgbClr val="000000"/>
                </a:solidFill>
                <a:latin typeface="Arial" pitchFamily="34" charset="0"/>
                <a:ea typeface="Arial" pitchFamily="34" charset="-122"/>
                <a:cs typeface="Arial" pitchFamily="34" charset="-120"/>
              </a:rPr>
              <a:t>(Cannot use only 2 colors!)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Chromatic Number  χ(G)</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The chromatic number χ(G) </a:t>
            </a:r>
            <a:pPr indent="0" marL="0">
              <a:buNone/>
            </a:pPr>
            <a:r>
              <a:rPr lang="en-US" sz="1350" dirty="0">
                <a:solidFill>
                  <a:srgbClr val="000000"/>
                </a:solidFill>
                <a:latin typeface="Arial" pitchFamily="34" charset="0"/>
                <a:ea typeface="Arial" pitchFamily="34" charset="-122"/>
                <a:cs typeface="Arial" pitchFamily="34" charset="-120"/>
              </a:rPr>
              <a:t>of a graph G is the MINIMUM number of colors required for a proper vertex coloring.</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084832"/>
          <a:ext cx="11292840" cy="4517136"/>
        </p:xfrm>
        <a:graphic>
          <a:graphicData uri="http://schemas.openxmlformats.org/drawingml/2006/table">
            <a:tbl>
              <a:tblPr/>
              <a:tblGrid>
                <a:gridCol w="2560320"/>
                <a:gridCol w="2286000"/>
                <a:gridCol w="1188720"/>
                <a:gridCol w="5257800"/>
              </a:tblGrid>
              <a:tr h="752856">
                <a:tc>
                  <a:txBody>
                    <a:bodyPr/>
                    <a:lstStyle/>
                    <a:p>
                      <a:pPr indent="0" marL="0">
                        <a:buNone/>
                      </a:pPr>
                      <a:r>
                        <a:rPr lang="en-US" sz="1250" b="1" dirty="0">
                          <a:solidFill>
                            <a:srgbClr val="FFFFFF"/>
                          </a:solidFill>
                          <a:latin typeface="Arial" pitchFamily="34" charset="0"/>
                          <a:ea typeface="Arial" pitchFamily="34" charset="-122"/>
                          <a:cs typeface="Arial" pitchFamily="34" charset="-120"/>
                        </a:rPr>
                        <a:t>Graph Type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Example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χ(G)</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Reason</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990033"/>
                    </a:solidFill>
                  </a:tcPr>
                </a:tc>
              </a:tr>
              <a:tr h="752856">
                <a:tc>
                  <a:txBody>
                    <a:bodyPr/>
                    <a:lstStyle/>
                    <a:p>
                      <a:pPr indent="0" marL="0">
                        <a:buNone/>
                      </a:pPr>
                      <a:r>
                        <a:rPr lang="en-US" sz="1250" b="1" dirty="0">
                          <a:solidFill>
                            <a:srgbClr val="000000"/>
                          </a:solidFill>
                          <a:latin typeface="Arial" pitchFamily="34" charset="0"/>
                          <a:ea typeface="Arial" pitchFamily="34" charset="-122"/>
                          <a:cs typeface="Arial" pitchFamily="34" charset="-120"/>
                        </a:rPr>
                        <a:t>Complete Graph Kₙ</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K₄ (4 mutual edges)</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algn="ctr" indent="0" marL="0">
                        <a:buNone/>
                      </a:pPr>
                      <a:r>
                        <a:rPr lang="en-US" sz="1250" b="1" dirty="0">
                          <a:solidFill>
                            <a:srgbClr val="990033"/>
                          </a:solidFill>
                          <a:latin typeface="Arial" pitchFamily="34" charset="0"/>
                          <a:ea typeface="Arial" pitchFamily="34" charset="-122"/>
                          <a:cs typeface="Arial" pitchFamily="34" charset="-120"/>
                        </a:rPr>
                        <a:t>n</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Every vertex connects to all others; all need distinct colors</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CE4EC"/>
                    </a:solidFill>
                  </a:tcPr>
                </a:tc>
              </a:tr>
              <a:tr h="752856">
                <a:tc>
                  <a:txBody>
                    <a:bodyPr/>
                    <a:lstStyle/>
                    <a:p>
                      <a:pPr indent="0" marL="0">
                        <a:buNone/>
                      </a:pPr>
                      <a:r>
                        <a:rPr lang="en-US" sz="1250" b="1" dirty="0">
                          <a:solidFill>
                            <a:srgbClr val="000000"/>
                          </a:solidFill>
                          <a:latin typeface="Arial" pitchFamily="34" charset="0"/>
                          <a:ea typeface="Arial" pitchFamily="34" charset="-122"/>
                          <a:cs typeface="Arial" pitchFamily="34" charset="-120"/>
                        </a:rPr>
                        <a:t>Bipartite Graph</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Even cycle C₄</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250" b="1" dirty="0">
                          <a:solidFill>
                            <a:srgbClr val="006400"/>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Vertices split into 2 independent sets; 2 colors suffice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5E9"/>
                    </a:solidFill>
                  </a:tcPr>
                </a:tc>
              </a:tr>
              <a:tr h="752856">
                <a:tc>
                  <a:txBody>
                    <a:bodyPr/>
                    <a:lstStyle/>
                    <a:p>
                      <a:pPr indent="0" marL="0">
                        <a:buNone/>
                      </a:pPr>
                      <a:r>
                        <a:rPr lang="en-US" sz="1250" b="1" dirty="0">
                          <a:solidFill>
                            <a:srgbClr val="000000"/>
                          </a:solidFill>
                          <a:latin typeface="Arial" pitchFamily="34" charset="0"/>
                          <a:ea typeface="Arial" pitchFamily="34" charset="-122"/>
                          <a:cs typeface="Arial" pitchFamily="34" charset="-120"/>
                        </a:rPr>
                        <a:t>Odd Cycle C₂ₖ₊₁</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Triangle C₃</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250" b="1" dirty="0">
                          <a:solidFill>
                            <a:srgbClr val="1565C0"/>
                          </a:solidFill>
                          <a:latin typeface="Arial" pitchFamily="34" charset="0"/>
                          <a:ea typeface="Arial" pitchFamily="34" charset="-122"/>
                          <a:cs typeface="Arial" pitchFamily="34" charset="-120"/>
                        </a:rPr>
                        <a:t>3</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Odd-length cycle cannot be 2-colored (parity argument)</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3F2FD"/>
                    </a:solidFill>
                  </a:tcPr>
                </a:tc>
              </a:tr>
              <a:tr h="752856">
                <a:tc>
                  <a:txBody>
                    <a:bodyPr/>
                    <a:lstStyle/>
                    <a:p>
                      <a:pPr indent="0" marL="0">
                        <a:buNone/>
                      </a:pPr>
                      <a:r>
                        <a:rPr lang="en-US" sz="1250" b="1" dirty="0">
                          <a:solidFill>
                            <a:srgbClr val="000000"/>
                          </a:solidFill>
                          <a:latin typeface="Arial" pitchFamily="34" charset="0"/>
                          <a:ea typeface="Arial" pitchFamily="34" charset="-122"/>
                          <a:cs typeface="Arial" pitchFamily="34" charset="-120"/>
                        </a:rPr>
                        <a:t>Tree or Forest</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Any acyclic graph</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algn="ctr" indent="0" marL="0">
                        <a:buNone/>
                      </a:pPr>
                      <a:r>
                        <a:rPr lang="en-US" sz="1250" b="1" dirty="0">
                          <a:solidFill>
                            <a:srgbClr val="F57F17"/>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Trees are bipartite; BFS/DFS gives 2-coloring</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9C4"/>
                    </a:solidFill>
                  </a:tcPr>
                </a:tc>
              </a:tr>
              <a:tr h="752856">
                <a:tc>
                  <a:txBody>
                    <a:bodyPr/>
                    <a:lstStyle/>
                    <a:p>
                      <a:pPr indent="0" marL="0">
                        <a:buNone/>
                      </a:pPr>
                      <a:r>
                        <a:rPr lang="en-US" sz="1250" b="1" dirty="0">
                          <a:solidFill>
                            <a:srgbClr val="000000"/>
                          </a:solidFill>
                          <a:latin typeface="Arial" pitchFamily="34" charset="0"/>
                          <a:ea typeface="Arial" pitchFamily="34" charset="-122"/>
                          <a:cs typeface="Arial" pitchFamily="34" charset="-120"/>
                        </a:rPr>
                        <a:t>Planar Graph</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Any map graph</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algn="ctr" indent="0" marL="0">
                        <a:buNone/>
                      </a:pPr>
                      <a:r>
                        <a:rPr lang="en-US" sz="1250" b="1" dirty="0">
                          <a:solidFill>
                            <a:srgbClr val="555555"/>
                          </a:solidFill>
                          <a:latin typeface="Arial" pitchFamily="34" charset="0"/>
                          <a:ea typeface="Arial" pitchFamily="34" charset="-122"/>
                          <a:cs typeface="Arial" pitchFamily="34" charset="-120"/>
                        </a:rPr>
                        <a:t>≤ 4</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Four Color Theorem: every planar graph is 4-colorable</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Greedy Coloring Algorithm</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350" b="1" dirty="0">
                <a:solidFill>
                  <a:srgbClr val="000000"/>
                </a:solidFill>
                <a:latin typeface="Arial" pitchFamily="34" charset="0"/>
                <a:ea typeface="Arial" pitchFamily="34" charset="-122"/>
                <a:cs typeface="Arial" pitchFamily="34" charset="-120"/>
              </a:rPr>
              <a:t>Greedy Coloring:</a:t>
            </a:r>
            <a:pPr indent="0" marL="0">
              <a:buNone/>
            </a:pPr>
            <a:r>
              <a:rPr lang="en-US" sz="1350" dirty="0">
                <a:solidFill>
                  <a:srgbClr val="000000"/>
                </a:solidFill>
                <a:latin typeface="Arial" pitchFamily="34" charset="0"/>
                <a:ea typeface="Arial" pitchFamily="34" charset="-122"/>
                <a:cs typeface="Arial" pitchFamily="34" charset="-120"/>
              </a:rPr>
              <a:t> Process vertices one by one and assign the SMALLEST available color not used by any already-colored neighbor.</a:t>
            </a:r>
            <a:endParaRPr lang="en-US" sz="1350" dirty="0"/>
          </a:p>
        </p:txBody>
      </p:sp>
      <p:sp>
        <p:nvSpPr>
          <p:cNvPr id="16" name="Shape 13"/>
          <p:cNvSpPr/>
          <p:nvPr/>
        </p:nvSpPr>
        <p:spPr>
          <a:xfrm>
            <a:off x="457200" y="2103120"/>
            <a:ext cx="5394960" cy="3913632"/>
          </a:xfrm>
          <a:prstGeom prst="roundRect">
            <a:avLst>
              <a:gd name="adj" fmla="val 2336"/>
            </a:avLst>
          </a:prstGeom>
          <a:solidFill>
            <a:srgbClr val="F8F8F8"/>
          </a:solidFill>
          <a:ln w="19050">
            <a:solidFill>
              <a:srgbClr val="AAAAAA"/>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400" b="1" dirty="0">
                <a:solidFill>
                  <a:srgbClr val="990033"/>
                </a:solidFill>
                <a:latin typeface="Arial" pitchFamily="34" charset="0"/>
                <a:ea typeface="Arial" pitchFamily="34" charset="-122"/>
                <a:cs typeface="Arial" pitchFamily="34" charset="-120"/>
              </a:rPr>
              <a:t>Algorithm Steps</a:t>
            </a:r>
            <a:endParaRPr lang="en-US" sz="1400" dirty="0"/>
          </a:p>
        </p:txBody>
      </p:sp>
      <p:sp>
        <p:nvSpPr>
          <p:cNvPr id="18" name="Text 15"/>
          <p:cNvSpPr/>
          <p:nvPr/>
        </p:nvSpPr>
        <p:spPr>
          <a:xfrm>
            <a:off x="566928" y="2560320"/>
            <a:ext cx="5212080" cy="338328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For each vertex v in order v₁, v₂, …, vₙ:</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1. Find all colors used by v's neighbors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that have already been colored.</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2. Assign to v the smallest color</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NOT in that set.</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Time Complexity:</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O(V + E)  — linear in graph size</a:t>
            </a:r>
            <a:endParaRPr lang="en-US" sz="125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Limitation:</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NOT always optimal — result depends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on vertex ordering. May use MORE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colors than the chromatic number.</a:t>
            </a:r>
            <a:endParaRPr lang="en-US" sz="1250" dirty="0"/>
          </a:p>
        </p:txBody>
      </p:sp>
      <p:sp>
        <p:nvSpPr>
          <p:cNvPr id="19" name="Shape 16"/>
          <p:cNvSpPr/>
          <p:nvPr/>
        </p:nvSpPr>
        <p:spPr>
          <a:xfrm>
            <a:off x="6035040" y="2103120"/>
            <a:ext cx="5715000" cy="3913632"/>
          </a:xfrm>
          <a:prstGeom prst="roundRect">
            <a:avLst>
              <a:gd name="adj" fmla="val 2336"/>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350" b="1" dirty="0">
                <a:solidFill>
                  <a:srgbClr val="F57F17"/>
                </a:solidFill>
                <a:latin typeface="Arial" pitchFamily="34" charset="0"/>
                <a:ea typeface="Arial" pitchFamily="34" charset="-122"/>
                <a:cs typeface="Arial" pitchFamily="34" charset="-120"/>
              </a:rPr>
              <a:t>Trace: Graph with 5 vertices</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144768" y="2578608"/>
          <a:ext cx="5513832" cy="3364992"/>
        </p:xfrm>
        <a:graphic>
          <a:graphicData uri="http://schemas.openxmlformats.org/drawingml/2006/table">
            <a:tbl>
              <a:tblPr/>
              <a:tblGrid>
                <a:gridCol w="685800"/>
                <a:gridCol w="1691640"/>
                <a:gridCol w="1481328"/>
                <a:gridCol w="1655064"/>
              </a:tblGrid>
              <a:tr h="56083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Vertex</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Colored Neighbors</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Assigned Color</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Reason</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r>
              <a:tr h="56083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v₁</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200" b="1" dirty="0">
                          <a:solidFill>
                            <a:srgbClr val="990033"/>
                          </a:solidFill>
                          <a:latin typeface="Arial" pitchFamily="34" charset="0"/>
                          <a:ea typeface="Arial" pitchFamily="34" charset="-122"/>
                          <a:cs typeface="Arial" pitchFamily="34" charset="-120"/>
                        </a:rPr>
                        <a:t>Red  (1)</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No neighbors colored yet</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56083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v₂</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EFEF"/>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v₁ (Red)</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EFEF"/>
                    </a:solidFill>
                  </a:tcPr>
                </a:tc>
                <a:tc>
                  <a:txBody>
                    <a:bodyPr/>
                    <a:lstStyle/>
                    <a:p>
                      <a:pPr indent="0" marL="0">
                        <a:buNone/>
                      </a:pPr>
                      <a:r>
                        <a:rPr lang="en-US" sz="1200" b="1" dirty="0">
                          <a:solidFill>
                            <a:srgbClr val="990033"/>
                          </a:solidFill>
                          <a:latin typeface="Arial" pitchFamily="34" charset="0"/>
                          <a:ea typeface="Arial" pitchFamily="34" charset="-122"/>
                          <a:cs typeface="Arial" pitchFamily="34" charset="-120"/>
                        </a:rPr>
                        <a:t>Blue  (2)</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EFEF"/>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Red is taken by v₁</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EFEF"/>
                    </a:solidFill>
                  </a:tcPr>
                </a:tc>
              </a:tr>
              <a:tr h="56083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v₃</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v₁,v₂</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200" b="1" dirty="0">
                          <a:solidFill>
                            <a:srgbClr val="990033"/>
                          </a:solidFill>
                          <a:latin typeface="Arial" pitchFamily="34" charset="0"/>
                          <a:ea typeface="Arial" pitchFamily="34" charset="-122"/>
                          <a:cs typeface="Arial" pitchFamily="34" charset="-120"/>
                        </a:rPr>
                        <a:t>Green  (3)</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Red+Blue taken</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r h="56083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v₄</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EFEF"/>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v₂,v₃</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EFEF"/>
                    </a:solidFill>
                  </a:tcPr>
                </a:tc>
                <a:tc>
                  <a:txBody>
                    <a:bodyPr/>
                    <a:lstStyle/>
                    <a:p>
                      <a:pPr indent="0" marL="0">
                        <a:buNone/>
                      </a:pPr>
                      <a:r>
                        <a:rPr lang="en-US" sz="1200" b="1" dirty="0">
                          <a:solidFill>
                            <a:srgbClr val="990033"/>
                          </a:solidFill>
                          <a:latin typeface="Arial" pitchFamily="34" charset="0"/>
                          <a:ea typeface="Arial" pitchFamily="34" charset="-122"/>
                          <a:cs typeface="Arial" pitchFamily="34" charset="-120"/>
                        </a:rPr>
                        <a:t>Red  (1)</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EFEF"/>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Blue+Green taken; Red free!</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FEFEF"/>
                    </a:solidFill>
                  </a:tcPr>
                </a:tc>
              </a:tr>
              <a:tr h="560832">
                <a:tc>
                  <a:txBody>
                    <a:bodyPr/>
                    <a:lstStyle/>
                    <a:p>
                      <a:pPr algn="ctr" indent="0" marL="0">
                        <a:buNone/>
                      </a:pPr>
                      <a:r>
                        <a:rPr lang="en-US" sz="1200" b="1" dirty="0">
                          <a:solidFill>
                            <a:srgbClr val="000000"/>
                          </a:solidFill>
                          <a:latin typeface="Arial" pitchFamily="34" charset="0"/>
                          <a:ea typeface="Arial" pitchFamily="34" charset="-122"/>
                          <a:cs typeface="Arial" pitchFamily="34" charset="-120"/>
                        </a:rPr>
                        <a:t>v₅</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v₁,v₄</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200" b="1" dirty="0">
                          <a:solidFill>
                            <a:srgbClr val="990033"/>
                          </a:solidFill>
                          <a:latin typeface="Arial" pitchFamily="34" charset="0"/>
                          <a:ea typeface="Arial" pitchFamily="34" charset="-122"/>
                          <a:cs typeface="Arial" pitchFamily="34" charset="-120"/>
                        </a:rPr>
                        <a:t>Blue  (2)</a:t>
                      </a:r>
                      <a:endParaRPr lang="en-US" sz="12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Red taken by v₁,v₄</a:t>
                      </a:r>
                      <a:endParaRPr lang="en-US" sz="110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8F8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The Four Color Theorem</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Shape 12"/>
          <p:cNvSpPr/>
          <p:nvPr/>
        </p:nvSpPr>
        <p:spPr>
          <a:xfrm>
            <a:off x="457200" y="1572768"/>
            <a:ext cx="11292840" cy="960120"/>
          </a:xfrm>
          <a:prstGeom prst="roundRect">
            <a:avLst>
              <a:gd name="adj" fmla="val 9524"/>
            </a:avLst>
          </a:prstGeom>
          <a:solidFill>
            <a:srgbClr val="FCE4EC"/>
          </a:solidFill>
          <a:ln w="25400">
            <a:solidFill>
              <a:srgbClr val="990033"/>
            </a:solidFill>
            <a:prstDash val="solid"/>
          </a:ln>
        </p:spPr>
      </p:sp>
      <p:sp>
        <p:nvSpPr>
          <p:cNvPr id="16" name="Text 13"/>
          <p:cNvSpPr/>
          <p:nvPr/>
        </p:nvSpPr>
        <p:spPr>
          <a:xfrm>
            <a:off x="566928" y="1645920"/>
            <a:ext cx="11073384" cy="804672"/>
          </a:xfrm>
          <a:prstGeom prst="rect">
            <a:avLst/>
          </a:prstGeom>
          <a:noFill/>
          <a:ln/>
        </p:spPr>
        <p:txBody>
          <a:bodyPr wrap="square" lIns="0" tIns="0" rIns="0" bIns="0" rtlCol="0" anchor="ctr"/>
          <a:lstStyle/>
          <a:p>
            <a:pPr indent="0" marL="0">
              <a:buNone/>
            </a:pPr>
            <a:r>
              <a:rPr lang="en-US" sz="1800" b="1" dirty="0">
                <a:solidFill>
                  <a:srgbClr val="990033"/>
                </a:solidFill>
                <a:latin typeface="Arial" pitchFamily="34" charset="0"/>
                <a:ea typeface="Arial" pitchFamily="34" charset="-122"/>
                <a:cs typeface="Arial" pitchFamily="34" charset="-120"/>
              </a:rPr>
              <a:t>Four Color Theorem: </a:t>
            </a:r>
            <a:pPr indent="0" marL="0">
              <a:buNone/>
            </a:pPr>
            <a:r>
              <a:rPr lang="en-US" sz="1500" dirty="0">
                <a:solidFill>
                  <a:srgbClr val="000000"/>
                </a:solidFill>
                <a:latin typeface="Arial" pitchFamily="34" charset="0"/>
                <a:ea typeface="Arial" pitchFamily="34" charset="-122"/>
                <a:cs typeface="Arial" pitchFamily="34" charset="-120"/>
              </a:rPr>
              <a:t>Every planar graph can be properly colored using at most </a:t>
            </a:r>
            <a:pPr indent="0" marL="0">
              <a:buNone/>
            </a:pPr>
            <a:r>
              <a:rPr lang="en-US" sz="1800" b="1" dirty="0">
                <a:solidFill>
                  <a:srgbClr val="990033"/>
                </a:solidFill>
                <a:latin typeface="Arial" pitchFamily="34" charset="0"/>
                <a:ea typeface="Arial" pitchFamily="34" charset="-122"/>
                <a:cs typeface="Arial" pitchFamily="34" charset="-120"/>
              </a:rPr>
              <a:t>4 colors</a:t>
            </a:r>
            <a:pPr indent="0" marL="0">
              <a:buNone/>
            </a:pPr>
            <a:r>
              <a:rPr lang="en-US" sz="1500" dirty="0">
                <a:solidFill>
                  <a:srgbClr val="000000"/>
                </a:solidFill>
                <a:latin typeface="Arial" pitchFamily="34" charset="0"/>
                <a:ea typeface="Arial" pitchFamily="34" charset="-122"/>
                <a:cs typeface="Arial" pitchFamily="34" charset="-120"/>
              </a:rPr>
              <a:t>.</a:t>
            </a:r>
            <a:endParaRPr lang="en-US" sz="1500" dirty="0"/>
          </a:p>
        </p:txBody>
      </p:sp>
      <p:sp>
        <p:nvSpPr>
          <p:cNvPr id="17" name="Shape 14"/>
          <p:cNvSpPr/>
          <p:nvPr/>
        </p:nvSpPr>
        <p:spPr>
          <a:xfrm>
            <a:off x="457200" y="2651760"/>
            <a:ext cx="5394960" cy="2267712"/>
          </a:xfrm>
          <a:prstGeom prst="roundRect">
            <a:avLst>
              <a:gd name="adj" fmla="val 4032"/>
            </a:avLst>
          </a:prstGeom>
          <a:solidFill>
            <a:srgbClr val="E3F2FD"/>
          </a:solidFill>
          <a:ln w="19050">
            <a:solidFill>
              <a:srgbClr val="1565C0"/>
            </a:solidFill>
            <a:prstDash val="solid"/>
          </a:ln>
        </p:spPr>
      </p:sp>
      <p:sp>
        <p:nvSpPr>
          <p:cNvPr id="18" name="Text 15"/>
          <p:cNvSpPr/>
          <p:nvPr/>
        </p:nvSpPr>
        <p:spPr>
          <a:xfrm>
            <a:off x="566928" y="2724912"/>
            <a:ext cx="5212080" cy="347472"/>
          </a:xfrm>
          <a:prstGeom prst="rect">
            <a:avLst/>
          </a:prstGeom>
          <a:noFill/>
          <a:ln/>
        </p:spPr>
        <p:txBody>
          <a:bodyPr wrap="square" lIns="0" tIns="0" rIns="0" bIns="0" rtlCol="0" anchor="ctr"/>
          <a:lstStyle/>
          <a:p>
            <a:pPr indent="0" marL="0">
              <a:buNone/>
            </a:pPr>
            <a:r>
              <a:rPr lang="en-US" sz="1400" b="1" dirty="0">
                <a:solidFill>
                  <a:srgbClr val="1565C0"/>
                </a:solidFill>
                <a:latin typeface="Arial" pitchFamily="34" charset="0"/>
                <a:ea typeface="Arial" pitchFamily="34" charset="-122"/>
                <a:cs typeface="Arial" pitchFamily="34" charset="-120"/>
              </a:rPr>
              <a:t>History of the Proof</a:t>
            </a:r>
            <a:endParaRPr lang="en-US" sz="1400" dirty="0"/>
          </a:p>
        </p:txBody>
      </p:sp>
      <p:sp>
        <p:nvSpPr>
          <p:cNvPr id="19" name="Text 16"/>
          <p:cNvSpPr/>
          <p:nvPr/>
        </p:nvSpPr>
        <p:spPr>
          <a:xfrm>
            <a:off x="566928" y="3108960"/>
            <a:ext cx="5212080" cy="1737360"/>
          </a:xfrm>
          <a:prstGeom prst="rect">
            <a:avLst/>
          </a:prstGeom>
          <a:noFill/>
          <a:ln/>
        </p:spPr>
        <p:txBody>
          <a:bodyPr wrap="square" lIns="0" tIns="0" rIns="0" bIns="0" rtlCol="0" anchor="ctr"/>
          <a:lstStyle/>
          <a:p>
            <a:pPr indent="0" marL="0">
              <a:buNone/>
            </a:pPr>
            <a:r>
              <a:rPr lang="en-US" sz="1200" b="1" dirty="0">
                <a:solidFill>
                  <a:srgbClr val="1565C0"/>
                </a:solidFill>
                <a:latin typeface="Arial" pitchFamily="34" charset="0"/>
                <a:ea typeface="Arial" pitchFamily="34" charset="-122"/>
                <a:cs typeface="Arial" pitchFamily="34" charset="-120"/>
              </a:rPr>
              <a:t>1852:</a:t>
            </a:r>
            <a:pPr indent="0" marL="0">
              <a:buNone/>
            </a:pPr>
            <a:r>
              <a:rPr lang="en-US" sz="1200" dirty="0">
                <a:solidFill>
                  <a:srgbClr val="000000"/>
                </a:solidFill>
                <a:latin typeface="Arial" pitchFamily="34" charset="0"/>
                <a:ea typeface="Arial" pitchFamily="34" charset="-122"/>
                <a:cs typeface="Arial" pitchFamily="34" charset="-120"/>
              </a:rPr>
              <a:t> Francis Guthrie first conjectured the theorem while coloring a map of England.</a:t>
            </a:r>
            <a:endParaRPr lang="en-US" sz="1200" dirty="0"/>
          </a:p>
          <a:p>
            <a:pPr indent="0" marL="0">
              <a:buNone/>
            </a:pPr>
            <a:r>
              <a:rPr lang="en-US" sz="1200" b="1" dirty="0">
                <a:solidFill>
                  <a:srgbClr val="1565C0"/>
                </a:solidFill>
                <a:latin typeface="Arial" pitchFamily="34" charset="0"/>
                <a:ea typeface="Arial" pitchFamily="34" charset="-122"/>
                <a:cs typeface="Arial" pitchFamily="34" charset="-120"/>
              </a:rPr>
              <a:t>1879:</a:t>
            </a:r>
            <a:pPr indent="0" marL="0">
              <a:buNone/>
            </a:pPr>
            <a:r>
              <a:rPr lang="en-US" sz="1200" dirty="0">
                <a:solidFill>
                  <a:srgbClr val="000000"/>
                </a:solidFill>
                <a:latin typeface="Arial" pitchFamily="34" charset="0"/>
                <a:ea typeface="Arial" pitchFamily="34" charset="-122"/>
                <a:cs typeface="Arial" pitchFamily="34" charset="-120"/>
              </a:rPr>
              <a:t> Kempe published a 'proof' — found to be flawed by Heawood in 1890.</a:t>
            </a:r>
            <a:endParaRPr lang="en-US" sz="1200" dirty="0"/>
          </a:p>
          <a:p>
            <a:pPr indent="0" marL="0">
              <a:buNone/>
            </a:pPr>
            <a:r>
              <a:rPr lang="en-US" sz="1200" b="1" dirty="0">
                <a:solidFill>
                  <a:srgbClr val="1565C0"/>
                </a:solidFill>
                <a:latin typeface="Arial" pitchFamily="34" charset="0"/>
                <a:ea typeface="Arial" pitchFamily="34" charset="-122"/>
                <a:cs typeface="Arial" pitchFamily="34" charset="-120"/>
              </a:rPr>
              <a:t>1976:</a:t>
            </a:r>
            <a:pPr indent="0" marL="0">
              <a:buNone/>
            </a:pPr>
            <a:r>
              <a:rPr lang="en-US" sz="1200" dirty="0">
                <a:solidFill>
                  <a:srgbClr val="000000"/>
                </a:solidFill>
                <a:latin typeface="Arial" pitchFamily="34" charset="0"/>
                <a:ea typeface="Arial" pitchFamily="34" charset="-122"/>
                <a:cs typeface="Arial" pitchFamily="34" charset="-120"/>
              </a:rPr>
              <a:t> Kenneth Appel and Wolfgang Haken (Univ. of Illinois) produced the first correct proof — with a computer checking 1,936 special cases.</a:t>
            </a:r>
            <a:endParaRPr lang="en-US" sz="1200" dirty="0"/>
          </a:p>
          <a:p>
            <a:pPr indent="0" marL="0">
              <a:buNone/>
            </a:pPr>
            <a:r>
              <a:rPr lang="en-US" sz="1200" b="1" dirty="0">
                <a:solidFill>
                  <a:srgbClr val="990033"/>
                </a:solidFill>
                <a:latin typeface="Arial" pitchFamily="34" charset="0"/>
                <a:ea typeface="Arial" pitchFamily="34" charset="-122"/>
                <a:cs typeface="Arial" pitchFamily="34" charset="-120"/>
              </a:rPr>
              <a:t>Significance:</a:t>
            </a:r>
            <a:pPr indent="0" marL="0">
              <a:buNone/>
            </a:pPr>
            <a:r>
              <a:rPr lang="en-US" sz="1200" dirty="0">
                <a:solidFill>
                  <a:srgbClr val="000000"/>
                </a:solidFill>
                <a:latin typeface="Arial" pitchFamily="34" charset="0"/>
                <a:ea typeface="Arial" pitchFamily="34" charset="-122"/>
                <a:cs typeface="Arial" pitchFamily="34" charset="-120"/>
              </a:rPr>
              <a:t> First major theorem PROVEN using a computer. 124 years from conjecture to proof!</a:t>
            </a:r>
            <a:endParaRPr lang="en-US" sz="1200" dirty="0"/>
          </a:p>
        </p:txBody>
      </p:sp>
      <p:sp>
        <p:nvSpPr>
          <p:cNvPr id="20" name="Shape 17"/>
          <p:cNvSpPr/>
          <p:nvPr/>
        </p:nvSpPr>
        <p:spPr>
          <a:xfrm>
            <a:off x="6035040" y="2651760"/>
            <a:ext cx="5715000" cy="2267712"/>
          </a:xfrm>
          <a:prstGeom prst="roundRect">
            <a:avLst>
              <a:gd name="adj" fmla="val 4032"/>
            </a:avLst>
          </a:prstGeom>
          <a:solidFill>
            <a:srgbClr val="E8F5E9"/>
          </a:solidFill>
          <a:ln w="19050">
            <a:solidFill>
              <a:srgbClr val="009900"/>
            </a:solidFill>
            <a:prstDash val="solid"/>
          </a:ln>
        </p:spPr>
      </p:sp>
      <p:sp>
        <p:nvSpPr>
          <p:cNvPr id="21" name="Text 18"/>
          <p:cNvSpPr/>
          <p:nvPr/>
        </p:nvSpPr>
        <p:spPr>
          <a:xfrm>
            <a:off x="6144768" y="2724912"/>
            <a:ext cx="5513832" cy="347472"/>
          </a:xfrm>
          <a:prstGeom prst="rect">
            <a:avLst/>
          </a:prstGeom>
          <a:noFill/>
          <a:ln/>
        </p:spPr>
        <p:txBody>
          <a:bodyPr wrap="square" lIns="0" tIns="0" rIns="0" bIns="0" rtlCol="0" anchor="ctr"/>
          <a:lstStyle/>
          <a:p>
            <a:pPr indent="0" marL="0">
              <a:buNone/>
            </a:pPr>
            <a:r>
              <a:rPr lang="en-US" sz="1400" b="1" dirty="0">
                <a:solidFill>
                  <a:srgbClr val="009900"/>
                </a:solidFill>
                <a:latin typeface="Arial" pitchFamily="34" charset="0"/>
                <a:ea typeface="Arial" pitchFamily="34" charset="-122"/>
                <a:cs typeface="Arial" pitchFamily="34" charset="-120"/>
              </a:rPr>
              <a:t>Map Coloring Interpretation</a:t>
            </a:r>
            <a:endParaRPr lang="en-US" sz="1400" dirty="0"/>
          </a:p>
        </p:txBody>
      </p:sp>
      <p:sp>
        <p:nvSpPr>
          <p:cNvPr id="22" name="Text 19"/>
          <p:cNvSpPr/>
          <p:nvPr/>
        </p:nvSpPr>
        <p:spPr>
          <a:xfrm>
            <a:off x="6144768" y="3108960"/>
            <a:ext cx="5513832" cy="1737360"/>
          </a:xfrm>
          <a:prstGeom prst="rect">
            <a:avLst/>
          </a:prstGeom>
          <a:noFill/>
          <a:ln/>
        </p:spPr>
        <p:txBody>
          <a:bodyPr wrap="square" lIns="0" tIns="0" rIns="0" bIns="0" rtlCol="0" anchor="ctr"/>
          <a:lstStyle/>
          <a:p>
            <a:pPr indent="0" marL="0">
              <a:buNone/>
            </a:pPr>
            <a:r>
              <a:rPr lang="en-US" sz="1200" dirty="0">
                <a:solidFill>
                  <a:srgbClr val="000000"/>
                </a:solidFill>
                <a:latin typeface="Arial" pitchFamily="34" charset="0"/>
                <a:ea typeface="Arial" pitchFamily="34" charset="-122"/>
                <a:cs typeface="Arial" pitchFamily="34" charset="-120"/>
              </a:rPr>
              <a:t>Any geographic map can be colored with at most 4 colors so that no two adjacent regions (sharing a border) have the same color.</a:t>
            </a:r>
            <a:endParaRPr lang="en-US" sz="12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200" b="1" dirty="0">
                <a:solidFill>
                  <a:srgbClr val="000000"/>
                </a:solidFill>
                <a:latin typeface="Arial" pitchFamily="34" charset="0"/>
                <a:ea typeface="Arial" pitchFamily="34" charset="-122"/>
                <a:cs typeface="Arial" pitchFamily="34" charset="-120"/>
              </a:rPr>
              <a:t>Key: A map corresponds to a PLANAR graph —</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 Vertices = regions/countries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 Edges = shared borders</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 Planar = can be drawn without edge crossings</a:t>
            </a:r>
            <a:endParaRPr lang="en-US" sz="12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200" i="1" dirty="0">
                <a:solidFill>
                  <a:srgbClr val="000000"/>
                </a:solidFill>
                <a:latin typeface="Arial" pitchFamily="34" charset="0"/>
                <a:ea typeface="Arial" pitchFamily="34" charset="-122"/>
                <a:cs typeface="Arial" pitchFamily="34" charset="-120"/>
              </a:rPr>
              <a:t>Note: 5 Colors were known to suffice (1890). The hard part was proving 4 is enough!</a:t>
            </a:r>
            <a:endParaRPr lang="en-US" sz="1200" dirty="0"/>
          </a:p>
        </p:txBody>
      </p:sp>
      <p:sp>
        <p:nvSpPr>
          <p:cNvPr id="23" name="Shape 20"/>
          <p:cNvSpPr/>
          <p:nvPr/>
        </p:nvSpPr>
        <p:spPr>
          <a:xfrm>
            <a:off x="457200" y="5010912"/>
            <a:ext cx="11292840" cy="1572768"/>
          </a:xfrm>
          <a:prstGeom prst="roundRect">
            <a:avLst>
              <a:gd name="adj" fmla="val 5814"/>
            </a:avLst>
          </a:prstGeom>
          <a:solidFill>
            <a:srgbClr val="FFF9C4"/>
          </a:solidFill>
          <a:ln w="19050">
            <a:solidFill>
              <a:srgbClr val="F57F17"/>
            </a:solidFill>
            <a:prstDash val="solid"/>
          </a:ln>
        </p:spPr>
      </p:sp>
      <p:sp>
        <p:nvSpPr>
          <p:cNvPr id="24" name="Text 21"/>
          <p:cNvSpPr/>
          <p:nvPr/>
        </p:nvSpPr>
        <p:spPr>
          <a:xfrm>
            <a:off x="566928" y="5084064"/>
            <a:ext cx="11073384" cy="347472"/>
          </a:xfrm>
          <a:prstGeom prst="rect">
            <a:avLst/>
          </a:prstGeom>
          <a:noFill/>
          <a:ln/>
        </p:spPr>
        <p:txBody>
          <a:bodyPr wrap="square" lIns="0" tIns="0" rIns="0" bIns="0" rtlCol="0" anchor="ctr"/>
          <a:lstStyle/>
          <a:p>
            <a:pPr indent="0" marL="0">
              <a:buNone/>
            </a:pPr>
            <a:r>
              <a:rPr lang="en-US" sz="1400" b="1" dirty="0">
                <a:solidFill>
                  <a:srgbClr val="F57F17"/>
                </a:solidFill>
                <a:latin typeface="Arial" pitchFamily="34" charset="0"/>
                <a:ea typeface="Arial" pitchFamily="34" charset="-122"/>
                <a:cs typeface="Arial" pitchFamily="34" charset="-120"/>
              </a:rPr>
              <a:t>5-Color Theorem (Easy Proof via Induction):</a:t>
            </a:r>
            <a:endParaRPr lang="en-US" sz="1400" dirty="0"/>
          </a:p>
        </p:txBody>
      </p:sp>
      <p:sp>
        <p:nvSpPr>
          <p:cNvPr id="25" name="Text 22"/>
          <p:cNvSpPr/>
          <p:nvPr/>
        </p:nvSpPr>
        <p:spPr>
          <a:xfrm>
            <a:off x="566928" y="5449824"/>
            <a:ext cx="11073384" cy="1078992"/>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Every planar graph has a vertex of degree ≤ 5 (by Euler's formula). Remove this vertex, 5-color the rest by induction (IH), then reinsert the vertex — with at most 5 neighbors using ≤ 5 colors, at least one color remains available for the removed vertex.</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000" b="1" dirty="0">
                <a:solidFill>
                  <a:srgbClr val="990033"/>
                </a:solidFill>
                <a:latin typeface="Arial" pitchFamily="34" charset="0"/>
                <a:ea typeface="Arial" pitchFamily="34" charset="-122"/>
                <a:cs typeface="Arial" pitchFamily="34" charset="-120"/>
              </a:rPr>
              <a:t>Applications in Computer Science</a:t>
            </a:r>
            <a:endParaRPr lang="en-US" sz="20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Graph coloring models many real-world conflict-avoidance and resource-allocation problems: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300" b="1" dirty="0">
                <a:solidFill>
                  <a:srgbClr val="009900"/>
                </a:solidFill>
                <a:latin typeface="Arial" pitchFamily="34" charset="0"/>
                <a:ea typeface="Arial" pitchFamily="34" charset="-122"/>
                <a:cs typeface="Arial" pitchFamily="34" charset="-120"/>
              </a:rPr>
              <a:t>🖥️  Register Allocation in Compilers</a:t>
            </a:r>
            <a:endParaRPr lang="en-US" sz="130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Variables in a program form an 'interference graph' — two variables are adjacent if their lifetimes overlap (they cannot share a register). Coloring this graph assigns variables to CPU registers. Vertices needing more colors than available registers are 'spilled' to memory.</a:t>
            </a:r>
            <a:endParaRPr lang="en-US" sz="115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  Frequency Assignment in Networks</a:t>
            </a:r>
            <a:endParaRPr lang="en-US" sz="130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In mobile networks, nearby cell towers must operate on different frequencies to avoid interference. Model towers as vertices and proximity as edges. Graph coloring assigns frequencies (colors) while minimizing the total frequency spectrum used — saving expensive bandwidth.</a:t>
            </a:r>
            <a:endParaRPr lang="en-US" sz="115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Scheduling with Conflicts</a:t>
            </a:r>
            <a:endParaRPr lang="en-US" sz="130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Exam scheduling: students (or courses) with common students are 'conflicting' — they cannot be in the same time slot. Build a conflict graph and color it. Each color represents a time slot. Minimum colors = minimum number of time slots needed.</a:t>
            </a:r>
            <a:endParaRPr lang="en-US" sz="115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300" b="1" dirty="0">
                <a:solidFill>
                  <a:srgbClr val="F57F17"/>
                </a:solidFill>
                <a:latin typeface="Arial" pitchFamily="34" charset="0"/>
                <a:ea typeface="Arial" pitchFamily="34" charset="-122"/>
                <a:cs typeface="Arial" pitchFamily="34" charset="-120"/>
              </a:rPr>
              <a:t>🔢  Sudoku as Graph Coloring</a:t>
            </a:r>
            <a:endParaRPr lang="en-US" sz="130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150" dirty="0">
                <a:solidFill>
                  <a:srgbClr val="000000"/>
                </a:solidFill>
                <a:latin typeface="Arial" pitchFamily="34" charset="0"/>
                <a:ea typeface="Arial" pitchFamily="34" charset="-122"/>
                <a:cs typeface="Arial" pitchFamily="34" charset="-120"/>
              </a:rPr>
              <a:t>A 9×9 Sudoku grid is a graph with 81 vertices (cells). Two vertices are adjacent if they share a row, column, or 3×3 box. We need to color this graph with 9 colors (digits 1-9) such that each row, column, and box uses all 9 colors exactly once.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Mathematical Foundations of Computer Science</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200" dirty="0">
                <a:solidFill>
                  <a:srgbClr val="555555"/>
                </a:solidFill>
                <a:latin typeface="Arial" pitchFamily="34" charset="0"/>
                <a:ea typeface="Arial" pitchFamily="34" charset="-122"/>
                <a:cs typeface="Arial" pitchFamily="34" charset="-120"/>
              </a:rPr>
              <a:t>Department of Computer Science and Engineering</a:t>
            </a:r>
            <a:endParaRPr lang="en-US" sz="1200" dirty="0"/>
          </a:p>
          <a:p>
            <a:pPr algn="ctr" indent="0" marL="0">
              <a:buNone/>
            </a:pPr>
            <a:r>
              <a:rPr lang="en-US" sz="1200" dirty="0">
                <a:solidFill>
                  <a:srgbClr val="555555"/>
                </a:solidFill>
                <a:latin typeface="Arial" pitchFamily="34" charset="0"/>
                <a:ea typeface="Arial" pitchFamily="34" charset="-122"/>
                <a:cs typeface="Arial" pitchFamily="34" charset="-120"/>
              </a:rPr>
              <a:t>Marri Laxman Reddy Institute of Technology and Management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2026-06-14T18:38:33Z</dcterms:created>
  <dcterms:modified xsi:type="dcterms:W3CDTF">2026-06-14T18:38:33Z</dcterms:modified>
</cp:coreProperties>
</file>