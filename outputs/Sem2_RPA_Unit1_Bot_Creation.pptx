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Hello everyone, my name is Srinivas Rao Tammireddy, and I am presenting today on the topic of Robotic Process Automation Use Cases and Bot Creation as part of my M.Tech in Computer Science and Engineering. Today, we'll explore the foundational concepts of RPA, look at the primary ways software bots are constructed, and discuss how enterprises deploy them to streamline business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begin by understanding the foundational concept of Robotic Process Automation, or RPA. RPA is a technology that leverages software robots, or bots, to automate highly repetitive, rules-based digital tasks. These bots mimic the exact actions of a human worker, such as clicking buttons, logging into applications, copying files, and performing data entry. A key advantage of RPA is that it operates directly at the user interface layer, meaning it has a zero integration cost. We do not need to rebuild legacy backend databases or program complex APIs; the bot simply interacts with existing software applications. By executing rules-based tasks around the clock with absolute accuracy, RPA eliminates human typographical errors, dramatically speeds up transactions, and significantly lowers operational costs. Industry use cases span finance for invoice processing, HR for payroll updates, customer service for ticket routing, and data operations for system migrations.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Moving on to how bots are actually constructed. Standard RPA platforms like Automation Anywhere offer three primary methods to create bots. The first method is Screen Recording, which logs keyboard inputs and mouse coordinates as a human performs the task. While this is fast and requires zero programming, it is highly brittle. If a button moves slightly on the screen or if screen resolution changes, the bot will click the wrong spot and fail. The second method, which is the industry standard, is Object Cloning. Instead of coordinates, Object Cloning captures the underlying properties of UI elements, such as HTML IDs, tag names, and class controls. This makes the bot highly robust, as it will locate and click the correct button even if it is moved or resized. The third method is using Workflow Designers. This provides a drag-and-drop interface where developers can build logical flows, insert conditional statements, build loops, and write custom error-handling routines, making it the preferred choice for complex enterprise workflows.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look at some real-world applications of bot creation. In financial departments, bots automate invoice extraction by logging into emails, downloading PDFs, using Optical Character Recognition (OCR) to pull total billing amounts, and entering them directly into legacy ERP systems. For Human Resources, onboarding bots trigger when a new hire is marked, automatically creating accounts in active directory, provisioning email addresses, and updating payroll systems. In legacy migrations, bots act as data bridges, scraping records off old terminal screens and copying them into modern cloud systems like Salesforce. Finally, weekly report aggregators run overnight, querying multiple supplier portals, downloading spreadsheet files, performing calculations, and sending compiled PDF reports to management. These examples highlight how RPA bridges the gap between disconnected software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That brings me to the end of this presentation. In summary, RPA bot creation enables organizations to automate repetitive data entry, transfer information between disconnected software applications, and achieve massive efficiency gains with minimal integration overhead. Thank you so much for your time. I am now open to any questions you might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78992"/>
            <a:ext cx="11292840" cy="384048"/>
          </a:xfrm>
          <a:prstGeom prst="rect">
            <a:avLst/>
          </a:prstGeom>
          <a:noFill/>
          <a:ln/>
        </p:spPr>
        <p:txBody>
          <a:bodyPr wrap="square" rtlCol="0" anchor="ctr"/>
          <a:lstStyle/>
          <a:p>
            <a:pPr algn="ctr" indent="0" marL="0">
              <a:buNone/>
            </a:pPr>
            <a:r>
              <a:rPr lang="en-US" sz="1400" i="1" dirty="0">
                <a:solidFill>
                  <a:srgbClr val="990033"/>
                </a:solidFill>
                <a:latin typeface="Arial" pitchFamily="34" charset="0"/>
                <a:ea typeface="Arial" pitchFamily="34" charset="-122"/>
                <a:cs typeface="Arial" pitchFamily="34" charset="-120"/>
              </a:rPr>
              <a:t>Unit I: Introduction &amp; Bot Creation</a:t>
            </a:r>
            <a:endParaRPr lang="en-US" sz="1400" dirty="0"/>
          </a:p>
        </p:txBody>
      </p:sp>
      <p:sp>
        <p:nvSpPr>
          <p:cNvPr id="14" name="Shape 11"/>
          <p:cNvSpPr/>
          <p:nvPr/>
        </p:nvSpPr>
        <p:spPr>
          <a:xfrm>
            <a:off x="1645920" y="1572768"/>
            <a:ext cx="8897112" cy="1280160"/>
          </a:xfrm>
          <a:prstGeom prst="rect">
            <a:avLst/>
          </a:prstGeom>
          <a:solidFill>
            <a:srgbClr val="990033"/>
          </a:solidFill>
          <a:ln w="12700">
            <a:solidFill>
              <a:srgbClr val="990033"/>
            </a:solidFill>
            <a:prstDash val="solid"/>
          </a:ln>
        </p:spPr>
      </p:sp>
      <p:sp>
        <p:nvSpPr>
          <p:cNvPr id="15" name="Text 12"/>
          <p:cNvSpPr/>
          <p:nvPr/>
        </p:nvSpPr>
        <p:spPr>
          <a:xfrm>
            <a:off x="1645920" y="1572768"/>
            <a:ext cx="8897112" cy="1280160"/>
          </a:xfrm>
          <a:prstGeom prst="rect">
            <a:avLst/>
          </a:prstGeom>
          <a:noFill/>
          <a:ln/>
        </p:spPr>
        <p:txBody>
          <a:bodyPr wrap="square" lIns="0" tIns="0" rIns="0" bIns="0" rtlCol="0" anchor="ctr"/>
          <a:lstStyle/>
          <a:p>
            <a:pPr algn="ctr" indent="0" marL="0">
              <a:buNone/>
            </a:pPr>
            <a:r>
              <a:rPr lang="en-US" sz="2800" b="1" dirty="0">
                <a:solidFill>
                  <a:srgbClr val="FFFFFF"/>
                </a:solidFill>
                <a:latin typeface="Arial" pitchFamily="34" charset="0"/>
                <a:ea typeface="Arial" pitchFamily="34" charset="-122"/>
                <a:cs typeface="Arial" pitchFamily="34" charset="-120"/>
              </a:rPr>
              <a:t>RPA Use Cases &amp; Bot Creation</a:t>
            </a:r>
            <a:endParaRPr lang="en-US" sz="2800" dirty="0"/>
          </a:p>
        </p:txBody>
      </p:sp>
      <p:sp>
        <p:nvSpPr>
          <p:cNvPr id="16" name="Text 13"/>
          <p:cNvSpPr/>
          <p:nvPr/>
        </p:nvSpPr>
        <p:spPr>
          <a:xfrm>
            <a:off x="457200" y="2999232"/>
            <a:ext cx="11292840" cy="365760"/>
          </a:xfrm>
          <a:prstGeom prst="rect">
            <a:avLst/>
          </a:prstGeom>
          <a:noFill/>
          <a:ln/>
        </p:spPr>
        <p:txBody>
          <a:bodyPr wrap="square" rtlCol="0" anchor="ctr"/>
          <a:lstStyle/>
          <a:p>
            <a:pPr algn="ctr" indent="0" marL="0">
              <a:buNone/>
            </a:pPr>
            <a:r>
              <a:rPr lang="en-US" sz="1500" b="1" dirty="0">
                <a:solidFill>
                  <a:srgbClr val="990033"/>
                </a:solidFill>
                <a:latin typeface="Arial" pitchFamily="34" charset="0"/>
                <a:ea typeface="Arial" pitchFamily="34" charset="-122"/>
                <a:cs typeface="Arial" pitchFamily="34" charset="-120"/>
              </a:rPr>
              <a:t>PPT PRESENTED BY</a:t>
            </a:r>
            <a:endParaRPr lang="en-US" sz="1500" dirty="0"/>
          </a:p>
        </p:txBody>
      </p:sp>
      <p:sp>
        <p:nvSpPr>
          <p:cNvPr id="17" name="Text 14"/>
          <p:cNvSpPr/>
          <p:nvPr/>
        </p:nvSpPr>
        <p:spPr>
          <a:xfrm>
            <a:off x="2926080" y="3438144"/>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NAME :   Srinivas Rao Tammireddy</a:t>
            </a:r>
            <a:endParaRPr lang="en-US" sz="1300" dirty="0"/>
          </a:p>
        </p:txBody>
      </p:sp>
      <p:sp>
        <p:nvSpPr>
          <p:cNvPr id="18" name="Text 15"/>
          <p:cNvSpPr/>
          <p:nvPr/>
        </p:nvSpPr>
        <p:spPr>
          <a:xfrm>
            <a:off x="2926080" y="3840480"/>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ROLL NO :   257Y1D5805</a:t>
            </a:r>
            <a:endParaRPr lang="en-US" sz="1300" dirty="0"/>
          </a:p>
        </p:txBody>
      </p:sp>
      <p:sp>
        <p:nvSpPr>
          <p:cNvPr id="19" name="Text 16"/>
          <p:cNvSpPr/>
          <p:nvPr/>
        </p:nvSpPr>
        <p:spPr>
          <a:xfrm>
            <a:off x="2926080" y="4242816"/>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YEAR :   I Year  II Semester</a:t>
            </a:r>
            <a:endParaRPr lang="en-US" sz="1300" dirty="0"/>
          </a:p>
        </p:txBody>
      </p:sp>
      <p:sp>
        <p:nvSpPr>
          <p:cNvPr id="20" name="Text 17"/>
          <p:cNvSpPr/>
          <p:nvPr/>
        </p:nvSpPr>
        <p:spPr>
          <a:xfrm>
            <a:off x="2926080" y="4645152"/>
            <a:ext cx="6400800" cy="384048"/>
          </a:xfrm>
          <a:prstGeom prst="rect">
            <a:avLst/>
          </a:prstGeom>
          <a:noFill/>
          <a:ln/>
        </p:spPr>
        <p:txBody>
          <a:bodyPr wrap="square" rtlCol="0" anchor="ctr"/>
          <a:lstStyle/>
          <a:p>
            <a:pPr indent="0" marL="0">
              <a:buNone/>
            </a:pPr>
            <a:r>
              <a:rPr lang="en-US" sz="1300" dirty="0">
                <a:solidFill>
                  <a:srgbClr val="000000"/>
                </a:solidFill>
                <a:latin typeface="Arial" pitchFamily="34" charset="0"/>
                <a:ea typeface="Arial" pitchFamily="34" charset="-122"/>
                <a:cs typeface="Arial" pitchFamily="34" charset="-120"/>
              </a:rPr>
              <a:t>ACADEMIC YEAR :   2025 - 2026</a:t>
            </a:r>
            <a:endParaRPr lang="en-US" sz="1300" dirty="0"/>
          </a:p>
        </p:txBody>
      </p:sp>
      <p:sp>
        <p:nvSpPr>
          <p:cNvPr id="21" name="Text 18"/>
          <p:cNvSpPr/>
          <p:nvPr/>
        </p:nvSpPr>
        <p:spPr>
          <a:xfrm>
            <a:off x="457200" y="6080760"/>
            <a:ext cx="11292840" cy="411480"/>
          </a:xfrm>
          <a:prstGeom prst="rect">
            <a:avLst/>
          </a:prstGeom>
          <a:noFill/>
          <a:ln/>
        </p:spPr>
        <p:txBody>
          <a:bodyPr wrap="square" rtlCol="0" anchor="ctr"/>
          <a:lstStyle/>
          <a:p>
            <a:pPr algn="ctr" indent="0" marL="0">
              <a:buNone/>
            </a:pPr>
            <a:r>
              <a:rPr lang="en-US" sz="1400" b="1" dirty="0">
                <a:solidFill>
                  <a:srgbClr val="990033"/>
                </a:solidFill>
                <a:latin typeface="Arial" pitchFamily="34" charset="0"/>
                <a:ea typeface="Arial" pitchFamily="34" charset="-122"/>
                <a:cs typeface="Arial" pitchFamily="34" charset="-120"/>
              </a:rPr>
              <a:t>DEPARTMENT OF COMPUTER SCIENCE AND ENGINEERING</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What is Robotic Process Automation?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502920"/>
          </a:xfrm>
          <a:prstGeom prst="rect">
            <a:avLst/>
          </a:prstGeom>
          <a:noFill/>
          <a:ln/>
        </p:spPr>
        <p:txBody>
          <a:bodyPr wrap="square" rtlCol="0" anchor="ctr"/>
          <a:lstStyle/>
          <a:p>
            <a:pPr indent="0" marL="0">
              <a:buNone/>
            </a:pPr>
            <a:r>
              <a:rPr lang="en-US" sz="1400" b="1" dirty="0">
                <a:solidFill>
                  <a:srgbClr val="000000"/>
                </a:solidFill>
                <a:latin typeface="Arial" pitchFamily="34" charset="0"/>
                <a:ea typeface="Arial" pitchFamily="34" charset="-122"/>
                <a:cs typeface="Arial" pitchFamily="34" charset="-120"/>
              </a:rPr>
              <a:t>Robotic Process Automation (RPA) </a:t>
            </a:r>
            <a:pPr indent="0" marL="0">
              <a:buNone/>
            </a:pPr>
            <a:r>
              <a:rPr lang="en-US" sz="1400" dirty="0">
                <a:solidFill>
                  <a:srgbClr val="000000"/>
                </a:solidFill>
                <a:latin typeface="Arial" pitchFamily="34" charset="0"/>
                <a:ea typeface="Arial" pitchFamily="34" charset="-122"/>
                <a:cs typeface="Arial" pitchFamily="34" charset="-120"/>
              </a:rPr>
              <a:t>is a technology that uses software robots ('bots') to automate repetitive, rules-based digital tasks by mimicking human interactions with user interfaces.</a:t>
            </a:r>
            <a:endParaRPr lang="en-US" sz="1400" dirty="0"/>
          </a:p>
        </p:txBody>
      </p:sp>
      <p:sp>
        <p:nvSpPr>
          <p:cNvPr id="16" name="Shape 13"/>
          <p:cNvSpPr/>
          <p:nvPr/>
        </p:nvSpPr>
        <p:spPr>
          <a:xfrm>
            <a:off x="457200" y="2103120"/>
            <a:ext cx="5394960" cy="3895344"/>
          </a:xfrm>
          <a:prstGeom prst="roundRect">
            <a:avLst>
              <a:gd name="adj" fmla="val 2347"/>
            </a:avLst>
          </a:prstGeom>
          <a:solidFill>
            <a:srgbClr val="E8F5E9"/>
          </a:solidFill>
          <a:ln w="19050">
            <a:solidFill>
              <a:srgbClr val="009900"/>
            </a:solidFill>
            <a:prstDash val="solid"/>
          </a:ln>
        </p:spPr>
      </p:sp>
      <p:sp>
        <p:nvSpPr>
          <p:cNvPr id="17" name="Text 14"/>
          <p:cNvSpPr/>
          <p:nvPr/>
        </p:nvSpPr>
        <p:spPr>
          <a:xfrm>
            <a:off x="566928" y="2176272"/>
            <a:ext cx="5212080" cy="347472"/>
          </a:xfrm>
          <a:prstGeom prst="rect">
            <a:avLst/>
          </a:prstGeom>
          <a:noFill/>
          <a:ln/>
        </p:spPr>
        <p:txBody>
          <a:bodyPr wrap="square" lIns="0" tIns="0" rIns="0" bIns="0" rtlCol="0" anchor="ctr"/>
          <a:lstStyle/>
          <a:p>
            <a:pPr indent="0" marL="0">
              <a:buNone/>
            </a:pPr>
            <a:r>
              <a:rPr lang="en-US" sz="1500" b="1" dirty="0">
                <a:solidFill>
                  <a:srgbClr val="009900"/>
                </a:solidFill>
                <a:latin typeface="Arial" pitchFamily="34" charset="0"/>
                <a:ea typeface="Arial" pitchFamily="34" charset="-122"/>
                <a:cs typeface="Arial" pitchFamily="34" charset="-120"/>
              </a:rPr>
              <a:t>Core Concepts &amp; Benefits</a:t>
            </a:r>
            <a:endParaRPr lang="en-US" sz="1500" dirty="0"/>
          </a:p>
        </p:txBody>
      </p:sp>
      <p:sp>
        <p:nvSpPr>
          <p:cNvPr id="18" name="Text 15"/>
          <p:cNvSpPr/>
          <p:nvPr/>
        </p:nvSpPr>
        <p:spPr>
          <a:xfrm>
            <a:off x="566928" y="2560320"/>
            <a:ext cx="5212080" cy="3364992"/>
          </a:xfrm>
          <a:prstGeom prst="rect">
            <a:avLst/>
          </a:prstGeom>
          <a:noFill/>
          <a:ln/>
        </p:spPr>
        <p:txBody>
          <a:bodyPr wrap="square" lIns="0" tIns="0" rIns="0" bIns="0" rtlCol="0" anchor="ctr"/>
          <a:lstStyle/>
          <a:p>
            <a:pPr indent="0" marL="0">
              <a:buNone/>
            </a:pPr>
            <a:r>
              <a:rPr lang="en-US" sz="1300" b="1" dirty="0">
                <a:solidFill>
                  <a:srgbClr val="000000"/>
                </a:solidFill>
                <a:latin typeface="Arial" pitchFamily="34" charset="0"/>
                <a:ea typeface="Arial" pitchFamily="34" charset="-122"/>
                <a:cs typeface="Arial" pitchFamily="34" charset="-120"/>
              </a:rPr>
              <a:t>• Mimics Humans:</a:t>
            </a:r>
            <a:pPr indent="0" marL="0">
              <a:buNone/>
            </a:pPr>
            <a:r>
              <a:rPr lang="en-US" sz="1300" dirty="0">
                <a:solidFill>
                  <a:srgbClr val="000000"/>
                </a:solidFill>
                <a:latin typeface="Arial" pitchFamily="34" charset="0"/>
                <a:ea typeface="Arial" pitchFamily="34" charset="-122"/>
                <a:cs typeface="Arial" pitchFamily="34" charset="-120"/>
              </a:rPr>
              <a:t> Interacts with applications, clicks buttons, types text, and copies files just like a human operator.</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Rules-Based:</a:t>
            </a:r>
            <a:pPr indent="0" marL="0">
              <a:buNone/>
            </a:pPr>
            <a:r>
              <a:rPr lang="en-US" sz="1300" dirty="0">
                <a:solidFill>
                  <a:srgbClr val="000000"/>
                </a:solidFill>
                <a:latin typeface="Arial" pitchFamily="34" charset="0"/>
                <a:ea typeface="Arial" pitchFamily="34" charset="-122"/>
                <a:cs typeface="Arial" pitchFamily="34" charset="-120"/>
              </a:rPr>
              <a:t> Follows predefined execution paths (if-else logic, loops) without needing human decision-making.</a:t>
            </a:r>
            <a:endParaRPr lang="en-US" sz="1300" dirty="0"/>
          </a:p>
          <a:p>
            <a:pPr indent="0" marL="0">
              <a:buNone/>
            </a:pPr>
            <a:r>
              <a:rPr lang="en-US" sz="1300" b="1" dirty="0">
                <a:solidFill>
                  <a:srgbClr val="006400"/>
                </a:solidFill>
                <a:latin typeface="Arial" pitchFamily="34" charset="0"/>
                <a:ea typeface="Arial" pitchFamily="34" charset="-122"/>
                <a:cs typeface="Arial" pitchFamily="34" charset="-120"/>
              </a:rPr>
              <a:t>• Zero Integration Cost:</a:t>
            </a:r>
            <a:pPr indent="0" marL="0">
              <a:buNone/>
            </a:pPr>
            <a:r>
              <a:rPr lang="en-US" sz="1300" dirty="0">
                <a:solidFill>
                  <a:srgbClr val="000000"/>
                </a:solidFill>
                <a:latin typeface="Arial" pitchFamily="34" charset="0"/>
                <a:ea typeface="Arial" pitchFamily="34" charset="-122"/>
                <a:cs typeface="Arial" pitchFamily="34" charset="-120"/>
              </a:rPr>
              <a:t> Works on the user interface layer (UI), requiring no modifications to legacy backend databases or APIs.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Speed and Accuracy:</a:t>
            </a:r>
            <a:pPr indent="0" marL="0">
              <a:buNone/>
            </a:pPr>
            <a:r>
              <a:rPr lang="en-US" sz="1300" dirty="0">
                <a:solidFill>
                  <a:srgbClr val="000000"/>
                </a:solidFill>
                <a:latin typeface="Arial" pitchFamily="34" charset="0"/>
                <a:ea typeface="Arial" pitchFamily="34" charset="-122"/>
                <a:cs typeface="Arial" pitchFamily="34" charset="-120"/>
              </a:rPr>
              <a:t> Executes tasks 24/7 with zero typographical errors, minimizing business costs.</a:t>
            </a:r>
            <a:endParaRPr lang="en-US" sz="1300" dirty="0"/>
          </a:p>
        </p:txBody>
      </p:sp>
      <p:sp>
        <p:nvSpPr>
          <p:cNvPr id="19" name="Shape 16"/>
          <p:cNvSpPr/>
          <p:nvPr/>
        </p:nvSpPr>
        <p:spPr>
          <a:xfrm>
            <a:off x="6035040" y="2103120"/>
            <a:ext cx="5715000" cy="3895344"/>
          </a:xfrm>
          <a:prstGeom prst="roundRect">
            <a:avLst>
              <a:gd name="adj" fmla="val 2347"/>
            </a:avLst>
          </a:prstGeom>
          <a:solidFill>
            <a:srgbClr val="E3F2FD"/>
          </a:solidFill>
          <a:ln w="19050">
            <a:solidFill>
              <a:srgbClr val="1565C0"/>
            </a:solidFill>
            <a:prstDash val="solid"/>
          </a:ln>
        </p:spPr>
      </p:sp>
      <p:sp>
        <p:nvSpPr>
          <p:cNvPr id="20" name="Text 17"/>
          <p:cNvSpPr/>
          <p:nvPr/>
        </p:nvSpPr>
        <p:spPr>
          <a:xfrm>
            <a:off x="6144768" y="2176272"/>
            <a:ext cx="5513832" cy="347472"/>
          </a:xfrm>
          <a:prstGeom prst="rect">
            <a:avLst/>
          </a:prstGeom>
          <a:noFill/>
          <a:ln/>
        </p:spPr>
        <p:txBody>
          <a:bodyPr wrap="square" lIns="0" tIns="0" rIns="0" bIns="0" rtlCol="0" anchor="ctr"/>
          <a:lstStyle/>
          <a:p>
            <a:pPr indent="0" marL="0">
              <a:buNone/>
            </a:pPr>
            <a:r>
              <a:rPr lang="en-US" sz="1500" b="1" dirty="0">
                <a:solidFill>
                  <a:srgbClr val="1565C0"/>
                </a:solidFill>
                <a:latin typeface="Arial" pitchFamily="34" charset="0"/>
                <a:ea typeface="Arial" pitchFamily="34" charset="-122"/>
                <a:cs typeface="Arial" pitchFamily="34" charset="-120"/>
              </a:rPr>
              <a:t>Primary Industry Use Cases</a:t>
            </a:r>
            <a:endParaRPr lang="en-US" sz="1500" dirty="0"/>
          </a:p>
        </p:txBody>
      </p:sp>
      <p:sp>
        <p:nvSpPr>
          <p:cNvPr id="21" name="Text 18"/>
          <p:cNvSpPr/>
          <p:nvPr/>
        </p:nvSpPr>
        <p:spPr>
          <a:xfrm>
            <a:off x="6144768" y="2560320"/>
            <a:ext cx="5513832" cy="3364992"/>
          </a:xfrm>
          <a:prstGeom prst="rect">
            <a:avLst/>
          </a:prstGeom>
          <a:noFill/>
          <a:ln/>
        </p:spPr>
        <p:txBody>
          <a:bodyPr wrap="square" lIns="0" tIns="0" rIns="0" bIns="0" rtlCol="0" anchor="ctr"/>
          <a:lstStyle/>
          <a:p>
            <a:pPr indent="0" marL="0">
              <a:buNone/>
            </a:pPr>
            <a:r>
              <a:rPr lang="en-US" sz="1300" b="1" dirty="0">
                <a:solidFill>
                  <a:srgbClr val="1565C0"/>
                </a:solidFill>
                <a:latin typeface="Arial" pitchFamily="34" charset="0"/>
                <a:ea typeface="Arial" pitchFamily="34" charset="-122"/>
                <a:cs typeface="Arial" pitchFamily="34" charset="-120"/>
              </a:rPr>
              <a:t>• Finance &amp; Accounting:</a:t>
            </a:r>
            <a:pPr indent="0" marL="0">
              <a:buNone/>
            </a:pPr>
            <a:r>
              <a:rPr lang="en-US" sz="1300" dirty="0">
                <a:solidFill>
                  <a:srgbClr val="000000"/>
                </a:solidFill>
                <a:latin typeface="Arial" pitchFamily="34" charset="0"/>
                <a:ea typeface="Arial" pitchFamily="34" charset="-122"/>
                <a:cs typeface="Arial" pitchFamily="34" charset="-120"/>
              </a:rPr>
              <a:t> Invoice processing, bank reconciliations, tax reports extraction, account audits.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Human Resources (HR):</a:t>
            </a:r>
            <a:pPr indent="0" marL="0">
              <a:buNone/>
            </a:pPr>
            <a:r>
              <a:rPr lang="en-US" sz="1300" dirty="0">
                <a:solidFill>
                  <a:srgbClr val="000000"/>
                </a:solidFill>
                <a:latin typeface="Arial" pitchFamily="34" charset="0"/>
                <a:ea typeface="Arial" pitchFamily="34" charset="-122"/>
                <a:cs typeface="Arial" pitchFamily="34" charset="-120"/>
              </a:rPr>
              <a:t> Employee onboarding data synchronization, payroll processing, holiday tracking updates.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Customer Service:</a:t>
            </a:r>
            <a:pPr indent="0" marL="0">
              <a:buNone/>
            </a:pPr>
            <a:r>
              <a:rPr lang="en-US" sz="1300" dirty="0">
                <a:solidFill>
                  <a:srgbClr val="000000"/>
                </a:solidFill>
                <a:latin typeface="Arial" pitchFamily="34" charset="0"/>
                <a:ea typeface="Arial" pitchFamily="34" charset="-122"/>
                <a:cs typeface="Arial" pitchFamily="34" charset="-120"/>
              </a:rPr>
              <a:t> Directing customer tickets, processing basic account queries automatically, pulling chat histories.</a:t>
            </a:r>
            <a:endParaRPr lang="en-US" sz="1300" dirty="0"/>
          </a:p>
          <a:p>
            <a:pPr indent="0" marL="0">
              <a:buNone/>
            </a:pPr>
            <a:r>
              <a:rPr lang="en-US" sz="1300" b="1" dirty="0">
                <a:solidFill>
                  <a:srgbClr val="000000"/>
                </a:solidFill>
                <a:latin typeface="Arial" pitchFamily="34" charset="0"/>
                <a:ea typeface="Arial" pitchFamily="34" charset="-122"/>
                <a:cs typeface="Arial" pitchFamily="34" charset="-120"/>
              </a:rPr>
              <a:t>• Data Operations:</a:t>
            </a:r>
            <a:pPr indent="0" marL="0">
              <a:buNone/>
            </a:pPr>
            <a:r>
              <a:rPr lang="en-US" sz="1300" dirty="0">
                <a:solidFill>
                  <a:srgbClr val="000000"/>
                </a:solidFill>
                <a:latin typeface="Arial" pitchFamily="34" charset="0"/>
                <a:ea typeface="Arial" pitchFamily="34" charset="-122"/>
                <a:cs typeface="Arial" pitchFamily="34" charset="-120"/>
              </a:rPr>
              <a:t> Moving data between legacy green-screen terminals and modern cloud databases (data entry).</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Ways to Create Bots</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45720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RPA platforms (like Automation Anywhere) offer three primary methods to construct bots:</a:t>
            </a:r>
            <a:endParaRPr lang="en-US" sz="1400" dirty="0"/>
          </a:p>
        </p:txBody>
      </p:sp>
      <p:sp>
        <p:nvSpPr>
          <p:cNvPr id="16" name="Shape 13"/>
          <p:cNvSpPr/>
          <p:nvPr/>
        </p:nvSpPr>
        <p:spPr>
          <a:xfrm>
            <a:off x="457200" y="2103120"/>
            <a:ext cx="3657600" cy="4206240"/>
          </a:xfrm>
          <a:prstGeom prst="roundRect">
            <a:avLst>
              <a:gd name="adj" fmla="val 2500"/>
            </a:avLst>
          </a:prstGeom>
          <a:solidFill>
            <a:srgbClr val="E8F5E9"/>
          </a:solidFill>
          <a:ln w="19050">
            <a:solidFill>
              <a:srgbClr val="009900"/>
            </a:solidFill>
            <a:prstDash val="solid"/>
          </a:ln>
        </p:spPr>
      </p:sp>
      <p:sp>
        <p:nvSpPr>
          <p:cNvPr id="17" name="Text 14"/>
          <p:cNvSpPr/>
          <p:nvPr/>
        </p:nvSpPr>
        <p:spPr>
          <a:xfrm>
            <a:off x="566928" y="2194560"/>
            <a:ext cx="343814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1. Screen Recording</a:t>
            </a:r>
            <a:endParaRPr lang="en-US" sz="1450" dirty="0"/>
          </a:p>
        </p:txBody>
      </p:sp>
      <p:sp>
        <p:nvSpPr>
          <p:cNvPr id="18" name="Text 15"/>
          <p:cNvSpPr/>
          <p:nvPr/>
        </p:nvSpPr>
        <p:spPr>
          <a:xfrm>
            <a:off x="56692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Action: Logs keyboard inputs and mouse coordinates as you perform a task.</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Pros: Instantly generates bot files; needs no code.</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Cons: Brittle. Changing button positions or resolution breaks the bot.</a:t>
            </a:r>
            <a:endParaRPr lang="en-US" sz="1250" dirty="0"/>
          </a:p>
        </p:txBody>
      </p:sp>
      <p:sp>
        <p:nvSpPr>
          <p:cNvPr id="19" name="Shape 16"/>
          <p:cNvSpPr/>
          <p:nvPr/>
        </p:nvSpPr>
        <p:spPr>
          <a:xfrm>
            <a:off x="4251960" y="2103120"/>
            <a:ext cx="3657600" cy="4206240"/>
          </a:xfrm>
          <a:prstGeom prst="roundRect">
            <a:avLst>
              <a:gd name="adj" fmla="val 2500"/>
            </a:avLst>
          </a:prstGeom>
          <a:solidFill>
            <a:srgbClr val="E3F2FD"/>
          </a:solidFill>
          <a:ln w="19050">
            <a:solidFill>
              <a:srgbClr val="1565C0"/>
            </a:solidFill>
            <a:prstDash val="solid"/>
          </a:ln>
        </p:spPr>
      </p:sp>
      <p:sp>
        <p:nvSpPr>
          <p:cNvPr id="20" name="Text 17"/>
          <p:cNvSpPr/>
          <p:nvPr/>
        </p:nvSpPr>
        <p:spPr>
          <a:xfrm>
            <a:off x="4361688" y="2194560"/>
            <a:ext cx="343814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2. Object Cloning</a:t>
            </a:r>
            <a:endParaRPr lang="en-US" sz="1450" dirty="0"/>
          </a:p>
        </p:txBody>
      </p:sp>
      <p:sp>
        <p:nvSpPr>
          <p:cNvPr id="21" name="Text 18"/>
          <p:cNvSpPr/>
          <p:nvPr/>
        </p:nvSpPr>
        <p:spPr>
          <a:xfrm>
            <a:off x="436168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Action: Captures actual UI element properties (HTML IDs, tag names, controls) rather than coordinates.</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Pros: Highly robust. Bot finds button even if moved.</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Target: Standard in web and desk apps.</a:t>
            </a:r>
            <a:endParaRPr lang="en-US" sz="1250" dirty="0"/>
          </a:p>
        </p:txBody>
      </p:sp>
      <p:sp>
        <p:nvSpPr>
          <p:cNvPr id="22" name="Shape 19"/>
          <p:cNvSpPr/>
          <p:nvPr/>
        </p:nvSpPr>
        <p:spPr>
          <a:xfrm>
            <a:off x="8046720" y="2103120"/>
            <a:ext cx="3657600" cy="4206240"/>
          </a:xfrm>
          <a:prstGeom prst="roundRect">
            <a:avLst>
              <a:gd name="adj" fmla="val 2500"/>
            </a:avLst>
          </a:prstGeom>
          <a:solidFill>
            <a:srgbClr val="FFF9C4"/>
          </a:solidFill>
          <a:ln w="19050">
            <a:solidFill>
              <a:srgbClr val="F57F17"/>
            </a:solidFill>
            <a:prstDash val="solid"/>
          </a:ln>
        </p:spPr>
      </p:sp>
      <p:sp>
        <p:nvSpPr>
          <p:cNvPr id="23" name="Text 20"/>
          <p:cNvSpPr/>
          <p:nvPr/>
        </p:nvSpPr>
        <p:spPr>
          <a:xfrm>
            <a:off x="8156448" y="2194560"/>
            <a:ext cx="343814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3. Workflow Designers</a:t>
            </a:r>
            <a:endParaRPr lang="en-US" sz="1450" dirty="0"/>
          </a:p>
        </p:txBody>
      </p:sp>
      <p:sp>
        <p:nvSpPr>
          <p:cNvPr id="24" name="Text 21"/>
          <p:cNvSpPr/>
          <p:nvPr/>
        </p:nvSpPr>
        <p:spPr>
          <a:xfrm>
            <a:off x="8156448" y="2578608"/>
            <a:ext cx="3438144" cy="3675888"/>
          </a:xfrm>
          <a:prstGeom prst="rect">
            <a:avLst/>
          </a:prstGeom>
          <a:noFill/>
          <a:ln/>
        </p:spPr>
        <p:txBody>
          <a:bodyPr wrap="square" lIns="0" tIns="0" rIns="0" bIns="0" rtlCol="0" anchor="ctr"/>
          <a:lstStyle/>
          <a:p>
            <a:pPr indent="0" marL="0">
              <a:buNone/>
            </a:pPr>
            <a:r>
              <a:rPr lang="en-US" sz="1250" dirty="0">
                <a:solidFill>
                  <a:srgbClr val="000000"/>
                </a:solidFill>
                <a:latin typeface="Arial" pitchFamily="34" charset="0"/>
                <a:ea typeface="Arial" pitchFamily="34" charset="-122"/>
                <a:cs typeface="Arial" pitchFamily="34" charset="-120"/>
              </a:rPr>
              <a:t>• Action: Constructing bots by dragging and dropping command blocks (e.g. Open Browser, Query DB).</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Pros: Easy to insert loops, conditions, and custom error handling.</a:t>
            </a:r>
            <a:endParaRPr lang="en-US" sz="1250" dirty="0"/>
          </a:p>
          <a:p>
            <a:pPr indent="0" marL="0">
              <a:buNone/>
            </a:pPr>
            <a:r>
              <a:rPr lang="en-US" sz="1250" dirty="0">
                <a:solidFill>
                  <a:srgbClr val="000000"/>
                </a:solidFill>
                <a:latin typeface="Arial" pitchFamily="34" charset="0"/>
                <a:ea typeface="Arial" pitchFamily="34" charset="-122"/>
                <a:cs typeface="Arial" pitchFamily="34" charset="-120"/>
              </a:rPr>
              <a:t>• Target: Complex business workflows.</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1024128"/>
            <a:ext cx="11292840" cy="475488"/>
          </a:xfrm>
          <a:prstGeom prst="rect">
            <a:avLst/>
          </a:prstGeom>
          <a:noFill/>
          <a:ln/>
        </p:spPr>
        <p:txBody>
          <a:bodyPr wrap="square" rtlCol="0" anchor="ctr"/>
          <a:lstStyle/>
          <a:p>
            <a:pPr indent="0" marL="0">
              <a:buNone/>
            </a:pPr>
            <a:r>
              <a:rPr lang="en-US" sz="2200" b="1" dirty="0">
                <a:solidFill>
                  <a:srgbClr val="990033"/>
                </a:solidFill>
                <a:latin typeface="Arial" pitchFamily="34" charset="0"/>
                <a:ea typeface="Arial" pitchFamily="34" charset="-122"/>
                <a:cs typeface="Arial" pitchFamily="34" charset="-120"/>
              </a:rPr>
              <a:t>Applications of Bot Creation</a:t>
            </a:r>
            <a:endParaRPr lang="en-US" sz="2200" dirty="0"/>
          </a:p>
        </p:txBody>
      </p:sp>
      <p:sp>
        <p:nvSpPr>
          <p:cNvPr id="14" name="Shape 11"/>
          <p:cNvSpPr/>
          <p:nvPr/>
        </p:nvSpPr>
        <p:spPr>
          <a:xfrm>
            <a:off x="457200" y="1499616"/>
            <a:ext cx="11292840" cy="36576"/>
          </a:xfrm>
          <a:prstGeom prst="rect">
            <a:avLst/>
          </a:prstGeom>
          <a:solidFill>
            <a:srgbClr val="990033"/>
          </a:solidFill>
          <a:ln w="12700">
            <a:solidFill>
              <a:srgbClr val="990033"/>
            </a:solidFill>
            <a:prstDash val="solid"/>
          </a:ln>
        </p:spPr>
      </p:sp>
      <p:sp>
        <p:nvSpPr>
          <p:cNvPr id="15" name="Text 12"/>
          <p:cNvSpPr/>
          <p:nvPr/>
        </p:nvSpPr>
        <p:spPr>
          <a:xfrm>
            <a:off x="457200" y="1572768"/>
            <a:ext cx="11292840" cy="365760"/>
          </a:xfrm>
          <a:prstGeom prst="rect">
            <a:avLst/>
          </a:prstGeom>
          <a:noFill/>
          <a:ln/>
        </p:spPr>
        <p:txBody>
          <a:bodyPr wrap="square" rtlCol="0" anchor="ctr"/>
          <a:lstStyle/>
          <a:p>
            <a:pPr indent="0" marL="0">
              <a:buNone/>
            </a:pPr>
            <a:r>
              <a:rPr lang="en-US" sz="1400" dirty="0">
                <a:solidFill>
                  <a:srgbClr val="000000"/>
                </a:solidFill>
                <a:latin typeface="Arial" pitchFamily="34" charset="0"/>
                <a:ea typeface="Arial" pitchFamily="34" charset="-122"/>
                <a:cs typeface="Arial" pitchFamily="34" charset="-120"/>
              </a:rPr>
              <a:t>How enterprises implement bot creation to solve daily data bottlenecks:</a:t>
            </a:r>
            <a:endParaRPr lang="en-US" sz="1400" dirty="0"/>
          </a:p>
        </p:txBody>
      </p:sp>
      <p:sp>
        <p:nvSpPr>
          <p:cNvPr id="16" name="Shape 13"/>
          <p:cNvSpPr/>
          <p:nvPr/>
        </p:nvSpPr>
        <p:spPr>
          <a:xfrm>
            <a:off x="457200" y="2011680"/>
            <a:ext cx="5532120" cy="1956816"/>
          </a:xfrm>
          <a:prstGeom prst="roundRect">
            <a:avLst>
              <a:gd name="adj" fmla="val 4673"/>
            </a:avLst>
          </a:prstGeom>
          <a:solidFill>
            <a:srgbClr val="E8F5E9"/>
          </a:solidFill>
          <a:ln w="19050">
            <a:solidFill>
              <a:srgbClr val="009900"/>
            </a:solidFill>
            <a:prstDash val="solid"/>
          </a:ln>
        </p:spPr>
      </p:sp>
      <p:sp>
        <p:nvSpPr>
          <p:cNvPr id="17" name="Text 14"/>
          <p:cNvSpPr/>
          <p:nvPr/>
        </p:nvSpPr>
        <p:spPr>
          <a:xfrm>
            <a:off x="566928" y="2103120"/>
            <a:ext cx="5312664" cy="347472"/>
          </a:xfrm>
          <a:prstGeom prst="rect">
            <a:avLst/>
          </a:prstGeom>
          <a:noFill/>
          <a:ln/>
        </p:spPr>
        <p:txBody>
          <a:bodyPr wrap="square" lIns="0" tIns="0" rIns="0" bIns="0" rtlCol="0" anchor="ctr"/>
          <a:lstStyle/>
          <a:p>
            <a:pPr indent="0" marL="0">
              <a:buNone/>
            </a:pPr>
            <a:r>
              <a:rPr lang="en-US" sz="1450" b="1" dirty="0">
                <a:solidFill>
                  <a:srgbClr val="009900"/>
                </a:solidFill>
                <a:latin typeface="Arial" pitchFamily="34" charset="0"/>
                <a:ea typeface="Arial" pitchFamily="34" charset="-122"/>
                <a:cs typeface="Arial" pitchFamily="34" charset="-120"/>
              </a:rPr>
              <a:t>🧾  Automated Invoice Extraction</a:t>
            </a:r>
            <a:endParaRPr lang="en-US" sz="1450" dirty="0"/>
          </a:p>
        </p:txBody>
      </p:sp>
      <p:sp>
        <p:nvSpPr>
          <p:cNvPr id="18" name="Text 15"/>
          <p:cNvSpPr/>
          <p:nvPr/>
        </p:nvSpPr>
        <p:spPr>
          <a:xfrm>
            <a:off x="566928"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 bot logs into email, downloads PDF invoices, uses OCR to extract total values, and inputs data into legacy accounting terminals.</a:t>
            </a:r>
            <a:endParaRPr lang="en-US" sz="1300" dirty="0"/>
          </a:p>
        </p:txBody>
      </p:sp>
      <p:sp>
        <p:nvSpPr>
          <p:cNvPr id="19" name="Shape 16"/>
          <p:cNvSpPr/>
          <p:nvPr/>
        </p:nvSpPr>
        <p:spPr>
          <a:xfrm>
            <a:off x="6144768" y="2011680"/>
            <a:ext cx="5532120" cy="1956816"/>
          </a:xfrm>
          <a:prstGeom prst="roundRect">
            <a:avLst>
              <a:gd name="adj" fmla="val 4673"/>
            </a:avLst>
          </a:prstGeom>
          <a:solidFill>
            <a:srgbClr val="E3F2FD"/>
          </a:solidFill>
          <a:ln w="19050">
            <a:solidFill>
              <a:srgbClr val="1565C0"/>
            </a:solidFill>
            <a:prstDash val="solid"/>
          </a:ln>
        </p:spPr>
      </p:sp>
      <p:sp>
        <p:nvSpPr>
          <p:cNvPr id="20" name="Text 17"/>
          <p:cNvSpPr/>
          <p:nvPr/>
        </p:nvSpPr>
        <p:spPr>
          <a:xfrm>
            <a:off x="6254496" y="2103120"/>
            <a:ext cx="5312664" cy="347472"/>
          </a:xfrm>
          <a:prstGeom prst="rect">
            <a:avLst/>
          </a:prstGeom>
          <a:noFill/>
          <a:ln/>
        </p:spPr>
        <p:txBody>
          <a:bodyPr wrap="square" lIns="0" tIns="0" rIns="0" bIns="0" rtlCol="0" anchor="ctr"/>
          <a:lstStyle/>
          <a:p>
            <a:pPr indent="0" marL="0">
              <a:buNone/>
            </a:pPr>
            <a:r>
              <a:rPr lang="en-US" sz="1450" b="1" dirty="0">
                <a:solidFill>
                  <a:srgbClr val="1565C0"/>
                </a:solidFill>
                <a:latin typeface="Arial" pitchFamily="34" charset="0"/>
                <a:ea typeface="Arial" pitchFamily="34" charset="-122"/>
                <a:cs typeface="Arial" pitchFamily="34" charset="-120"/>
              </a:rPr>
              <a:t>👥  HR Onboarding Automation</a:t>
            </a:r>
            <a:endParaRPr lang="en-US" sz="1450" dirty="0"/>
          </a:p>
        </p:txBody>
      </p:sp>
      <p:sp>
        <p:nvSpPr>
          <p:cNvPr id="21" name="Text 18"/>
          <p:cNvSpPr/>
          <p:nvPr/>
        </p:nvSpPr>
        <p:spPr>
          <a:xfrm>
            <a:off x="6254496" y="248716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Triggers when a new hire is flagged. Bot copies data from recruiter portals and sets up logins across AD, email, and payroll systems.</a:t>
            </a:r>
            <a:endParaRPr lang="en-US" sz="1300" dirty="0"/>
          </a:p>
        </p:txBody>
      </p:sp>
      <p:sp>
        <p:nvSpPr>
          <p:cNvPr id="22" name="Shape 19"/>
          <p:cNvSpPr/>
          <p:nvPr/>
        </p:nvSpPr>
        <p:spPr>
          <a:xfrm>
            <a:off x="457200" y="4114800"/>
            <a:ext cx="5532120" cy="1956816"/>
          </a:xfrm>
          <a:prstGeom prst="roundRect">
            <a:avLst>
              <a:gd name="adj" fmla="val 4673"/>
            </a:avLst>
          </a:prstGeom>
          <a:solidFill>
            <a:srgbClr val="FCE4EC"/>
          </a:solidFill>
          <a:ln w="19050">
            <a:solidFill>
              <a:srgbClr val="990033"/>
            </a:solidFill>
            <a:prstDash val="solid"/>
          </a:ln>
        </p:spPr>
      </p:sp>
      <p:sp>
        <p:nvSpPr>
          <p:cNvPr id="23" name="Text 20"/>
          <p:cNvSpPr/>
          <p:nvPr/>
        </p:nvSpPr>
        <p:spPr>
          <a:xfrm>
            <a:off x="566928" y="4206240"/>
            <a:ext cx="5312664" cy="347472"/>
          </a:xfrm>
          <a:prstGeom prst="rect">
            <a:avLst/>
          </a:prstGeom>
          <a:noFill/>
          <a:ln/>
        </p:spPr>
        <p:txBody>
          <a:bodyPr wrap="square" lIns="0" tIns="0" rIns="0" bIns="0" rtlCol="0" anchor="ctr"/>
          <a:lstStyle/>
          <a:p>
            <a:pPr indent="0" marL="0">
              <a:buNone/>
            </a:pPr>
            <a:r>
              <a:rPr lang="en-US" sz="1450" b="1" dirty="0">
                <a:solidFill>
                  <a:srgbClr val="990033"/>
                </a:solidFill>
                <a:latin typeface="Arial" pitchFamily="34" charset="0"/>
                <a:ea typeface="Arial" pitchFamily="34" charset="-122"/>
                <a:cs typeface="Arial" pitchFamily="34" charset="-120"/>
              </a:rPr>
              <a:t>🔄  Legacy System Data Sync</a:t>
            </a:r>
            <a:endParaRPr lang="en-US" sz="1450" dirty="0"/>
          </a:p>
        </p:txBody>
      </p:sp>
      <p:sp>
        <p:nvSpPr>
          <p:cNvPr id="24" name="Text 21"/>
          <p:cNvSpPr/>
          <p:nvPr/>
        </p:nvSpPr>
        <p:spPr>
          <a:xfrm>
            <a:off x="566928"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Acts as a bridge. The bot reads data from old mainframe screens and copies it into modern Salesforce cloud tables, keeping systems in sync.</a:t>
            </a:r>
            <a:endParaRPr lang="en-US" sz="1300" dirty="0"/>
          </a:p>
        </p:txBody>
      </p:sp>
      <p:sp>
        <p:nvSpPr>
          <p:cNvPr id="25" name="Shape 22"/>
          <p:cNvSpPr/>
          <p:nvPr/>
        </p:nvSpPr>
        <p:spPr>
          <a:xfrm>
            <a:off x="6144768" y="4114800"/>
            <a:ext cx="5532120" cy="1956816"/>
          </a:xfrm>
          <a:prstGeom prst="roundRect">
            <a:avLst>
              <a:gd name="adj" fmla="val 4673"/>
            </a:avLst>
          </a:prstGeom>
          <a:solidFill>
            <a:srgbClr val="FFF9C4"/>
          </a:solidFill>
          <a:ln w="19050">
            <a:solidFill>
              <a:srgbClr val="F57F17"/>
            </a:solidFill>
            <a:prstDash val="solid"/>
          </a:ln>
        </p:spPr>
      </p:sp>
      <p:sp>
        <p:nvSpPr>
          <p:cNvPr id="26" name="Text 23"/>
          <p:cNvSpPr/>
          <p:nvPr/>
        </p:nvSpPr>
        <p:spPr>
          <a:xfrm>
            <a:off x="6254496" y="4206240"/>
            <a:ext cx="5312664" cy="347472"/>
          </a:xfrm>
          <a:prstGeom prst="rect">
            <a:avLst/>
          </a:prstGeom>
          <a:noFill/>
          <a:ln/>
        </p:spPr>
        <p:txBody>
          <a:bodyPr wrap="square" lIns="0" tIns="0" rIns="0" bIns="0" rtlCol="0" anchor="ctr"/>
          <a:lstStyle/>
          <a:p>
            <a:pPr indent="0" marL="0">
              <a:buNone/>
            </a:pPr>
            <a:r>
              <a:rPr lang="en-US" sz="1450" b="1" dirty="0">
                <a:solidFill>
                  <a:srgbClr val="F57F17"/>
                </a:solidFill>
                <a:latin typeface="Arial" pitchFamily="34" charset="0"/>
                <a:ea typeface="Arial" pitchFamily="34" charset="-122"/>
                <a:cs typeface="Arial" pitchFamily="34" charset="-120"/>
              </a:rPr>
              <a:t>📊  Weekly Report Aggregator</a:t>
            </a:r>
            <a:endParaRPr lang="en-US" sz="1450" dirty="0"/>
          </a:p>
        </p:txBody>
      </p:sp>
      <p:sp>
        <p:nvSpPr>
          <p:cNvPr id="27" name="Text 24"/>
          <p:cNvSpPr/>
          <p:nvPr/>
        </p:nvSpPr>
        <p:spPr>
          <a:xfrm>
            <a:off x="6254496" y="4590288"/>
            <a:ext cx="5312664" cy="1426464"/>
          </a:xfrm>
          <a:prstGeom prst="rect">
            <a:avLst/>
          </a:prstGeom>
          <a:noFill/>
          <a:ln/>
        </p:spPr>
        <p:txBody>
          <a:bodyPr wrap="square" lIns="0" tIns="0" rIns="0" bIns="0" rtlCol="0" anchor="ctr"/>
          <a:lstStyle/>
          <a:p>
            <a:pPr indent="0" marL="0">
              <a:buNone/>
            </a:pPr>
            <a:r>
              <a:rPr lang="en-US" sz="1300" dirty="0">
                <a:solidFill>
                  <a:srgbClr val="000000"/>
                </a:solidFill>
                <a:latin typeface="Arial" pitchFamily="34" charset="0"/>
                <a:ea typeface="Arial" pitchFamily="34" charset="-122"/>
                <a:cs typeface="Arial" pitchFamily="34" charset="-120"/>
              </a:rPr>
              <a:t>Bot logs into multiple portals overnight, runs search queries, downloads Excel files, aggregates values, and emails reports to managers.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37744"/>
          </a:xfrm>
          <a:prstGeom prst="rect">
            <a:avLst/>
          </a:prstGeom>
          <a:solidFill>
            <a:srgbClr val="990033"/>
          </a:solidFill>
          <a:ln w="12700">
            <a:solidFill>
              <a:srgbClr val="990033"/>
            </a:solidFill>
            <a:prstDash val="solid"/>
          </a:ln>
        </p:spPr>
      </p:sp>
      <p:sp>
        <p:nvSpPr>
          <p:cNvPr id="3" name="Shape 1"/>
          <p:cNvSpPr/>
          <p:nvPr/>
        </p:nvSpPr>
        <p:spPr>
          <a:xfrm>
            <a:off x="0" y="6620256"/>
            <a:ext cx="12188952" cy="237744"/>
          </a:xfrm>
          <a:prstGeom prst="rect">
            <a:avLst/>
          </a:prstGeom>
          <a:solidFill>
            <a:srgbClr val="990033"/>
          </a:solidFill>
          <a:ln w="12700">
            <a:solidFill>
              <a:srgbClr val="990033"/>
            </a:solidFill>
            <a:prstDash val="solid"/>
          </a:ln>
        </p:spPr>
      </p:sp>
      <p:sp>
        <p:nvSpPr>
          <p:cNvPr id="4" name="Shape 2"/>
          <p:cNvSpPr/>
          <p:nvPr/>
        </p:nvSpPr>
        <p:spPr>
          <a:xfrm>
            <a:off x="0" y="0"/>
            <a:ext cx="237744" cy="6858000"/>
          </a:xfrm>
          <a:prstGeom prst="rect">
            <a:avLst/>
          </a:prstGeom>
          <a:solidFill>
            <a:srgbClr val="990033"/>
          </a:solidFill>
          <a:ln w="12700">
            <a:solidFill>
              <a:srgbClr val="990033"/>
            </a:solidFill>
            <a:prstDash val="solid"/>
          </a:ln>
        </p:spPr>
      </p:sp>
      <p:sp>
        <p:nvSpPr>
          <p:cNvPr id="5" name="Shape 3"/>
          <p:cNvSpPr/>
          <p:nvPr/>
        </p:nvSpPr>
        <p:spPr>
          <a:xfrm>
            <a:off x="11951208" y="0"/>
            <a:ext cx="237744" cy="6858000"/>
          </a:xfrm>
          <a:prstGeom prst="rect">
            <a:avLst/>
          </a:prstGeom>
          <a:solidFill>
            <a:srgbClr val="990033"/>
          </a:solidFill>
          <a:ln w="12700">
            <a:solidFill>
              <a:srgbClr val="990033"/>
            </a:solidFill>
            <a:prstDash val="solid"/>
          </a:ln>
        </p:spPr>
      </p:sp>
      <p:sp>
        <p:nvSpPr>
          <p:cNvPr id="6" name="Shape 4"/>
          <p:cNvSpPr/>
          <p:nvPr/>
        </p:nvSpPr>
        <p:spPr>
          <a:xfrm>
            <a:off x="237744" y="237744"/>
            <a:ext cx="11713464" cy="82296"/>
          </a:xfrm>
          <a:prstGeom prst="rect">
            <a:avLst/>
          </a:prstGeom>
          <a:solidFill>
            <a:srgbClr val="F9DD67"/>
          </a:solidFill>
          <a:ln w="12700">
            <a:solidFill>
              <a:srgbClr val="F9DD67"/>
            </a:solidFill>
            <a:prstDash val="solid"/>
          </a:ln>
        </p:spPr>
      </p:sp>
      <p:sp>
        <p:nvSpPr>
          <p:cNvPr id="7" name="Shape 5"/>
          <p:cNvSpPr/>
          <p:nvPr/>
        </p:nvSpPr>
        <p:spPr>
          <a:xfrm>
            <a:off x="237744" y="6537960"/>
            <a:ext cx="11713464" cy="82296"/>
          </a:xfrm>
          <a:prstGeom prst="rect">
            <a:avLst/>
          </a:prstGeom>
          <a:solidFill>
            <a:srgbClr val="F9DD67"/>
          </a:solidFill>
          <a:ln w="12700">
            <a:solidFill>
              <a:srgbClr val="F9DD67"/>
            </a:solidFill>
            <a:prstDash val="solid"/>
          </a:ln>
        </p:spPr>
      </p:sp>
      <p:sp>
        <p:nvSpPr>
          <p:cNvPr id="8" name="Shape 6"/>
          <p:cNvSpPr/>
          <p:nvPr/>
        </p:nvSpPr>
        <p:spPr>
          <a:xfrm>
            <a:off x="237744" y="237744"/>
            <a:ext cx="82296" cy="6382512"/>
          </a:xfrm>
          <a:prstGeom prst="rect">
            <a:avLst/>
          </a:prstGeom>
          <a:solidFill>
            <a:srgbClr val="F9DD67"/>
          </a:solidFill>
          <a:ln w="12700">
            <a:solidFill>
              <a:srgbClr val="F9DD67"/>
            </a:solidFill>
            <a:prstDash val="solid"/>
          </a:ln>
        </p:spPr>
      </p:sp>
      <p:sp>
        <p:nvSpPr>
          <p:cNvPr id="9" name="Shape 7"/>
          <p:cNvSpPr/>
          <p:nvPr/>
        </p:nvSpPr>
        <p:spPr>
          <a:xfrm>
            <a:off x="11868912" y="237744"/>
            <a:ext cx="82296" cy="6382512"/>
          </a:xfrm>
          <a:prstGeom prst="rect">
            <a:avLst/>
          </a:prstGeom>
          <a:solidFill>
            <a:srgbClr val="F9DD67"/>
          </a:solidFill>
          <a:ln w="12700">
            <a:solidFill>
              <a:srgbClr val="F9DD67"/>
            </a:solidFill>
            <a:prstDash val="solid"/>
          </a:ln>
        </p:spPr>
      </p:sp>
      <p:sp>
        <p:nvSpPr>
          <p:cNvPr id="10" name="Shape 8"/>
          <p:cNvSpPr/>
          <p:nvPr/>
        </p:nvSpPr>
        <p:spPr>
          <a:xfrm>
            <a:off x="320040" y="246888"/>
            <a:ext cx="10168128" cy="722376"/>
          </a:xfrm>
          <a:prstGeom prst="rect">
            <a:avLst/>
          </a:prstGeom>
          <a:solidFill>
            <a:srgbClr val="009900"/>
          </a:solidFill>
          <a:ln w="12700">
            <a:solidFill>
              <a:srgbClr val="009900"/>
            </a:solidFill>
            <a:prstDash val="solid"/>
          </a:ln>
        </p:spPr>
      </p:sp>
      <p:sp>
        <p:nvSpPr>
          <p:cNvPr id="11" name="Text 9"/>
          <p:cNvSpPr/>
          <p:nvPr/>
        </p:nvSpPr>
        <p:spPr>
          <a:xfrm>
            <a:off x="320040" y="246888"/>
            <a:ext cx="10168128" cy="722376"/>
          </a:xfrm>
          <a:prstGeom prst="rect">
            <a:avLst/>
          </a:prstGeom>
          <a:noFill/>
          <a:ln/>
        </p:spPr>
        <p:txBody>
          <a:bodyPr wrap="square" lIns="0" tIns="0" rIns="0" bIns="0" rtlCol="0" anchor="ctr"/>
          <a:lstStyle/>
          <a:p>
            <a:pPr algn="ctr" indent="0" marL="0">
              <a:buNone/>
            </a:pPr>
            <a:r>
              <a:rPr lang="en-US" sz="1500" b="1" dirty="0">
                <a:solidFill>
                  <a:srgbClr val="FFFFFF"/>
                </a:solidFill>
                <a:latin typeface="Arial" pitchFamily="34" charset="0"/>
                <a:ea typeface="Arial" pitchFamily="34" charset="-122"/>
                <a:cs typeface="Arial" pitchFamily="34" charset="-120"/>
              </a:rPr>
              <a:t>Robotic Process Automation</a:t>
            </a:r>
            <a:endParaRPr lang="en-US" sz="1500" dirty="0"/>
          </a:p>
        </p:txBody>
      </p:sp>
      <p:pic>
        <p:nvPicPr>
          <p:cNvPr id="12" name="Image 0" descr="preencoded.png">    </p:cNvPr>
          <p:cNvPicPr>
            <a:picLocks noChangeAspect="1"/>
          </p:cNvPicPr>
          <p:nvPr/>
        </p:nvPicPr>
        <p:blipFill>
          <a:blip r:embed="rId1"/>
          <a:stretch>
            <a:fillRect/>
          </a:stretch>
        </p:blipFill>
        <p:spPr>
          <a:xfrm>
            <a:off x="10561320" y="228600"/>
            <a:ext cx="941832" cy="941832"/>
          </a:xfrm>
          <a:prstGeom prst="rect">
            <a:avLst/>
          </a:prstGeom>
        </p:spPr>
      </p:pic>
      <p:sp>
        <p:nvSpPr>
          <p:cNvPr id="13" name="Text 10"/>
          <p:cNvSpPr/>
          <p:nvPr/>
        </p:nvSpPr>
        <p:spPr>
          <a:xfrm>
            <a:off x="457200" y="2377440"/>
            <a:ext cx="11292840" cy="1371600"/>
          </a:xfrm>
          <a:prstGeom prst="rect">
            <a:avLst/>
          </a:prstGeom>
          <a:noFill/>
          <a:ln/>
        </p:spPr>
        <p:txBody>
          <a:bodyPr wrap="square" rtlCol="0" anchor="ctr"/>
          <a:lstStyle/>
          <a:p>
            <a:pPr algn="ctr" indent="0" marL="0">
              <a:buNone/>
            </a:pPr>
            <a:r>
              <a:rPr lang="en-US" sz="4800" b="1" dirty="0">
                <a:solidFill>
                  <a:srgbClr val="990033"/>
                </a:solidFill>
                <a:latin typeface="Arial" pitchFamily="34" charset="0"/>
                <a:ea typeface="Arial" pitchFamily="34" charset="-122"/>
                <a:cs typeface="Arial" pitchFamily="34" charset="-120"/>
              </a:rPr>
              <a:t>THANK YOU</a:t>
            </a:r>
            <a:endParaRPr lang="en-US" sz="4800" dirty="0"/>
          </a:p>
        </p:txBody>
      </p:sp>
      <p:sp>
        <p:nvSpPr>
          <p:cNvPr id="14" name="Text 11"/>
          <p:cNvSpPr/>
          <p:nvPr/>
        </p:nvSpPr>
        <p:spPr>
          <a:xfrm>
            <a:off x="457200" y="5029200"/>
            <a:ext cx="11292840" cy="822960"/>
          </a:xfrm>
          <a:prstGeom prst="rect">
            <a:avLst/>
          </a:prstGeom>
          <a:noFill/>
          <a:ln/>
        </p:spPr>
        <p:txBody>
          <a:bodyPr wrap="square" rtlCol="0" anchor="ctr"/>
          <a:lstStyle/>
          <a:p>
            <a:pPr algn="ctr" indent="0" marL="0">
              <a:buNone/>
            </a:pPr>
            <a:r>
              <a:rPr lang="en-US" sz="1300" dirty="0">
                <a:solidFill>
                  <a:srgbClr val="555555"/>
                </a:solidFill>
                <a:latin typeface="Arial" pitchFamily="34" charset="0"/>
                <a:ea typeface="Arial" pitchFamily="34" charset="-122"/>
                <a:cs typeface="Arial" pitchFamily="34" charset="-120"/>
              </a:rPr>
              <a:t>Department of Computer Science and Engineering</a:t>
            </a:r>
            <a:endParaRPr lang="en-US" sz="1300" dirty="0"/>
          </a:p>
          <a:p>
            <a:pPr algn="ctr" indent="0" marL="0">
              <a:buNone/>
            </a:pPr>
            <a:r>
              <a:rPr lang="en-US" sz="1300" dirty="0">
                <a:solidFill>
                  <a:srgbClr val="555555"/>
                </a:solidFill>
                <a:latin typeface="Arial" pitchFamily="34" charset="0"/>
                <a:ea typeface="Arial" pitchFamily="34" charset="-122"/>
                <a:cs typeface="Arial" pitchFamily="34" charset="-120"/>
              </a:rPr>
              <a:t>Marri Laxman Reddy Institute of Technology and Management</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2026-06-14T18:39:12Z</dcterms:created>
  <dcterms:modified xsi:type="dcterms:W3CDTF">2026-06-14T18:39:12Z</dcterms:modified>
</cp:coreProperties>
</file>