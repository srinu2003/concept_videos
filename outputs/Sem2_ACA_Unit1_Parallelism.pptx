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Srinivas Rao Tammireddy, and today I will be presenting on 'Parallel Models &amp; Conditions of Parallelism' as part of the Advanced Computer Architecture course for my M.Tech in Computer Science and Engineering. In this presentation, we will explore the theory of parallel processing models, discuss Bernstein's conditions of parallelism, examine program dependency structures, and look at practical applications of these models in high-performance computing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start by understanding the theory of parallelism and the primary models used in high-performance computing. Parallel computing is the practice of dividing a computational workload into smaller, independent tasks that can be executed simultaneously by multiple processing units. In hardware design, we classify parallel computers into three main models. First, Shared Memory Multiprocessors, where multiple processing units share a single, global physical address space, allowing communication via shared variables. Second, Distributed Memory Multicomputers, where each processor node has its own private memory and communicates via network message passing. Third, SIMD computers—Single Instruction, Multiple Data—where a single control unit broadcasts a single instruction to multiple vector processing elements, which is the model used by modern graphics processing units, or GPUs. In computer architecture, we also model execution theoretics using the Parallel Random Access Machine, or PRAM, model, and partition programs according to granularity—ranging from fine-grained instruction levels to coarse-grained process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Bernstein's conditions are the fundamental mathematical rules used to determine whether two program statements or blocks can execute in parallel without producing data conflicts. Let us consider two statements, statement one and statement two. We define input sets I-one and I-two as the variables read by the statements, and output sets O-one and O-two as the variables written to by the statements. For these two statements to execute in parallel, three conditions must be satisfied. First, the input set of statement one must not intersect with the output set of statement two. This prevents a Read-After-Write dependency, also known as flow dependency. Second, the output set of statement one must not intersect with the input set of statement two. This prevents a Write-After-Read dependency, also known as anti-dependency. Third, the output sets of statement one and statement two must not intersect. This prevents a Write-After-Write dependency, also known as output dependency. If any of these intersections are not empty, the statements must be executed sequentially to ensure correctness.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analyze how instructions interact at runtime, compilers construct dependency graphs. There are five major types of program dependencies we must consider. Data dependency occurs when an instruction refers to data produced by a previous instruction. Control dependency is determined by conditional branch decisions, where the execution of one path depends on a prior test. Resource dependency occurs when two independent instructions attempt to use the same hardware unit simultaneously, such as a floating-point multiplier or memory port. Control flow dependency dictates the sequential order of statement execution as written in the program code. Finally, hardware must manage data hazards. A Read-After-Write, or RAW hazard, occurs when an instruction tries to read a source before a previous instruction writes to it. Write-After-Read, or WAR hazards, occur when an instruction tries to write a destination before a previous read. Write-After-Write, or WAW hazards, occur when an instruction tries to write a destination before a previous write completes.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look at how these parallel architecture models are applied in practice. First, symmetric multiprocessing, or SMP servers, use shared-memory models to run database engines, where thread locks and semaphores manage concurrent query access. Second, high-performance computing clusters use distributed-memory message passing protocols like MPI to run scientific simulations across thousands of node cores. Third, modern compiler optimization pipelines analyze Bernstein's conditions to identify parallelizable code blocks during compilation, scheduling instructions to execute concurrently on superscalar execution units. Finally, graphics cards exploit SIMD parallelism to run identical pixel shading instructions across millions of pixels simultaneously.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the theory of parallelism and Bernstein's conditions form the foundation of both hardware design and compiler optimization. By understanding data, control, and resource dependencies, we can design more efficient processors and algorithms that fully exploit modern multicore systems. Thank you for your time. I am now open to any questions you might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Computer Architecture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78992"/>
            <a:ext cx="11292840" cy="384048"/>
          </a:xfrm>
          <a:prstGeom prst="rect">
            <a:avLst/>
          </a:prstGeom>
          <a:noFill/>
          <a:ln/>
        </p:spPr>
        <p:txBody>
          <a:bodyPr wrap="square" rtlCol="0" anchor="ctr"/>
          <a:lstStyle/>
          <a:p>
            <a:pPr algn="ctr" indent="0" marL="0">
              <a:buNone/>
            </a:pPr>
            <a:r>
              <a:rPr lang="en-US" sz="1400" i="1" dirty="0">
                <a:solidFill>
                  <a:srgbClr val="990033"/>
                </a:solidFill>
                <a:latin typeface="Arial" pitchFamily="34" charset="0"/>
                <a:ea typeface="Arial" pitchFamily="34" charset="-122"/>
                <a:cs typeface="Arial" pitchFamily="34" charset="-120"/>
              </a:rPr>
              <a:t>Unit I: Theory of Parallelism</a:t>
            </a:r>
            <a:endParaRPr lang="en-US" sz="1400" dirty="0"/>
          </a:p>
        </p:txBody>
      </p:sp>
      <p:sp>
        <p:nvSpPr>
          <p:cNvPr id="14" name="Shape 11"/>
          <p:cNvSpPr/>
          <p:nvPr/>
        </p:nvSpPr>
        <p:spPr>
          <a:xfrm>
            <a:off x="1645920" y="1572768"/>
            <a:ext cx="8897112" cy="1280160"/>
          </a:xfrm>
          <a:prstGeom prst="rect">
            <a:avLst/>
          </a:prstGeom>
          <a:solidFill>
            <a:srgbClr val="990033"/>
          </a:solidFill>
          <a:ln w="12700">
            <a:solidFill>
              <a:srgbClr val="990033"/>
            </a:solidFill>
            <a:prstDash val="solid"/>
          </a:ln>
        </p:spPr>
      </p:sp>
      <p:sp>
        <p:nvSpPr>
          <p:cNvPr id="15" name="Text 12"/>
          <p:cNvSpPr/>
          <p:nvPr/>
        </p:nvSpPr>
        <p:spPr>
          <a:xfrm>
            <a:off x="1645920" y="1572768"/>
            <a:ext cx="8897112" cy="128016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Parallel Models &amp; Conditions of Parallelism</a:t>
            </a:r>
            <a:endParaRPr lang="en-US" sz="2800" dirty="0"/>
          </a:p>
        </p:txBody>
      </p:sp>
      <p:sp>
        <p:nvSpPr>
          <p:cNvPr id="16" name="Text 13"/>
          <p:cNvSpPr/>
          <p:nvPr/>
        </p:nvSpPr>
        <p:spPr>
          <a:xfrm>
            <a:off x="457200" y="2999232"/>
            <a:ext cx="11292840" cy="365760"/>
          </a:xfrm>
          <a:prstGeom prst="rect">
            <a:avLst/>
          </a:prstGeom>
          <a:noFill/>
          <a:ln/>
        </p:spPr>
        <p:txBody>
          <a:bodyPr wrap="square" rtlCol="0" anchor="ctr"/>
          <a:lstStyle/>
          <a:p>
            <a:pPr algn="ctr" indent="0" marL="0">
              <a:buNone/>
            </a:pPr>
            <a:r>
              <a:rPr lang="en-US" sz="1500" b="1" dirty="0">
                <a:solidFill>
                  <a:srgbClr val="990033"/>
                </a:solidFill>
                <a:latin typeface="Arial" pitchFamily="34" charset="0"/>
                <a:ea typeface="Arial" pitchFamily="34" charset="-122"/>
                <a:cs typeface="Arial" pitchFamily="34" charset="-120"/>
              </a:rPr>
              <a:t>PPT PRESENTED BY</a:t>
            </a:r>
            <a:endParaRPr lang="en-US" sz="1500" dirty="0"/>
          </a:p>
        </p:txBody>
      </p:sp>
      <p:sp>
        <p:nvSpPr>
          <p:cNvPr id="17" name="Text 14"/>
          <p:cNvSpPr/>
          <p:nvPr/>
        </p:nvSpPr>
        <p:spPr>
          <a:xfrm>
            <a:off x="2926080" y="3438144"/>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NAME :   Srinivas Rao Tammireddy</a:t>
            </a:r>
            <a:endParaRPr lang="en-US" sz="1300" dirty="0"/>
          </a:p>
        </p:txBody>
      </p:sp>
      <p:sp>
        <p:nvSpPr>
          <p:cNvPr id="18" name="Text 15"/>
          <p:cNvSpPr/>
          <p:nvPr/>
        </p:nvSpPr>
        <p:spPr>
          <a:xfrm>
            <a:off x="2926080" y="3840480"/>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ROLL NO :   257Y1D5805</a:t>
            </a:r>
            <a:endParaRPr lang="en-US" sz="1300" dirty="0"/>
          </a:p>
        </p:txBody>
      </p:sp>
      <p:sp>
        <p:nvSpPr>
          <p:cNvPr id="19" name="Text 16"/>
          <p:cNvSpPr/>
          <p:nvPr/>
        </p:nvSpPr>
        <p:spPr>
          <a:xfrm>
            <a:off x="2926080" y="4242816"/>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YEAR :   I Year  II Semester</a:t>
            </a:r>
            <a:endParaRPr lang="en-US" sz="1300" dirty="0"/>
          </a:p>
        </p:txBody>
      </p:sp>
      <p:sp>
        <p:nvSpPr>
          <p:cNvPr id="20" name="Text 17"/>
          <p:cNvSpPr/>
          <p:nvPr/>
        </p:nvSpPr>
        <p:spPr>
          <a:xfrm>
            <a:off x="2926080" y="4645152"/>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ACADEMIC YEAR :   2025 - 2026</a:t>
            </a:r>
            <a:endParaRPr lang="en-US" sz="1300" dirty="0"/>
          </a:p>
        </p:txBody>
      </p:sp>
      <p:sp>
        <p:nvSpPr>
          <p:cNvPr id="21" name="Text 18"/>
          <p:cNvSpPr/>
          <p:nvPr/>
        </p:nvSpPr>
        <p:spPr>
          <a:xfrm>
            <a:off x="457200" y="6080760"/>
            <a:ext cx="11292840" cy="411480"/>
          </a:xfrm>
          <a:prstGeom prst="rect">
            <a:avLst/>
          </a:prstGeom>
          <a:noFill/>
          <a:ln/>
        </p:spPr>
        <p:txBody>
          <a:bodyPr wrap="square" rtlCol="0" anchor="ctr"/>
          <a:lstStyle/>
          <a:p>
            <a:pPr algn="ctr" indent="0" marL="0">
              <a:buNone/>
            </a:pPr>
            <a:r>
              <a:rPr lang="en-US" sz="1400" b="1" dirty="0">
                <a:solidFill>
                  <a:srgbClr val="990033"/>
                </a:solidFill>
                <a:latin typeface="Arial" pitchFamily="34" charset="0"/>
                <a:ea typeface="Arial" pitchFamily="34" charset="-122"/>
                <a:cs typeface="Arial" pitchFamily="34" charset="-120"/>
              </a:rPr>
              <a:t>DEPARTMENT OF COMPUTER SCIENCE AND ENGINEERING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Computer Architecture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Theory of Parallelism &amp; Models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0292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Parallel Computing </a:t>
            </a:r>
            <a:pPr indent="0" marL="0">
              <a:buNone/>
            </a:pPr>
            <a:r>
              <a:rPr lang="en-US" sz="1400" dirty="0">
                <a:solidFill>
                  <a:srgbClr val="000000"/>
                </a:solidFill>
                <a:latin typeface="Arial" pitchFamily="34" charset="0"/>
                <a:ea typeface="Arial" pitchFamily="34" charset="-122"/>
                <a:cs typeface="Arial" pitchFamily="34" charset="-120"/>
              </a:rPr>
              <a:t>aims to execute multiple calculations simultaneously. In computer architecture, we analyze parallelism using standardized parallel models to design efficient hardware configurations.</a:t>
            </a:r>
            <a:endParaRPr lang="en-US" sz="1400" dirty="0"/>
          </a:p>
        </p:txBody>
      </p:sp>
      <p:sp>
        <p:nvSpPr>
          <p:cNvPr id="16" name="Shape 13"/>
          <p:cNvSpPr/>
          <p:nvPr/>
        </p:nvSpPr>
        <p:spPr>
          <a:xfrm>
            <a:off x="457200" y="2103120"/>
            <a:ext cx="5394960" cy="3895344"/>
          </a:xfrm>
          <a:prstGeom prst="roundRect">
            <a:avLst>
              <a:gd name="adj" fmla="val 2347"/>
            </a:avLst>
          </a:prstGeom>
          <a:solidFill>
            <a:srgbClr val="E8F5E9"/>
          </a:solidFill>
          <a:ln w="19050">
            <a:solidFill>
              <a:srgbClr val="00990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009900"/>
                </a:solidFill>
                <a:latin typeface="Arial" pitchFamily="34" charset="0"/>
                <a:ea typeface="Arial" pitchFamily="34" charset="-122"/>
                <a:cs typeface="Arial" pitchFamily="34" charset="-120"/>
              </a:rPr>
              <a:t>Parallel Computer Models</a:t>
            </a:r>
            <a:endParaRPr lang="en-US" sz="1500" dirty="0"/>
          </a:p>
        </p:txBody>
      </p:sp>
      <p:sp>
        <p:nvSpPr>
          <p:cNvPr id="18" name="Text 15"/>
          <p:cNvSpPr/>
          <p:nvPr/>
        </p:nvSpPr>
        <p:spPr>
          <a:xfrm>
            <a:off x="566928" y="2560320"/>
            <a:ext cx="5212080" cy="3364992"/>
          </a:xfrm>
          <a:prstGeom prst="rect">
            <a:avLst/>
          </a:prstGeom>
          <a:noFill/>
          <a:ln/>
        </p:spPr>
        <p:txBody>
          <a:bodyPr wrap="square" lIns="0" tIns="0" rIns="0" bIns="0" rtlCol="0" anchor="ctr"/>
          <a:lstStyle/>
          <a:p>
            <a:pPr indent="0" marL="0">
              <a:buNone/>
            </a:pPr>
            <a:r>
              <a:rPr lang="en-US" sz="1300" b="1" dirty="0">
                <a:solidFill>
                  <a:srgbClr val="006400"/>
                </a:solidFill>
                <a:latin typeface="Arial" pitchFamily="34" charset="0"/>
                <a:ea typeface="Arial" pitchFamily="34" charset="-122"/>
                <a:cs typeface="Arial" pitchFamily="34" charset="-120"/>
              </a:rPr>
              <a:t>• Multiprocessors (Shared Memory):</a:t>
            </a:r>
            <a:pPr indent="0" marL="0">
              <a:buNone/>
            </a:pPr>
            <a:r>
              <a:rPr lang="en-US" sz="1300" dirty="0">
                <a:solidFill>
                  <a:srgbClr val="000000"/>
                </a:solidFill>
                <a:latin typeface="Arial" pitchFamily="34" charset="0"/>
                <a:ea typeface="Arial" pitchFamily="34" charset="-122"/>
                <a:cs typeface="Arial" pitchFamily="34" charset="-120"/>
              </a:rPr>
              <a:t> Multiple CPUs sharing a single physical memory address space (e.g. SMP systems).</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 Multicomputers (Distributed Memory):</a:t>
            </a:r>
            <a:pPr indent="0" marL="0">
              <a:buNone/>
            </a:pPr>
            <a:r>
              <a:rPr lang="en-US" sz="1300" dirty="0">
                <a:solidFill>
                  <a:srgbClr val="000000"/>
                </a:solidFill>
                <a:latin typeface="Arial" pitchFamily="34" charset="0"/>
                <a:ea typeface="Arial" pitchFamily="34" charset="-122"/>
                <a:cs typeface="Arial" pitchFamily="34" charset="-120"/>
              </a:rPr>
              <a:t> Nodes with private memory communicating via message passing (e.g. clusters).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SIMD Computers:</a:t>
            </a:r>
            <a:pPr indent="0" marL="0">
              <a:buNone/>
            </a:pPr>
            <a:r>
              <a:rPr lang="en-US" sz="1300" dirty="0">
                <a:solidFill>
                  <a:srgbClr val="000000"/>
                </a:solidFill>
                <a:latin typeface="Arial" pitchFamily="34" charset="0"/>
                <a:ea typeface="Arial" pitchFamily="34" charset="-122"/>
                <a:cs typeface="Arial" pitchFamily="34" charset="-120"/>
              </a:rPr>
              <a:t> Single Instruction, Multiple Data. One controller executes a single command on vectors of data (e.g. GPUs).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PRAM Model:</a:t>
            </a:r>
            <a:pPr indent="0" marL="0">
              <a:buNone/>
            </a:pPr>
            <a:r>
              <a:rPr lang="en-US" sz="1300" dirty="0">
                <a:solidFill>
                  <a:srgbClr val="000000"/>
                </a:solidFill>
                <a:latin typeface="Arial" pitchFamily="34" charset="0"/>
                <a:ea typeface="Arial" pitchFamily="34" charset="-122"/>
                <a:cs typeface="Arial" pitchFamily="34" charset="-120"/>
              </a:rPr>
              <a:t> Parallel Random Access Machine. A theoretical model to analyze parallel algorithm complexities.</a:t>
            </a:r>
            <a:endParaRPr lang="en-US" sz="1300" dirty="0"/>
          </a:p>
        </p:txBody>
      </p:sp>
      <p:sp>
        <p:nvSpPr>
          <p:cNvPr id="19" name="Shape 16"/>
          <p:cNvSpPr/>
          <p:nvPr/>
        </p:nvSpPr>
        <p:spPr>
          <a:xfrm>
            <a:off x="6035040" y="2103120"/>
            <a:ext cx="5715000" cy="3895344"/>
          </a:xfrm>
          <a:prstGeom prst="roundRect">
            <a:avLst>
              <a:gd name="adj" fmla="val 2347"/>
            </a:avLst>
          </a:prstGeom>
          <a:solidFill>
            <a:srgbClr val="E3F2FD"/>
          </a:solidFill>
          <a:ln w="19050">
            <a:solidFill>
              <a:srgbClr val="1565C0"/>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Program Partitioning &amp; Flow</a:t>
            </a:r>
            <a:endParaRPr lang="en-US" sz="1500" dirty="0"/>
          </a:p>
        </p:txBody>
      </p:sp>
      <p:sp>
        <p:nvSpPr>
          <p:cNvPr id="21" name="Text 18"/>
          <p:cNvSpPr/>
          <p:nvPr/>
        </p:nvSpPr>
        <p:spPr>
          <a:xfrm>
            <a:off x="6144768" y="2560320"/>
            <a:ext cx="5513832"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Parallelism Granularity:</a:t>
            </a:r>
            <a:pPr indent="0" marL="0">
              <a:buNone/>
            </a:pPr>
            <a:r>
              <a:rPr lang="en-US" sz="1300" dirty="0">
                <a:solidFill>
                  <a:srgbClr val="000000"/>
                </a:solidFill>
                <a:latin typeface="Arial" pitchFamily="34" charset="0"/>
                <a:ea typeface="Arial" pitchFamily="34" charset="-122"/>
                <a:cs typeface="Arial" pitchFamily="34" charset="-120"/>
              </a:rPr>
              <a:t> Sizes of execution blocks. Ranges from fine-grained (instruction level) to coarse-grained (process level).</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Static Scheduling:</a:t>
            </a:r>
            <a:pPr indent="0" marL="0">
              <a:buNone/>
            </a:pPr>
            <a:r>
              <a:rPr lang="en-US" sz="1300" dirty="0">
                <a:solidFill>
                  <a:srgbClr val="000000"/>
                </a:solidFill>
                <a:latin typeface="Arial" pitchFamily="34" charset="0"/>
                <a:ea typeface="Arial" pitchFamily="34" charset="-122"/>
                <a:cs typeface="Arial" pitchFamily="34" charset="-120"/>
              </a:rPr>
              <a:t> Compiler assigns instructions to cores at compilation time. Low runtime overhead.</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Dynamic Scheduling:</a:t>
            </a:r>
            <a:pPr indent="0" marL="0">
              <a:buNone/>
            </a:pPr>
            <a:r>
              <a:rPr lang="en-US" sz="1300" dirty="0">
                <a:solidFill>
                  <a:srgbClr val="000000"/>
                </a:solidFill>
                <a:latin typeface="Arial" pitchFamily="34" charset="0"/>
                <a:ea typeface="Arial" pitchFamily="34" charset="-122"/>
                <a:cs typeface="Arial" pitchFamily="34" charset="-120"/>
              </a:rPr>
              <a:t> Hardware assigns tasks at runtime based on resource availability, handling hazards dynamically.</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Control vs. Data Flow:</a:t>
            </a:r>
            <a:pPr indent="0" marL="0">
              <a:buNone/>
            </a:pPr>
            <a:r>
              <a:rPr lang="en-US" sz="1300" dirty="0">
                <a:solidFill>
                  <a:srgbClr val="000000"/>
                </a:solidFill>
                <a:latin typeface="Arial" pitchFamily="34" charset="0"/>
                <a:ea typeface="Arial" pitchFamily="34" charset="-122"/>
                <a:cs typeface="Arial" pitchFamily="34" charset="-120"/>
              </a:rPr>
              <a:t> Control-flow: sequential, instruction-pointer driven. Data-flow: instructions execute as soon as their operands are ready.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Computer Architecture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Bernstein's Conditions of Parallelism</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A set of algebraic conditions used to determine if two software statements can execute in parallel:</a:t>
            </a:r>
            <a:endParaRPr lang="en-US" sz="1400" dirty="0"/>
          </a:p>
        </p:txBody>
      </p:sp>
      <p:sp>
        <p:nvSpPr>
          <p:cNvPr id="16" name="Shape 13"/>
          <p:cNvSpPr/>
          <p:nvPr/>
        </p:nvSpPr>
        <p:spPr>
          <a:xfrm>
            <a:off x="457200" y="2103120"/>
            <a:ext cx="5394960" cy="4114800"/>
          </a:xfrm>
          <a:prstGeom prst="roundRect">
            <a:avLst>
              <a:gd name="adj" fmla="val 2222"/>
            </a:avLst>
          </a:prstGeom>
          <a:solidFill>
            <a:srgbClr val="FCE4EC"/>
          </a:solidFill>
          <a:ln w="19050">
            <a:solidFill>
              <a:srgbClr val="990033"/>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Mathematical Formulation</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250" dirty="0">
                <a:solidFill>
                  <a:srgbClr val="000000"/>
                </a:solidFill>
                <a:latin typeface="Arial" pitchFamily="34" charset="0"/>
                <a:ea typeface="Arial" pitchFamily="34" charset="-122"/>
                <a:cs typeface="Arial" pitchFamily="34" charset="-120"/>
              </a:rPr>
              <a:t>Let I1 and I2 be two program statements.
</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 Read Set (R_i):</a:t>
            </a:r>
            <a:pPr indent="0" marL="0">
              <a:buNone/>
            </a:pPr>
            <a:r>
              <a:rPr lang="en-US" sz="1250" dirty="0">
                <a:solidFill>
                  <a:srgbClr val="000000"/>
                </a:solidFill>
                <a:latin typeface="Arial" pitchFamily="34" charset="0"/>
                <a:ea typeface="Arial" pitchFamily="34" charset="-122"/>
                <a:cs typeface="Arial" pitchFamily="34" charset="-120"/>
              </a:rPr>
              <a:t> Set of all variables read by statement I_i.
</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 Write Set (W_i):</a:t>
            </a:r>
            <a:pPr indent="0" marL="0">
              <a:buNone/>
            </a:pPr>
            <a:r>
              <a:rPr lang="en-US" sz="1250" dirty="0">
                <a:solidFill>
                  <a:srgbClr val="000000"/>
                </a:solidFill>
                <a:latin typeface="Arial" pitchFamily="34" charset="0"/>
                <a:ea typeface="Arial" pitchFamily="34" charset="-122"/>
                <a:cs typeface="Arial" pitchFamily="34" charset="-120"/>
              </a:rPr>
              <a:t> Set of all variables modified by statement I_i.
</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Statements I1 and I2 can execute in parallel (I1 || I2) if and only if they satisfy three conditions:
</a:t>
            </a:r>
            <a:pPr indent="0" marL="0">
              <a:buNone/>
            </a:pPr>
            <a:r>
              <a:rPr lang="en-US" sz="1250" b="1" dirty="0">
                <a:solidFill>
                  <a:srgbClr val="990033"/>
                </a:solidFill>
                <a:latin typeface="Arial" pitchFamily="34" charset="0"/>
                <a:ea typeface="Arial" pitchFamily="34" charset="-122"/>
                <a:cs typeface="Arial" pitchFamily="34" charset="-120"/>
              </a:rPr>
              <a:t>1.  R1 ∩ W2 = ∅  (No Flow Dependency)
</a:t>
            </a:r>
            <a:pPr indent="0" marL="0">
              <a:buNone/>
            </a:pPr>
            <a:r>
              <a:rPr lang="en-US" sz="1250" b="1" dirty="0">
                <a:solidFill>
                  <a:srgbClr val="990033"/>
                </a:solidFill>
                <a:latin typeface="Arial" pitchFamily="34" charset="0"/>
                <a:ea typeface="Arial" pitchFamily="34" charset="-122"/>
                <a:cs typeface="Arial" pitchFamily="34" charset="-120"/>
              </a:rPr>
              <a:t>2.  W1 ∩ R2 = ∅  (No Anti-Dependency)
</a:t>
            </a:r>
            <a:pPr indent="0" marL="0">
              <a:buNone/>
            </a:pPr>
            <a:r>
              <a:rPr lang="en-US" sz="1250" b="1" dirty="0">
                <a:solidFill>
                  <a:srgbClr val="990033"/>
                </a:solidFill>
                <a:latin typeface="Arial" pitchFamily="34" charset="0"/>
                <a:ea typeface="Arial" pitchFamily="34" charset="-122"/>
                <a:cs typeface="Arial" pitchFamily="34" charset="-120"/>
              </a:rPr>
              <a:t>3.  W1 ∩ W2 = ∅  (No Output Dependency)</a:t>
            </a:r>
            <a:endParaRPr lang="en-US" sz="1250" dirty="0"/>
          </a:p>
        </p:txBody>
      </p:sp>
      <p:sp>
        <p:nvSpPr>
          <p:cNvPr id="19" name="Shape 16"/>
          <p:cNvSpPr/>
          <p:nvPr/>
        </p:nvSpPr>
        <p:spPr>
          <a:xfrm>
            <a:off x="6035040" y="2103120"/>
            <a:ext cx="5715000" cy="4114800"/>
          </a:xfrm>
          <a:prstGeom prst="roundRect">
            <a:avLst>
              <a:gd name="adj" fmla="val 2222"/>
            </a:avLst>
          </a:prstGeom>
          <a:solidFill>
            <a:srgbClr val="FFF9C4"/>
          </a:solidFill>
          <a:ln w="19050">
            <a:solidFill>
              <a:srgbClr val="F57F17"/>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F57F17"/>
                </a:solidFill>
                <a:latin typeface="Courier New" pitchFamily="34" charset="0"/>
                <a:ea typeface="Courier New" pitchFamily="34" charset="-122"/>
                <a:cs typeface="Courier New" pitchFamily="34" charset="-120"/>
              </a:rPr>
              <a:t>Dependency Tracing Example</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300" dirty="0">
                <a:solidFill>
                  <a:srgbClr val="555555"/>
                </a:solidFill>
                <a:latin typeface="Courier New" pitchFamily="34" charset="0"/>
                <a:ea typeface="Courier New" pitchFamily="34" charset="-122"/>
                <a:cs typeface="Courier New" pitchFamily="34" charset="-120"/>
              </a:rPr>
              <a:t>-- Assume two statements:
</a:t>
            </a:r>
            <a:pPr indent="0" marL="0">
              <a:buNone/>
            </a:pPr>
            <a:r>
              <a:rPr lang="en-US" sz="1300" b="1" dirty="0">
                <a:solidFill>
                  <a:srgbClr val="000000"/>
                </a:solidFill>
                <a:latin typeface="Courier New" pitchFamily="34" charset="0"/>
                <a:ea typeface="Courier New" pitchFamily="34" charset="-122"/>
                <a:cs typeface="Courier New" pitchFamily="34" charset="-120"/>
              </a:rPr>
              <a:t>I1: A := B + C;
</a:t>
            </a:r>
            <a:pPr indent="0" marL="0">
              <a:buNone/>
            </a:pPr>
            <a:r>
              <a:rPr lang="en-US" sz="1300" b="1" dirty="0">
                <a:solidFill>
                  <a:srgbClr val="000000"/>
                </a:solidFill>
                <a:latin typeface="Courier New" pitchFamily="34" charset="0"/>
                <a:ea typeface="Courier New" pitchFamily="34" charset="-122"/>
                <a:cs typeface="Courier New" pitchFamily="34" charset="-120"/>
              </a:rPr>
              <a:t>I2: D := A * E;
</a:t>
            </a:r>
            <a:pPr indent="0" marL="0">
              <a:buNone/>
            </a:pPr>
            <a:r>
              <a:rPr lang="en-US" sz="1300" b="1" dirty="0">
                <a:solidFill>
                  <a:srgbClr val="000000"/>
                </a:solidFill>
                <a:latin typeface="Courier New" pitchFamily="34" charset="0"/>
                <a:ea typeface="Courier New" pitchFamily="34" charset="-122"/>
                <a:cs typeface="Courier New" pitchFamily="34" charset="-120"/>
              </a:rPr>
              <a:t>• Read/Write Sets:
</a:t>
            </a:r>
            <a:pPr indent="0" marL="0">
              <a:buNone/>
            </a:pPr>
            <a:r>
              <a:rPr lang="en-US" sz="1300" dirty="0">
                <a:solidFill>
                  <a:srgbClr val="000000"/>
                </a:solidFill>
                <a:latin typeface="Courier New" pitchFamily="34" charset="0"/>
                <a:ea typeface="Courier New" pitchFamily="34" charset="-122"/>
                <a:cs typeface="Courier New" pitchFamily="34" charset="-120"/>
              </a:rPr>
              <a:t>  R1 = {B, C}       W1 = {A}
</a:t>
            </a:r>
            <a:pPr indent="0" marL="0">
              <a:buNone/>
            </a:pPr>
            <a:r>
              <a:rPr lang="en-US" sz="1300" dirty="0">
                <a:solidFill>
                  <a:srgbClr val="000000"/>
                </a:solidFill>
                <a:latin typeface="Courier New" pitchFamily="34" charset="0"/>
                <a:ea typeface="Courier New" pitchFamily="34" charset="-122"/>
                <a:cs typeface="Courier New" pitchFamily="34" charset="-120"/>
              </a:rPr>
              <a:t>  R2 = {A, E}       W2 = {D}
</a:t>
            </a:r>
            <a:pPr indent="0" marL="0">
              <a:buNone/>
            </a:pPr>
            <a:r>
              <a:rPr lang="en-US" sz="1300" b="1" dirty="0">
                <a:solidFill>
                  <a:srgbClr val="000000"/>
                </a:solidFill>
                <a:latin typeface="Courier New" pitchFamily="34" charset="0"/>
                <a:ea typeface="Courier New" pitchFamily="34" charset="-122"/>
                <a:cs typeface="Courier New" pitchFamily="34" charset="-120"/>
              </a:rPr>
              <a:t>• Check Bernstein's Rules:
</a:t>
            </a:r>
            <a:pPr indent="0" marL="0">
              <a:buNone/>
            </a:pPr>
            <a:r>
              <a:rPr lang="en-US" sz="1300" dirty="0">
                <a:solidFill>
                  <a:srgbClr val="006400"/>
                </a:solidFill>
                <a:latin typeface="Courier New" pitchFamily="34" charset="0"/>
                <a:ea typeface="Courier New" pitchFamily="34" charset="-122"/>
                <a:cs typeface="Courier New" pitchFamily="34" charset="-120"/>
              </a:rPr>
              <a:t>  R1 ∩ W2 = ∅   ✔
</a:t>
            </a:r>
            <a:pPr indent="0" marL="0">
              <a:buNone/>
            </a:pPr>
            <a:r>
              <a:rPr lang="en-US" sz="1300" b="1" dirty="0">
                <a:solidFill>
                  <a:srgbClr val="990033"/>
                </a:solidFill>
                <a:latin typeface="Courier New" pitchFamily="34" charset="0"/>
                <a:ea typeface="Courier New" pitchFamily="34" charset="-122"/>
                <a:cs typeface="Courier New" pitchFamily="34" charset="-120"/>
              </a:rPr>
              <a:t>  W1 ∩ R2 = {A} ✘ (Flow Dependency)
</a:t>
            </a:r>
            <a:pPr indent="0" marL="0">
              <a:buNone/>
            </a:pPr>
            <a:r>
              <a:rPr lang="en-US" sz="1300" dirty="0">
                <a:solidFill>
                  <a:srgbClr val="006400"/>
                </a:solidFill>
                <a:latin typeface="Courier New" pitchFamily="34" charset="0"/>
                <a:ea typeface="Courier New" pitchFamily="34" charset="-122"/>
                <a:cs typeface="Courier New" pitchFamily="34" charset="-120"/>
              </a:rPr>
              <a:t>  W1 ∩ W2 = ∅   ✔
</a:t>
            </a:r>
            <a:pPr indent="0" marL="0">
              <a:buNone/>
            </a:pPr>
            <a:r>
              <a:rPr lang="en-US" sz="1300" b="1" dirty="0">
                <a:solidFill>
                  <a:srgbClr val="990033"/>
                </a:solidFill>
                <a:latin typeface="Courier New" pitchFamily="34" charset="0"/>
                <a:ea typeface="Courier New" pitchFamily="34" charset="-122"/>
                <a:cs typeface="Courier New" pitchFamily="34" charset="-120"/>
              </a:rPr>
              <a:t>• Conclusion: I1 and I2 CANNOT run in parallel. I2 must wait for I1.</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Computer Architecture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System Interconnect Architectures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Parallel systems use different network topologies to route data between processors and memory:</a:t>
            </a:r>
            <a:endParaRPr lang="en-US" sz="1400" dirty="0"/>
          </a:p>
        </p:txBody>
      </p:sp>
      <p:sp>
        <p:nvSpPr>
          <p:cNvPr id="16" name="Shape 13"/>
          <p:cNvSpPr/>
          <p:nvPr/>
        </p:nvSpPr>
        <p:spPr>
          <a:xfrm>
            <a:off x="457200" y="2103120"/>
            <a:ext cx="3657600" cy="4206240"/>
          </a:xfrm>
          <a:prstGeom prst="roundRect">
            <a:avLst>
              <a:gd name="adj" fmla="val 2500"/>
            </a:avLst>
          </a:prstGeom>
          <a:solidFill>
            <a:srgbClr val="E8F5E9"/>
          </a:solidFill>
          <a:ln w="19050">
            <a:solidFill>
              <a:srgbClr val="009900"/>
            </a:solidFill>
            <a:prstDash val="solid"/>
          </a:ln>
        </p:spPr>
      </p:sp>
      <p:sp>
        <p:nvSpPr>
          <p:cNvPr id="17" name="Text 14"/>
          <p:cNvSpPr/>
          <p:nvPr/>
        </p:nvSpPr>
        <p:spPr>
          <a:xfrm>
            <a:off x="566928" y="2194560"/>
            <a:ext cx="3438144" cy="347472"/>
          </a:xfrm>
          <a:prstGeom prst="rect">
            <a:avLst/>
          </a:prstGeom>
          <a:noFill/>
          <a:ln/>
        </p:spPr>
        <p:txBody>
          <a:bodyPr wrap="square" lIns="0" tIns="0" rIns="0" bIns="0" rtlCol="0" anchor="ctr"/>
          <a:lstStyle/>
          <a:p>
            <a:pPr indent="0" marL="0">
              <a:buNone/>
            </a:pPr>
            <a:r>
              <a:rPr lang="en-US" sz="1450" b="1" dirty="0">
                <a:solidFill>
                  <a:srgbClr val="009900"/>
                </a:solidFill>
                <a:latin typeface="Arial" pitchFamily="34" charset="0"/>
                <a:ea typeface="Arial" pitchFamily="34" charset="-122"/>
                <a:cs typeface="Arial" pitchFamily="34" charset="-120"/>
              </a:rPr>
              <a:t>1. Shared Bus Network</a:t>
            </a:r>
            <a:endParaRPr lang="en-US" sz="1450" dirty="0"/>
          </a:p>
        </p:txBody>
      </p:sp>
      <p:sp>
        <p:nvSpPr>
          <p:cNvPr id="18" name="Text 15"/>
          <p:cNvSpPr/>
          <p:nvPr/>
        </p:nvSpPr>
        <p:spPr>
          <a:xfrm>
            <a:off x="566928" y="2578608"/>
            <a:ext cx="3438144" cy="3675888"/>
          </a:xfrm>
          <a:prstGeom prst="rect">
            <a:avLst/>
          </a:prstGeom>
          <a:noFill/>
          <a:ln/>
        </p:spPr>
        <p:txBody>
          <a:bodyPr wrap="square" lIns="0" tIns="0" rIns="0" bIns="0" rtlCol="0" anchor="ctr"/>
          <a:lstStyle/>
          <a:p>
            <a:pPr indent="0" marL="0">
              <a:buNone/>
            </a:pPr>
            <a:r>
              <a:rPr lang="en-US" sz="1250" dirty="0">
                <a:solidFill>
                  <a:srgbClr val="000000"/>
                </a:solidFill>
                <a:latin typeface="Arial" pitchFamily="34" charset="0"/>
                <a:ea typeface="Arial" pitchFamily="34" charset="-122"/>
                <a:cs typeface="Arial" pitchFamily="34" charset="-120"/>
              </a:rPr>
              <a:t>• Description: A single shared communication line connects all processors and memory modules.</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Cost: Very low.</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Bottleneck: Serious bandwidth congestion as node count scales past 8-16 processors.</a:t>
            </a:r>
            <a:endParaRPr lang="en-US" sz="1250" dirty="0"/>
          </a:p>
        </p:txBody>
      </p:sp>
      <p:sp>
        <p:nvSpPr>
          <p:cNvPr id="19" name="Shape 16"/>
          <p:cNvSpPr/>
          <p:nvPr/>
        </p:nvSpPr>
        <p:spPr>
          <a:xfrm>
            <a:off x="4251960" y="2103120"/>
            <a:ext cx="3657600" cy="4206240"/>
          </a:xfrm>
          <a:prstGeom prst="roundRect">
            <a:avLst>
              <a:gd name="adj" fmla="val 2500"/>
            </a:avLst>
          </a:prstGeom>
          <a:solidFill>
            <a:srgbClr val="E3F2FD"/>
          </a:solidFill>
          <a:ln w="19050">
            <a:solidFill>
              <a:srgbClr val="1565C0"/>
            </a:solidFill>
            <a:prstDash val="solid"/>
          </a:ln>
        </p:spPr>
      </p:sp>
      <p:sp>
        <p:nvSpPr>
          <p:cNvPr id="20" name="Text 17"/>
          <p:cNvSpPr/>
          <p:nvPr/>
        </p:nvSpPr>
        <p:spPr>
          <a:xfrm>
            <a:off x="4361688" y="2194560"/>
            <a:ext cx="3438144" cy="347472"/>
          </a:xfrm>
          <a:prstGeom prst="rect">
            <a:avLst/>
          </a:prstGeom>
          <a:noFill/>
          <a:ln/>
        </p:spPr>
        <p:txBody>
          <a:bodyPr wrap="square" lIns="0" tIns="0" rIns="0" bIns="0" rtlCol="0" anchor="ctr"/>
          <a:lstStyle/>
          <a:p>
            <a:pPr indent="0" marL="0">
              <a:buNone/>
            </a:pPr>
            <a:r>
              <a:rPr lang="en-US" sz="1450" b="1" dirty="0">
                <a:solidFill>
                  <a:srgbClr val="1565C0"/>
                </a:solidFill>
                <a:latin typeface="Arial" pitchFamily="34" charset="0"/>
                <a:ea typeface="Arial" pitchFamily="34" charset="-122"/>
                <a:cs typeface="Arial" pitchFamily="34" charset="-120"/>
              </a:rPr>
              <a:t>2. Crossbar Switch</a:t>
            </a:r>
            <a:endParaRPr lang="en-US" sz="1450" dirty="0"/>
          </a:p>
        </p:txBody>
      </p:sp>
      <p:sp>
        <p:nvSpPr>
          <p:cNvPr id="21" name="Text 18"/>
          <p:cNvSpPr/>
          <p:nvPr/>
        </p:nvSpPr>
        <p:spPr>
          <a:xfrm>
            <a:off x="4361688" y="2578608"/>
            <a:ext cx="3438144" cy="3675888"/>
          </a:xfrm>
          <a:prstGeom prst="rect">
            <a:avLst/>
          </a:prstGeom>
          <a:noFill/>
          <a:ln/>
        </p:spPr>
        <p:txBody>
          <a:bodyPr wrap="square" lIns="0" tIns="0" rIns="0" bIns="0" rtlCol="0" anchor="ctr"/>
          <a:lstStyle/>
          <a:p>
            <a:pPr indent="0" marL="0">
              <a:buNone/>
            </a:pPr>
            <a:r>
              <a:rPr lang="en-US" sz="1250" dirty="0">
                <a:solidFill>
                  <a:srgbClr val="000000"/>
                </a:solidFill>
                <a:latin typeface="Arial" pitchFamily="34" charset="0"/>
                <a:ea typeface="Arial" pitchFamily="34" charset="-122"/>
                <a:cs typeface="Arial" pitchFamily="34" charset="-120"/>
              </a:rPr>
              <a:t>• Description: A matrix of grid switches connecting every processor directly to every memory module.</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Performance: Maximum bandwidth; zero blocking conflicts.</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Cost: O(N²) switches — very expensive for large systems.</a:t>
            </a:r>
            <a:endParaRPr lang="en-US" sz="1250" dirty="0"/>
          </a:p>
        </p:txBody>
      </p:sp>
      <p:sp>
        <p:nvSpPr>
          <p:cNvPr id="22" name="Shape 19"/>
          <p:cNvSpPr/>
          <p:nvPr/>
        </p:nvSpPr>
        <p:spPr>
          <a:xfrm>
            <a:off x="8046720" y="2103120"/>
            <a:ext cx="3657600" cy="4206240"/>
          </a:xfrm>
          <a:prstGeom prst="roundRect">
            <a:avLst>
              <a:gd name="adj" fmla="val 2500"/>
            </a:avLst>
          </a:prstGeom>
          <a:solidFill>
            <a:srgbClr val="FFF9C4"/>
          </a:solidFill>
          <a:ln w="19050">
            <a:solidFill>
              <a:srgbClr val="F57F17"/>
            </a:solidFill>
            <a:prstDash val="solid"/>
          </a:ln>
        </p:spPr>
      </p:sp>
      <p:sp>
        <p:nvSpPr>
          <p:cNvPr id="23" name="Text 20"/>
          <p:cNvSpPr/>
          <p:nvPr/>
        </p:nvSpPr>
        <p:spPr>
          <a:xfrm>
            <a:off x="8156448" y="2194560"/>
            <a:ext cx="3438144" cy="347472"/>
          </a:xfrm>
          <a:prstGeom prst="rect">
            <a:avLst/>
          </a:prstGeom>
          <a:noFill/>
          <a:ln/>
        </p:spPr>
        <p:txBody>
          <a:bodyPr wrap="square" lIns="0" tIns="0" rIns="0" bIns="0" rtlCol="0" anchor="ctr"/>
          <a:lstStyle/>
          <a:p>
            <a:pPr indent="0" marL="0">
              <a:buNone/>
            </a:pPr>
            <a:r>
              <a:rPr lang="en-US" sz="1450" b="1" dirty="0">
                <a:solidFill>
                  <a:srgbClr val="F57F17"/>
                </a:solidFill>
                <a:latin typeface="Arial" pitchFamily="34" charset="0"/>
                <a:ea typeface="Arial" pitchFamily="34" charset="-122"/>
                <a:cs typeface="Arial" pitchFamily="34" charset="-120"/>
              </a:rPr>
              <a:t>3. Multistage Networks (MINs)</a:t>
            </a:r>
            <a:endParaRPr lang="en-US" sz="1450" dirty="0"/>
          </a:p>
        </p:txBody>
      </p:sp>
      <p:sp>
        <p:nvSpPr>
          <p:cNvPr id="24" name="Text 21"/>
          <p:cNvSpPr/>
          <p:nvPr/>
        </p:nvSpPr>
        <p:spPr>
          <a:xfrm>
            <a:off x="8156448" y="2578608"/>
            <a:ext cx="3438144" cy="3675888"/>
          </a:xfrm>
          <a:prstGeom prst="rect">
            <a:avLst/>
          </a:prstGeom>
          <a:noFill/>
          <a:ln/>
        </p:spPr>
        <p:txBody>
          <a:bodyPr wrap="square" lIns="0" tIns="0" rIns="0" bIns="0" rtlCol="0" anchor="ctr"/>
          <a:lstStyle/>
          <a:p>
            <a:pPr indent="0" marL="0">
              <a:buNone/>
            </a:pPr>
            <a:r>
              <a:rPr lang="en-US" sz="1250" dirty="0">
                <a:solidFill>
                  <a:srgbClr val="000000"/>
                </a:solidFill>
                <a:latin typeface="Arial" pitchFamily="34" charset="0"/>
                <a:ea typeface="Arial" pitchFamily="34" charset="-122"/>
                <a:cs typeface="Arial" pitchFamily="34" charset="-120"/>
              </a:rPr>
              <a:t>• Description: Uses stages of small 2x2 switches (like Omega or Butterfly networks) to route packets.</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Trade-off: Balanced cost O(N log N) and good scaling throughput. Standard in supercomputer grids.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Computer Architecture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Applications of Parallel Models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Parallel architectures and dependency models drive modern high-performance systems:</a:t>
            </a:r>
            <a:endParaRPr lang="en-US" sz="1400" dirty="0"/>
          </a:p>
        </p:txBody>
      </p:sp>
      <p:sp>
        <p:nvSpPr>
          <p:cNvPr id="16" name="Shape 13"/>
          <p:cNvSpPr/>
          <p:nvPr/>
        </p:nvSpPr>
        <p:spPr>
          <a:xfrm>
            <a:off x="457200" y="2011680"/>
            <a:ext cx="5532120" cy="1956816"/>
          </a:xfrm>
          <a:prstGeom prst="roundRect">
            <a:avLst>
              <a:gd name="adj" fmla="val 4673"/>
            </a:avLst>
          </a:prstGeom>
          <a:solidFill>
            <a:srgbClr val="E8F5E9"/>
          </a:solidFill>
          <a:ln w="19050">
            <a:solidFill>
              <a:srgbClr val="009900"/>
            </a:solidFill>
            <a:prstDash val="solid"/>
          </a:ln>
        </p:spPr>
      </p:sp>
      <p:sp>
        <p:nvSpPr>
          <p:cNvPr id="17" name="Text 14"/>
          <p:cNvSpPr/>
          <p:nvPr/>
        </p:nvSpPr>
        <p:spPr>
          <a:xfrm>
            <a:off x="566928" y="2103120"/>
            <a:ext cx="5312664" cy="347472"/>
          </a:xfrm>
          <a:prstGeom prst="rect">
            <a:avLst/>
          </a:prstGeom>
          <a:noFill/>
          <a:ln/>
        </p:spPr>
        <p:txBody>
          <a:bodyPr wrap="square" lIns="0" tIns="0" rIns="0" bIns="0" rtlCol="0" anchor="ctr"/>
          <a:lstStyle/>
          <a:p>
            <a:pPr indent="0" marL="0">
              <a:buNone/>
            </a:pPr>
            <a:r>
              <a:rPr lang="en-US" sz="1450" b="1" dirty="0">
                <a:solidFill>
                  <a:srgbClr val="009900"/>
                </a:solidFill>
                <a:latin typeface="Arial" pitchFamily="34" charset="0"/>
                <a:ea typeface="Arial" pitchFamily="34" charset="-122"/>
                <a:cs typeface="Arial" pitchFamily="34" charset="-120"/>
              </a:rPr>
              <a:t>⚙️  Optimizing Compilers</a:t>
            </a:r>
            <a:endParaRPr lang="en-US" sz="1450" dirty="0"/>
          </a:p>
        </p:txBody>
      </p:sp>
      <p:sp>
        <p:nvSpPr>
          <p:cNvPr id="18" name="Text 15"/>
          <p:cNvSpPr/>
          <p:nvPr/>
        </p:nvSpPr>
        <p:spPr>
          <a:xfrm>
            <a:off x="566928"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Compilers apply Bernstein's conditions to construct dependency graphs of code instructions. Allows compilers to schedule instructions to run in parallel on multicore CPUs safely.</a:t>
            </a:r>
            <a:endParaRPr lang="en-US" sz="1300" dirty="0"/>
          </a:p>
        </p:txBody>
      </p:sp>
      <p:sp>
        <p:nvSpPr>
          <p:cNvPr id="19" name="Shape 16"/>
          <p:cNvSpPr/>
          <p:nvPr/>
        </p:nvSpPr>
        <p:spPr>
          <a:xfrm>
            <a:off x="6144768" y="2011680"/>
            <a:ext cx="5532120" cy="1956816"/>
          </a:xfrm>
          <a:prstGeom prst="roundRect">
            <a:avLst>
              <a:gd name="adj" fmla="val 4673"/>
            </a:avLst>
          </a:prstGeom>
          <a:solidFill>
            <a:srgbClr val="E3F2FD"/>
          </a:solidFill>
          <a:ln w="19050">
            <a:solidFill>
              <a:srgbClr val="1565C0"/>
            </a:solidFill>
            <a:prstDash val="solid"/>
          </a:ln>
        </p:spPr>
      </p:sp>
      <p:sp>
        <p:nvSpPr>
          <p:cNvPr id="20" name="Text 17"/>
          <p:cNvSpPr/>
          <p:nvPr/>
        </p:nvSpPr>
        <p:spPr>
          <a:xfrm>
            <a:off x="6254496" y="2103120"/>
            <a:ext cx="5312664" cy="347472"/>
          </a:xfrm>
          <a:prstGeom prst="rect">
            <a:avLst/>
          </a:prstGeom>
          <a:noFill/>
          <a:ln/>
        </p:spPr>
        <p:txBody>
          <a:bodyPr wrap="square" lIns="0" tIns="0" rIns="0" bIns="0" rtlCol="0" anchor="ctr"/>
          <a:lstStyle/>
          <a:p>
            <a:pPr indent="0" marL="0">
              <a:buNone/>
            </a:pPr>
            <a:r>
              <a:rPr lang="en-US" sz="1450" b="1" dirty="0">
                <a:solidFill>
                  <a:srgbClr val="1565C0"/>
                </a:solidFill>
                <a:latin typeface="Arial" pitchFamily="34" charset="0"/>
                <a:ea typeface="Arial" pitchFamily="34" charset="-122"/>
                <a:cs typeface="Arial" pitchFamily="34" charset="-120"/>
              </a:rPr>
              <a:t>🎮  GPU Vector Processing</a:t>
            </a:r>
            <a:endParaRPr lang="en-US" sz="1450" dirty="0"/>
          </a:p>
        </p:txBody>
      </p:sp>
      <p:sp>
        <p:nvSpPr>
          <p:cNvPr id="21" name="Text 18"/>
          <p:cNvSpPr/>
          <p:nvPr/>
        </p:nvSpPr>
        <p:spPr>
          <a:xfrm>
            <a:off x="6254496"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Modern graphics cards partition image rendering logic into millions of vector threads. Executing them in parallel speeds up real-time 3D games.</a:t>
            </a:r>
            <a:endParaRPr lang="en-US" sz="1300" dirty="0"/>
          </a:p>
        </p:txBody>
      </p:sp>
      <p:sp>
        <p:nvSpPr>
          <p:cNvPr id="22" name="Shape 19"/>
          <p:cNvSpPr/>
          <p:nvPr/>
        </p:nvSpPr>
        <p:spPr>
          <a:xfrm>
            <a:off x="457200" y="4114800"/>
            <a:ext cx="5532120" cy="1956816"/>
          </a:xfrm>
          <a:prstGeom prst="roundRect">
            <a:avLst>
              <a:gd name="adj" fmla="val 4673"/>
            </a:avLst>
          </a:prstGeom>
          <a:solidFill>
            <a:srgbClr val="FCE4EC"/>
          </a:solidFill>
          <a:ln w="19050">
            <a:solidFill>
              <a:srgbClr val="990033"/>
            </a:solidFill>
            <a:prstDash val="solid"/>
          </a:ln>
        </p:spPr>
      </p:sp>
      <p:sp>
        <p:nvSpPr>
          <p:cNvPr id="23" name="Text 20"/>
          <p:cNvSpPr/>
          <p:nvPr/>
        </p:nvSpPr>
        <p:spPr>
          <a:xfrm>
            <a:off x="566928" y="4206240"/>
            <a:ext cx="5312664" cy="347472"/>
          </a:xfrm>
          <a:prstGeom prst="rect">
            <a:avLst/>
          </a:prstGeom>
          <a:noFill/>
          <a:ln/>
        </p:spPr>
        <p:txBody>
          <a:bodyPr wrap="square" lIns="0" tIns="0" rIns="0" bIns="0" rtlCol="0" anchor="ctr"/>
          <a:lstStyle/>
          <a:p>
            <a:pPr indent="0" marL="0">
              <a:buNone/>
            </a:pPr>
            <a:r>
              <a:rPr lang="en-US" sz="1450" b="1" dirty="0">
                <a:solidFill>
                  <a:srgbClr val="990033"/>
                </a:solidFill>
                <a:latin typeface="Arial" pitchFamily="34" charset="0"/>
                <a:ea typeface="Arial" pitchFamily="34" charset="-122"/>
                <a:cs typeface="Arial" pitchFamily="34" charset="-120"/>
              </a:rPr>
              <a:t>🧬  Distributed Supercomputing</a:t>
            </a:r>
            <a:endParaRPr lang="en-US" sz="1450" dirty="0"/>
          </a:p>
        </p:txBody>
      </p:sp>
      <p:sp>
        <p:nvSpPr>
          <p:cNvPr id="24" name="Text 21"/>
          <p:cNvSpPr/>
          <p:nvPr/>
        </p:nvSpPr>
        <p:spPr>
          <a:xfrm>
            <a:off x="566928"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Supercomputers (like weather models) partition computations across thousands of nodes using MPI libraries to solve problems in days instead of years.</a:t>
            </a:r>
            <a:endParaRPr lang="en-US" sz="1300" dirty="0"/>
          </a:p>
        </p:txBody>
      </p:sp>
      <p:sp>
        <p:nvSpPr>
          <p:cNvPr id="25" name="Shape 22"/>
          <p:cNvSpPr/>
          <p:nvPr/>
        </p:nvSpPr>
        <p:spPr>
          <a:xfrm>
            <a:off x="6144768" y="4114800"/>
            <a:ext cx="5532120" cy="1956816"/>
          </a:xfrm>
          <a:prstGeom prst="roundRect">
            <a:avLst>
              <a:gd name="adj" fmla="val 4673"/>
            </a:avLst>
          </a:prstGeom>
          <a:solidFill>
            <a:srgbClr val="FFF9C4"/>
          </a:solidFill>
          <a:ln w="19050">
            <a:solidFill>
              <a:srgbClr val="F57F17"/>
            </a:solidFill>
            <a:prstDash val="solid"/>
          </a:ln>
        </p:spPr>
      </p:sp>
      <p:sp>
        <p:nvSpPr>
          <p:cNvPr id="26" name="Text 23"/>
          <p:cNvSpPr/>
          <p:nvPr/>
        </p:nvSpPr>
        <p:spPr>
          <a:xfrm>
            <a:off x="6254496" y="4206240"/>
            <a:ext cx="5312664" cy="347472"/>
          </a:xfrm>
          <a:prstGeom prst="rect">
            <a:avLst/>
          </a:prstGeom>
          <a:noFill/>
          <a:ln/>
        </p:spPr>
        <p:txBody>
          <a:bodyPr wrap="square" lIns="0" tIns="0" rIns="0" bIns="0" rtlCol="0" anchor="ctr"/>
          <a:lstStyle/>
          <a:p>
            <a:pPr indent="0" marL="0">
              <a:buNone/>
            </a:pPr>
            <a:r>
              <a:rPr lang="en-US" sz="1450" b="1" dirty="0">
                <a:solidFill>
                  <a:srgbClr val="F57F17"/>
                </a:solidFill>
                <a:latin typeface="Arial" pitchFamily="34" charset="0"/>
                <a:ea typeface="Arial" pitchFamily="34" charset="-122"/>
                <a:cs typeface="Arial" pitchFamily="34" charset="-120"/>
              </a:rPr>
              <a:t>🗃️  Database Query Partitioning</a:t>
            </a:r>
            <a:endParaRPr lang="en-US" sz="1450" dirty="0"/>
          </a:p>
        </p:txBody>
      </p:sp>
      <p:sp>
        <p:nvSpPr>
          <p:cNvPr id="27" name="Text 24"/>
          <p:cNvSpPr/>
          <p:nvPr/>
        </p:nvSpPr>
        <p:spPr>
          <a:xfrm>
            <a:off x="6254496"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Cloud databases partition tables and queries. Running lookups in parallel across nodes decreases query latencies under load.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Computer Architecture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2377440"/>
            <a:ext cx="11292840" cy="1371600"/>
          </a:xfrm>
          <a:prstGeom prst="rect">
            <a:avLst/>
          </a:prstGeom>
          <a:noFill/>
          <a:ln/>
        </p:spPr>
        <p:txBody>
          <a:bodyPr wrap="square" rtlCol="0" anchor="ctr"/>
          <a:lstStyle/>
          <a:p>
            <a:pPr algn="ctr" indent="0" marL="0">
              <a:buNone/>
            </a:pPr>
            <a:r>
              <a:rPr lang="en-US" sz="4800" b="1" dirty="0">
                <a:solidFill>
                  <a:srgbClr val="990033"/>
                </a:solidFill>
                <a:latin typeface="Arial" pitchFamily="34" charset="0"/>
                <a:ea typeface="Arial" pitchFamily="34" charset="-122"/>
                <a:cs typeface="Arial" pitchFamily="34" charset="-120"/>
              </a:rPr>
              <a:t>THANK YOU</a:t>
            </a:r>
            <a:endParaRPr lang="en-US" sz="4800" dirty="0"/>
          </a:p>
        </p:txBody>
      </p:sp>
      <p:sp>
        <p:nvSpPr>
          <p:cNvPr id="14" name="Text 11"/>
          <p:cNvSpPr/>
          <p:nvPr/>
        </p:nvSpPr>
        <p:spPr>
          <a:xfrm>
            <a:off x="457200" y="5029200"/>
            <a:ext cx="11292840" cy="822960"/>
          </a:xfrm>
          <a:prstGeom prst="rect">
            <a:avLst/>
          </a:prstGeom>
          <a:noFill/>
          <a:ln/>
        </p:spPr>
        <p:txBody>
          <a:bodyPr wrap="square" rtlCol="0" anchor="ctr"/>
          <a:lstStyle/>
          <a:p>
            <a:pPr algn="ctr" indent="0" marL="0">
              <a:buNone/>
            </a:pPr>
            <a:r>
              <a:rPr lang="en-US" sz="1300" dirty="0">
                <a:solidFill>
                  <a:srgbClr val="555555"/>
                </a:solidFill>
                <a:latin typeface="Arial" pitchFamily="34" charset="0"/>
                <a:ea typeface="Arial" pitchFamily="34" charset="-122"/>
                <a:cs typeface="Arial" pitchFamily="34" charset="-120"/>
              </a:rPr>
              <a:t>Department of Computer Science and Engineering</a:t>
            </a:r>
            <a:endParaRPr lang="en-US" sz="1300" dirty="0"/>
          </a:p>
          <a:p>
            <a:pPr algn="ctr" indent="0" marL="0">
              <a:buNone/>
            </a:pPr>
            <a:r>
              <a:rPr lang="en-US" sz="1300" dirty="0">
                <a:solidFill>
                  <a:srgbClr val="555555"/>
                </a:solidFill>
                <a:latin typeface="Arial" pitchFamily="34" charset="0"/>
                <a:ea typeface="Arial" pitchFamily="34" charset="-122"/>
                <a:cs typeface="Arial" pitchFamily="34" charset="-120"/>
              </a:rPr>
              <a:t>Marri Laxman Reddy Institute of Technology and Management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2026-06-14T11:41:09Z</dcterms:created>
  <dcterms:modified xsi:type="dcterms:W3CDTF">2026-06-14T11:41:10Z</dcterms:modified>
</cp:coreProperties>
</file>