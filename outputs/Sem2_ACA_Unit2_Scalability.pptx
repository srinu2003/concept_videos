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Srinivas Rao Tammireddy, and today I will be presenting on 'Amdahl's Law vs. Gustafson's Law' as part of the Advanced Computer Architecture course for my M.Tech in Computer Science and Engineering. In this session, we will explore the concepts of scalability and speedup metrics, discuss Amdahl's fixed-workload speedup law, contrast it with Gustafson's scaled-workload speedup law, examine their direct comparisons, and discuss their real-world applications in hardware and software 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start by understanding the concepts of scalability and speedup, which measure performance gains from parallel computing. Speedup is mathematically defined as the ratio of single-processor execution time to multi-processor execution time. Under ideal conditions, we expect linear speedup—meaning that daily scaling. Crucially, every program contains a serial fraction that cannot be parallelized, such as initialization blocks or file write operations. This serial portion remains constant regardless of the number of cores added, forming a persistent bottleneck. We analyze these performance limitations using two main scalability formulations: Amdahl's Law and Gustafson's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 Amdahl formulated his law in 1967, assuming a fixed problem workload size. The Amdahl's speedup formula is S-p equals one divided by the quantity of the serial fraction plus the parallel fraction divided by processor count. As the number of processors approaches infinity, the parallel fraction term vanishes, leaving the maximum speedup bounded strictly by one divided by the serial fraction. For example, if only five percent of a program is sequential, your absolute maximum speedup is twenty, even if you deploy an infinite number of processor cores. The implications of Amdahl's law are significant: it shows diminishing returns when adding processors, highlighting that sequential parts of a program represent a critical design constraint. Thus, engineers must focus on optimizing the serial code fraction itself rather than simply scaling core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John Gustafson challenged Amdahl's pessimistic view in 1988, arguing that developers scale the problem size as more computing power becomes available. In other words, we do not run the same small problem faster; instead, we run larger, more complex simulations in the same amount of time. Gustafson's scaled-speedup formula is S-p equals the serial fraction plus processor count multiplied by the quantity of one minus the serial fraction. Under Gustafson's law, speedup scales linearly with processor count. E.g., if a program is five percent serial, on one hundred processors it can achieve a speedup of ninety-five. Gustafson's law provides a highly optimistic and realistic view of parallel computing, justifying the construction of massively parallel supercomputers for large-scale applications like high-resolution weather models, where the parallel fraction scales to dwarf the serial overhead.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compare Amdahl's and Gustafson's laws directly. Amdahl's law assumes a fixed workload model, focusing on minimizing execution latency. Its speedup curve is logarithmic, approaching a fixed asymptote of one divided by the serial fraction. It is typical for local desktop applications. In contrast, Gustafson's law assumes a scaled workload model, aiming to maximize problem accuracy and computational throughput. Its speedup grows linearly with processor count, without a fixed upper bound. Gustafson's law is typical for supercomputers, deep learning training, and climate modeling, where scaling the problem size is the primary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look at how these speedup laws guide system architecture designs. First, in multi-core CPU designs, chip manufacturers balance single-thread clock speeds, to combat Amdahl's sequential bottleneck, with high core counts to optimize parallel processing. Second, cloud computing platforms utilize Gustafson's law to auto-scale virtual machines, distributing larger incoming traffic batches concurrently. Third, high-performance computing clusters use Gustafson's law to justify scaling grid nodes, allowing simulations of physical processes at higher resolutions. Finally, training deep learning and large language models utilizes thousands of GPUs, scaling batch sizes and parameters to keep the parallel fraction close to one and maximize hardware efficiency.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both Amdahl's and Gustafson's laws are essential for understanding the limits of parallel system performance. While Amdahl's law warns us of the danger of sequential bottlenecks, Gustafson's law shows that scaling the problem size allows us to exploit massive parallelism effectively. Thank you for your time. I am now open to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Computer Architecture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II: Principles of Scalable Performance</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Amdahl's Law vs. Gustafson's Law</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Computer Architecture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Scalability &amp; Speedup Performance</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Speedup </a:t>
            </a:r>
            <a:pPr indent="0" marL="0">
              <a:buNone/>
            </a:pPr>
            <a:r>
              <a:rPr lang="en-US" sz="1400" dirty="0">
                <a:solidFill>
                  <a:srgbClr val="000000"/>
                </a:solidFill>
                <a:latin typeface="Arial" pitchFamily="34" charset="0"/>
                <a:ea typeface="Arial" pitchFamily="34" charset="-122"/>
                <a:cs typeface="Arial" pitchFamily="34" charset="-120"/>
              </a:rPr>
              <a:t>measures performance gains from executing code on multiple processors. Scalability evaluates how well speedup scales as both processor count and problem size increase.</a:t>
            </a:r>
            <a:endParaRPr lang="en-US" sz="1400" dirty="0"/>
          </a:p>
        </p:txBody>
      </p:sp>
      <p:sp>
        <p:nvSpPr>
          <p:cNvPr id="16" name="Shape 13"/>
          <p:cNvSpPr/>
          <p:nvPr/>
        </p:nvSpPr>
        <p:spPr>
          <a:xfrm>
            <a:off x="457200" y="2103120"/>
            <a:ext cx="5394960" cy="3895344"/>
          </a:xfrm>
          <a:prstGeom prst="roundRect">
            <a:avLst>
              <a:gd name="adj" fmla="val 2347"/>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Core Speedup Concepts</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Speedup Formula (S_p):</a:t>
            </a:r>
            <a:pPr indent="0" marL="0">
              <a:buNone/>
            </a:pPr>
            <a:r>
              <a:rPr lang="en-US" sz="1300" dirty="0">
                <a:solidFill>
                  <a:srgbClr val="000000"/>
                </a:solidFill>
                <a:latin typeface="Arial" pitchFamily="34" charset="0"/>
                <a:ea typeface="Arial" pitchFamily="34" charset="-122"/>
                <a:cs typeface="Arial" pitchFamily="34" charset="-120"/>
              </a:rPr>
              <a:t> S_p = T_1 / T_p, where T_1 is execution time on 1 processor, and T_p is execution time on p processors.</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Ideal Speedup:</a:t>
            </a:r>
            <a:pPr indent="0" marL="0">
              <a:buNone/>
            </a:pPr>
            <a:r>
              <a:rPr lang="en-US" sz="1300" dirty="0">
                <a:solidFill>
                  <a:srgbClr val="000000"/>
                </a:solidFill>
                <a:latin typeface="Arial" pitchFamily="34" charset="0"/>
                <a:ea typeface="Arial" pitchFamily="34" charset="-122"/>
                <a:cs typeface="Arial" pitchFamily="34" charset="-120"/>
              </a:rPr>
              <a:t> Linear speedup (S_p = p). Doubling processors should halve the execution time.</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Real-World Limits:</a:t>
            </a:r>
            <a:pPr indent="0" marL="0">
              <a:buNone/>
            </a:pPr>
            <a:r>
              <a:rPr lang="en-US" sz="1300" dirty="0">
                <a:solidFill>
                  <a:srgbClr val="000000"/>
                </a:solidFill>
                <a:latin typeface="Arial" pitchFamily="34" charset="0"/>
                <a:ea typeface="Arial" pitchFamily="34" charset="-122"/>
                <a:cs typeface="Arial" pitchFamily="34" charset="-120"/>
              </a:rPr>
              <a:t> Overhead (communication, scheduling, memory latency) and serial portions of code prevent ideal scaling.</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Scalability Analysis:</a:t>
            </a:r>
            <a:pPr indent="0" marL="0">
              <a:buNone/>
            </a:pPr>
            <a:r>
              <a:rPr lang="en-US" sz="1300" dirty="0">
                <a:solidFill>
                  <a:srgbClr val="000000"/>
                </a:solidFill>
                <a:latin typeface="Arial" pitchFamily="34" charset="0"/>
                <a:ea typeface="Arial" pitchFamily="34" charset="-122"/>
                <a:cs typeface="Arial" pitchFamily="34" charset="-120"/>
              </a:rPr>
              <a:t> Studies how speedup behaves as both processor count and workload size grow together.</a:t>
            </a:r>
            <a:endParaRPr lang="en-US" sz="1300" dirty="0"/>
          </a:p>
        </p:txBody>
      </p:sp>
      <p:sp>
        <p:nvSpPr>
          <p:cNvPr id="19" name="Shape 16"/>
          <p:cNvSpPr/>
          <p:nvPr/>
        </p:nvSpPr>
        <p:spPr>
          <a:xfrm>
            <a:off x="6035040" y="2103120"/>
            <a:ext cx="5715000" cy="3895344"/>
          </a:xfrm>
          <a:prstGeom prst="roundRect">
            <a:avLst>
              <a:gd name="adj" fmla="val 2347"/>
            </a:avLst>
          </a:prstGeom>
          <a:solidFill>
            <a:srgbClr val="E3F2FD"/>
          </a:solidFill>
          <a:ln w="19050">
            <a:solidFill>
              <a:srgbClr val="1565C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Serial Bottlenecks</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990033"/>
                </a:solidFill>
                <a:latin typeface="Arial" pitchFamily="34" charset="0"/>
                <a:ea typeface="Arial" pitchFamily="34" charset="-122"/>
                <a:cs typeface="Arial" pitchFamily="34" charset="-120"/>
              </a:rPr>
              <a:t>• The Serial Fraction (s):</a:t>
            </a:r>
            <a:pPr indent="0" marL="0">
              <a:buNone/>
            </a:pPr>
            <a:r>
              <a:rPr lang="en-US" sz="1300" dirty="0">
                <a:solidFill>
                  <a:srgbClr val="000000"/>
                </a:solidFill>
                <a:latin typeface="Arial" pitchFamily="34" charset="0"/>
                <a:ea typeface="Arial" pitchFamily="34" charset="-122"/>
                <a:cs typeface="Arial" pitchFamily="34" charset="-120"/>
              </a:rPr>
              <a:t> The portion of a program that cannot be parallelized (e.g. initialization, writing output files).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The Parallel Fraction (p):</a:t>
            </a:r>
            <a:pPr indent="0" marL="0">
              <a:buNone/>
            </a:pPr>
            <a:r>
              <a:rPr lang="en-US" sz="1300" dirty="0">
                <a:solidFill>
                  <a:srgbClr val="000000"/>
                </a:solidFill>
                <a:latin typeface="Arial" pitchFamily="34" charset="0"/>
                <a:ea typeface="Arial" pitchFamily="34" charset="-122"/>
                <a:cs typeface="Arial" pitchFamily="34" charset="-120"/>
              </a:rPr>
              <a:t> The portion of code that can be executed concurrently across cores (e.g., matrix updates). Note: s + p = 1.</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The Challenge:</a:t>
            </a:r>
            <a:pPr indent="0" marL="0">
              <a:buNone/>
            </a:pPr>
            <a:r>
              <a:rPr lang="en-US" sz="1300" dirty="0">
                <a:solidFill>
                  <a:srgbClr val="000000"/>
                </a:solidFill>
                <a:latin typeface="Arial" pitchFamily="34" charset="0"/>
                <a:ea typeface="Arial" pitchFamily="34" charset="-122"/>
                <a:cs typeface="Arial" pitchFamily="34" charset="-120"/>
              </a:rPr>
              <a:t> No matter how many processors are added, the time to run the serial fraction 's' remains constant, creating a bottleneck.</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Computer Architecture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Amdahl's Law (Fixed-Workload)</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Gene Amdahl (1967) modeled speedup assuming a FIXED workload size:</a:t>
            </a:r>
            <a:endParaRPr lang="en-US" sz="1400" dirty="0"/>
          </a:p>
        </p:txBody>
      </p:sp>
      <p:sp>
        <p:nvSpPr>
          <p:cNvPr id="16" name="Shape 13"/>
          <p:cNvSpPr/>
          <p:nvPr/>
        </p:nvSpPr>
        <p:spPr>
          <a:xfrm>
            <a:off x="457200" y="2103120"/>
            <a:ext cx="5394960" cy="4114800"/>
          </a:xfrm>
          <a:prstGeom prst="roundRect">
            <a:avLst>
              <a:gd name="adj" fmla="val 2222"/>
            </a:avLst>
          </a:prstGeom>
          <a:solidFill>
            <a:srgbClr val="FCE4EC"/>
          </a:solidFill>
          <a:ln w="19050">
            <a:solidFill>
              <a:srgbClr val="990033"/>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Formula &amp; Derivation</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Given serial fraction s and parallel fraction p (with s + p = 1):
</a:t>
            </a:r>
            <a:endParaRPr lang="en-US" sz="1300" dirty="0"/>
          </a:p>
          <a:p>
            <a:pPr indent="0" marL="0">
              <a:buNone/>
            </a:pPr>
            <a:r>
              <a:rPr lang="en-US" sz="2000" b="1" dirty="0">
                <a:solidFill>
                  <a:srgbClr val="990033"/>
                </a:solidFill>
                <a:latin typeface="Arial" pitchFamily="34" charset="0"/>
                <a:ea typeface="Arial" pitchFamily="34" charset="-122"/>
                <a:cs typeface="Arial" pitchFamily="34" charset="-120"/>
              </a:rPr>
              <a:t>S_p = 1 / (s + p / N)</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where N is the number of processors.
</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Limit as N → ∞ (Asymptotic Speedup):
</a:t>
            </a:r>
            <a:pPr indent="0" marL="0">
              <a:buNone/>
            </a:pPr>
            <a:r>
              <a:rPr lang="en-US" sz="1800" b="1" dirty="0">
                <a:solidFill>
                  <a:srgbClr val="990033"/>
                </a:solidFill>
                <a:latin typeface="Arial" pitchFamily="34" charset="0"/>
                <a:ea typeface="Arial" pitchFamily="34" charset="-122"/>
                <a:cs typeface="Arial" pitchFamily="34" charset="-120"/>
              </a:rPr>
              <a:t>  S_∞ = 1 / s</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If only 5% of your program is serial (s = 0.05), your MAXIMUM speedup is 1/0.05 = 20, even with an infinite number of processors!</a:t>
            </a:r>
            <a:endParaRPr lang="en-US" sz="1300" dirty="0"/>
          </a:p>
        </p:txBody>
      </p:sp>
      <p:sp>
        <p:nvSpPr>
          <p:cNvPr id="19" name="Shape 16"/>
          <p:cNvSpPr/>
          <p:nvPr/>
        </p:nvSpPr>
        <p:spPr>
          <a:xfrm>
            <a:off x="6035040" y="2103120"/>
            <a:ext cx="5715000" cy="4114800"/>
          </a:xfrm>
          <a:prstGeom prst="roundRect">
            <a:avLst>
              <a:gd name="adj" fmla="val 2222"/>
            </a:avLst>
          </a:prstGeom>
          <a:solidFill>
            <a:srgbClr val="FFF9C4"/>
          </a:solidFill>
          <a:ln w="19050">
            <a:solidFill>
              <a:srgbClr val="F57F17"/>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Implications of Amdahl's Law</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Diminishing Returns:</a:t>
            </a:r>
            <a:pPr indent="0" marL="0">
              <a:buNone/>
            </a:pPr>
            <a:r>
              <a:rPr lang="en-US" sz="1300" dirty="0">
                <a:solidFill>
                  <a:srgbClr val="000000"/>
                </a:solidFill>
                <a:latin typeface="Arial" pitchFamily="34" charset="0"/>
                <a:ea typeface="Arial" pitchFamily="34" charset="-122"/>
                <a:cs typeface="Arial" pitchFamily="34" charset="-120"/>
              </a:rPr>
              <a:t> Adding processors yields decreasing speedup gains because the serial fraction dominates execution time.</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Critical Bottleneck:</a:t>
            </a:r>
            <a:pPr indent="0" marL="0">
              <a:buNone/>
            </a:pPr>
            <a:r>
              <a:rPr lang="en-US" sz="1300" dirty="0">
                <a:solidFill>
                  <a:srgbClr val="000000"/>
                </a:solidFill>
                <a:latin typeface="Arial" pitchFamily="34" charset="0"/>
                <a:ea typeface="Arial" pitchFamily="34" charset="-122"/>
                <a:cs typeface="Arial" pitchFamily="34" charset="-120"/>
              </a:rPr>
              <a:t> Focus on optimizing the serial fraction to achieve higher speedup rather than simply scaling core counts.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Design Constraint:</a:t>
            </a:r>
            <a:pPr indent="0" marL="0">
              <a:buNone/>
            </a:pPr>
            <a:r>
              <a:rPr lang="en-US" sz="1300" dirty="0">
                <a:solidFill>
                  <a:srgbClr val="000000"/>
                </a:solidFill>
                <a:latin typeface="Arial" pitchFamily="34" charset="0"/>
                <a:ea typeface="Arial" pitchFamily="34" charset="-122"/>
                <a:cs typeface="Arial" pitchFamily="34" charset="-120"/>
              </a:rPr>
              <a:t> Tells chip designers that adding hundreds of cores to a CPU is useless if code remains sequential.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Computer Architecture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Gustafson's Law (Scaled-Workload)</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John Gustafson (1988) argued that problem sizes scale as computing power increases:</a:t>
            </a:r>
            <a:endParaRPr lang="en-US" sz="1400" dirty="0"/>
          </a:p>
        </p:txBody>
      </p:sp>
      <p:sp>
        <p:nvSpPr>
          <p:cNvPr id="16" name="Shape 13"/>
          <p:cNvSpPr/>
          <p:nvPr/>
        </p:nvSpPr>
        <p:spPr>
          <a:xfrm>
            <a:off x="457200" y="2103120"/>
            <a:ext cx="5394960" cy="4114800"/>
          </a:xfrm>
          <a:prstGeom prst="roundRect">
            <a:avLst>
              <a:gd name="adj" fmla="val 2222"/>
            </a:avLst>
          </a:prstGeom>
          <a:solidFill>
            <a:srgbClr val="E8F5E9"/>
          </a:solidFill>
          <a:ln w="19050">
            <a:solidFill>
              <a:srgbClr val="0064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6400"/>
                </a:solidFill>
                <a:latin typeface="Arial" pitchFamily="34" charset="0"/>
                <a:ea typeface="Arial" pitchFamily="34" charset="-122"/>
                <a:cs typeface="Arial" pitchFamily="34" charset="-120"/>
              </a:rPr>
              <a:t>Formula &amp; Derivation</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Gustafson assumed parallel execution time is fixed, and problem size scales to match hardware size:
</a:t>
            </a:r>
            <a:endParaRPr lang="en-US" sz="1300" dirty="0"/>
          </a:p>
          <a:p>
            <a:pPr indent="0" marL="0">
              <a:buNone/>
            </a:pPr>
            <a:r>
              <a:rPr lang="en-US" sz="2000" b="1" dirty="0">
                <a:solidFill>
                  <a:srgbClr val="006400"/>
                </a:solidFill>
                <a:latin typeface="Arial" pitchFamily="34" charset="0"/>
                <a:ea typeface="Arial" pitchFamily="34" charset="-122"/>
                <a:cs typeface="Arial" pitchFamily="34" charset="-120"/>
              </a:rPr>
              <a:t>S_p = s + N · (1 − s)</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where N is the number of processors, and s is the serial fraction of the scaled workload.
</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Linear Scaling Concept:</a:t>
            </a:r>
            <a:pPr indent="0" marL="0">
              <a:buNone/>
            </a:pPr>
            <a:r>
              <a:rPr lang="en-US" sz="1300" dirty="0">
                <a:solidFill>
                  <a:srgbClr val="000000"/>
                </a:solidFill>
                <a:latin typeface="Arial" pitchFamily="34" charset="0"/>
                <a:ea typeface="Arial" pitchFamily="34" charset="-122"/>
                <a:cs typeface="Arial" pitchFamily="34" charset="-120"/>
              </a:rPr>
              <a:t> Speedup increases linearly with processor count N. E.g., if s = 0.05 (5% serial), on 100 processors:</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S_100 = 0.05 + 100 · 0.95 = 95.05. A very high speedup is achievable!</a:t>
            </a:r>
            <a:endParaRPr lang="en-US" sz="1300" dirty="0"/>
          </a:p>
        </p:txBody>
      </p:sp>
      <p:sp>
        <p:nvSpPr>
          <p:cNvPr id="19" name="Shape 16"/>
          <p:cNvSpPr/>
          <p:nvPr/>
        </p:nvSpPr>
        <p:spPr>
          <a:xfrm>
            <a:off x="6035040" y="2103120"/>
            <a:ext cx="5715000" cy="4114800"/>
          </a:xfrm>
          <a:prstGeom prst="roundRect">
            <a:avLst>
              <a:gd name="adj" fmla="val 2222"/>
            </a:avLst>
          </a:prstGeom>
          <a:solidFill>
            <a:srgbClr val="E3F2FD"/>
          </a:solidFill>
          <a:ln w="19050">
            <a:solidFill>
              <a:srgbClr val="1565C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Implications of Gustafson's Law</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Problem Size Scaling:</a:t>
            </a:r>
            <a:pPr indent="0" marL="0">
              <a:buNone/>
            </a:pPr>
            <a:r>
              <a:rPr lang="en-US" sz="1300" dirty="0">
                <a:solidFill>
                  <a:srgbClr val="000000"/>
                </a:solidFill>
                <a:latin typeface="Arial" pitchFamily="34" charset="0"/>
                <a:ea typeface="Arial" pitchFamily="34" charset="-122"/>
                <a:cs typeface="Arial" pitchFamily="34" charset="-120"/>
              </a:rPr>
              <a:t> As computing power grows, we don't run the same small problem faster. Instead, we run larger, more complex simulations (e.g. higher-res weather models).</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Linear Speedup:</a:t>
            </a:r>
            <a:pPr indent="0" marL="0">
              <a:buNone/>
            </a:pPr>
            <a:r>
              <a:rPr lang="en-US" sz="1300" dirty="0">
                <a:solidFill>
                  <a:srgbClr val="000000"/>
                </a:solidFill>
                <a:latin typeface="Arial" pitchFamily="34" charset="0"/>
                <a:ea typeface="Arial" pitchFamily="34" charset="-122"/>
                <a:cs typeface="Arial" pitchFamily="34" charset="-120"/>
              </a:rPr>
              <a:t> If the workload scales, the serial fraction becomes negligible relative to the massive parallel processing volume, allowing linear speedups.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Optimistic View:</a:t>
            </a:r>
            <a:pPr indent="0" marL="0">
              <a:buNone/>
            </a:pPr>
            <a:r>
              <a:rPr lang="en-US" sz="1300" dirty="0">
                <a:solidFill>
                  <a:srgbClr val="000000"/>
                </a:solidFill>
                <a:latin typeface="Arial" pitchFamily="34" charset="0"/>
                <a:ea typeface="Arial" pitchFamily="34" charset="-122"/>
                <a:cs typeface="Arial" pitchFamily="34" charset="-120"/>
              </a:rPr>
              <a:t> Proves that massively parallel supercomputer grids are highly effective for large-scale scientific modeling.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Computer Architecture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Comparison: Amdahl vs. Gustafson</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A direct comparative summary of the two performance scaling laws:</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11292840" cy="4389120"/>
        </p:xfrm>
        <a:graphic>
          <a:graphicData uri="http://schemas.openxmlformats.org/drawingml/2006/table">
            <a:tbl>
              <a:tblPr/>
              <a:tblGrid>
                <a:gridCol w="2743200"/>
                <a:gridCol w="4270248"/>
                <a:gridCol w="4279392"/>
              </a:tblGrid>
              <a:tr h="731520">
                <a:tc>
                  <a:txBody>
                    <a:bodyPr/>
                    <a:lstStyle/>
                    <a:p>
                      <a:pPr indent="0" marL="0">
                        <a:buNone/>
                      </a:pPr>
                      <a:r>
                        <a:rPr lang="en-US" sz="1300" b="1" dirty="0">
                          <a:solidFill>
                            <a:srgbClr val="FFFFFF"/>
                          </a:solidFill>
                          <a:latin typeface="Arial" pitchFamily="34" charset="0"/>
                          <a:ea typeface="Arial" pitchFamily="34" charset="-122"/>
                          <a:cs typeface="Arial" pitchFamily="34" charset="-120"/>
                        </a:rPr>
                        <a:t>Comparison Metric</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Amdahl's Law</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Gustafson's Law</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r>
              <a:tr h="731520">
                <a:tc>
                  <a:txBody>
                    <a:bodyPr/>
                    <a:lstStyle/>
                    <a:p>
                      <a:pPr indent="0" marL="0">
                        <a:buNone/>
                      </a:pPr>
                      <a:r>
                        <a:rPr lang="en-US" sz="1300" b="1" dirty="0">
                          <a:solidFill>
                            <a:srgbClr val="000000"/>
                          </a:solidFill>
                          <a:latin typeface="Arial" pitchFamily="34" charset="0"/>
                          <a:ea typeface="Arial" pitchFamily="34" charset="-122"/>
                          <a:cs typeface="Arial" pitchFamily="34" charset="-120"/>
                        </a:rPr>
                        <a:t>Workload Model</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Fixed Size (does not change)</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Scaled Size (grows with hardware)</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r>
              <a:tr h="731520">
                <a:tc>
                  <a:txBody>
                    <a:bodyPr/>
                    <a:lstStyle/>
                    <a:p>
                      <a:pPr indent="0" marL="0">
                        <a:buNone/>
                      </a:pPr>
                      <a:r>
                        <a:rPr lang="en-US" sz="1300" b="1" dirty="0">
                          <a:solidFill>
                            <a:srgbClr val="000000"/>
                          </a:solidFill>
                          <a:latin typeface="Arial" pitchFamily="34" charset="0"/>
                          <a:ea typeface="Arial" pitchFamily="34" charset="-122"/>
                          <a:cs typeface="Arial" pitchFamily="34" charset="-120"/>
                        </a:rPr>
                        <a:t>Speedup Behavior</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Logarithmic curve; bounds speedup to 1/s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Linear growth line; no fixed limit</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r>
              <a:tr h="731520">
                <a:tc>
                  <a:txBody>
                    <a:bodyPr/>
                    <a:lstStyle/>
                    <a:p>
                      <a:pPr indent="0" marL="0">
                        <a:buNone/>
                      </a:pPr>
                      <a:r>
                        <a:rPr lang="en-US" sz="1300" b="1" dirty="0">
                          <a:solidFill>
                            <a:srgbClr val="000000"/>
                          </a:solidFill>
                          <a:latin typeface="Arial" pitchFamily="34" charset="0"/>
                          <a:ea typeface="Arial" pitchFamily="34" charset="-122"/>
                          <a:cs typeface="Arial" pitchFamily="34" charset="-120"/>
                        </a:rPr>
                        <a:t>Hardware Focus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Optimize core latency (single-thread speed)</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Maximize throughput (aggregate core counts)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r>
              <a:tr h="731520">
                <a:tc>
                  <a:txBody>
                    <a:bodyPr/>
                    <a:lstStyle/>
                    <a:p>
                      <a:pPr indent="0" marL="0">
                        <a:buNone/>
                      </a:pPr>
                      <a:r>
                        <a:rPr lang="en-US" sz="1300" b="1" dirty="0">
                          <a:solidFill>
                            <a:srgbClr val="000000"/>
                          </a:solidFill>
                          <a:latin typeface="Arial" pitchFamily="34" charset="0"/>
                          <a:ea typeface="Arial" pitchFamily="34" charset="-122"/>
                          <a:cs typeface="Arial" pitchFamily="34" charset="-120"/>
                        </a:rPr>
                        <a:t>Typical Application</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Desktop apps, local tools, minor utilities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Supercomputers, AI training, weather models</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r>
              <a:tr h="731520">
                <a:tc>
                  <a:txBody>
                    <a:bodyPr/>
                    <a:lstStyle/>
                    <a:p>
                      <a:pPr indent="0" marL="0">
                        <a:buNone/>
                      </a:pPr>
                      <a:r>
                        <a:rPr lang="en-US" sz="1300" b="1" dirty="0">
                          <a:solidFill>
                            <a:srgbClr val="000000"/>
                          </a:solidFill>
                          <a:latin typeface="Arial" pitchFamily="34" charset="0"/>
                          <a:ea typeface="Arial" pitchFamily="34" charset="-122"/>
                          <a:cs typeface="Arial" pitchFamily="34" charset="-120"/>
                        </a:rPr>
                        <a:t>Primary Goal</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Minimize execution latency</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Maximize problem accuracy &amp; scope</a:t>
                      </a:r>
                      <a:endParaRPr lang="en-US" sz="13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Computer Architecture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Speedup Laws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Understanding speedup laws determines how companies scale hardware and software architectures:</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Multicore CPU Design</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Chip manufacturers balance single-thread clock speeds (Amdahl's bottleneck) with core counts, optimizing both sequential and parallel fractions.</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Cloud Computing &amp; Auto-scaling</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Cloud platforms auto-scale nodes based on workload. If a task is parallelizable, Gustafson's law guarantees that adding instances scales throughput.</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HPC Scientific Simulations</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Climate models and astrophysics simulators scale grid nodes to increase grid resolution (Gustafson's law), achieving highly accurate models.</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AI Training &amp; LLM scaling</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Training massive AI models requires thousands of GPUs. Gustafson's law justifies this scale, as training parameters are scaled to prevent bottlenecks.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Computer Architecture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2026-06-14T11:41:10Z</dcterms:created>
  <dcterms:modified xsi:type="dcterms:W3CDTF">2026-06-14T11:41:10Z</dcterms:modified>
</cp:coreProperties>
</file>