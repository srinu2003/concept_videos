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will cover Oracle Collections and Arrays, a fundamental topic in PL/SQL. We will understand what collections are as dynamic in-memory arrays, compare the three main collection types: Varrays, Nested Tables, and Associative Arrays, look at variable-size array syntax and boundaries, examine the differences between Nested Tables and Associative Arrays, review the collection API methods, and study how collections are applied in bulk SQL operations like bulk collect and forall.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first define Oracle Collections. They are single-dimensional, homogeneous arrays that store groups of elements. They are dynamic in-memory structures used to batch and process bulk database records. Their core characteristics are: first, they are homogeneous, meaning all elements must share the same type; second, they exist in session memory during execution; and third, their size is dynamic, growing or shrinking at runtime. The three main collection types are Varrays, which are ordered lists with a fixed maximum size; Nested Tables, which are unbounded lists that can become sparse when elements are deleted; and Associative Arrays, also known as index-by tables, which are in-memory key-value maps indexed by integers or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closer at Varrays. They represent ordered, bounded lists of items, ideal when the maximum size is known. To use a varray, we first define the type, specifying the limit—such as VARRAY of three elements—then declare and initialize the variable using a constructor. If we try to access an uninitialized varray, PL/SQL throws a collection is null exception, so constructor initialization is mandatory. Varrays have strict boundaries; trying to add more than the limit raises an error. They maintain sequential order, meaning we cannot delete individual elements from the middle to make it sparse; we can only delete from the end. If stored in a database table, varrays are kept inline, preserving their exact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contrast Nested Tables and Associative Arrays, which are both unbounded. Nested Tables can be stored in database columns, whereas Associative Arrays exist in memory only. Nested tables are indexed by sequential integers starting at one, but can become sparse if we delete elements from the middle. Associative arrays act like hash maps, allowing index keys to be strings or non-sequential integers, making them naturally sparse. While Nested Tables require constructor initialization and using the extend method to allocate memory before adding elements, Associative Arrays require no constructors or extend calls, growing automatically when we assign values to new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collections provide a built-in API with helper methods for array manipulation. The COUNT method returns the number of elements currently stored. The EXISTS method checks if a specific index is initialized, which is crucial for handling sparse collections and avoiding out of bounds errors. FIRST and LAST return the smallest and largest index keys. For Nested Tables and Varrays, the EXTEND method allocates empty slots at the end. The DELETE method removes elements, which makes Nested Tables or Associative Arrays sparse. These methods allow developers to write clean loops and safely access collection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use of collections is optimizing database queries using bulk operations. In database programming, the main bottleneck is the context switch between the PL/SQL engine and the SQL engine. The BULK COLLECT statement fetches an entire SQL query result set directly into a collection in a single context switch, which is dramatically faster than looping through rows one-by-one. Similarly, the FORALL statement binds an array to DML queries, sending inserts or updates to the SQL engine in a single batch, eliminating context switch overhead. Collections are also used as in-memory caches or to pass arrays of records to stored procedures, boosting speed up to ten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Oracle Collections and Arrays. We have seen how using Varrays, Nested Tables, and Associative Arrays, combined with bulk operations, dramatically increases data processing efficiency. I want to thank the Department of Computer Science and Engineering at the Marri Laxman Reddy Institute of Technology and Management. Thank you all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Language Fundamentals &amp; Control Structures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Oracle Collections &amp; Arrays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are Oracle Collections?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Oracle Collections </a:t>
            </a:r>
            <a:pPr indent="0" marL="0">
              <a:buNone/>
            </a:pPr>
            <a:r>
              <a:rPr lang="en-US" sz="1400" dirty="0">
                <a:solidFill>
                  <a:srgbClr val="000000"/>
                </a:solidFill>
                <a:latin typeface="Arial" pitchFamily="34" charset="0"/>
                <a:ea typeface="Arial" pitchFamily="34" charset="-122"/>
                <a:cs typeface="Arial" pitchFamily="34" charset="-120"/>
              </a:rPr>
              <a:t>are single-dimensional, homogeneous arrays that store groups of elements. They are dynamic in-memory data structures utilized to batch and process bulk database rows.</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Characteristics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Homogeneous:</a:t>
            </a:r>
            <a:pPr indent="0" marL="0">
              <a:buNone/>
            </a:pPr>
            <a:r>
              <a:rPr lang="en-US" sz="1300" dirty="0">
                <a:solidFill>
                  <a:srgbClr val="000000"/>
                </a:solidFill>
                <a:latin typeface="Arial" pitchFamily="34" charset="0"/>
                <a:ea typeface="Arial" pitchFamily="34" charset="-122"/>
                <a:cs typeface="Arial" pitchFamily="34" charset="-120"/>
              </a:rPr>
              <a:t> All elements in a collection must have the exact same data type.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In-Memory:</a:t>
            </a:r>
            <a:pPr indent="0" marL="0">
              <a:buNone/>
            </a:pPr>
            <a:r>
              <a:rPr lang="en-US" sz="1300" dirty="0">
                <a:solidFill>
                  <a:srgbClr val="000000"/>
                </a:solidFill>
                <a:latin typeface="Arial" pitchFamily="34" charset="0"/>
                <a:ea typeface="Arial" pitchFamily="34" charset="-122"/>
                <a:cs typeface="Arial" pitchFamily="34" charset="-120"/>
              </a:rPr>
              <a:t> Standard collection variables exist during PL/SQL execution, held in the session memory.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Dynamic Size:</a:t>
            </a:r>
            <a:pPr indent="0" marL="0">
              <a:buNone/>
            </a:pPr>
            <a:r>
              <a:rPr lang="en-US" sz="1300" dirty="0">
                <a:solidFill>
                  <a:srgbClr val="000000"/>
                </a:solidFill>
                <a:latin typeface="Arial" pitchFamily="34" charset="0"/>
                <a:ea typeface="Arial" pitchFamily="34" charset="-122"/>
                <a:cs typeface="Arial" pitchFamily="34" charset="-120"/>
              </a:rPr>
              <a:t> Collections can shrink or grow at runtime using built-in API calls.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Bulk Operations:</a:t>
            </a:r>
            <a:pPr indent="0" marL="0">
              <a:buNone/>
            </a:pPr>
            <a:r>
              <a:rPr lang="en-US" sz="1300" dirty="0">
                <a:solidFill>
                  <a:srgbClr val="000000"/>
                </a:solidFill>
                <a:latin typeface="Arial" pitchFamily="34" charset="0"/>
                <a:ea typeface="Arial" pitchFamily="34" charset="-122"/>
                <a:cs typeface="Arial" pitchFamily="34" charset="-120"/>
              </a:rPr>
              <a:t> Used to fetch multiple rows in a single step (BULK COLLECT) and bind arrays to SQL (FORALL).</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Three Main Collection Types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Varrays (Variable-Size Arrays):</a:t>
            </a:r>
            <a:pPr indent="0" marL="0">
              <a:buNone/>
            </a:pPr>
            <a:r>
              <a:rPr lang="en-US" sz="1300" dirty="0">
                <a:solidFill>
                  <a:srgbClr val="000000"/>
                </a:solidFill>
                <a:latin typeface="Arial" pitchFamily="34" charset="0"/>
                <a:ea typeface="Arial" pitchFamily="34" charset="-122"/>
                <a:cs typeface="Arial" pitchFamily="34" charset="-120"/>
              </a:rPr>
              <a:t> Have a fixed maximum size. Ordered lists starting at index 1. Can be stored in database table columns.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Nested Tables:</a:t>
            </a:r>
            <a:pPr indent="0" marL="0">
              <a:buNone/>
            </a:pPr>
            <a:r>
              <a:rPr lang="en-US" sz="1300" dirty="0">
                <a:solidFill>
                  <a:srgbClr val="000000"/>
                </a:solidFill>
                <a:latin typeface="Arial" pitchFamily="34" charset="0"/>
                <a:ea typeface="Arial" pitchFamily="34" charset="-122"/>
                <a:cs typeface="Arial" pitchFamily="34" charset="-120"/>
              </a:rPr>
              <a:t> Unbounded size. Starts at index 1. Can become sparse (have gaps) when elements are deleted. Can be stored in the database.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Associative Arrays (Index-by Tables):</a:t>
            </a:r>
            <a:pPr indent="0" marL="0">
              <a:buNone/>
            </a:pPr>
            <a:r>
              <a:rPr lang="en-US" sz="1300" dirty="0">
                <a:solidFill>
                  <a:srgbClr val="000000"/>
                </a:solidFill>
                <a:latin typeface="Arial" pitchFamily="34" charset="0"/>
                <a:ea typeface="Arial" pitchFamily="34" charset="-122"/>
                <a:cs typeface="Arial" pitchFamily="34" charset="-120"/>
              </a:rPr>
              <a:t> Unbounded size. Can be indexed by integers or strings (key-value maps). Exist in memory only. Cannot be stored in database tables.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Varrays (Variable-Size Arrays)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Varrays represent ordered, bounded lists of items. Ideal for small, fixed collections:</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Courier New" pitchFamily="34" charset="0"/>
                <a:ea typeface="Courier New" pitchFamily="34" charset="-122"/>
                <a:cs typeface="Courier New" pitchFamily="34" charset="-120"/>
              </a:rPr>
              <a:t>Syntax &amp; Declaration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dirty="0">
                <a:solidFill>
                  <a:srgbClr val="555555"/>
                </a:solidFill>
                <a:latin typeface="Courier New" pitchFamily="34" charset="0"/>
                <a:ea typeface="Courier New" pitchFamily="34" charset="-122"/>
                <a:cs typeface="Courier New" pitchFamily="34" charset="-120"/>
              </a:rPr>
              <a:t>-- Define Varray type
</a:t>
            </a:r>
            <a:pPr indent="0" marL="0">
              <a:buNone/>
            </a:pPr>
            <a:r>
              <a:rPr lang="en-US" sz="1300" b="1" dirty="0">
                <a:solidFill>
                  <a:srgbClr val="000000"/>
                </a:solidFill>
                <a:latin typeface="Courier New" pitchFamily="34" charset="0"/>
                <a:ea typeface="Courier New" pitchFamily="34" charset="-122"/>
                <a:cs typeface="Courier New" pitchFamily="34" charset="-120"/>
              </a:rPr>
              <a:t>TYPE phone_list IS VARRAY(3) OF VARCHAR2(15);
</a:t>
            </a:r>
            <a:pPr indent="0" marL="0">
              <a:buNone/>
            </a:pPr>
            <a:r>
              <a:rPr lang="en-US" sz="1300" dirty="0">
                <a:solidFill>
                  <a:srgbClr val="555555"/>
                </a:solidFill>
                <a:latin typeface="Courier New" pitchFamily="34" charset="0"/>
                <a:ea typeface="Courier New" pitchFamily="34" charset="-122"/>
                <a:cs typeface="Courier New" pitchFamily="34" charset="-120"/>
              </a:rPr>
              <a:t>-- Declare and Initialize variable
</a:t>
            </a:r>
            <a:pPr indent="0" marL="0">
              <a:buNone/>
            </a:pPr>
            <a:r>
              <a:rPr lang="en-US" sz="1300" dirty="0">
                <a:solidFill>
                  <a:srgbClr val="000000"/>
                </a:solidFill>
                <a:latin typeface="Courier New" pitchFamily="34" charset="0"/>
                <a:ea typeface="Courier New" pitchFamily="34" charset="-122"/>
                <a:cs typeface="Courier New" pitchFamily="34" charset="-120"/>
              </a:rPr>
              <a:t>my_phones phone_list := phone_list('123-456', '789-012');
</a:t>
            </a:r>
            <a:pPr indent="0" marL="0">
              <a:buNone/>
            </a:pPr>
            <a:r>
              <a:rPr lang="en-US" sz="1300" dirty="0">
                <a:solidFill>
                  <a:srgbClr val="555555"/>
                </a:solidFill>
                <a:latin typeface="Courier New" pitchFamily="34" charset="0"/>
                <a:ea typeface="Courier New" pitchFamily="34" charset="-122"/>
                <a:cs typeface="Courier New" pitchFamily="34" charset="-120"/>
              </a:rPr>
              <a:t>-- Accessing element
</a:t>
            </a:r>
            <a:pPr indent="0" marL="0">
              <a:buNone/>
            </a:pPr>
            <a:r>
              <a:rPr lang="en-US" sz="1300" dirty="0">
                <a:solidFill>
                  <a:srgbClr val="000000"/>
                </a:solidFill>
                <a:latin typeface="Courier New" pitchFamily="34" charset="0"/>
                <a:ea typeface="Courier New" pitchFamily="34" charset="-122"/>
                <a:cs typeface="Courier New" pitchFamily="34" charset="-120"/>
              </a:rPr>
              <a:t>first_phone := my_phones(1); -- 1-indexed</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Key Rules &amp; Limitations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Strict Boundary:</a:t>
            </a:r>
            <a:pPr indent="0" marL="0">
              <a:buNone/>
            </a:pPr>
            <a:r>
              <a:rPr lang="en-US" sz="1300" dirty="0">
                <a:solidFill>
                  <a:srgbClr val="000000"/>
                </a:solidFill>
                <a:latin typeface="Arial" pitchFamily="34" charset="0"/>
                <a:ea typeface="Arial" pitchFamily="34" charset="-122"/>
                <a:cs typeface="Arial" pitchFamily="34" charset="-120"/>
              </a:rPr>
              <a:t> Cannot add more elements than the limit declared (e.g. VARRAY(3) cannot hold 4 elements).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Sequential Order:</a:t>
            </a:r>
            <a:pPr indent="0" marL="0">
              <a:buNone/>
            </a:pPr>
            <a:r>
              <a:rPr lang="en-US" sz="1300" dirty="0">
                <a:solidFill>
                  <a:srgbClr val="000000"/>
                </a:solidFill>
                <a:latin typeface="Arial" pitchFamily="34" charset="0"/>
                <a:ea typeface="Arial" pitchFamily="34" charset="-122"/>
                <a:cs typeface="Arial" pitchFamily="34" charset="-120"/>
              </a:rPr>
              <a:t> Cannot delete individual elements from the middle to make it sparse. You can only delete from the end.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Constructor Initialization:</a:t>
            </a:r>
            <a:pPr indent="0" marL="0">
              <a:buNone/>
            </a:pPr>
            <a:r>
              <a:rPr lang="en-US" sz="1300" dirty="0">
                <a:solidFill>
                  <a:srgbClr val="000000"/>
                </a:solidFill>
                <a:latin typeface="Arial" pitchFamily="34" charset="0"/>
                <a:ea typeface="Arial" pitchFamily="34" charset="-122"/>
                <a:cs typeface="Arial" pitchFamily="34" charset="-120"/>
              </a:rPr>
              <a:t> Must be initialized using a constructor before use. Using an uninitialized varray raises a COLLECTION_IS_NULL exception.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DB Storage:</a:t>
            </a:r>
            <a:pPr indent="0" marL="0">
              <a:buNone/>
            </a:pPr>
            <a:r>
              <a:rPr lang="en-US" sz="1300" dirty="0">
                <a:solidFill>
                  <a:srgbClr val="000000"/>
                </a:solidFill>
                <a:latin typeface="Arial" pitchFamily="34" charset="0"/>
                <a:ea typeface="Arial" pitchFamily="34" charset="-122"/>
                <a:cs typeface="Arial" pitchFamily="34" charset="-120"/>
              </a:rPr>
              <a:t> Stored inline in database tables if small, preserving the exact element sequence.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Nested Tables vs. Associative Arrays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the core differences between unbounded collection types: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92840" cy="4389120"/>
        </p:xfrm>
        <a:graphic>
          <a:graphicData uri="http://schemas.openxmlformats.org/drawingml/2006/table">
            <a:tbl>
              <a:tblPr/>
              <a:tblGrid>
                <a:gridCol w="2743200"/>
                <a:gridCol w="4270248"/>
                <a:gridCol w="4279392"/>
              </a:tblGrid>
              <a:tr h="731520">
                <a:tc>
                  <a:txBody>
                    <a:bodyPr/>
                    <a:lstStyle/>
                    <a:p>
                      <a:pPr indent="0" marL="0">
                        <a:buNone/>
                      </a:pPr>
                      <a:r>
                        <a:rPr lang="en-US" sz="1300" b="1" dirty="0">
                          <a:solidFill>
                            <a:srgbClr val="FFFFFF"/>
                          </a:solidFill>
                          <a:latin typeface="Arial" pitchFamily="34" charset="0"/>
                          <a:ea typeface="Arial" pitchFamily="34" charset="-122"/>
                          <a:cs typeface="Arial" pitchFamily="34" charset="-120"/>
                        </a:rPr>
                        <a:t>Feature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Nested Tables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Associative Arrays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Database Storage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Can be stored in DB table columns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PL/SQL memory only (cannot be in DB)</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Indexing Key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Sequential integers starting at 1</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Integers or VARCHAR2 strings (key-value)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Sparseness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Can become sparse (using DELETE(i))</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Naturally sparse (keys can be non-sequential)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Initialization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Requires constructor: nested_tab_var()</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 constructor; initialized on first assignment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Dynamic Growth</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Requires EXTEND to allocate memory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Grows automatically as new keys are added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Oracle Collection API Methods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Collections are manipulated using built-in method functions:</a:t>
            </a:r>
            <a:endParaRPr lang="en-US" sz="1400" dirty="0"/>
          </a:p>
        </p:txBody>
      </p:sp>
      <p:sp>
        <p:nvSpPr>
          <p:cNvPr id="16" name="Shape 13"/>
          <p:cNvSpPr/>
          <p:nvPr/>
        </p:nvSpPr>
        <p:spPr>
          <a:xfrm>
            <a:off x="457200" y="2103120"/>
            <a:ext cx="11292840" cy="4389120"/>
          </a:xfrm>
          <a:prstGeom prst="roundRect">
            <a:avLst>
              <a:gd name="adj" fmla="val 2083"/>
            </a:avLst>
          </a:prstGeom>
          <a:solidFill>
            <a:srgbClr val="E8F5E9"/>
          </a:solidFill>
          <a:ln w="19050">
            <a:solidFill>
              <a:srgbClr val="009900"/>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Collection Methods Table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606040"/>
          <a:ext cx="11073384" cy="3657600"/>
        </p:xfrm>
        <a:graphic>
          <a:graphicData uri="http://schemas.openxmlformats.org/drawingml/2006/table">
            <a:tbl>
              <a:tblPr/>
              <a:tblGrid>
                <a:gridCol w="1645920"/>
                <a:gridCol w="2011680"/>
                <a:gridCol w="7415784"/>
              </a:tblGrid>
              <a:tr h="6096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Method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Syntax Example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Description &amp; Functionality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COUNT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var.COUNT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Returns the number of elements currently stored in the collection.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EXISTS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var.EXISTS(i)</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Returns TRUE if element at index i is initialized; FALSE otherwise.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FIRST / LAST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var.FIRST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Returns the first (smallest) and last (largest) index keys in the collection.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EXTEND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var.EXTEND(n)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Allocates n new null elements at the end of Nested Tables / Varrays.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DELETE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var.DELETE(i)</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Removes the element at index i, making the collection sparse.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Bulk SQL Processing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primary use of collections is optimizing database queries using bulk operations: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BULK COLLECT Statement</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Fetches an entire SQL query result set directly into a collection variable in a single context switch. Dramatically faster than fetching rows one-by-one in a cursor loop.</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FORALL Statement</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Sends an entire array of DML operations (INSERT, UPDATE, DELETE) to the SQL engine at once. Eliminates CPU context switches between PL/SQL and SQL engines.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Data Integration Caches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Used as temporary in-memory tables to join or aggregate data fetched from external web services before inserting into tables.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Stored Procedure Parameters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Enables client programs (Java, C#) to pass arrays of records to stored procedures, executing batch inserts in a single call.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2026-06-14T18:37:51Z</dcterms:created>
  <dcterms:modified xsi:type="dcterms:W3CDTF">2026-06-14T18:37:51Z</dcterms:modified>
</cp:coreProperties>
</file>