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Srinivas Rao Tammireddy, and my roll number is 257Y1D5805. In this presentation, I am going to talk about Functions and Procedures in PL/SQL, commonly referred to as subprograms. We will explore the differences between Functions and Procedures, analyze parameter modes including IN, OUT, and IN OUT, study the mechanics of parameter passing comparing pass-by-value and pass-by-reference with the NOCOPY compiler hint, look at various subprogram calling notations, and discuss how subprograms serve as secure APIs in database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Subprograms are named PL/SQL blocks stored in the database schema. They promote modularity, code reuse, and security. The two main types are Procedures and Functions. Procedures are designed to perform actions or database DML modifications. They do not return a value directly in their header, but can return multiple datasets using OUT parameters. They are invoked as standalone statements, such as execute payment. Functions, on the other hand, calculate and return a single data value. They must have a RETURN statement in their header and execution path. Functions are called as part of expressions and can be integrated directly inside SQL queries, like select name and calc bonus from employees.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Parameters define how data flows between the caller and the subprogram. PL/SQL supports three parameter modes. First, IN mode, which is the default. IN parameters are read-only inside the block; the subprogram cannot modify their values. Second, OUT mode, which is write-only. When passed, the variable is initialized to NULL inside the block and is used to return data back to the caller. We must pass a variable, not a literal. Third, IN OUT mode, which is read-write. It passes an initialized value into the block, allows modification, and returns the updated value to the caller. Both OUT and IN OUT require passing a variable to receive the return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examine how parameters are passed. By default, IN parameters are passed by reference, but OUT and IN OUT parameters are passed by value. This means Oracle creates a copy of the argument in memory. While this ensures transaction safety—because if the subprogram fails, the copy is discarded and the original variable is unchanged—it introduces a performance cost when passing large collections like nested tables of thousands of rows. To avoid this overhead, we can use the NOCOPY hint. This requests the compiler to pass parameters by reference using a pointer. This speeds up execution, but has the side effect that if an exception occurs mid-run, changes to the variable remain, as there is no automatic rollback.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calling subprograms, PL/SQL supports multiple notations to bind arguments to parameters. Positional notation is the standard method, binding arguments by their position order. Named notation uses the arrow operator to explicitly associate parameter names with values, allowing arguments to be passed in any order and improving readability. Mixed notation combines both, specifying positional arguments first, followed by named arguments. Finally, default parameter omission allows us to omit arguments that have a default value defined in the subprogram header, in which case Oracle automatically resolves them to their default assignments.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are the core applications of subprograms? First, they enforce security. Instead of granting users direct permissions on tables, developers grant access to execute stored procedures, preventing direct table manipulation. Second, they centralize business rules. Storing tax calculations inside database functions ensures all client apps access the same logic, avoiding duplication. Third, they optimize performance. Subprograms are compiled once and stored in Oracle's shared pool memory, executing immediately without parse overhead. Lastly, they act as an API layer, isolating database schema modifications from the frontend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concludes my presentation on Functions and Procedures in PL/SQL. We have seen how stored subprograms enhance modularity, optimize performance, and secure transactions at the database level. I would like to thank the Department of Computer Science and Engineering at the Marri Laxman Reddy Institute of Technology and Management. Thank you for your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III: Functions and Procedures</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Functions &amp; Procedures (Subprograms)</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Functions &amp; Procedures (Subprograms)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Subprograms </a:t>
            </a:r>
            <a:pPr indent="0" marL="0">
              <a:buNone/>
            </a:pPr>
            <a:r>
              <a:rPr lang="en-US" sz="1400" dirty="0">
                <a:solidFill>
                  <a:srgbClr val="000000"/>
                </a:solidFill>
                <a:latin typeface="Arial" pitchFamily="34" charset="0"/>
                <a:ea typeface="Arial" pitchFamily="34" charset="-122"/>
                <a:cs typeface="Arial" pitchFamily="34" charset="-120"/>
              </a:rPr>
              <a:t>are named PL/SQL blocks stored in the database. They promote modularity, reuse, and security in database applications. The two main types are Functions and Procedures.</a:t>
            </a:r>
            <a:endParaRPr lang="en-US" sz="1400" dirty="0"/>
          </a:p>
        </p:txBody>
      </p:sp>
      <p:sp>
        <p:nvSpPr>
          <p:cNvPr id="16" name="Shape 13"/>
          <p:cNvSpPr/>
          <p:nvPr/>
        </p:nvSpPr>
        <p:spPr>
          <a:xfrm>
            <a:off x="457200" y="2103120"/>
            <a:ext cx="5394960" cy="3895344"/>
          </a:xfrm>
          <a:prstGeom prst="roundRect">
            <a:avLst>
              <a:gd name="adj" fmla="val 2347"/>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Procedures Overview</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Purpose:</a:t>
            </a:r>
            <a:pPr indent="0" marL="0">
              <a:buNone/>
            </a:pPr>
            <a:r>
              <a:rPr lang="en-US" sz="1300" dirty="0">
                <a:solidFill>
                  <a:srgbClr val="000000"/>
                </a:solidFill>
                <a:latin typeface="Arial" pitchFamily="34" charset="0"/>
                <a:ea typeface="Arial" pitchFamily="34" charset="-122"/>
                <a:cs typeface="Arial" pitchFamily="34" charset="-120"/>
              </a:rPr>
              <a:t> Performs actions or database modifications (DML).</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Return value:</a:t>
            </a:r>
            <a:pPr indent="0" marL="0">
              <a:buNone/>
            </a:pPr>
            <a:r>
              <a:rPr lang="en-US" sz="1300" dirty="0">
                <a:solidFill>
                  <a:srgbClr val="000000"/>
                </a:solidFill>
                <a:latin typeface="Arial" pitchFamily="34" charset="0"/>
                <a:ea typeface="Arial" pitchFamily="34" charset="-122"/>
                <a:cs typeface="Arial" pitchFamily="34" charset="-120"/>
              </a:rPr>
              <a:t> Cannot return a value directly in its header. Can return data using OUT parameters.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Call style:</a:t>
            </a:r>
            <a:pPr indent="0" marL="0">
              <a:buNone/>
            </a:pPr>
            <a:r>
              <a:rPr lang="en-US" sz="1300" dirty="0">
                <a:solidFill>
                  <a:srgbClr val="000000"/>
                </a:solidFill>
                <a:latin typeface="Arial" pitchFamily="34" charset="0"/>
                <a:ea typeface="Arial" pitchFamily="34" charset="-122"/>
                <a:cs typeface="Arial" pitchFamily="34" charset="-120"/>
              </a:rPr>
              <a:t> Called as a standalone statement:</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execute_payment(acc_id, amount);</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Usage:</a:t>
            </a:r>
            <a:pPr indent="0" marL="0">
              <a:buNone/>
            </a:pPr>
            <a:r>
              <a:rPr lang="en-US" sz="1300" dirty="0">
                <a:solidFill>
                  <a:srgbClr val="000000"/>
                </a:solidFill>
                <a:latin typeface="Arial" pitchFamily="34" charset="0"/>
                <a:ea typeface="Arial" pitchFamily="34" charset="-122"/>
                <a:cs typeface="Arial" pitchFamily="34" charset="-120"/>
              </a:rPr>
              <a:t> Standard block for transactional processes (inserts, updates, audits).</a:t>
            </a:r>
            <a:endParaRPr lang="en-US" sz="1300" dirty="0"/>
          </a:p>
        </p:txBody>
      </p:sp>
      <p:sp>
        <p:nvSpPr>
          <p:cNvPr id="19" name="Shape 16"/>
          <p:cNvSpPr/>
          <p:nvPr/>
        </p:nvSpPr>
        <p:spPr>
          <a:xfrm>
            <a:off x="6035040" y="2103120"/>
            <a:ext cx="5715000" cy="3895344"/>
          </a:xfrm>
          <a:prstGeom prst="roundRect">
            <a:avLst>
              <a:gd name="adj" fmla="val 2347"/>
            </a:avLst>
          </a:prstGeom>
          <a:solidFill>
            <a:srgbClr val="E3F2FD"/>
          </a:solidFill>
          <a:ln w="19050">
            <a:solidFill>
              <a:srgbClr val="1565C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Functions Overview</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Purpose:</a:t>
            </a:r>
            <a:pPr indent="0" marL="0">
              <a:buNone/>
            </a:pPr>
            <a:r>
              <a:rPr lang="en-US" sz="1300" dirty="0">
                <a:solidFill>
                  <a:srgbClr val="000000"/>
                </a:solidFill>
                <a:latin typeface="Arial" pitchFamily="34" charset="0"/>
                <a:ea typeface="Arial" pitchFamily="34" charset="-122"/>
                <a:cs typeface="Arial" pitchFamily="34" charset="-120"/>
              </a:rPr>
              <a:t> Calculates and returns a single data value.</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Return value:</a:t>
            </a:r>
            <a:pPr indent="0" marL="0">
              <a:buNone/>
            </a:pPr>
            <a:r>
              <a:rPr lang="en-US" sz="1300" dirty="0">
                <a:solidFill>
                  <a:srgbClr val="000000"/>
                </a:solidFill>
                <a:latin typeface="Arial" pitchFamily="34" charset="0"/>
                <a:ea typeface="Arial" pitchFamily="34" charset="-122"/>
                <a:cs typeface="Arial" pitchFamily="34" charset="-120"/>
              </a:rPr>
              <a:t> Must contain a RETURN statement in its header and execution path.</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Call style:</a:t>
            </a:r>
            <a:pPr indent="0" marL="0">
              <a:buNone/>
            </a:pPr>
            <a:r>
              <a:rPr lang="en-US" sz="1300" dirty="0">
                <a:solidFill>
                  <a:srgbClr val="000000"/>
                </a:solidFill>
                <a:latin typeface="Arial" pitchFamily="34" charset="0"/>
                <a:ea typeface="Arial" pitchFamily="34" charset="-122"/>
                <a:cs typeface="Arial" pitchFamily="34" charset="-120"/>
              </a:rPr>
              <a:t> Called as part of an expression:</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net_sal := salary + calc_bonus(emp_id);</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SQL Integration:</a:t>
            </a:r>
            <a:pPr indent="0" marL="0">
              <a:buNone/>
            </a:pPr>
            <a:r>
              <a:rPr lang="en-US" sz="1300" dirty="0">
                <a:solidFill>
                  <a:srgbClr val="000000"/>
                </a:solidFill>
                <a:latin typeface="Arial" pitchFamily="34" charset="0"/>
                <a:ea typeface="Arial" pitchFamily="34" charset="-122"/>
                <a:cs typeface="Arial" pitchFamily="34" charset="-120"/>
              </a:rPr>
              <a:t> Can be called directly inside SQL queries:</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SELECT name, calc_bonus(id) FROM employees;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Parameter Modes: IN, OUT, and IN OUT</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Parameters define how data is passed into and out of stored subprograms:</a:t>
            </a:r>
            <a:endParaRPr lang="en-US" sz="1400" dirty="0"/>
          </a:p>
        </p:txBody>
      </p:sp>
      <p:sp>
        <p:nvSpPr>
          <p:cNvPr id="16" name="Shape 13"/>
          <p:cNvSpPr/>
          <p:nvPr/>
        </p:nvSpPr>
        <p:spPr>
          <a:xfrm>
            <a:off x="457200" y="2103120"/>
            <a:ext cx="3657600" cy="4206240"/>
          </a:xfrm>
          <a:prstGeom prst="roundRect">
            <a:avLst>
              <a:gd name="adj" fmla="val 2500"/>
            </a:avLst>
          </a:prstGeom>
          <a:solidFill>
            <a:srgbClr val="E8F5E9"/>
          </a:solidFill>
          <a:ln w="19050">
            <a:solidFill>
              <a:srgbClr val="009900"/>
            </a:solidFill>
            <a:prstDash val="solid"/>
          </a:ln>
        </p:spPr>
      </p:sp>
      <p:sp>
        <p:nvSpPr>
          <p:cNvPr id="17" name="Text 14"/>
          <p:cNvSpPr/>
          <p:nvPr/>
        </p:nvSpPr>
        <p:spPr>
          <a:xfrm>
            <a:off x="566928" y="2194560"/>
            <a:ext cx="343814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1. IN Mode (Default)</a:t>
            </a:r>
            <a:endParaRPr lang="en-US" sz="1450" dirty="0"/>
          </a:p>
        </p:txBody>
      </p:sp>
      <p:sp>
        <p:nvSpPr>
          <p:cNvPr id="18" name="Text 15"/>
          <p:cNvSpPr/>
          <p:nvPr/>
        </p:nvSpPr>
        <p:spPr>
          <a:xfrm>
            <a:off x="566928" y="2578608"/>
            <a:ext cx="3438144" cy="3675888"/>
          </a:xfrm>
          <a:prstGeom prst="rect">
            <a:avLst/>
          </a:prstGeom>
          <a:noFill/>
          <a:ln/>
        </p:spPr>
        <p:txBody>
          <a:bodyPr wrap="square" lIns="0" tIns="0" rIns="0" bIns="0" rtlCol="0" anchor="ctr"/>
          <a:lstStyle/>
          <a:p>
            <a:pPr indent="0" marL="0">
              <a:buNone/>
            </a:pPr>
            <a:r>
              <a:rPr lang="en-US" sz="1250" dirty="0">
                <a:solidFill>
                  <a:srgbClr val="000000"/>
                </a:solidFill>
                <a:latin typeface="Arial" pitchFamily="34" charset="0"/>
                <a:ea typeface="Arial" pitchFamily="34" charset="-122"/>
                <a:cs typeface="Arial" pitchFamily="34" charset="-120"/>
              </a:rPr>
              <a:t>• Read-Only: The subprogram cannot modify the parameter's value.</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Pass-by-value: Passes a copy of the actual parameter.</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Supports constants, variables, or expressions as input arguments.</a:t>
            </a:r>
            <a:endParaRPr lang="en-US" sz="1250" dirty="0"/>
          </a:p>
        </p:txBody>
      </p:sp>
      <p:sp>
        <p:nvSpPr>
          <p:cNvPr id="19" name="Shape 16"/>
          <p:cNvSpPr/>
          <p:nvPr/>
        </p:nvSpPr>
        <p:spPr>
          <a:xfrm>
            <a:off x="4251960" y="2103120"/>
            <a:ext cx="3657600" cy="4206240"/>
          </a:xfrm>
          <a:prstGeom prst="roundRect">
            <a:avLst>
              <a:gd name="adj" fmla="val 2500"/>
            </a:avLst>
          </a:prstGeom>
          <a:solidFill>
            <a:srgbClr val="E3F2FD"/>
          </a:solidFill>
          <a:ln w="19050">
            <a:solidFill>
              <a:srgbClr val="1565C0"/>
            </a:solidFill>
            <a:prstDash val="solid"/>
          </a:ln>
        </p:spPr>
      </p:sp>
      <p:sp>
        <p:nvSpPr>
          <p:cNvPr id="20" name="Text 17"/>
          <p:cNvSpPr/>
          <p:nvPr/>
        </p:nvSpPr>
        <p:spPr>
          <a:xfrm>
            <a:off x="4361688" y="2194560"/>
            <a:ext cx="343814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2. OUT Mode</a:t>
            </a:r>
            <a:endParaRPr lang="en-US" sz="1450" dirty="0"/>
          </a:p>
        </p:txBody>
      </p:sp>
      <p:sp>
        <p:nvSpPr>
          <p:cNvPr id="21" name="Text 18"/>
          <p:cNvSpPr/>
          <p:nvPr/>
        </p:nvSpPr>
        <p:spPr>
          <a:xfrm>
            <a:off x="4361688" y="2578608"/>
            <a:ext cx="3438144" cy="3675888"/>
          </a:xfrm>
          <a:prstGeom prst="rect">
            <a:avLst/>
          </a:prstGeom>
          <a:noFill/>
          <a:ln/>
        </p:spPr>
        <p:txBody>
          <a:bodyPr wrap="square" lIns="0" tIns="0" rIns="0" bIns="0" rtlCol="0" anchor="ctr"/>
          <a:lstStyle/>
          <a:p>
            <a:pPr indent="0" marL="0">
              <a:buNone/>
            </a:pPr>
            <a:r>
              <a:rPr lang="en-US" sz="1250" dirty="0">
                <a:solidFill>
                  <a:srgbClr val="000000"/>
                </a:solidFill>
                <a:latin typeface="Arial" pitchFamily="34" charset="0"/>
                <a:ea typeface="Arial" pitchFamily="34" charset="-122"/>
                <a:cs typeface="Arial" pitchFamily="34" charset="-120"/>
              </a:rPr>
              <a:t>• Write-Only: The variable is initialized to NULL inside the block. Used to send data back to caller.</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Must pass a variable, not a literal or expression.</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Subprogram must assign a value before exiting.</a:t>
            </a:r>
            <a:endParaRPr lang="en-US" sz="1250" dirty="0"/>
          </a:p>
        </p:txBody>
      </p:sp>
      <p:sp>
        <p:nvSpPr>
          <p:cNvPr id="22" name="Shape 19"/>
          <p:cNvSpPr/>
          <p:nvPr/>
        </p:nvSpPr>
        <p:spPr>
          <a:xfrm>
            <a:off x="8046720" y="2103120"/>
            <a:ext cx="3657600" cy="4206240"/>
          </a:xfrm>
          <a:prstGeom prst="roundRect">
            <a:avLst>
              <a:gd name="adj" fmla="val 2500"/>
            </a:avLst>
          </a:prstGeom>
          <a:solidFill>
            <a:srgbClr val="FFF9C4"/>
          </a:solidFill>
          <a:ln w="19050">
            <a:solidFill>
              <a:srgbClr val="F57F17"/>
            </a:solidFill>
            <a:prstDash val="solid"/>
          </a:ln>
        </p:spPr>
      </p:sp>
      <p:sp>
        <p:nvSpPr>
          <p:cNvPr id="23" name="Text 20"/>
          <p:cNvSpPr/>
          <p:nvPr/>
        </p:nvSpPr>
        <p:spPr>
          <a:xfrm>
            <a:off x="8156448" y="2194560"/>
            <a:ext cx="343814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3. IN OUT Mode</a:t>
            </a:r>
            <a:endParaRPr lang="en-US" sz="1450" dirty="0"/>
          </a:p>
        </p:txBody>
      </p:sp>
      <p:sp>
        <p:nvSpPr>
          <p:cNvPr id="24" name="Text 21"/>
          <p:cNvSpPr/>
          <p:nvPr/>
        </p:nvSpPr>
        <p:spPr>
          <a:xfrm>
            <a:off x="8156448" y="2578608"/>
            <a:ext cx="3438144" cy="3675888"/>
          </a:xfrm>
          <a:prstGeom prst="rect">
            <a:avLst/>
          </a:prstGeom>
          <a:noFill/>
          <a:ln/>
        </p:spPr>
        <p:txBody>
          <a:bodyPr wrap="square" lIns="0" tIns="0" rIns="0" bIns="0" rtlCol="0" anchor="ctr"/>
          <a:lstStyle/>
          <a:p>
            <a:pPr indent="0" marL="0">
              <a:buNone/>
            </a:pPr>
            <a:r>
              <a:rPr lang="en-US" sz="1250" dirty="0">
                <a:solidFill>
                  <a:srgbClr val="000000"/>
                </a:solidFill>
                <a:latin typeface="Arial" pitchFamily="34" charset="0"/>
                <a:ea typeface="Arial" pitchFamily="34" charset="-122"/>
                <a:cs typeface="Arial" pitchFamily="34" charset="-120"/>
              </a:rPr>
              <a:t>• Read-Write: Passes an initialized value into the subprogram, modifies it, and returns the updated value to the caller.</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Must pass a variable.</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Ideal for updating records in place.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Pass-by-Value vs. Pass-by-Reference &amp; NOCOPY</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Understanding parameter passing mechanics and performance tuning:</a:t>
            </a:r>
            <a:endParaRPr lang="en-US" sz="1400" dirty="0"/>
          </a:p>
        </p:txBody>
      </p:sp>
      <p:sp>
        <p:nvSpPr>
          <p:cNvPr id="16" name="Shape 13"/>
          <p:cNvSpPr/>
          <p:nvPr/>
        </p:nvSpPr>
        <p:spPr>
          <a:xfrm>
            <a:off x="457200" y="2103120"/>
            <a:ext cx="5394960" cy="4114800"/>
          </a:xfrm>
          <a:prstGeom prst="roundRect">
            <a:avLst>
              <a:gd name="adj" fmla="val 2222"/>
            </a:avLst>
          </a:prstGeom>
          <a:solidFill>
            <a:srgbClr val="FCE4EC"/>
          </a:solidFill>
          <a:ln w="19050">
            <a:solidFill>
              <a:srgbClr val="990033"/>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Default Pass-by-Value Mechanics</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Copying Values:</a:t>
            </a:r>
            <a:pPr indent="0" marL="0">
              <a:buNone/>
            </a:pPr>
            <a:r>
              <a:rPr lang="en-US" sz="1300" dirty="0">
                <a:solidFill>
                  <a:srgbClr val="000000"/>
                </a:solidFill>
                <a:latin typeface="Arial" pitchFamily="34" charset="0"/>
                <a:ea typeface="Arial" pitchFamily="34" charset="-122"/>
                <a:cs typeface="Arial" pitchFamily="34" charset="-120"/>
              </a:rPr>
              <a:t> By default, OUT and IN OUT parameters are passed by value. Oracle creates a copy of the argument in memory.</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Transaction Safety:</a:t>
            </a:r>
            <a:pPr indent="0" marL="0">
              <a:buNone/>
            </a:pPr>
            <a:r>
              <a:rPr lang="en-US" sz="1300" dirty="0">
                <a:solidFill>
                  <a:srgbClr val="000000"/>
                </a:solidFill>
                <a:latin typeface="Arial" pitchFamily="34" charset="0"/>
                <a:ea typeface="Arial" pitchFamily="34" charset="-122"/>
                <a:cs typeface="Arial" pitchFamily="34" charset="-120"/>
              </a:rPr>
              <a:t> If the subprogram fails with an unhandled exception, the copy is discarded and the original variable remains unchanged (clean rollback).</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Performance Cost:</a:t>
            </a:r>
            <a:pPr indent="0" marL="0">
              <a:buNone/>
            </a:pPr>
            <a:r>
              <a:rPr lang="en-US" sz="1300" dirty="0">
                <a:solidFill>
                  <a:srgbClr val="000000"/>
                </a:solidFill>
                <a:latin typeface="Arial" pitchFamily="34" charset="0"/>
                <a:ea typeface="Arial" pitchFamily="34" charset="-122"/>
                <a:cs typeface="Arial" pitchFamily="34" charset="-120"/>
              </a:rPr>
              <a:t> Copying large collections (e.g. nested tables of 100,000 rows) causes severe CPU and memory overhead.</a:t>
            </a:r>
            <a:endParaRPr lang="en-US" sz="1300" dirty="0"/>
          </a:p>
        </p:txBody>
      </p:sp>
      <p:sp>
        <p:nvSpPr>
          <p:cNvPr id="19" name="Shape 16"/>
          <p:cNvSpPr/>
          <p:nvPr/>
        </p:nvSpPr>
        <p:spPr>
          <a:xfrm>
            <a:off x="6035040" y="2103120"/>
            <a:ext cx="5715000" cy="4114800"/>
          </a:xfrm>
          <a:prstGeom prst="roundRect">
            <a:avLst>
              <a:gd name="adj" fmla="val 2222"/>
            </a:avLst>
          </a:prstGeom>
          <a:solidFill>
            <a:srgbClr val="E8F5E9"/>
          </a:solidFill>
          <a:ln w="19050">
            <a:solidFill>
              <a:srgbClr val="00640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006400"/>
                </a:solidFill>
                <a:latin typeface="Arial" pitchFamily="34" charset="0"/>
                <a:ea typeface="Arial" pitchFamily="34" charset="-122"/>
                <a:cs typeface="Arial" pitchFamily="34" charset="-120"/>
              </a:rPr>
              <a:t>The NOCOPY Hint (Pass-by-Reference)</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b="1" dirty="0">
                <a:solidFill>
                  <a:srgbClr val="006400"/>
                </a:solidFill>
                <a:latin typeface="Arial" pitchFamily="34" charset="0"/>
                <a:ea typeface="Arial" pitchFamily="34" charset="-122"/>
                <a:cs typeface="Arial" pitchFamily="34" charset="-120"/>
              </a:rPr>
              <a:t>• The Syntax:</a:t>
            </a:r>
            <a:pPr indent="0" marL="0">
              <a:buNone/>
            </a:pPr>
            <a:r>
              <a:rPr lang="en-US" sz="1300" dirty="0">
                <a:solidFill>
                  <a:srgbClr val="000000"/>
                </a:solidFill>
                <a:latin typeface="Arial" pitchFamily="34" charset="0"/>
                <a:ea typeface="Arial" pitchFamily="34" charset="-122"/>
                <a:cs typeface="Arial" pitchFamily="34" charset="-120"/>
              </a:rPr>
              <a:t> Request compiler to pass a pointer directly, skipping the copy:</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PROCEDURE process_data(data IN OUT NOCOPY my_collection);</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Performance Boost:</a:t>
            </a:r>
            <a:pPr indent="0" marL="0">
              <a:buNone/>
            </a:pPr>
            <a:r>
              <a:rPr lang="en-US" sz="1300" dirty="0">
                <a:solidFill>
                  <a:srgbClr val="000000"/>
                </a:solidFill>
                <a:latin typeface="Arial" pitchFamily="34" charset="0"/>
                <a:ea typeface="Arial" pitchFamily="34" charset="-122"/>
                <a:cs typeface="Arial" pitchFamily="34" charset="-120"/>
              </a:rPr>
              <a:t> Speeds up execution dramatically when passing large collections, arrays, and objects.</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The Danger (Side Effect):</a:t>
            </a:r>
            <a:pPr indent="0" marL="0">
              <a:buNone/>
            </a:pPr>
            <a:r>
              <a:rPr lang="en-US" sz="1300" dirty="0">
                <a:solidFill>
                  <a:srgbClr val="000000"/>
                </a:solidFill>
                <a:latin typeface="Arial" pitchFamily="34" charset="0"/>
                <a:ea typeface="Arial" pitchFamily="34" charset="-122"/>
                <a:cs typeface="Arial" pitchFamily="34" charset="-120"/>
              </a:rPr>
              <a:t> Since the subprogram edits the original variable directly, if an error occurs mid-execution, changes remain in the variable (no automatic rollback).</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Subprogram Calling Notations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PL/SQL supports multiple syntaxes to bind actual arguments to formal parameters:</a:t>
            </a:r>
            <a:endParaRPr lang="en-US" sz="1400" dirty="0"/>
          </a:p>
        </p:txBody>
      </p:sp>
      <p:sp>
        <p:nvSpPr>
          <p:cNvPr id="16" name="Shape 13"/>
          <p:cNvSpPr/>
          <p:nvPr/>
        </p:nvSpPr>
        <p:spPr>
          <a:xfrm>
            <a:off x="457200" y="2103120"/>
            <a:ext cx="11292840" cy="4389120"/>
          </a:xfrm>
          <a:prstGeom prst="roundRect">
            <a:avLst>
              <a:gd name="adj" fmla="val 2083"/>
            </a:avLst>
          </a:prstGeom>
          <a:solidFill>
            <a:srgbClr val="FFF9C4"/>
          </a:solidFill>
          <a:ln w="19050">
            <a:solidFill>
              <a:srgbClr val="F57F17"/>
            </a:solidFill>
            <a:prstDash val="solid"/>
          </a:ln>
        </p:spPr>
      </p:sp>
      <p:sp>
        <p:nvSpPr>
          <p:cNvPr id="17" name="Text 14"/>
          <p:cNvSpPr/>
          <p:nvPr/>
        </p:nvSpPr>
        <p:spPr>
          <a:xfrm>
            <a:off x="566928" y="2176272"/>
            <a:ext cx="11073384" cy="347472"/>
          </a:xfrm>
          <a:prstGeom prst="rect">
            <a:avLst/>
          </a:prstGeom>
          <a:noFill/>
          <a:ln/>
        </p:spPr>
        <p:txBody>
          <a:bodyPr wrap="square" lIns="0" tIns="0" rIns="0" bIns="0" rtlCol="0" anchor="ctr"/>
          <a:lstStyle/>
          <a:p>
            <a:pPr indent="0" marL="0">
              <a:buNone/>
            </a:pPr>
            <a:r>
              <a:rPr lang="en-US" sz="1500" b="1" dirty="0">
                <a:solidFill>
                  <a:srgbClr val="F57F17"/>
                </a:solidFill>
                <a:latin typeface="Courier New" pitchFamily="34" charset="0"/>
                <a:ea typeface="Courier New" pitchFamily="34" charset="-122"/>
                <a:cs typeface="Courier New" pitchFamily="34" charset="-120"/>
              </a:rPr>
              <a:t>Syntax Code Comparison</a:t>
            </a:r>
            <a:endParaRPr lang="en-US" sz="1500" dirty="0"/>
          </a:p>
        </p:txBody>
      </p:sp>
      <p:sp>
        <p:nvSpPr>
          <p:cNvPr id="18" name="Text 15"/>
          <p:cNvSpPr/>
          <p:nvPr/>
        </p:nvSpPr>
        <p:spPr>
          <a:xfrm>
            <a:off x="566928" y="2606040"/>
            <a:ext cx="11073384" cy="3657600"/>
          </a:xfrm>
          <a:prstGeom prst="rect">
            <a:avLst/>
          </a:prstGeom>
          <a:noFill/>
          <a:ln/>
        </p:spPr>
        <p:txBody>
          <a:bodyPr wrap="square" lIns="0" tIns="0" rIns="0" bIns="0" rtlCol="0" anchor="ctr"/>
          <a:lstStyle/>
          <a:p>
            <a:pPr indent="0" marL="0">
              <a:buNone/>
            </a:pPr>
            <a:r>
              <a:rPr lang="en-US" sz="1300" dirty="0">
                <a:solidFill>
                  <a:srgbClr val="555555"/>
                </a:solidFill>
                <a:latin typeface="Courier New" pitchFamily="34" charset="0"/>
                <a:ea typeface="Courier New" pitchFamily="34" charset="-122"/>
                <a:cs typeface="Courier New" pitchFamily="34" charset="-120"/>
              </a:rPr>
              <a:t>-- Assume procedure definition:
</a:t>
            </a:r>
            <a:pPr indent="0" marL="0">
              <a:buNone/>
            </a:pPr>
            <a:r>
              <a:rPr lang="en-US" sz="1300" b="1" dirty="0">
                <a:solidFill>
                  <a:srgbClr val="000000"/>
                </a:solidFill>
                <a:latin typeface="Courier New" pitchFamily="34" charset="0"/>
                <a:ea typeface="Courier New" pitchFamily="34" charset="-122"/>
                <a:cs typeface="Courier New" pitchFamily="34" charset="-120"/>
              </a:rPr>
              <a:t>PROCEDURE create_user(p_id NUMBER, p_name VARCHAR2, p_role VARCHAR2 DEFAULT 'Guest');
</a:t>
            </a:r>
            <a:pPr indent="0" marL="0">
              <a:buNone/>
            </a:pPr>
            <a:r>
              <a:rPr lang="en-US" sz="1300" b="1" dirty="0">
                <a:solidFill>
                  <a:srgbClr val="990033"/>
                </a:solidFill>
                <a:latin typeface="Courier New" pitchFamily="34" charset="0"/>
                <a:ea typeface="Courier New" pitchFamily="34" charset="-122"/>
                <a:cs typeface="Courier New" pitchFamily="34" charset="-120"/>
              </a:rPr>
              <a:t>1. Positional Notation (Order based):
</a:t>
            </a:r>
            <a:pPr indent="0" marL="0">
              <a:buNone/>
            </a:pPr>
            <a:r>
              <a:rPr lang="en-US" sz="1300" dirty="0">
                <a:solidFill>
                  <a:srgbClr val="000000"/>
                </a:solidFill>
                <a:latin typeface="Courier New" pitchFamily="34" charset="0"/>
                <a:ea typeface="Courier New" pitchFamily="34" charset="-122"/>
                <a:cs typeface="Courier New" pitchFamily="34" charset="-120"/>
              </a:rPr>
              <a:t>   create_user(101, 'Srinivas', 'Admin');  -- Arguments must match parameter positions exactly.
</a:t>
            </a:r>
            <a:pPr indent="0" marL="0">
              <a:buNone/>
            </a:pPr>
            <a:r>
              <a:rPr lang="en-US" sz="1300" b="1" dirty="0">
                <a:solidFill>
                  <a:srgbClr val="990033"/>
                </a:solidFill>
                <a:latin typeface="Courier New" pitchFamily="34" charset="0"/>
                <a:ea typeface="Courier New" pitchFamily="34" charset="-122"/>
                <a:cs typeface="Courier New" pitchFamily="34" charset="-120"/>
              </a:rPr>
              <a:t>2. Named Notation (Association based):
</a:t>
            </a:r>
            <a:pPr indent="0" marL="0">
              <a:buNone/>
            </a:pPr>
            <a:r>
              <a:rPr lang="en-US" sz="1300" dirty="0">
                <a:solidFill>
                  <a:srgbClr val="000000"/>
                </a:solidFill>
                <a:latin typeface="Courier New" pitchFamily="34" charset="0"/>
                <a:ea typeface="Courier New" pitchFamily="34" charset="-122"/>
                <a:cs typeface="Courier New" pitchFamily="34" charset="-120"/>
              </a:rPr>
              <a:t>   create_user(p_name =&gt; 'Srinivas', p_id =&gt; 101, p_role =&gt; 'Admin');  -- Order does not matter.
</a:t>
            </a:r>
            <a:pPr indent="0" marL="0">
              <a:buNone/>
            </a:pPr>
            <a:r>
              <a:rPr lang="en-US" sz="1300" b="1" dirty="0">
                <a:solidFill>
                  <a:srgbClr val="990033"/>
                </a:solidFill>
                <a:latin typeface="Courier New" pitchFamily="34" charset="0"/>
                <a:ea typeface="Courier New" pitchFamily="34" charset="-122"/>
                <a:cs typeface="Courier New" pitchFamily="34" charset="-120"/>
              </a:rPr>
              <a:t>3. Mixed Notation:
</a:t>
            </a:r>
            <a:pPr indent="0" marL="0">
              <a:buNone/>
            </a:pPr>
            <a:r>
              <a:rPr lang="en-US" sz="1300" dirty="0">
                <a:solidFill>
                  <a:srgbClr val="000000"/>
                </a:solidFill>
                <a:latin typeface="Courier New" pitchFamily="34" charset="0"/>
                <a:ea typeface="Courier New" pitchFamily="34" charset="-122"/>
                <a:cs typeface="Courier New" pitchFamily="34" charset="-120"/>
              </a:rPr>
              <a:t>   create_user(101, p_name =&gt; 'Srinivas', p_role =&gt; 'Admin');  -- Positional first, then named.
</a:t>
            </a:r>
            <a:pPr indent="0" marL="0">
              <a:buNone/>
            </a:pPr>
            <a:r>
              <a:rPr lang="en-US" sz="1300" b="1" dirty="0">
                <a:solidFill>
                  <a:srgbClr val="990033"/>
                </a:solidFill>
                <a:latin typeface="Courier New" pitchFamily="34" charset="0"/>
                <a:ea typeface="Courier New" pitchFamily="34" charset="-122"/>
                <a:cs typeface="Courier New" pitchFamily="34" charset="-120"/>
              </a:rPr>
              <a:t>4. Default Parameter Omission:
</a:t>
            </a:r>
            <a:pPr indent="0" marL="0">
              <a:buNone/>
            </a:pPr>
            <a:r>
              <a:rPr lang="en-US" sz="1300" dirty="0">
                <a:solidFill>
                  <a:srgbClr val="000000"/>
                </a:solidFill>
                <a:latin typeface="Courier New" pitchFamily="34" charset="0"/>
                <a:ea typeface="Courier New" pitchFamily="34" charset="-122"/>
                <a:cs typeface="Courier New" pitchFamily="34" charset="-120"/>
              </a:rPr>
              <a:t>   create_user(101, 'Srinivas');  -- Omitted parameters resolve to their DEFAULT values.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Subprograms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Subprograms organize logic, secure tables, and improve database performance:</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Security &amp; Access Control</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Rather than granting users direct read/write permissions on tables, developers grant access to execute stored procedures. This prevents direct table manipulation and SQL injection.</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Business Logic Centralization</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Keeps business calculations (e.g., tax math, shipping fees) in stored database functions. All client apps (web, mobile, BI) query the same function, preventing logic duplication.</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Performance Tuning</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Subprograms are compiled once and stored in the Shared Pool memory of Oracle Database. Subsequent calls execute immediately without parsing overhead, boosting speed.</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API Layer Integration</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Serves as an API layer for applications. Standardizing database interactions inside procedures simplifies schema modifications and system updates.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2026-06-14T11:41:05Z</dcterms:created>
  <dcterms:modified xsi:type="dcterms:W3CDTF">2026-06-14T11:41:05Z</dcterms:modified>
</cp:coreProperties>
</file>