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I am presenting today on the Web Control Room and its features in Robotic Process Automation. In this session, we will explore the centralized server architecture of Automation Anywhere, understand the Web Control Room dashboard, and look at the critical role of the Credential Vault in securing automation credentials.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Control Room, or Web CR, is the centralized web-based management server in Automation Anywhere. It acts as the brain of the entire RPA deployment, managing, scheduling, and auditing software bots across the entire enterprise network. Through the Web CR, administrators can upload bots from developer clients and push them to local runtime runners. It tracks home summaries of system health, active and scheduled runs, connected development and runtime machines, and transaction queues. Crucially, the Web CR records all activities in secure database logs for compliance, which provides an audit trail that cannot be modified. This ensures that organizations can safely deploy automation at scale while maintaining visibility and regulatory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one of the most critical aspects of enterprise automation, as bots often need to log into databases, legacy systems, and web applications. To avoid hardcoding passwords inside bot scripts, Automation Anywhere provides the Credential Vault. The Credential Vault is a secure database that encrypts sensitive information using the AES-256 standard. Administrators use role-based access to control which developers and bots can reference specific variables. At runtime, bots query these values dynamically using variables like Locker.Password. The credential is only decrypted in memory during the login action, meaning developers can build and maintain bots without ever seeing the raw passwords in plain text. This centralizes password rotation and keeps the entire automation platform secure.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key applications of the Web Control Room in practice. First, it manages overnight job scheduling, allowing administrators to configure invoicing bots to run at 2:00 AM without human intervention. Second, it handles secure credential provisioning, providing database tokens to bots dynamically. Third, it logs all user modifications, bot uploads, and executions in the audit logs, which is essential for audits under standards like SOX or HIPAA. Finally, the Web CR exposes REST APIs, enabling external platforms like Salesforce or ServiceNow to trigger bots automatically when a customer ticket or order is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the Web Control Room serves as the centralized command center that makes enterprise RPA secure, auditable, and scalable. By managing bots, devices, and credentials from a single web interface, administrators can ensure high availability and compliance across the platform. Thank you for your time, and I am ready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Robotic Process Automation</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II: Web Control Room &amp; Client</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Web Control Room Features</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Robotic Process Automation</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The Web Control Room</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The Web Control Room (Web CR) </a:t>
            </a:r>
            <a:pPr indent="0" marL="0">
              <a:buNone/>
            </a:pPr>
            <a:r>
              <a:rPr lang="en-US" sz="1400" dirty="0">
                <a:solidFill>
                  <a:srgbClr val="000000"/>
                </a:solidFill>
                <a:latin typeface="Arial" pitchFamily="34" charset="0"/>
                <a:ea typeface="Arial" pitchFamily="34" charset="-122"/>
                <a:cs typeface="Arial" pitchFamily="34" charset="-120"/>
              </a:rPr>
              <a:t>is the centralized web-based management server in Automation Anywhere. It manages, deploys, schedules, and audits software bots across the entire enterprise network.</a:t>
            </a:r>
            <a:endParaRPr lang="en-US" sz="1400" dirty="0"/>
          </a:p>
        </p:txBody>
      </p:sp>
      <p:sp>
        <p:nvSpPr>
          <p:cNvPr id="16" name="Shape 13"/>
          <p:cNvSpPr/>
          <p:nvPr/>
        </p:nvSpPr>
        <p:spPr>
          <a:xfrm>
            <a:off x="457200" y="2103120"/>
            <a:ext cx="5394960" cy="3895344"/>
          </a:xfrm>
          <a:prstGeom prst="roundRect">
            <a:avLst>
              <a:gd name="adj" fmla="val 2347"/>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Core Management Features</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6400"/>
                </a:solidFill>
                <a:latin typeface="Arial" pitchFamily="34" charset="0"/>
                <a:ea typeface="Arial" pitchFamily="34" charset="-122"/>
                <a:cs typeface="Arial" pitchFamily="34" charset="-120"/>
              </a:rPr>
              <a:t>• Centralized Deployment:</a:t>
            </a:r>
            <a:pPr indent="0" marL="0">
              <a:buNone/>
            </a:pPr>
            <a:r>
              <a:rPr lang="en-US" sz="1300" dirty="0">
                <a:solidFill>
                  <a:srgbClr val="000000"/>
                </a:solidFill>
                <a:latin typeface="Arial" pitchFamily="34" charset="0"/>
                <a:ea typeface="Arial" pitchFamily="34" charset="-122"/>
                <a:cs typeface="Arial" pitchFamily="34" charset="-120"/>
              </a:rPr>
              <a:t> Upload bots from developer clients to the Web CR, then push them to local runtime runners.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Activity Tracker:</a:t>
            </a:r>
            <a:pPr indent="0" marL="0">
              <a:buNone/>
            </a:pPr>
            <a:r>
              <a:rPr lang="en-US" sz="1300" dirty="0">
                <a:solidFill>
                  <a:srgbClr val="000000"/>
                </a:solidFill>
                <a:latin typeface="Arial" pitchFamily="34" charset="0"/>
                <a:ea typeface="Arial" pitchFamily="34" charset="-122"/>
                <a:cs typeface="Arial" pitchFamily="34" charset="-120"/>
              </a:rPr>
              <a:t> Monitors active runs, schedules tasks, and alerts admins if a bot encounters errors.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Device Management:</a:t>
            </a:r>
            <a:pPr indent="0" marL="0">
              <a:buNone/>
            </a:pPr>
            <a:r>
              <a:rPr lang="en-US" sz="1300" dirty="0">
                <a:solidFill>
                  <a:srgbClr val="000000"/>
                </a:solidFill>
                <a:latin typeface="Arial" pitchFamily="34" charset="0"/>
                <a:ea typeface="Arial" pitchFamily="34" charset="-122"/>
                <a:cs typeface="Arial" pitchFamily="34" charset="-120"/>
              </a:rPr>
              <a:t> Monitors connections of development and runtime client machines.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Compliance &amp; Auditing:</a:t>
            </a:r>
            <a:pPr indent="0" marL="0">
              <a:buNone/>
            </a:pPr>
            <a:r>
              <a:rPr lang="en-US" sz="1300" dirty="0">
                <a:solidFill>
                  <a:srgbClr val="000000"/>
                </a:solidFill>
                <a:latin typeface="Arial" pitchFamily="34" charset="0"/>
                <a:ea typeface="Arial" pitchFamily="34" charset="-122"/>
                <a:cs typeface="Arial" pitchFamily="34" charset="-120"/>
              </a:rPr>
              <a:t> Logs all admin logins, bot executions, and configuration changes to secure databases.</a:t>
            </a:r>
            <a:endParaRPr lang="en-US" sz="1300" dirty="0"/>
          </a:p>
        </p:txBody>
      </p:sp>
      <p:sp>
        <p:nvSpPr>
          <p:cNvPr id="19" name="Shape 16"/>
          <p:cNvSpPr/>
          <p:nvPr/>
        </p:nvSpPr>
        <p:spPr>
          <a:xfrm>
            <a:off x="6035040" y="2103120"/>
            <a:ext cx="5715000" cy="3895344"/>
          </a:xfrm>
          <a:prstGeom prst="roundRect">
            <a:avLst>
              <a:gd name="adj" fmla="val 2347"/>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Dashboard Panels (Insights)</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Web CR features panels to monitor operations: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Home:</a:t>
            </a:r>
            <a:pPr indent="0" marL="0">
              <a:buNone/>
            </a:pPr>
            <a:r>
              <a:rPr lang="en-US" sz="1300" dirty="0">
                <a:solidFill>
                  <a:srgbClr val="000000"/>
                </a:solidFill>
                <a:latin typeface="Arial" pitchFamily="34" charset="0"/>
                <a:ea typeface="Arial" pitchFamily="34" charset="-122"/>
                <a:cs typeface="Arial" pitchFamily="34" charset="-120"/>
              </a:rPr>
              <a:t> Overall summary of system health and active runs.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Bots:</a:t>
            </a:r>
            <a:pPr indent="0" marL="0">
              <a:buNone/>
            </a:pPr>
            <a:r>
              <a:rPr lang="en-US" sz="1300" dirty="0">
                <a:solidFill>
                  <a:srgbClr val="000000"/>
                </a:solidFill>
                <a:latin typeface="Arial" pitchFamily="34" charset="0"/>
                <a:ea typeface="Arial" pitchFamily="34" charset="-122"/>
                <a:cs typeface="Arial" pitchFamily="34" charset="-120"/>
              </a:rPr>
              <a:t> Library of uploaded task files (.atmx) and credential configs.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Devices:</a:t>
            </a:r>
            <a:pPr indent="0" marL="0">
              <a:buNone/>
            </a:pPr>
            <a:r>
              <a:rPr lang="en-US" sz="1300" dirty="0">
                <a:solidFill>
                  <a:srgbClr val="000000"/>
                </a:solidFill>
                <a:latin typeface="Arial" pitchFamily="34" charset="0"/>
                <a:ea typeface="Arial" pitchFamily="34" charset="-122"/>
                <a:cs typeface="Arial" pitchFamily="34" charset="-120"/>
              </a:rPr>
              <a:t> Connection states of bot runner clients.</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Workload:</a:t>
            </a:r>
            <a:pPr indent="0" marL="0">
              <a:buNone/>
            </a:pPr>
            <a:r>
              <a:rPr lang="en-US" sz="1300" dirty="0">
                <a:solidFill>
                  <a:srgbClr val="000000"/>
                </a:solidFill>
                <a:latin typeface="Arial" pitchFamily="34" charset="0"/>
                <a:ea typeface="Arial" pitchFamily="34" charset="-122"/>
                <a:cs typeface="Arial" pitchFamily="34" charset="-120"/>
              </a:rPr>
              <a:t> Status of transaction queues and SLA counters.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Audit Log:</a:t>
            </a:r>
            <a:pPr indent="0" marL="0">
              <a:buNone/>
            </a:pPr>
            <a:r>
              <a:rPr lang="en-US" sz="1300" dirty="0">
                <a:solidFill>
                  <a:srgbClr val="000000"/>
                </a:solidFill>
                <a:latin typeface="Arial" pitchFamily="34" charset="0"/>
                <a:ea typeface="Arial" pitchFamily="34" charset="-122"/>
                <a:cs typeface="Arial" pitchFamily="34" charset="-120"/>
              </a:rPr>
              <a:t> Security compliance reports tracking all user activities.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Robotic Process Automation</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The Credential Vault</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The Credential Vault is a secure database that manages credentials for bots:</a:t>
            </a:r>
            <a:endParaRPr lang="en-US" sz="1400" dirty="0"/>
          </a:p>
        </p:txBody>
      </p:sp>
      <p:sp>
        <p:nvSpPr>
          <p:cNvPr id="16" name="Shape 13"/>
          <p:cNvSpPr/>
          <p:nvPr/>
        </p:nvSpPr>
        <p:spPr>
          <a:xfrm>
            <a:off x="457200" y="2103120"/>
            <a:ext cx="5394960" cy="4114800"/>
          </a:xfrm>
          <a:prstGeom prst="roundRect">
            <a:avLst>
              <a:gd name="adj" fmla="val 2222"/>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Security &amp; Encryption</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Secure Storage:</a:t>
            </a:r>
            <a:pPr indent="0" marL="0">
              <a:buNone/>
            </a:pPr>
            <a:r>
              <a:rPr lang="en-US" sz="1300" dirty="0">
                <a:solidFill>
                  <a:srgbClr val="000000"/>
                </a:solidFill>
                <a:latin typeface="Arial" pitchFamily="34" charset="0"/>
                <a:ea typeface="Arial" pitchFamily="34" charset="-122"/>
                <a:cs typeface="Arial" pitchFamily="34" charset="-120"/>
              </a:rPr>
              <a:t> Stores passwords, API keys, and database logins. Prevents hardcoding passwords in bot files.</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High Encryption:</a:t>
            </a:r>
            <a:pPr indent="0" marL="0">
              <a:buNone/>
            </a:pPr>
            <a:r>
              <a:rPr lang="en-US" sz="1300" dirty="0">
                <a:solidFill>
                  <a:srgbClr val="000000"/>
                </a:solidFill>
                <a:latin typeface="Arial" pitchFamily="34" charset="0"/>
                <a:ea typeface="Arial" pitchFamily="34" charset="-122"/>
                <a:cs typeface="Arial" pitchFamily="34" charset="-120"/>
              </a:rPr>
              <a:t> Encrypts data using AES-256 standard, keeping keys secure.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Role-Based Access:</a:t>
            </a:r>
            <a:pPr indent="0" marL="0">
              <a:buNone/>
            </a:pPr>
            <a:r>
              <a:rPr lang="en-US" sz="1300" dirty="0">
                <a:solidFill>
                  <a:srgbClr val="000000"/>
                </a:solidFill>
                <a:latin typeface="Arial" pitchFamily="34" charset="0"/>
                <a:ea typeface="Arial" pitchFamily="34" charset="-122"/>
                <a:cs typeface="Arial" pitchFamily="34" charset="-120"/>
              </a:rPr>
              <a:t> Admins control which bots and users can reference specific locker values.</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Runtime Variable Binding</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Dynamic Reference:</a:t>
            </a:r>
            <a:pPr indent="0" marL="0">
              <a:buNone/>
            </a:pPr>
            <a:r>
              <a:rPr lang="en-US" sz="1300" dirty="0">
                <a:solidFill>
                  <a:srgbClr val="000000"/>
                </a:solidFill>
                <a:latin typeface="Arial" pitchFamily="34" charset="0"/>
                <a:ea typeface="Arial" pitchFamily="34" charset="-122"/>
                <a:cs typeface="Arial" pitchFamily="34" charset="-120"/>
              </a:rPr>
              <a:t> Bots reference vault items as variables (e.g. $Locker.Password$).</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Zero Plain Text Exposure:</a:t>
            </a:r>
            <a:pPr indent="0" marL="0">
              <a:buNone/>
            </a:pPr>
            <a:r>
              <a:rPr lang="en-US" sz="1300" dirty="0">
                <a:solidFill>
                  <a:srgbClr val="000000"/>
                </a:solidFill>
                <a:latin typeface="Arial" pitchFamily="34" charset="0"/>
                <a:ea typeface="Arial" pitchFamily="34" charset="-122"/>
                <a:cs typeface="Arial" pitchFamily="34" charset="-120"/>
              </a:rPr>
              <a:t> The password is only decrypted in memory during the login step. Developers cannot see the raw password value.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Central Rotation:</a:t>
            </a:r>
            <a:pPr indent="0" marL="0">
              <a:buNone/>
            </a:pPr>
            <a:r>
              <a:rPr lang="en-US" sz="1300" dirty="0">
                <a:solidFill>
                  <a:srgbClr val="000000"/>
                </a:solidFill>
                <a:latin typeface="Arial" pitchFamily="34" charset="0"/>
                <a:ea typeface="Arial" pitchFamily="34" charset="-122"/>
                <a:cs typeface="Arial" pitchFamily="34" charset="-120"/>
              </a:rPr>
              <a:t> Updating a password in the vault updates it for all bots instantly, avoiding script edits.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Robotic Process Automation</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Web Control Room</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How administrators manage bot deployments in enterprise environments: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Overnight Job Scheduling</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Admins schedule invoice processing bots to run at 2:00 AM on runtime devices. Web CR automatically boots the bot and processes files.</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Secure Database Credential Provisioning</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Provides database access tokens to query bots via the Credential Vault. Bots run queries without developers seeing passwords.</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Security Compliance Auditing</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Logs every bot run (username, device, duration, success status) to the secure audit catalog, meeting regulatory compliance requirements.</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API Integration</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Exposes Web CR features via REST APIs. Allows external platforms (like Salesforce or ServiceNow) to trigger bots dynamically.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Robotic Process Automation</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2026-06-14T11:41:11Z</dcterms:created>
  <dcterms:modified xsi:type="dcterms:W3CDTF">2026-06-14T11:41:11Z</dcterms:modified>
</cp:coreProperties>
</file>