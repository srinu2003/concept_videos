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Srinivas Rao Tammireddy, and my roll number is 257Y1D5805. I am a first-year, first-semester M.Tech student in Computer Science and Engineering at the Marri Laxman Reddy Institute of Technology and Management. Today, I am going to present on Unit Five of Database Programming with PL/SQL, focusing on Database Triggers. In this presentation, we will explore what a trigger is, its core characteristics, the classifications of triggers, the differences between row-level and statement-level triggers, the timing and execution order of trigger blocks, and their common enterprise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begin with the definition of a database trigger. A trigger is a stored PL/SQL block that automatically executes, or fires, in response to specific events, such as DML modifications, DDL statements, or database system events. Triggers have several core characteristics. They execute implicitly; they are fired automatically by the database engine and cannot be called manually by user queries. They are event-driven, firing immediately when the triggering SQL statement executes. They also run within the transaction context of the DML statement. If a trigger encounters an unhandled exception, it rolls back the entire transaction. However, they carry high risk, as poorly designed triggers can degrade database performance or cause mutating table errors. In terms of classification, we have DML triggers on tables or views, DDL triggers on schema modifications, and system triggers on events like startup, shutdown, logon, or logoff.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let's differentiate between statement-level and row-level DML triggers. A statement-level trigger fires exactly once per SQL statement, regardless of the number of rows affected. This is the default behavior when we omit the FOR EACH ROW clause. Because statement-level triggers execute once, they cannot access individual row values, and the OLD and NEW pseudo-records are unavailable. They are ideal for enforcing global business restrictions, such as preventing table updates outside business hours. In contrast, a row-level trigger fires once for each row affected by the statement. We must include the FOR EACH ROW clause in its header. Row-level triggers have access to OLD and NEW pseudo-records, representing row values before and after the query, which makes them perfect for auditing column changes and generating primary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explore trigger timings and execution flow. Timings control when a trigger fires. BEFORE triggers run before the DML statement, validating or altering values before they are written to disk. AFTER triggers run after execution, performing post-processing tasks like writing audit records. INSTEAD OF triggers run on views, routing data to base tables. A Compound Trigger combines all these timings in one block, sharing local variables to prevent mutating table errors. In terms of execution order, when a query modifies multiple rows, Oracle first runs BEFORE statement-level triggers, then loop through each row to execute BEFORE row-level triggers, apply the DML, and run AFTER row-level triggers. Finally, it runs AFTER statement-level triggers. Note that triggers cannot execute transaction commands like COMMIT or ROLLBACK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Triggers automate critical tasks at the database level. Their primary applications include audit logging, where AFTER row-level triggers write old and new values of sensitive columns to log tables. They are also used for auto-generating primary keys, where BEFORE INSERT triggers fetch sequence numbers and assign them to the ID column. Additionally, they audit DDL modifications, tracking when schemas are modified or preventing alterations during release locks. Lastly, triggers support data synchronization, updating denormalized tables or baseline records automatically to maintain consistency across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concludes my presentation on Database Triggers. We have learned how triggers enforce security, audit changes, and ensure integrity implicitly. I would like to thank the Department of Computer Science and Engineering at the Marri Laxman Reddy Institute of Technology and Management. Thank you very much for your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400" i="1" dirty="0">
                <a:solidFill>
                  <a:srgbClr val="990033"/>
                </a:solidFill>
                <a:latin typeface="Arial" pitchFamily="34" charset="0"/>
                <a:ea typeface="Arial" pitchFamily="34" charset="-122"/>
                <a:cs typeface="Arial" pitchFamily="34" charset="-120"/>
              </a:rPr>
              <a:t>Unit V: Triggers</a:t>
            </a:r>
            <a:endParaRPr lang="en-US" sz="14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Database Triggers</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500" b="1" dirty="0">
                <a:solidFill>
                  <a:srgbClr val="990033"/>
                </a:solidFill>
                <a:latin typeface="Arial" pitchFamily="34" charset="0"/>
                <a:ea typeface="Arial" pitchFamily="34" charset="-122"/>
                <a:cs typeface="Arial" pitchFamily="34" charset="-120"/>
              </a:rPr>
              <a:t>PPT PRESENTED BY</a:t>
            </a:r>
            <a:endParaRPr lang="en-US" sz="15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NAME :   Srinivas Rao Tammireddy</a:t>
            </a:r>
            <a:endParaRPr lang="en-US" sz="13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ROLL NO :   257Y1D5805</a:t>
            </a:r>
            <a:endParaRPr lang="en-US" sz="13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YEAR :   I Year  I Semester</a:t>
            </a:r>
            <a:endParaRPr lang="en-US" sz="13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ACADEMIC YEAR :   2025 - 2026</a:t>
            </a:r>
            <a:endParaRPr lang="en-US" sz="13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DEPARTMENT OF COMPUTER SCIENCE AND ENGINEERING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What is a Database Trigger?</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A Database Trigger </a:t>
            </a:r>
            <a:pPr indent="0" marL="0">
              <a:buNone/>
            </a:pPr>
            <a:r>
              <a:rPr lang="en-US" sz="1400" dirty="0">
                <a:solidFill>
                  <a:srgbClr val="000000"/>
                </a:solidFill>
                <a:latin typeface="Arial" pitchFamily="34" charset="0"/>
                <a:ea typeface="Arial" pitchFamily="34" charset="-122"/>
                <a:cs typeface="Arial" pitchFamily="34" charset="-120"/>
              </a:rPr>
              <a:t>is a stored PL/SQL block that automatically executes (fires) in response to specific events in the database (DML modifications, DDL statements, or database system events).</a:t>
            </a:r>
            <a:endParaRPr lang="en-US" sz="1400" dirty="0"/>
          </a:p>
        </p:txBody>
      </p:sp>
      <p:sp>
        <p:nvSpPr>
          <p:cNvPr id="16" name="Shape 13"/>
          <p:cNvSpPr/>
          <p:nvPr/>
        </p:nvSpPr>
        <p:spPr>
          <a:xfrm>
            <a:off x="457200" y="2103120"/>
            <a:ext cx="5394960" cy="3895344"/>
          </a:xfrm>
          <a:prstGeom prst="roundRect">
            <a:avLst>
              <a:gd name="adj" fmla="val 2347"/>
            </a:avLst>
          </a:prstGeom>
          <a:solidFill>
            <a:srgbClr val="E8F5E9"/>
          </a:solidFill>
          <a:ln w="19050">
            <a:solidFill>
              <a:srgbClr val="00990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009900"/>
                </a:solidFill>
                <a:latin typeface="Arial" pitchFamily="34" charset="0"/>
                <a:ea typeface="Arial" pitchFamily="34" charset="-122"/>
                <a:cs typeface="Arial" pitchFamily="34" charset="-120"/>
              </a:rPr>
              <a:t>Core Characteristics</a:t>
            </a:r>
            <a:endParaRPr lang="en-US" sz="1500" dirty="0"/>
          </a:p>
        </p:txBody>
      </p:sp>
      <p:sp>
        <p:nvSpPr>
          <p:cNvPr id="18" name="Text 15"/>
          <p:cNvSpPr/>
          <p:nvPr/>
        </p:nvSpPr>
        <p:spPr>
          <a:xfrm>
            <a:off x="566928" y="2560320"/>
            <a:ext cx="5212080"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Implicit Execution:</a:t>
            </a:r>
            <a:pPr indent="0" marL="0">
              <a:buNone/>
            </a:pPr>
            <a:r>
              <a:rPr lang="en-US" sz="1300" dirty="0">
                <a:solidFill>
                  <a:srgbClr val="000000"/>
                </a:solidFill>
                <a:latin typeface="Arial" pitchFamily="34" charset="0"/>
                <a:ea typeface="Arial" pitchFamily="34" charset="-122"/>
                <a:cs typeface="Arial" pitchFamily="34" charset="-120"/>
              </a:rPr>
              <a:t> Fired automatically by the database engine. Cannot be called manually by user queries.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Event-Driven:</a:t>
            </a:r>
            <a:pPr indent="0" marL="0">
              <a:buNone/>
            </a:pPr>
            <a:r>
              <a:rPr lang="en-US" sz="1300" dirty="0">
                <a:solidFill>
                  <a:srgbClr val="000000"/>
                </a:solidFill>
                <a:latin typeface="Arial" pitchFamily="34" charset="0"/>
                <a:ea typeface="Arial" pitchFamily="34" charset="-122"/>
                <a:cs typeface="Arial" pitchFamily="34" charset="-120"/>
              </a:rPr>
              <a:t> Bound directly to database events. Fires immediately when the triggering SQL statement executes.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Transaction Context:</a:t>
            </a:r>
            <a:pPr indent="0" marL="0">
              <a:buNone/>
            </a:pPr>
            <a:r>
              <a:rPr lang="en-US" sz="1300" dirty="0">
                <a:solidFill>
                  <a:srgbClr val="000000"/>
                </a:solidFill>
                <a:latin typeface="Arial" pitchFamily="34" charset="0"/>
                <a:ea typeface="Arial" pitchFamily="34" charset="-122"/>
                <a:cs typeface="Arial" pitchFamily="34" charset="-120"/>
              </a:rPr>
              <a:t> Runs within the same transaction scope as the DML statement. A failure inside a trigger rolls back the entire transaction.</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High Risk:</a:t>
            </a:r>
            <a:pPr indent="0" marL="0">
              <a:buNone/>
            </a:pPr>
            <a:r>
              <a:rPr lang="en-US" sz="1300" dirty="0">
                <a:solidFill>
                  <a:srgbClr val="000000"/>
                </a:solidFill>
                <a:latin typeface="Arial" pitchFamily="34" charset="0"/>
                <a:ea typeface="Arial" pitchFamily="34" charset="-122"/>
                <a:cs typeface="Arial" pitchFamily="34" charset="-120"/>
              </a:rPr>
              <a:t> Poorly designed triggers can degrade database performance and cause unexpected side effects (mutating tables).</a:t>
            </a:r>
            <a:endParaRPr lang="en-US" sz="1300" dirty="0"/>
          </a:p>
        </p:txBody>
      </p:sp>
      <p:sp>
        <p:nvSpPr>
          <p:cNvPr id="19" name="Shape 16"/>
          <p:cNvSpPr/>
          <p:nvPr/>
        </p:nvSpPr>
        <p:spPr>
          <a:xfrm>
            <a:off x="6035040" y="2103120"/>
            <a:ext cx="5715000" cy="3895344"/>
          </a:xfrm>
          <a:prstGeom prst="roundRect">
            <a:avLst>
              <a:gd name="adj" fmla="val 2347"/>
            </a:avLst>
          </a:prstGeom>
          <a:solidFill>
            <a:srgbClr val="E3F2FD"/>
          </a:solidFill>
          <a:ln w="19050">
            <a:solidFill>
              <a:srgbClr val="1565C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Trigger Classification</a:t>
            </a:r>
            <a:endParaRPr lang="en-US" sz="1500" dirty="0"/>
          </a:p>
        </p:txBody>
      </p:sp>
      <p:sp>
        <p:nvSpPr>
          <p:cNvPr id="21" name="Text 18"/>
          <p:cNvSpPr/>
          <p:nvPr/>
        </p:nvSpPr>
        <p:spPr>
          <a:xfrm>
            <a:off x="6144768" y="2560320"/>
            <a:ext cx="5513832" cy="3364992"/>
          </a:xfrm>
          <a:prstGeom prst="rect">
            <a:avLst/>
          </a:prstGeom>
          <a:noFill/>
          <a:ln/>
        </p:spPr>
        <p:txBody>
          <a:bodyPr wrap="square" lIns="0" tIns="0" rIns="0" bIns="0" rtlCol="0" anchor="ctr"/>
          <a:lstStyle/>
          <a:p>
            <a:pPr indent="0" marL="0">
              <a:buNone/>
            </a:pPr>
            <a:r>
              <a:rPr lang="en-US" sz="1300" b="1" dirty="0">
                <a:solidFill>
                  <a:srgbClr val="1565C0"/>
                </a:solidFill>
                <a:latin typeface="Arial" pitchFamily="34" charset="0"/>
                <a:ea typeface="Arial" pitchFamily="34" charset="-122"/>
                <a:cs typeface="Arial" pitchFamily="34" charset="-120"/>
              </a:rPr>
              <a:t>• DML Triggers:</a:t>
            </a:r>
            <a:pPr indent="0" marL="0">
              <a:buNone/>
            </a:pPr>
            <a:r>
              <a:rPr lang="en-US" sz="1300" dirty="0">
                <a:solidFill>
                  <a:srgbClr val="000000"/>
                </a:solidFill>
                <a:latin typeface="Arial" pitchFamily="34" charset="0"/>
                <a:ea typeface="Arial" pitchFamily="34" charset="-122"/>
                <a:cs typeface="Arial" pitchFamily="34" charset="-120"/>
              </a:rPr>
              <a:t> Bound to INSERT, UPDATE, or DELETE statements on tables or views.</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DDL Triggers:</a:t>
            </a:r>
            <a:pPr indent="0" marL="0">
              <a:buNone/>
            </a:pPr>
            <a:r>
              <a:rPr lang="en-US" sz="1300" dirty="0">
                <a:solidFill>
                  <a:srgbClr val="000000"/>
                </a:solidFill>
                <a:latin typeface="Arial" pitchFamily="34" charset="0"/>
                <a:ea typeface="Arial" pitchFamily="34" charset="-122"/>
                <a:cs typeface="Arial" pitchFamily="34" charset="-120"/>
              </a:rPr>
              <a:t> Bound to schema modifications (CREATE, ALTER, DROP). Used to audit operations or restrict changes.</a:t>
            </a:r>
            <a:endParaRPr lang="en-US" sz="1300" dirty="0"/>
          </a:p>
          <a:p>
            <a:pPr indent="0" marL="0">
              <a:buNone/>
            </a:pPr>
            <a:r>
              <a:rPr lang="en-US" sz="1300" b="1" dirty="0">
                <a:solidFill>
                  <a:srgbClr val="F57F17"/>
                </a:solidFill>
                <a:latin typeface="Arial" pitchFamily="34" charset="0"/>
                <a:ea typeface="Arial" pitchFamily="34" charset="-122"/>
                <a:cs typeface="Arial" pitchFamily="34" charset="-120"/>
              </a:rPr>
              <a:t>• Database System Triggers:</a:t>
            </a:r>
            <a:pPr indent="0" marL="0">
              <a:buNone/>
            </a:pPr>
            <a:r>
              <a:rPr lang="en-US" sz="1300" dirty="0">
                <a:solidFill>
                  <a:srgbClr val="000000"/>
                </a:solidFill>
                <a:latin typeface="Arial" pitchFamily="34" charset="0"/>
                <a:ea typeface="Arial" pitchFamily="34" charset="-122"/>
                <a:cs typeface="Arial" pitchFamily="34" charset="-120"/>
              </a:rPr>
              <a:t> Bound to database events (STARTUP, SHUTDOWN, SERVERERROR, LOGON, LOGOFF). Ideal for tracking connections.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Row-Level vs. Statement-Level DML Triggers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Understanding the granularity of DML triggers determines how often they fire:</a:t>
            </a:r>
            <a:endParaRPr lang="en-US" sz="1400" dirty="0"/>
          </a:p>
        </p:txBody>
      </p:sp>
      <p:sp>
        <p:nvSpPr>
          <p:cNvPr id="16" name="Shape 13"/>
          <p:cNvSpPr/>
          <p:nvPr/>
        </p:nvSpPr>
        <p:spPr>
          <a:xfrm>
            <a:off x="457200" y="2103120"/>
            <a:ext cx="5394960" cy="4114800"/>
          </a:xfrm>
          <a:prstGeom prst="roundRect">
            <a:avLst>
              <a:gd name="adj" fmla="val 2222"/>
            </a:avLst>
          </a:prstGeom>
          <a:solidFill>
            <a:srgbClr val="FCE4EC"/>
          </a:solidFill>
          <a:ln w="19050">
            <a:solidFill>
              <a:srgbClr val="990033"/>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Statement-Level Triggers</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Execution Frequency:</a:t>
            </a:r>
            <a:pPr indent="0" marL="0">
              <a:buNone/>
            </a:pPr>
            <a:r>
              <a:rPr lang="en-US" sz="1300" dirty="0">
                <a:solidFill>
                  <a:srgbClr val="000000"/>
                </a:solidFill>
                <a:latin typeface="Arial" pitchFamily="34" charset="0"/>
                <a:ea typeface="Arial" pitchFamily="34" charset="-122"/>
                <a:cs typeface="Arial" pitchFamily="34" charset="-120"/>
              </a:rPr>
              <a:t> Fires exactly ONCE per DML statement, regardless of the number of rows affected (even if 0 rows are updated).</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Syntax:</a:t>
            </a:r>
            <a:pPr indent="0" marL="0">
              <a:buNone/>
            </a:pPr>
            <a:r>
              <a:rPr lang="en-US" sz="1300" dirty="0">
                <a:solidFill>
                  <a:srgbClr val="000000"/>
                </a:solidFill>
                <a:latin typeface="Arial" pitchFamily="34" charset="0"/>
                <a:ea typeface="Arial" pitchFamily="34" charset="-122"/>
                <a:cs typeface="Arial" pitchFamily="34" charset="-120"/>
              </a:rPr>
              <a:t> This is the default trigger behavior. Do not use 'FOR EACH ROW' clause.</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Variables:</a:t>
            </a:r>
            <a:pPr indent="0" marL="0">
              <a:buNone/>
            </a:pPr>
            <a:r>
              <a:rPr lang="en-US" sz="1300" dirty="0">
                <a:solidFill>
                  <a:srgbClr val="000000"/>
                </a:solidFill>
                <a:latin typeface="Arial" pitchFamily="34" charset="0"/>
                <a:ea typeface="Arial" pitchFamily="34" charset="-122"/>
                <a:cs typeface="Arial" pitchFamily="34" charset="-120"/>
              </a:rPr>
              <a:t> Cannot access individual row values. No access to ':OLD' or ':NEW' record values.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Best Use Case:</a:t>
            </a:r>
            <a:pPr indent="0" marL="0">
              <a:buNone/>
            </a:pPr>
            <a:r>
              <a:rPr lang="en-US" sz="1300" dirty="0">
                <a:solidFill>
                  <a:srgbClr val="000000"/>
                </a:solidFill>
                <a:latin typeface="Arial" pitchFamily="34" charset="0"/>
                <a:ea typeface="Arial" pitchFamily="34" charset="-122"/>
                <a:cs typeface="Arial" pitchFamily="34" charset="-120"/>
              </a:rPr>
              <a:t> Enforcing global business restrictions (e.g. prevent table updates outside business hours).</a:t>
            </a:r>
            <a:endParaRPr lang="en-US" sz="1300" dirty="0"/>
          </a:p>
        </p:txBody>
      </p:sp>
      <p:sp>
        <p:nvSpPr>
          <p:cNvPr id="19" name="Shape 16"/>
          <p:cNvSpPr/>
          <p:nvPr/>
        </p:nvSpPr>
        <p:spPr>
          <a:xfrm>
            <a:off x="6035040" y="2103120"/>
            <a:ext cx="5715000" cy="4114800"/>
          </a:xfrm>
          <a:prstGeom prst="roundRect">
            <a:avLst>
              <a:gd name="adj" fmla="val 2222"/>
            </a:avLst>
          </a:prstGeom>
          <a:solidFill>
            <a:srgbClr val="E8F5E9"/>
          </a:solidFill>
          <a:ln w="19050">
            <a:solidFill>
              <a:srgbClr val="00640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006400"/>
                </a:solidFill>
                <a:latin typeface="Arial" pitchFamily="34" charset="0"/>
                <a:ea typeface="Arial" pitchFamily="34" charset="-122"/>
                <a:cs typeface="Arial" pitchFamily="34" charset="-120"/>
              </a:rPr>
              <a:t>Row-Level Triggers</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Execution Frequency:</a:t>
            </a:r>
            <a:pPr indent="0" marL="0">
              <a:buNone/>
            </a:pPr>
            <a:r>
              <a:rPr lang="en-US" sz="1300" dirty="0">
                <a:solidFill>
                  <a:srgbClr val="000000"/>
                </a:solidFill>
                <a:latin typeface="Arial" pitchFamily="34" charset="0"/>
                <a:ea typeface="Arial" pitchFamily="34" charset="-122"/>
                <a:cs typeface="Arial" pitchFamily="34" charset="-120"/>
              </a:rPr>
              <a:t> Fires ONCE FOR EACH ROW affected by the DML statement. If a query updates 100 rows, the trigger fires 100 times.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Syntax:</a:t>
            </a:r>
            <a:pPr indent="0" marL="0">
              <a:buNone/>
            </a:pPr>
            <a:r>
              <a:rPr lang="en-US" sz="1300" dirty="0">
                <a:solidFill>
                  <a:srgbClr val="000000"/>
                </a:solidFill>
                <a:latin typeface="Arial" pitchFamily="34" charset="0"/>
                <a:ea typeface="Arial" pitchFamily="34" charset="-122"/>
                <a:cs typeface="Arial" pitchFamily="34" charset="-120"/>
              </a:rPr>
              <a:t> Must include the 'FOR EACH ROW' clause in trigger header.</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 Pseudo-records:</a:t>
            </a:r>
            <a:pPr indent="0" marL="0">
              <a:buNone/>
            </a:pPr>
            <a:r>
              <a:rPr lang="en-US" sz="1300" dirty="0">
                <a:solidFill>
                  <a:srgbClr val="000000"/>
                </a:solidFill>
                <a:latin typeface="Arial" pitchFamily="34" charset="0"/>
                <a:ea typeface="Arial" pitchFamily="34" charset="-122"/>
                <a:cs typeface="Arial" pitchFamily="34" charset="-120"/>
              </a:rPr>
              <a:t> Has access to row values:</a:t>
            </a:r>
            <a:endParaRPr lang="en-US" sz="1300" dirty="0"/>
          </a:p>
          <a:p>
            <a:pPr indent="0" marL="0">
              <a:buNone/>
            </a:pPr>
            <a:r>
              <a:rPr lang="en-US" sz="1300" dirty="0">
                <a:solidFill>
                  <a:srgbClr val="000000"/>
                </a:solidFill>
                <a:latin typeface="Arial" pitchFamily="34" charset="0"/>
                <a:ea typeface="Arial" pitchFamily="34" charset="-122"/>
                <a:cs typeface="Arial" pitchFamily="34" charset="-120"/>
              </a:rPr>
              <a:t>   - :OLD points to values before query.</a:t>
            </a:r>
            <a:endParaRPr lang="en-US" sz="1300" dirty="0"/>
          </a:p>
          <a:p>
            <a:pPr indent="0" marL="0">
              <a:buNone/>
            </a:pPr>
            <a:r>
              <a:rPr lang="en-US" sz="1300" dirty="0">
                <a:solidFill>
                  <a:srgbClr val="000000"/>
                </a:solidFill>
                <a:latin typeface="Arial" pitchFamily="34" charset="0"/>
                <a:ea typeface="Arial" pitchFamily="34" charset="-122"/>
                <a:cs typeface="Arial" pitchFamily="34" charset="-120"/>
              </a:rPr>
              <a:t>   - :NEW points to values after query.</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Best Use Case:</a:t>
            </a:r>
            <a:pPr indent="0" marL="0">
              <a:buNone/>
            </a:pPr>
            <a:r>
              <a:rPr lang="en-US" sz="1300" dirty="0">
                <a:solidFill>
                  <a:srgbClr val="000000"/>
                </a:solidFill>
                <a:latin typeface="Arial" pitchFamily="34" charset="0"/>
                <a:ea typeface="Arial" pitchFamily="34" charset="-122"/>
                <a:cs typeface="Arial" pitchFamily="34" charset="-120"/>
              </a:rPr>
              <a:t> Auditing cell value changes, generating unique primary keys dynamically.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Trigger Timing and Execution Order</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Timings control when the trigger fires relative to the DML event:</a:t>
            </a:r>
            <a:endParaRPr lang="en-US" sz="1400" dirty="0"/>
          </a:p>
        </p:txBody>
      </p:sp>
      <p:sp>
        <p:nvSpPr>
          <p:cNvPr id="16" name="Shape 13"/>
          <p:cNvSpPr/>
          <p:nvPr/>
        </p:nvSpPr>
        <p:spPr>
          <a:xfrm>
            <a:off x="457200" y="2103120"/>
            <a:ext cx="5394960" cy="4114800"/>
          </a:xfrm>
          <a:prstGeom prst="roundRect">
            <a:avLst>
              <a:gd name="adj" fmla="val 2222"/>
            </a:avLst>
          </a:prstGeom>
          <a:solidFill>
            <a:srgbClr val="E3F2FD"/>
          </a:solidFill>
          <a:ln w="19050">
            <a:solidFill>
              <a:srgbClr val="1565C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Trigger Timings</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1565C0"/>
                </a:solidFill>
                <a:latin typeface="Arial" pitchFamily="34" charset="0"/>
                <a:ea typeface="Arial" pitchFamily="34" charset="-122"/>
                <a:cs typeface="Arial" pitchFamily="34" charset="-120"/>
              </a:rPr>
              <a:t>• BEFORE Trigger:</a:t>
            </a:r>
            <a:pPr indent="0" marL="0">
              <a:buNone/>
            </a:pPr>
            <a:r>
              <a:rPr lang="en-US" sz="1300" dirty="0">
                <a:solidFill>
                  <a:srgbClr val="000000"/>
                </a:solidFill>
                <a:latin typeface="Arial" pitchFamily="34" charset="0"/>
                <a:ea typeface="Arial" pitchFamily="34" charset="-122"/>
                <a:cs typeface="Arial" pitchFamily="34" charset="-120"/>
              </a:rPr>
              <a:t> Fires before DML execution. Used to validate or alter :NEW values before they are written to disk.</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 AFTER Trigger:</a:t>
            </a:r>
            <a:pPr indent="0" marL="0">
              <a:buNone/>
            </a:pPr>
            <a:r>
              <a:rPr lang="en-US" sz="1300" dirty="0">
                <a:solidFill>
                  <a:srgbClr val="000000"/>
                </a:solidFill>
                <a:latin typeface="Arial" pitchFamily="34" charset="0"/>
                <a:ea typeface="Arial" pitchFamily="34" charset="-122"/>
                <a:cs typeface="Arial" pitchFamily="34" charset="-120"/>
              </a:rPr>
              <a:t> Fires after DML execution. Used to perform post-processing actions (like updating related tables or writing audit records). Cannot modify row values.</a:t>
            </a:r>
            <a:endParaRPr lang="en-US" sz="1300" dirty="0"/>
          </a:p>
          <a:p>
            <a:pPr indent="0" marL="0">
              <a:buNone/>
            </a:pPr>
            <a:r>
              <a:rPr lang="en-US" sz="1300" b="1" dirty="0">
                <a:solidFill>
                  <a:srgbClr val="F57F17"/>
                </a:solidFill>
                <a:latin typeface="Arial" pitchFamily="34" charset="0"/>
                <a:ea typeface="Arial" pitchFamily="34" charset="-122"/>
                <a:cs typeface="Arial" pitchFamily="34" charset="-120"/>
              </a:rPr>
              <a:t>• INSTEAD OF Trigger:</a:t>
            </a:r>
            <a:pPr indent="0" marL="0">
              <a:buNone/>
            </a:pPr>
            <a:r>
              <a:rPr lang="en-US" sz="1300" dirty="0">
                <a:solidFill>
                  <a:srgbClr val="000000"/>
                </a:solidFill>
                <a:latin typeface="Arial" pitchFamily="34" charset="0"/>
                <a:ea typeface="Arial" pitchFamily="34" charset="-122"/>
                <a:cs typeface="Arial" pitchFamily="34" charset="-120"/>
              </a:rPr>
              <a:t> Fires INSTEAD OF the triggering DML. Used primarily on non-updatable database views to route data to baseline tables.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Compound Trigger:</a:t>
            </a:r>
            <a:pPr indent="0" marL="0">
              <a:buNone/>
            </a:pPr>
            <a:r>
              <a:rPr lang="en-US" sz="1300" dirty="0">
                <a:solidFill>
                  <a:srgbClr val="000000"/>
                </a:solidFill>
                <a:latin typeface="Arial" pitchFamily="34" charset="0"/>
                <a:ea typeface="Arial" pitchFamily="34" charset="-122"/>
                <a:cs typeface="Arial" pitchFamily="34" charset="-120"/>
              </a:rPr>
              <a:t> Combines BEFORE/AFTER and statement/row timings in a single block, sharing local variables to prevent mutating table errors.</a:t>
            </a:r>
            <a:endParaRPr lang="en-US" sz="1300" dirty="0"/>
          </a:p>
        </p:txBody>
      </p:sp>
      <p:sp>
        <p:nvSpPr>
          <p:cNvPr id="19" name="Shape 16"/>
          <p:cNvSpPr/>
          <p:nvPr/>
        </p:nvSpPr>
        <p:spPr>
          <a:xfrm>
            <a:off x="6035040" y="2103120"/>
            <a:ext cx="5715000" cy="4114800"/>
          </a:xfrm>
          <a:prstGeom prst="roundRect">
            <a:avLst>
              <a:gd name="adj" fmla="val 2222"/>
            </a:avLst>
          </a:prstGeom>
          <a:solidFill>
            <a:srgbClr val="FFF9C4"/>
          </a:solidFill>
          <a:ln w="19050">
            <a:solidFill>
              <a:srgbClr val="F57F17"/>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F57F17"/>
                </a:solidFill>
                <a:latin typeface="Arial" pitchFamily="34" charset="0"/>
                <a:ea typeface="Arial" pitchFamily="34" charset="-122"/>
                <a:cs typeface="Arial" pitchFamily="34" charset="-120"/>
              </a:rPr>
              <a:t>Execution Order Flow</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250" dirty="0">
                <a:solidFill>
                  <a:srgbClr val="000000"/>
                </a:solidFill>
                <a:latin typeface="Arial" pitchFamily="34" charset="0"/>
                <a:ea typeface="Arial" pitchFamily="34" charset="-122"/>
                <a:cs typeface="Arial" pitchFamily="34" charset="-120"/>
              </a:rPr>
              <a:t>When a statement modifies multiple rows, Oracle executes steps in this sequence:</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1. Execute BEFORE statement-level triggers.</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2. For each row affected:
</a:t>
            </a:r>
            <a:pPr indent="0" marL="0">
              <a:buNone/>
            </a:pPr>
            <a:r>
              <a:rPr lang="en-US" sz="1250" dirty="0">
                <a:solidFill>
                  <a:srgbClr val="000000"/>
                </a:solidFill>
                <a:latin typeface="Arial" pitchFamily="34" charset="0"/>
                <a:ea typeface="Arial" pitchFamily="34" charset="-122"/>
                <a:cs typeface="Arial" pitchFamily="34" charset="-120"/>
              </a:rPr>
              <a:t>   a. Execute BEFORE row-level triggers.
</a:t>
            </a:r>
            <a:pPr indent="0" marL="0">
              <a:buNone/>
            </a:pPr>
            <a:r>
              <a:rPr lang="en-US" sz="1250" dirty="0">
                <a:solidFill>
                  <a:srgbClr val="000000"/>
                </a:solidFill>
                <a:latin typeface="Arial" pitchFamily="34" charset="0"/>
                <a:ea typeface="Arial" pitchFamily="34" charset="-122"/>
                <a:cs typeface="Arial" pitchFamily="34" charset="-120"/>
              </a:rPr>
              <a:t>   b. Apply DML modifications to the row.
</a:t>
            </a:r>
            <a:pPr indent="0" marL="0">
              <a:buNone/>
            </a:pPr>
            <a:r>
              <a:rPr lang="en-US" sz="1250" dirty="0">
                <a:solidFill>
                  <a:srgbClr val="000000"/>
                </a:solidFill>
                <a:latin typeface="Arial" pitchFamily="34" charset="0"/>
                <a:ea typeface="Arial" pitchFamily="34" charset="-122"/>
                <a:cs typeface="Arial" pitchFamily="34" charset="-120"/>
              </a:rPr>
              <a:t>   c. Execute AFTER row-level triggers.
</a:t>
            </a:r>
            <a:pPr indent="0" marL="0">
              <a:buNone/>
            </a:pPr>
            <a:r>
              <a:rPr lang="en-US" sz="1250" dirty="0">
                <a:solidFill>
                  <a:srgbClr val="000000"/>
                </a:solidFill>
                <a:latin typeface="Arial" pitchFamily="34" charset="0"/>
                <a:ea typeface="Arial" pitchFamily="34" charset="-122"/>
                <a:cs typeface="Arial" pitchFamily="34" charset="-120"/>
              </a:rPr>
              <a:t>3. Execute AFTER statement-level triggers.</a:t>
            </a:r>
            <a:endParaRPr lang="en-US" sz="1250" dirty="0"/>
          </a:p>
          <a:p>
            <a:pPr indent="0" marL="0">
              <a:buNone/>
            </a:pPr>
            <a:r>
              <a:rPr lang="en-US" sz="1250" b="1" dirty="0">
                <a:solidFill>
                  <a:srgbClr val="990033"/>
                </a:solidFill>
                <a:latin typeface="Arial" pitchFamily="34" charset="0"/>
                <a:ea typeface="Arial" pitchFamily="34" charset="-122"/>
                <a:cs typeface="Arial" pitchFamily="34" charset="-120"/>
              </a:rPr>
              <a:t>• Constraints:</a:t>
            </a:r>
            <a:pPr indent="0" marL="0">
              <a:buNone/>
            </a:pPr>
            <a:r>
              <a:rPr lang="en-US" sz="1250" dirty="0">
                <a:solidFill>
                  <a:srgbClr val="000000"/>
                </a:solidFill>
                <a:latin typeface="Arial" pitchFamily="34" charset="0"/>
                <a:ea typeface="Arial" pitchFamily="34" charset="-122"/>
                <a:cs typeface="Arial" pitchFamily="34" charset="-120"/>
              </a:rPr>
              <a:t> Triggers cannot execute transaction commands (COMMIT, ROLLBACK) directly. Trigger size limit is 32KB.</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Applications of Triggers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Database triggers automate safety, auditing, and synchronization tasks:</a:t>
            </a:r>
            <a:endParaRPr lang="en-US" sz="1400" dirty="0"/>
          </a:p>
        </p:txBody>
      </p:sp>
      <p:sp>
        <p:nvSpPr>
          <p:cNvPr id="16" name="Shape 13"/>
          <p:cNvSpPr/>
          <p:nvPr/>
        </p:nvSpPr>
        <p:spPr>
          <a:xfrm>
            <a:off x="457200" y="2011680"/>
            <a:ext cx="5532120" cy="1956816"/>
          </a:xfrm>
          <a:prstGeom prst="roundRect">
            <a:avLst>
              <a:gd name="adj" fmla="val 4673"/>
            </a:avLst>
          </a:prstGeom>
          <a:solidFill>
            <a:srgbClr val="E8F5E9"/>
          </a:solidFill>
          <a:ln w="19050">
            <a:solidFill>
              <a:srgbClr val="00990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  Audit Logging &amp; Tracking</a:t>
            </a:r>
            <a:endParaRPr lang="en-US" sz="145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Row-level AFTER triggers capture changes to sensitive columns (e.g. salaries) and write old and new values to log tables with timestamps and username details.</a:t>
            </a:r>
            <a:endParaRPr lang="en-US" sz="1300" dirty="0"/>
          </a:p>
        </p:txBody>
      </p:sp>
      <p:sp>
        <p:nvSpPr>
          <p:cNvPr id="19" name="Shape 16"/>
          <p:cNvSpPr/>
          <p:nvPr/>
        </p:nvSpPr>
        <p:spPr>
          <a:xfrm>
            <a:off x="6144768" y="2011680"/>
            <a:ext cx="5532120" cy="1956816"/>
          </a:xfrm>
          <a:prstGeom prst="roundRect">
            <a:avLst>
              <a:gd name="adj" fmla="val 4673"/>
            </a:avLst>
          </a:prstGeom>
          <a:solidFill>
            <a:srgbClr val="E3F2FD"/>
          </a:solidFill>
          <a:ln w="19050">
            <a:solidFill>
              <a:srgbClr val="1565C0"/>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  Auto-Generating Primary Keys</a:t>
            </a:r>
            <a:endParaRPr lang="en-US" sz="145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BEFORE INSERT row triggers fetch sequence numbers (or UUIDs) and assign them to the :NEW.id field automatically, ensuring unique identifiers.</a:t>
            </a:r>
            <a:endParaRPr lang="en-US" sz="1300" dirty="0"/>
          </a:p>
        </p:txBody>
      </p:sp>
      <p:sp>
        <p:nvSpPr>
          <p:cNvPr id="22" name="Shape 19"/>
          <p:cNvSpPr/>
          <p:nvPr/>
        </p:nvSpPr>
        <p:spPr>
          <a:xfrm>
            <a:off x="457200" y="4114800"/>
            <a:ext cx="5532120" cy="1956816"/>
          </a:xfrm>
          <a:prstGeom prst="roundRect">
            <a:avLst>
              <a:gd name="adj" fmla="val 4673"/>
            </a:avLst>
          </a:prstGeom>
          <a:solidFill>
            <a:srgbClr val="FCE4EC"/>
          </a:solidFill>
          <a:ln w="19050">
            <a:solidFill>
              <a:srgbClr val="990033"/>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450" b="1" dirty="0">
                <a:solidFill>
                  <a:srgbClr val="990033"/>
                </a:solidFill>
                <a:latin typeface="Arial" pitchFamily="34" charset="0"/>
                <a:ea typeface="Arial" pitchFamily="34" charset="-122"/>
                <a:cs typeface="Arial" pitchFamily="34" charset="-120"/>
              </a:rPr>
              <a:t>🛡️  DDL Change Auditing</a:t>
            </a:r>
            <a:endParaRPr lang="en-US" sz="145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DDL triggers track alterations to database tables (e.g. dropping columns) and log schema modifications or prevent changes during release locks.</a:t>
            </a:r>
            <a:endParaRPr lang="en-US" sz="130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  Data Sync &amp; Replication</a:t>
            </a:r>
            <a:endParaRPr lang="en-US" sz="145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Synchronizes replicated tables or denormalized caches automatically when baseline records are altered, keeping data consistent.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300" dirty="0">
                <a:solidFill>
                  <a:srgbClr val="555555"/>
                </a:solidFill>
                <a:latin typeface="Arial" pitchFamily="34" charset="0"/>
                <a:ea typeface="Arial" pitchFamily="34" charset="-122"/>
                <a:cs typeface="Arial" pitchFamily="34" charset="-120"/>
              </a:rPr>
              <a:t>Department of Computer Science and Engineering</a:t>
            </a:r>
            <a:endParaRPr lang="en-US" sz="1300" dirty="0"/>
          </a:p>
          <a:p>
            <a:pPr algn="ctr" indent="0" marL="0">
              <a:buNone/>
            </a:pPr>
            <a:r>
              <a:rPr lang="en-US" sz="1300" dirty="0">
                <a:solidFill>
                  <a:srgbClr val="555555"/>
                </a:solidFill>
                <a:latin typeface="Arial" pitchFamily="34" charset="0"/>
                <a:ea typeface="Arial" pitchFamily="34" charset="-122"/>
                <a:cs typeface="Arial" pitchFamily="34" charset="-120"/>
              </a:rPr>
              <a:t>Marri Laxman Reddy Institute of Technology and Management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2026-06-14T11:41:05Z</dcterms:created>
  <dcterms:modified xsi:type="dcterms:W3CDTF">2026-06-14T11:41:05Z</dcterms:modified>
</cp:coreProperties>
</file>