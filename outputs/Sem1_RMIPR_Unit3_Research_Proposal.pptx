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'Research Proposal Structure' as part of the Research Methodology and IPR course for my M.Tech in Computer Science and Engineering. In this presentation, we will define a research proposal, examine its standard structure, outline technical writing and citation standards, and look at practical applications of research proposals in securing funding and academic approvals.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define what a research proposal is. A research proposal is a structured, formal document that details a plan for a research project. It outlines the research question, provides background context, details the proposed methodology, and requests budget and timeline approvals. The core purpose of the proposal is to secure approvals from university review committees, secure research grants from government agencies or corporate R&amp;D boards, act as a project blueprint to keep the research focused, and demonstrate feasibility. A successful proposal must answer four basic questions: What do you want to accomplish? Why is this problem important? How will you solve the problem? And how much time and budget is needed? The proposal must be written in an objective, precise, and formal technical style, avoiding marketing language or speculative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standard research proposal contains several structured sections. The Title &amp; Abstract provide a precise summary of the research topic, proposed approach, and expected results. The Introduction formulates the problem statement, scope, and objectives. The Literature Review provides a critical synthesis of prior work, highlighting the research gap and proving the novelty of the project. The Methodology section describes the step-by-step plan, experiments, datasets, and tools, utilizing flowcharts and block diagrams. The Timeline &amp; Budget section outlines the project schedule, often using a Gantt chart, and itemizes costs for equipment, travel, and personnel. Following this structured layout is essential to satisfy professional review standards.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proposals must be written following academic style and citation guidelines. Technical writing guidelines require an objective tone, presenting facts and logical arguments while avoiding subjective modifiers. Writers should use simple, direct sentences for clarity and conciseness, and prefer the active voice, such as 'We designed a K-means algorithm' rather than 'A K-means algorithm was designed by us.' Every claim of fact, dataset, or diagram from prior work must be cited. We follow standard citation formats required by funding agencies, such as the IEEE format, which uses numbered brackets, or the APA format, which uses the author-date style. Reference managers like Zotero or Mendeley should be utilized to generate and format references automatically, ensuring bibliography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 proposals are widely used in professional and academic settings. First, securing research grants from government agencies like DST, DRDO, or AICTE requires submitting a detailed proposal that details the budget, equipment costs, and milestones. Second, PhD candidates draft a proposal to define their research direction, defending it before a review committee to gain approval to begin dissertation work. Third, industrial researchers pitch proposals to executive boards to secure budgets for innovative product developments or patentable designs. Finally, collaborative bids by consortiums of universities and industry partners use proposals to secure funding for large-scale international projects. Writing a clear, structured proposal is the key to securing resources for any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a well-structured research proposal is essential for defining a clear research plan and securing funding and approvals. By adhering to technical writing and citation standards, we ensure that our research plan is clear, professional, and feasible. Thank you for your time, and I am ready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III: Technical Writing &amp; Proposal Development</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Research Proposal Structure</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a Research Proposal?</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Research Proposal </a:t>
            </a:r>
            <a:pPr indent="0" marL="0">
              <a:buNone/>
            </a:pPr>
            <a:r>
              <a:rPr lang="en-US" sz="1400" dirty="0">
                <a:solidFill>
                  <a:srgbClr val="000000"/>
                </a:solidFill>
                <a:latin typeface="Arial" pitchFamily="34" charset="0"/>
                <a:ea typeface="Arial" pitchFamily="34" charset="-122"/>
                <a:cs typeface="Arial" pitchFamily="34" charset="-120"/>
              </a:rPr>
              <a:t>is a structured, formal document that details a plan for a research project. It outlines the research question, provides background context, details the proposed methodology, and requests budget/timeline approvals.</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Core Purpose of the Proposal</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Secure Approvals:</a:t>
            </a:r>
            <a:pPr indent="0" marL="0">
              <a:buNone/>
            </a:pPr>
            <a:r>
              <a:rPr lang="en-US" sz="1300" dirty="0">
                <a:solidFill>
                  <a:srgbClr val="000000"/>
                </a:solidFill>
                <a:latin typeface="Arial" pitchFamily="34" charset="0"/>
                <a:ea typeface="Arial" pitchFamily="34" charset="-122"/>
                <a:cs typeface="Arial" pitchFamily="34" charset="-120"/>
              </a:rPr>
              <a:t> Gets thesis topic approval from university review committees.</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Secure Funding:</a:t>
            </a:r>
            <a:pPr indent="0" marL="0">
              <a:buNone/>
            </a:pPr>
            <a:r>
              <a:rPr lang="en-US" sz="1300" dirty="0">
                <a:solidFill>
                  <a:srgbClr val="000000"/>
                </a:solidFill>
                <a:latin typeface="Arial" pitchFamily="34" charset="0"/>
                <a:ea typeface="Arial" pitchFamily="34" charset="-122"/>
                <a:cs typeface="Arial" pitchFamily="34" charset="-120"/>
              </a:rPr>
              <a:t> Convinces government agencies (DST, AICTE) or corporate R&amp;D boards to fund the project.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Project Blueprint:</a:t>
            </a:r>
            <a:pPr indent="0" marL="0">
              <a:buNone/>
            </a:pPr>
            <a:r>
              <a:rPr lang="en-US" sz="1300" dirty="0">
                <a:solidFill>
                  <a:srgbClr val="000000"/>
                </a:solidFill>
                <a:latin typeface="Arial" pitchFamily="34" charset="0"/>
                <a:ea typeface="Arial" pitchFamily="34" charset="-122"/>
                <a:cs typeface="Arial" pitchFamily="34" charset="-120"/>
              </a:rPr>
              <a:t> Acts as the structured plan for the project, keeping research focused.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Demonstrate Feasibility:</a:t>
            </a:r>
            <a:pPr indent="0" marL="0">
              <a:buNone/>
            </a:pPr>
            <a:r>
              <a:rPr lang="en-US" sz="1300" dirty="0">
                <a:solidFill>
                  <a:srgbClr val="000000"/>
                </a:solidFill>
                <a:latin typeface="Arial" pitchFamily="34" charset="0"/>
                <a:ea typeface="Arial" pitchFamily="34" charset="-122"/>
                <a:cs typeface="Arial" pitchFamily="34" charset="-120"/>
              </a:rPr>
              <a:t> Shows that you have the skills, resources, and timeline to solve the problem.</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Key Proposal Questions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 successful proposal must answer four basic questions: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1. What do you want to accomplish?</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2. Why is this problem important?</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3. How will you solve the problem?</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4. How much time and budget is needed?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Style:</a:t>
            </a:r>
            <a:pPr indent="0" marL="0">
              <a:buNone/>
            </a:pPr>
            <a:r>
              <a:rPr lang="en-US" sz="1300" dirty="0">
                <a:solidFill>
                  <a:srgbClr val="000000"/>
                </a:solidFill>
                <a:latin typeface="Arial" pitchFamily="34" charset="0"/>
                <a:ea typeface="Arial" pitchFamily="34" charset="-122"/>
                <a:cs typeface="Arial" pitchFamily="34" charset="-120"/>
              </a:rPr>
              <a:t> Written in an objective, precise, and formal technical style. Avoids marketing language or speculative claims.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Structure of a Research Proposal</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A standard research proposal contains the following structured sections:</a:t>
            </a:r>
            <a:endParaRPr lang="en-US" sz="1400" dirty="0"/>
          </a:p>
        </p:txBody>
      </p:sp>
      <p:sp>
        <p:nvSpPr>
          <p:cNvPr id="16" name="Shape 13"/>
          <p:cNvSpPr/>
          <p:nvPr/>
        </p:nvSpPr>
        <p:spPr>
          <a:xfrm>
            <a:off x="457200" y="2103120"/>
            <a:ext cx="11292840" cy="4389120"/>
          </a:xfrm>
          <a:prstGeom prst="roundRect">
            <a:avLst>
              <a:gd name="adj" fmla="val 2083"/>
            </a:avLst>
          </a:prstGeom>
          <a:solidFill>
            <a:srgbClr val="FFF9C4"/>
          </a:solidFill>
          <a:ln w="19050">
            <a:solidFill>
              <a:srgbClr val="F57F17"/>
            </a:solidFill>
            <a:prstDash val="solid"/>
          </a:ln>
        </p:spPr>
      </p:sp>
      <p:sp>
        <p:nvSpPr>
          <p:cNvPr id="17" name="Text 14"/>
          <p:cNvSpPr/>
          <p:nvPr/>
        </p:nvSpPr>
        <p:spPr>
          <a:xfrm>
            <a:off x="566928" y="2176272"/>
            <a:ext cx="11073384"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Standard Proposal Layout Table</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606040"/>
          <a:ext cx="11073384" cy="3657600"/>
        </p:xfrm>
        <a:graphic>
          <a:graphicData uri="http://schemas.openxmlformats.org/drawingml/2006/table">
            <a:tbl>
              <a:tblPr/>
              <a:tblGrid>
                <a:gridCol w="1828800"/>
                <a:gridCol w="5029200"/>
                <a:gridCol w="4215384"/>
              </a:tblGrid>
              <a:tr h="6096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Proposal Section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Core Content &amp; Focus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Key Output Details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57F17"/>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Title &amp; Abstract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Precise summary of the research topic and proposed approach.</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Project title, summary of goals, methods, and expected results.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Introduction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Formulates the problem statement, scope, and objectives.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Research questions, significance, and project limitations.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Literature Review</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Critical synthesis of prior work, highlighting the research gap.</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Citations of key papers, summary of gaps to be addressed.</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Methodology</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Step-by-step description of experiments, data, and tools.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Flowcharts, experimental setup, and statistical analysis plans.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609600">
                <a:tc>
                  <a:txBody>
                    <a:bodyPr/>
                    <a:lstStyle/>
                    <a:p>
                      <a:pPr algn="ctr" indent="0" marL="0">
                        <a:buNone/>
                      </a:pPr>
                      <a:r>
                        <a:rPr lang="en-US" sz="1300" b="1" dirty="0">
                          <a:solidFill>
                            <a:srgbClr val="000000"/>
                          </a:solidFill>
                          <a:latin typeface="Arial" pitchFamily="34" charset="0"/>
                          <a:ea typeface="Arial" pitchFamily="34" charset="-122"/>
                          <a:cs typeface="Arial" pitchFamily="34" charset="-120"/>
                        </a:rPr>
                        <a:t>Timeline &amp; Budget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Project schedule (Gantt chart) and itemized cost details.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Milestones, cost of equipment, travel, and personnel.</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Technical Writing &amp; Citation Standards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Proposals must be written following academic style and citation guidelines:</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Technical Writing Guidelines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Objective Tone:</a:t>
            </a:r>
            <a:pPr indent="0" marL="0">
              <a:buNone/>
            </a:pPr>
            <a:r>
              <a:rPr lang="en-US" sz="1300" dirty="0">
                <a:solidFill>
                  <a:srgbClr val="000000"/>
                </a:solidFill>
                <a:latin typeface="Arial" pitchFamily="34" charset="0"/>
                <a:ea typeface="Arial" pitchFamily="34" charset="-122"/>
                <a:cs typeface="Arial" pitchFamily="34" charset="-120"/>
              </a:rPr>
              <a:t> Present facts, data, and logical arguments. Avoid using emotional or subjective modifiers ('this amazing system').</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Clarity &amp; Conciseness:</a:t>
            </a:r>
            <a:pPr indent="0" marL="0">
              <a:buNone/>
            </a:pPr>
            <a:r>
              <a:rPr lang="en-US" sz="1300" dirty="0">
                <a:solidFill>
                  <a:srgbClr val="000000"/>
                </a:solidFill>
                <a:latin typeface="Arial" pitchFamily="34" charset="0"/>
                <a:ea typeface="Arial" pitchFamily="34" charset="-122"/>
                <a:cs typeface="Arial" pitchFamily="34" charset="-120"/>
              </a:rPr>
              <a:t> Use simple, direct sentences. Avoid wordy explanations.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Active Voice preference:</a:t>
            </a:r>
            <a:pPr indent="0" marL="0">
              <a:buNone/>
            </a:pPr>
            <a:r>
              <a:rPr lang="en-US" sz="1300" dirty="0">
                <a:solidFill>
                  <a:srgbClr val="000000"/>
                </a:solidFill>
                <a:latin typeface="Arial" pitchFamily="34" charset="0"/>
                <a:ea typeface="Arial" pitchFamily="34" charset="-122"/>
                <a:cs typeface="Arial" pitchFamily="34" charset="-120"/>
              </a:rPr>
              <a:t> Use active voice where possible for clarity:</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 Good: 'We designed a K-means algorithm.'</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 Avoid: 'A K-means algorithm was designed by us.'</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Visual Elements:</a:t>
            </a:r>
            <a:pPr indent="0" marL="0">
              <a:buNone/>
            </a:pPr>
            <a:r>
              <a:rPr lang="en-US" sz="1300" dirty="0">
                <a:solidFill>
                  <a:srgbClr val="000000"/>
                </a:solidFill>
                <a:latin typeface="Arial" pitchFamily="34" charset="0"/>
                <a:ea typeface="Arial" pitchFamily="34" charset="-122"/>
                <a:cs typeface="Arial" pitchFamily="34" charset="-120"/>
              </a:rPr>
              <a:t> Integrate flowcharts, block diagrams, and tables to explain complex logic.</a:t>
            </a:r>
            <a:endParaRPr lang="en-US" sz="1300" dirty="0"/>
          </a:p>
        </p:txBody>
      </p:sp>
      <p:sp>
        <p:nvSpPr>
          <p:cNvPr id="19" name="Shape 16"/>
          <p:cNvSpPr/>
          <p:nvPr/>
        </p:nvSpPr>
        <p:spPr>
          <a:xfrm>
            <a:off x="6035040" y="2103120"/>
            <a:ext cx="5715000" cy="4114800"/>
          </a:xfrm>
          <a:prstGeom prst="roundRect">
            <a:avLst>
              <a:gd name="adj" fmla="val 2222"/>
            </a:avLst>
          </a:prstGeom>
          <a:solidFill>
            <a:srgbClr val="E8F5E9"/>
          </a:solidFill>
          <a:ln w="19050">
            <a:solidFill>
              <a:srgbClr val="0064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6400"/>
                </a:solidFill>
                <a:latin typeface="Arial" pitchFamily="34" charset="0"/>
                <a:ea typeface="Arial" pitchFamily="34" charset="-122"/>
                <a:cs typeface="Arial" pitchFamily="34" charset="-120"/>
              </a:rPr>
              <a:t>Academic Citation Standards</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 Academic Attribution:</a:t>
            </a:r>
            <a:pPr indent="0" marL="0">
              <a:buNone/>
            </a:pPr>
            <a:r>
              <a:rPr lang="en-US" sz="1250" dirty="0">
                <a:solidFill>
                  <a:srgbClr val="000000"/>
                </a:solidFill>
                <a:latin typeface="Arial" pitchFamily="34" charset="0"/>
                <a:ea typeface="Arial" pitchFamily="34" charset="-122"/>
                <a:cs typeface="Arial" pitchFamily="34" charset="-120"/>
              </a:rPr>
              <a:t> Every claim of fact, dataset, or diagram from prior work must be cited.</a:t>
            </a:r>
            <a:endParaRPr lang="en-US" sz="1250" dirty="0"/>
          </a:p>
          <a:p>
            <a:pPr indent="0" marL="0">
              <a:buNone/>
            </a:pPr>
            <a:r>
              <a:rPr lang="en-US" sz="1250" b="1" dirty="0">
                <a:solidFill>
                  <a:srgbClr val="006400"/>
                </a:solidFill>
                <a:latin typeface="Arial" pitchFamily="34" charset="0"/>
                <a:ea typeface="Arial" pitchFamily="34" charset="-122"/>
                <a:cs typeface="Arial" pitchFamily="34" charset="-120"/>
              </a:rPr>
              <a:t>• Citation Formats:</a:t>
            </a:r>
            <a:pPr indent="0" marL="0">
              <a:buNone/>
            </a:pPr>
            <a:r>
              <a:rPr lang="en-US" sz="1250" dirty="0">
                <a:solidFill>
                  <a:srgbClr val="000000"/>
                </a:solidFill>
                <a:latin typeface="Arial" pitchFamily="34" charset="0"/>
                <a:ea typeface="Arial" pitchFamily="34" charset="-122"/>
                <a:cs typeface="Arial" pitchFamily="34" charset="-120"/>
              </a:rPr>
              <a:t> Follow the style required by the funding agency or journal: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 IEEE Format:</a:t>
            </a:r>
            <a:pPr indent="0" marL="0">
              <a:buNone/>
            </a:pPr>
            <a:r>
              <a:rPr lang="en-US" sz="1250" dirty="0">
                <a:solidFill>
                  <a:srgbClr val="000000"/>
                </a:solidFill>
                <a:latin typeface="Arial" pitchFamily="34" charset="0"/>
                <a:ea typeface="Arial" pitchFamily="34" charset="-122"/>
                <a:cs typeface="Arial" pitchFamily="34" charset="-120"/>
              </a:rPr>
              <a:t> Numbered bracket citations, standard in engineering: '[1] J. Smith...'.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 APA Format:</a:t>
            </a:r>
            <a:pPr indent="0" marL="0">
              <a:buNone/>
            </a:pPr>
            <a:r>
              <a:rPr lang="en-US" sz="1250" dirty="0">
                <a:solidFill>
                  <a:srgbClr val="000000"/>
                </a:solidFill>
                <a:latin typeface="Arial" pitchFamily="34" charset="0"/>
                <a:ea typeface="Arial" pitchFamily="34" charset="-122"/>
                <a:cs typeface="Arial" pitchFamily="34" charset="-120"/>
              </a:rPr>
              <a:t> Author-date style, common in social sciences: '(Smith, 2023)'.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 Reference Managers:</a:t>
            </a:r>
            <a:pPr indent="0" marL="0">
              <a:buNone/>
            </a:pPr>
            <a:r>
              <a:rPr lang="en-US" sz="1250" dirty="0">
                <a:solidFill>
                  <a:srgbClr val="000000"/>
                </a:solidFill>
                <a:latin typeface="Arial" pitchFamily="34" charset="0"/>
                <a:ea typeface="Arial" pitchFamily="34" charset="-122"/>
                <a:cs typeface="Arial" pitchFamily="34" charset="-120"/>
              </a:rPr>
              <a:t> Use tools (e.g. Zotero, Mendeley) to generate and format references automatically.</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Research Proposals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Where research proposals are used in professional and academic settings: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Government R&amp;D Funding</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Securing research grants from agencies (like DST, DRDO, or AICTE) requires submitting a detailed proposal that details the budget, equipment costs, and milestones.</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PhD Committee Approval</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PhD candidates draft a proposal to define their research direction, defending it before a review committee to gain approval to begin dissertation work.</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Corporate R&amp;D Funding</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Industrial researchers pitch proposals to executive boards to secure budgets for innovative product developments or patentable designs.</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Collaborative Bids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Consortiums of universities and industry partners submit research proposals to bid on large-scale international projects (like Horizon Europe).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Research Methodology &amp; IPR</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2026-06-14T11:41:06Z</dcterms:created>
  <dcterms:modified xsi:type="dcterms:W3CDTF">2026-06-14T11:41:06Z</dcterms:modified>
</cp:coreProperties>
</file>