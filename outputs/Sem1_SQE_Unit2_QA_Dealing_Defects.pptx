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my name is Srinivas Rao Tammireddy, and my roll number is 257Y1D5805. In this presentation, I am going to talk about Defect Prevention, Reduction, and Containment under Software Quality Assurance. We will look at how we classify QA activities, analyze the exponential cost multiplier of defects, explore specific prevention techniques like formal specifications and Cleanroom engineering, study static inspections versus dynamic testing for defect reduction, examine fault tolerance and safety containment strategies, and see how modern DevOps teams apply these pillars in CI/CD pipelines and embedded control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first understand the classification of QA and the cost of defects. Quality Assurance consists of all structured activities that guarantee software matches quality goals. We classify defect-handling operations into three pillars: Prevention, Reduction, and Containment. Defect Prevention stops bugs from entering the code by focusing on requirements clarity and developer training. Defect Reduction aims to find and remove bugs already present in the code through inspections and testing. Defect Containment limits the damage when bugs escape to production. Managing these early is key because the cost of fixing a bug grows exponentially as it moves from design to code, test, and finally to production. While most bugs originate in requirements and design, they are usually found late during testing, making early intervention critical to minimize cost and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Defect Prevention is the most cost-effective strategy. We achieve it through developer training on secure coding and formal specification languages like Z-notation, which use math to eliminate requirements ambiguity. Root Cause Analysis is also used to study past bugs and update design rules. On the process side, we enforce coding standards, static checklists, and automated linter tools that scan code on the fly. We also have Cleanroom Software Engineering, a formal process model that uses mathematical proofs to verify code correctness before testing ever starts. By using these tools and practices, we prevent errors from being written in the first place, saving significant debugging effort.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bugs do enter the code, we rely on Defect Reduction, which combines inspections and testing. Inspections are static, non-execution reviews of design, schemas, and code. Led by moderators or done via peer code reviews, inspections are highly efficient, catching sixty to ninety percent of defects directly at their source. Testing, on the other hand, is dynamic. We execute the code with test cases to observe system failures. Failures represent deviations from expectations, which developers must then debug to locate and repair the root fault. Testing spans from unit testing components to integration and system testing. Remember, as Dijkstra famously said, testing shows the presence of bugs, not their absence, which is why static reviews and dynamic testing must work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defect escapes all checks and reaches production, Defect Containment is our final line of defense. It prevents a local bug from causing a complete system disaster. First, we use Fault Tolerance to detect errors at runtime and handle them without crashing. Methods include N-Version Programming, which runs multiple versions of a module in parallel and uses a voting scheme to select the correct output, and Recovery Blocks, which executes an alternate backup module if the primary module's sanity check fails. Second, we use Safety Assurance and fail-safe designs. For example, medical devices or industrial controllers continuously monitor parameters and shut down safely if a critical failure is detected. We also use containment boundaries to isolate crashes, ensuring a failure in a minor module like a profile UI doesn't crash a core transaction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see how these QA strategies are applied in the industry. Modern teams build automated linting and code scanning directly into CI/CD pipelines to prevent syntax errors. They enforce rigorous pull request reviews where every line is inspected by colleagues before merging, implementing defect reduction. For high-availability cloud servers, database replicas and load balancers detect errors and redirect traffic, acting as containment. Finally, safety-critical systems in medical devices, automotive control, and avionics run concurrent redundant processors that vote on decisions to ensure physical safety under containment. Combining these three pillars guarantees highly resilient and high-quality software.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concludes my presentation on Defect Prevention, Reduction, and Containment. By structuring our QA strategy across these three layers, we minimize costs, maximize quality, and ensure production resilience. I want to thank the Department of Computer Science and Engineering at the Marri Laxman Reddy Institute of Technology and Management for this opportunity. Thank you all for your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Software Quality Engineering</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78992"/>
            <a:ext cx="11292840" cy="384048"/>
          </a:xfrm>
          <a:prstGeom prst="rect">
            <a:avLst/>
          </a:prstGeom>
          <a:noFill/>
          <a:ln/>
        </p:spPr>
        <p:txBody>
          <a:bodyPr wrap="square" rtlCol="0" anchor="ctr"/>
          <a:lstStyle/>
          <a:p>
            <a:pPr algn="ctr" indent="0" marL="0">
              <a:buNone/>
            </a:pPr>
            <a:r>
              <a:rPr lang="en-US" sz="1400" i="1" dirty="0">
                <a:solidFill>
                  <a:srgbClr val="990033"/>
                </a:solidFill>
                <a:latin typeface="Arial" pitchFamily="34" charset="0"/>
                <a:ea typeface="Arial" pitchFamily="34" charset="-122"/>
                <a:cs typeface="Arial" pitchFamily="34" charset="-120"/>
              </a:rPr>
              <a:t>Unit II: Quality Assurance</a:t>
            </a:r>
            <a:endParaRPr lang="en-US" sz="1400" dirty="0"/>
          </a:p>
        </p:txBody>
      </p:sp>
      <p:sp>
        <p:nvSpPr>
          <p:cNvPr id="14" name="Shape 11"/>
          <p:cNvSpPr/>
          <p:nvPr/>
        </p:nvSpPr>
        <p:spPr>
          <a:xfrm>
            <a:off x="1645920" y="1572768"/>
            <a:ext cx="8897112" cy="1280160"/>
          </a:xfrm>
          <a:prstGeom prst="rect">
            <a:avLst/>
          </a:prstGeom>
          <a:solidFill>
            <a:srgbClr val="990033"/>
          </a:solidFill>
          <a:ln w="12700">
            <a:solidFill>
              <a:srgbClr val="990033"/>
            </a:solidFill>
            <a:prstDash val="solid"/>
          </a:ln>
        </p:spPr>
      </p:sp>
      <p:sp>
        <p:nvSpPr>
          <p:cNvPr id="15" name="Text 12"/>
          <p:cNvSpPr/>
          <p:nvPr/>
        </p:nvSpPr>
        <p:spPr>
          <a:xfrm>
            <a:off x="1645920" y="1572768"/>
            <a:ext cx="8897112" cy="1280160"/>
          </a:xfrm>
          <a:prstGeom prst="rect">
            <a:avLst/>
          </a:prstGeom>
          <a:noFill/>
          <a:ln/>
        </p:spPr>
        <p:txBody>
          <a:bodyPr wrap="square" lIns="0" tIns="0" rIns="0" bIns="0"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Defect Prevention, Reduction &amp; Containment</a:t>
            </a:r>
            <a:endParaRPr lang="en-US" sz="2800" dirty="0"/>
          </a:p>
        </p:txBody>
      </p:sp>
      <p:sp>
        <p:nvSpPr>
          <p:cNvPr id="16" name="Text 13"/>
          <p:cNvSpPr/>
          <p:nvPr/>
        </p:nvSpPr>
        <p:spPr>
          <a:xfrm>
            <a:off x="457200" y="2999232"/>
            <a:ext cx="11292840" cy="365760"/>
          </a:xfrm>
          <a:prstGeom prst="rect">
            <a:avLst/>
          </a:prstGeom>
          <a:noFill/>
          <a:ln/>
        </p:spPr>
        <p:txBody>
          <a:bodyPr wrap="square" rtlCol="0" anchor="ctr"/>
          <a:lstStyle/>
          <a:p>
            <a:pPr algn="ctr" indent="0" marL="0">
              <a:buNone/>
            </a:pPr>
            <a:r>
              <a:rPr lang="en-US" sz="1500" b="1" dirty="0">
                <a:solidFill>
                  <a:srgbClr val="990033"/>
                </a:solidFill>
                <a:latin typeface="Arial" pitchFamily="34" charset="0"/>
                <a:ea typeface="Arial" pitchFamily="34" charset="-122"/>
                <a:cs typeface="Arial" pitchFamily="34" charset="-120"/>
              </a:rPr>
              <a:t>PPT PRESENTED BY</a:t>
            </a:r>
            <a:endParaRPr lang="en-US" sz="1500" dirty="0"/>
          </a:p>
        </p:txBody>
      </p:sp>
      <p:sp>
        <p:nvSpPr>
          <p:cNvPr id="17" name="Text 14"/>
          <p:cNvSpPr/>
          <p:nvPr/>
        </p:nvSpPr>
        <p:spPr>
          <a:xfrm>
            <a:off x="2926080" y="3438144"/>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NAME :   Srinivas Rao Tammireddy</a:t>
            </a:r>
            <a:endParaRPr lang="en-US" sz="1300" dirty="0"/>
          </a:p>
        </p:txBody>
      </p:sp>
      <p:sp>
        <p:nvSpPr>
          <p:cNvPr id="18" name="Text 15"/>
          <p:cNvSpPr/>
          <p:nvPr/>
        </p:nvSpPr>
        <p:spPr>
          <a:xfrm>
            <a:off x="2926080" y="3840480"/>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ROLL NO :   257Y1D5805</a:t>
            </a:r>
            <a:endParaRPr lang="en-US" sz="1300" dirty="0"/>
          </a:p>
        </p:txBody>
      </p:sp>
      <p:sp>
        <p:nvSpPr>
          <p:cNvPr id="19" name="Text 16"/>
          <p:cNvSpPr/>
          <p:nvPr/>
        </p:nvSpPr>
        <p:spPr>
          <a:xfrm>
            <a:off x="2926080" y="4242816"/>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YEAR :   I Year  I Semester</a:t>
            </a:r>
            <a:endParaRPr lang="en-US" sz="1300" dirty="0"/>
          </a:p>
        </p:txBody>
      </p:sp>
      <p:sp>
        <p:nvSpPr>
          <p:cNvPr id="20" name="Text 17"/>
          <p:cNvSpPr/>
          <p:nvPr/>
        </p:nvSpPr>
        <p:spPr>
          <a:xfrm>
            <a:off x="2926080" y="4645152"/>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ACADEMIC YEAR :   2025 - 2026</a:t>
            </a:r>
            <a:endParaRPr lang="en-US" sz="1300" dirty="0"/>
          </a:p>
        </p:txBody>
      </p:sp>
      <p:sp>
        <p:nvSpPr>
          <p:cNvPr id="21" name="Text 18"/>
          <p:cNvSpPr/>
          <p:nvPr/>
        </p:nvSpPr>
        <p:spPr>
          <a:xfrm>
            <a:off x="457200" y="6080760"/>
            <a:ext cx="11292840" cy="411480"/>
          </a:xfrm>
          <a:prstGeom prst="rect">
            <a:avLst/>
          </a:prstGeom>
          <a:noFill/>
          <a:ln/>
        </p:spPr>
        <p:txBody>
          <a:bodyPr wrap="square" rtlCol="0" anchor="ctr"/>
          <a:lstStyle/>
          <a:p>
            <a:pPr algn="ctr" indent="0" marL="0">
              <a:buNone/>
            </a:pPr>
            <a:r>
              <a:rPr lang="en-US" sz="1400" b="1" dirty="0">
                <a:solidFill>
                  <a:srgbClr val="990033"/>
                </a:solidFill>
                <a:latin typeface="Arial" pitchFamily="34" charset="0"/>
                <a:ea typeface="Arial" pitchFamily="34" charset="-122"/>
                <a:cs typeface="Arial" pitchFamily="34" charset="-120"/>
              </a:rPr>
              <a:t>DEPARTMENT OF COMPUTER SCIENCE AND ENGINEERING</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Software Quality Engineering</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QA Classification: Dealing with Defects</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502920"/>
          </a:xfrm>
          <a:prstGeom prst="rect">
            <a:avLst/>
          </a:prstGeom>
          <a:noFill/>
          <a:ln/>
        </p:spPr>
        <p:txBody>
          <a:bodyPr wrap="square" rtlCol="0" anchor="ctr"/>
          <a:lstStyle/>
          <a:p>
            <a:pPr indent="0" marL="0">
              <a:buNone/>
            </a:pPr>
            <a:r>
              <a:rPr lang="en-US" sz="1400" b="1" dirty="0">
                <a:solidFill>
                  <a:srgbClr val="000000"/>
                </a:solidFill>
                <a:latin typeface="Arial" pitchFamily="34" charset="0"/>
                <a:ea typeface="Arial" pitchFamily="34" charset="-122"/>
                <a:cs typeface="Arial" pitchFamily="34" charset="-120"/>
              </a:rPr>
              <a:t>Quality Assurance </a:t>
            </a:r>
            <a:pPr indent="0" marL="0">
              <a:buNone/>
            </a:pPr>
            <a:r>
              <a:rPr lang="en-US" sz="1400" dirty="0">
                <a:solidFill>
                  <a:srgbClr val="000000"/>
                </a:solidFill>
                <a:latin typeface="Arial" pitchFamily="34" charset="0"/>
                <a:ea typeface="Arial" pitchFamily="34" charset="-122"/>
                <a:cs typeface="Arial" pitchFamily="34" charset="-120"/>
              </a:rPr>
              <a:t>consists of activities that guarantee software matches quality goals. We classify QA operations based on how they handle defects: Prevention, Reduction, or Containment.</a:t>
            </a:r>
            <a:endParaRPr lang="en-US" sz="1400" dirty="0"/>
          </a:p>
        </p:txBody>
      </p:sp>
      <p:sp>
        <p:nvSpPr>
          <p:cNvPr id="16" name="Shape 13"/>
          <p:cNvSpPr/>
          <p:nvPr/>
        </p:nvSpPr>
        <p:spPr>
          <a:xfrm>
            <a:off x="457200" y="2103120"/>
            <a:ext cx="5394960" cy="3895344"/>
          </a:xfrm>
          <a:prstGeom prst="roundRect">
            <a:avLst>
              <a:gd name="adj" fmla="val 2347"/>
            </a:avLst>
          </a:prstGeom>
          <a:solidFill>
            <a:srgbClr val="E3F2FD"/>
          </a:solidFill>
          <a:ln w="19050">
            <a:solidFill>
              <a:srgbClr val="1565C0"/>
            </a:solidFill>
            <a:prstDash val="solid"/>
          </a:ln>
        </p:spPr>
      </p:sp>
      <p:sp>
        <p:nvSpPr>
          <p:cNvPr id="17" name="Text 14"/>
          <p:cNvSpPr/>
          <p:nvPr/>
        </p:nvSpPr>
        <p:spPr>
          <a:xfrm>
            <a:off x="566928" y="2176272"/>
            <a:ext cx="5212080" cy="347472"/>
          </a:xfrm>
          <a:prstGeom prst="rect">
            <a:avLst/>
          </a:prstGeom>
          <a:noFill/>
          <a:ln/>
        </p:spPr>
        <p:txBody>
          <a:bodyPr wrap="square" lIns="0" tIns="0" rIns="0" bIns="0" rtlCol="0" anchor="ctr"/>
          <a:lstStyle/>
          <a:p>
            <a:pPr indent="0" marL="0">
              <a:buNone/>
            </a:pPr>
            <a:r>
              <a:rPr lang="en-US" sz="1500" b="1" dirty="0">
                <a:solidFill>
                  <a:srgbClr val="1565C0"/>
                </a:solidFill>
                <a:latin typeface="Arial" pitchFamily="34" charset="0"/>
                <a:ea typeface="Arial" pitchFamily="34" charset="-122"/>
                <a:cs typeface="Arial" pitchFamily="34" charset="-120"/>
              </a:rPr>
              <a:t>The Cost of Defects</a:t>
            </a:r>
            <a:endParaRPr lang="en-US" sz="1500" dirty="0"/>
          </a:p>
        </p:txBody>
      </p:sp>
      <p:sp>
        <p:nvSpPr>
          <p:cNvPr id="18" name="Text 15"/>
          <p:cNvSpPr/>
          <p:nvPr/>
        </p:nvSpPr>
        <p:spPr>
          <a:xfrm>
            <a:off x="566928" y="2560320"/>
            <a:ext cx="5212080" cy="3364992"/>
          </a:xfrm>
          <a:prstGeom prst="rect">
            <a:avLst/>
          </a:prstGeom>
          <a:noFill/>
          <a:ln/>
        </p:spPr>
        <p:txBody>
          <a:bodyPr wrap="square" lIns="0" tIns="0" rIns="0" bIns="0" rtlCol="0" anchor="ctr"/>
          <a:lstStyle/>
          <a:p>
            <a:pPr indent="0" marL="0">
              <a:buNone/>
            </a:pPr>
            <a:r>
              <a:rPr lang="en-US" sz="1300" b="1" dirty="0">
                <a:solidFill>
                  <a:srgbClr val="990033"/>
                </a:solidFill>
                <a:latin typeface="Arial" pitchFamily="34" charset="0"/>
                <a:ea typeface="Arial" pitchFamily="34" charset="-122"/>
                <a:cs typeface="Arial" pitchFamily="34" charset="-120"/>
              </a:rPr>
              <a:t>• Cost Multiplier:</a:t>
            </a:r>
            <a:pPr indent="0" marL="0">
              <a:buNone/>
            </a:pPr>
            <a:r>
              <a:rPr lang="en-US" sz="1300" dirty="0">
                <a:solidFill>
                  <a:srgbClr val="000000"/>
                </a:solidFill>
                <a:latin typeface="Arial" pitchFamily="34" charset="0"/>
                <a:ea typeface="Arial" pitchFamily="34" charset="-122"/>
                <a:cs typeface="Arial" pitchFamily="34" charset="-120"/>
              </a:rPr>
              <a:t> The cost of fixing bugs grows exponentially as software moves from design to code, to test, and finally to production.</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Phase of Origin:</a:t>
            </a:r>
            <a:pPr indent="0" marL="0">
              <a:buNone/>
            </a:pPr>
            <a:r>
              <a:rPr lang="en-US" sz="1300" dirty="0">
                <a:solidFill>
                  <a:srgbClr val="000000"/>
                </a:solidFill>
                <a:latin typeface="Arial" pitchFamily="34" charset="0"/>
                <a:ea typeface="Arial" pitchFamily="34" charset="-122"/>
                <a:cs typeface="Arial" pitchFamily="34" charset="-120"/>
              </a:rPr>
              <a:t> Most defects originate during requirements and design phases, but are only detected during system testing.</a:t>
            </a:r>
            <a:endParaRPr lang="en-US" sz="1300" dirty="0"/>
          </a:p>
          <a:p>
            <a:pPr indent="0" marL="0">
              <a:buNone/>
            </a:pPr>
            <a:r>
              <a:rPr lang="en-US" sz="1300" b="1" dirty="0">
                <a:solidFill>
                  <a:srgbClr val="006400"/>
                </a:solidFill>
                <a:latin typeface="Arial" pitchFamily="34" charset="0"/>
                <a:ea typeface="Arial" pitchFamily="34" charset="-122"/>
                <a:cs typeface="Arial" pitchFamily="34" charset="-120"/>
              </a:rPr>
              <a:t>• QA Goal:</a:t>
            </a:r>
            <a:pPr indent="0" marL="0">
              <a:buNone/>
            </a:pPr>
            <a:r>
              <a:rPr lang="en-US" sz="1300" dirty="0">
                <a:solidFill>
                  <a:srgbClr val="000000"/>
                </a:solidFill>
                <a:latin typeface="Arial" pitchFamily="34" charset="0"/>
                <a:ea typeface="Arial" pitchFamily="34" charset="-122"/>
                <a:cs typeface="Arial" pitchFamily="34" charset="-120"/>
              </a:rPr>
              <a:t> Introduce defect handling activities early in the lifecycle to minimize cost and risk.</a:t>
            </a:r>
            <a:endParaRPr lang="en-US" sz="1300" dirty="0"/>
          </a:p>
        </p:txBody>
      </p:sp>
      <p:sp>
        <p:nvSpPr>
          <p:cNvPr id="19" name="Shape 16"/>
          <p:cNvSpPr/>
          <p:nvPr/>
        </p:nvSpPr>
        <p:spPr>
          <a:xfrm>
            <a:off x="6035040" y="2103120"/>
            <a:ext cx="5715000" cy="3895344"/>
          </a:xfrm>
          <a:prstGeom prst="roundRect">
            <a:avLst>
              <a:gd name="adj" fmla="val 2347"/>
            </a:avLst>
          </a:prstGeom>
          <a:solidFill>
            <a:srgbClr val="FCE4EC"/>
          </a:solidFill>
          <a:ln w="19050">
            <a:solidFill>
              <a:srgbClr val="990033"/>
            </a:solidFill>
            <a:prstDash val="solid"/>
          </a:ln>
        </p:spPr>
      </p:sp>
      <p:sp>
        <p:nvSpPr>
          <p:cNvPr id="20" name="Text 17"/>
          <p:cNvSpPr/>
          <p:nvPr/>
        </p:nvSpPr>
        <p:spPr>
          <a:xfrm>
            <a:off x="6144768" y="2176272"/>
            <a:ext cx="5513832" cy="347472"/>
          </a:xfrm>
          <a:prstGeom prst="rect">
            <a:avLst/>
          </a:prstGeom>
          <a:noFill/>
          <a:ln/>
        </p:spPr>
        <p:txBody>
          <a:bodyPr wrap="square" lIns="0" tIns="0" rIns="0" bIns="0" rtlCol="0" anchor="ctr"/>
          <a:lstStyle/>
          <a:p>
            <a:pPr indent="0" marL="0">
              <a:buNone/>
            </a:pPr>
            <a:r>
              <a:rPr lang="en-US" sz="1500" b="1" dirty="0">
                <a:solidFill>
                  <a:srgbClr val="990033"/>
                </a:solidFill>
                <a:latin typeface="Arial" pitchFamily="34" charset="0"/>
                <a:ea typeface="Arial" pitchFamily="34" charset="-122"/>
                <a:cs typeface="Arial" pitchFamily="34" charset="-120"/>
              </a:rPr>
              <a:t>Three Pillars of Defect QA</a:t>
            </a:r>
            <a:endParaRPr lang="en-US" sz="1500" dirty="0"/>
          </a:p>
        </p:txBody>
      </p:sp>
      <p:sp>
        <p:nvSpPr>
          <p:cNvPr id="21" name="Text 18"/>
          <p:cNvSpPr/>
          <p:nvPr/>
        </p:nvSpPr>
        <p:spPr>
          <a:xfrm>
            <a:off x="6144768" y="2560320"/>
            <a:ext cx="5513832" cy="3364992"/>
          </a:xfrm>
          <a:prstGeom prst="rect">
            <a:avLst/>
          </a:prstGeom>
          <a:noFill/>
          <a:ln/>
        </p:spPr>
        <p:txBody>
          <a:bodyPr wrap="square" lIns="0" tIns="0" rIns="0" bIns="0" rtlCol="0" anchor="ctr"/>
          <a:lstStyle/>
          <a:p>
            <a:pPr indent="0" marL="0">
              <a:buNone/>
            </a:pPr>
            <a:r>
              <a:rPr lang="en-US" sz="1300" b="1" dirty="0">
                <a:solidFill>
                  <a:srgbClr val="009900"/>
                </a:solidFill>
                <a:latin typeface="Arial" pitchFamily="34" charset="0"/>
                <a:ea typeface="Arial" pitchFamily="34" charset="-122"/>
                <a:cs typeface="Arial" pitchFamily="34" charset="-120"/>
              </a:rPr>
              <a:t>1. Defect Prevention:</a:t>
            </a:r>
            <a:pPr indent="0" marL="0">
              <a:buNone/>
            </a:pPr>
            <a:r>
              <a:rPr lang="en-US" sz="1300" dirty="0">
                <a:solidFill>
                  <a:srgbClr val="000000"/>
                </a:solidFill>
                <a:latin typeface="Arial" pitchFamily="34" charset="0"/>
                <a:ea typeface="Arial" pitchFamily="34" charset="-122"/>
                <a:cs typeface="Arial" pitchFamily="34" charset="-120"/>
              </a:rPr>
              <a:t> Stop bugs from entering the code. Focuses on requirements clarity, design rules, and developer training.</a:t>
            </a:r>
            <a:endParaRPr lang="en-US" sz="1300" dirty="0"/>
          </a:p>
          <a:p>
            <a:pPr indent="0" marL="0">
              <a:buNone/>
            </a:pPr>
            <a:r>
              <a:rPr lang="en-US" sz="1300" b="1" dirty="0">
                <a:solidFill>
                  <a:srgbClr val="1565C0"/>
                </a:solidFill>
                <a:latin typeface="Arial" pitchFamily="34" charset="0"/>
                <a:ea typeface="Arial" pitchFamily="34" charset="-122"/>
                <a:cs typeface="Arial" pitchFamily="34" charset="-120"/>
              </a:rPr>
              <a:t>2. Defect Reduction:</a:t>
            </a:r>
            <a:pPr indent="0" marL="0">
              <a:buNone/>
            </a:pPr>
            <a:r>
              <a:rPr lang="en-US" sz="1300" dirty="0">
                <a:solidFill>
                  <a:srgbClr val="000000"/>
                </a:solidFill>
                <a:latin typeface="Arial" pitchFamily="34" charset="0"/>
                <a:ea typeface="Arial" pitchFamily="34" charset="-122"/>
                <a:cs typeface="Arial" pitchFamily="34" charset="-120"/>
              </a:rPr>
              <a:t> Find and remove bugs present in code. Uses inspection (static reviews) and execution-based testing.</a:t>
            </a:r>
            <a:endParaRPr lang="en-US" sz="1300" dirty="0"/>
          </a:p>
          <a:p>
            <a:pPr indent="0" marL="0">
              <a:buNone/>
            </a:pPr>
            <a:r>
              <a:rPr lang="en-US" sz="1300" b="1" dirty="0">
                <a:solidFill>
                  <a:srgbClr val="F57F17"/>
                </a:solidFill>
                <a:latin typeface="Arial" pitchFamily="34" charset="0"/>
                <a:ea typeface="Arial" pitchFamily="34" charset="-122"/>
                <a:cs typeface="Arial" pitchFamily="34" charset="-120"/>
              </a:rPr>
              <a:t>3. Defect Containment:</a:t>
            </a:r>
            <a:pPr indent="0" marL="0">
              <a:buNone/>
            </a:pPr>
            <a:r>
              <a:rPr lang="en-US" sz="1300" dirty="0">
                <a:solidFill>
                  <a:srgbClr val="000000"/>
                </a:solidFill>
                <a:latin typeface="Arial" pitchFamily="34" charset="0"/>
                <a:ea typeface="Arial" pitchFamily="34" charset="-122"/>
                <a:cs typeface="Arial" pitchFamily="34" charset="-120"/>
              </a:rPr>
              <a:t> Limit the damage of bugs that escape into production. Focuses on fault tolerance and safety containment.</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Software Quality Engineering</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Defect Prevention</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45720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Defect Prevention is the most cost-effective QA strategy, acting before bugs are coded:</a:t>
            </a:r>
            <a:endParaRPr lang="en-US" sz="1400" dirty="0"/>
          </a:p>
        </p:txBody>
      </p:sp>
      <p:sp>
        <p:nvSpPr>
          <p:cNvPr id="16" name="Shape 13"/>
          <p:cNvSpPr/>
          <p:nvPr/>
        </p:nvSpPr>
        <p:spPr>
          <a:xfrm>
            <a:off x="457200" y="2103120"/>
            <a:ext cx="5394960" cy="4114800"/>
          </a:xfrm>
          <a:prstGeom prst="roundRect">
            <a:avLst>
              <a:gd name="adj" fmla="val 2222"/>
            </a:avLst>
          </a:prstGeom>
          <a:solidFill>
            <a:srgbClr val="E8F5E9"/>
          </a:solidFill>
          <a:ln w="19050">
            <a:solidFill>
              <a:srgbClr val="009900"/>
            </a:solidFill>
            <a:prstDash val="solid"/>
          </a:ln>
        </p:spPr>
      </p:sp>
      <p:sp>
        <p:nvSpPr>
          <p:cNvPr id="17" name="Text 14"/>
          <p:cNvSpPr/>
          <p:nvPr/>
        </p:nvSpPr>
        <p:spPr>
          <a:xfrm>
            <a:off x="566928" y="2176272"/>
            <a:ext cx="5212080" cy="347472"/>
          </a:xfrm>
          <a:prstGeom prst="rect">
            <a:avLst/>
          </a:prstGeom>
          <a:noFill/>
          <a:ln/>
        </p:spPr>
        <p:txBody>
          <a:bodyPr wrap="square" lIns="0" tIns="0" rIns="0" bIns="0" rtlCol="0" anchor="ctr"/>
          <a:lstStyle/>
          <a:p>
            <a:pPr indent="0" marL="0">
              <a:buNone/>
            </a:pPr>
            <a:r>
              <a:rPr lang="en-US" sz="1500" b="1" dirty="0">
                <a:solidFill>
                  <a:srgbClr val="009900"/>
                </a:solidFill>
                <a:latin typeface="Arial" pitchFamily="34" charset="0"/>
                <a:ea typeface="Arial" pitchFamily="34" charset="-122"/>
                <a:cs typeface="Arial" pitchFamily="34" charset="-120"/>
              </a:rPr>
              <a:t>Developer Training &amp; Spec Clarity</a:t>
            </a:r>
            <a:endParaRPr lang="en-US" sz="1500" dirty="0"/>
          </a:p>
        </p:txBody>
      </p:sp>
      <p:sp>
        <p:nvSpPr>
          <p:cNvPr id="18" name="Text 15"/>
          <p:cNvSpPr/>
          <p:nvPr/>
        </p:nvSpPr>
        <p:spPr>
          <a:xfrm>
            <a:off x="566928" y="2606040"/>
            <a:ext cx="5212080" cy="3474720"/>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 Training &amp; Education:</a:t>
            </a:r>
            <a:pPr indent="0" marL="0">
              <a:buNone/>
            </a:pPr>
            <a:r>
              <a:rPr lang="en-US" sz="1300" dirty="0">
                <a:solidFill>
                  <a:srgbClr val="000000"/>
                </a:solidFill>
                <a:latin typeface="Arial" pitchFamily="34" charset="0"/>
                <a:ea typeface="Arial" pitchFamily="34" charset="-122"/>
                <a:cs typeface="Arial" pitchFamily="34" charset="-120"/>
              </a:rPr>
              <a:t> Educating developers on secure coding standards and common architectural bugs (e.g., buffer overflows).</a:t>
            </a:r>
            <a:endParaRPr lang="en-US" sz="1300" dirty="0"/>
          </a:p>
          <a:p>
            <a:pPr indent="0" marL="0">
              <a:buNone/>
            </a:pPr>
            <a:r>
              <a:rPr lang="en-US" sz="1300" b="1" dirty="0">
                <a:solidFill>
                  <a:srgbClr val="006400"/>
                </a:solidFill>
                <a:latin typeface="Arial" pitchFamily="34" charset="0"/>
                <a:ea typeface="Arial" pitchFamily="34" charset="-122"/>
                <a:cs typeface="Arial" pitchFamily="34" charset="-120"/>
              </a:rPr>
              <a:t>• Formal Specifications:</a:t>
            </a:r>
            <a:pPr indent="0" marL="0">
              <a:buNone/>
            </a:pPr>
            <a:r>
              <a:rPr lang="en-US" sz="1300" dirty="0">
                <a:solidFill>
                  <a:srgbClr val="000000"/>
                </a:solidFill>
                <a:latin typeface="Arial" pitchFamily="34" charset="0"/>
                <a:ea typeface="Arial" pitchFamily="34" charset="-122"/>
                <a:cs typeface="Arial" pitchFamily="34" charset="-120"/>
              </a:rPr>
              <a:t> Using formal mathematical specification languages (e.g. Z notation) to define system interfaces, preventing requirements ambiguity.</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Root Cause Analysis (RCA):</a:t>
            </a:r>
            <a:pPr indent="0" marL="0">
              <a:buNone/>
            </a:pPr>
            <a:r>
              <a:rPr lang="en-US" sz="1300" dirty="0">
                <a:solidFill>
                  <a:srgbClr val="000000"/>
                </a:solidFill>
                <a:latin typeface="Arial" pitchFamily="34" charset="0"/>
                <a:ea typeface="Arial" pitchFamily="34" charset="-122"/>
                <a:cs typeface="Arial" pitchFamily="34" charset="-120"/>
              </a:rPr>
              <a:t> Analyzing past bugs to identify process improvements, updating design rules to prevent recurrence.</a:t>
            </a:r>
            <a:endParaRPr lang="en-US" sz="1300" dirty="0"/>
          </a:p>
        </p:txBody>
      </p:sp>
      <p:sp>
        <p:nvSpPr>
          <p:cNvPr id="19" name="Shape 16"/>
          <p:cNvSpPr/>
          <p:nvPr/>
        </p:nvSpPr>
        <p:spPr>
          <a:xfrm>
            <a:off x="6035040" y="2103120"/>
            <a:ext cx="5715000" cy="4114800"/>
          </a:xfrm>
          <a:prstGeom prst="roundRect">
            <a:avLst>
              <a:gd name="adj" fmla="val 2222"/>
            </a:avLst>
          </a:prstGeom>
          <a:solidFill>
            <a:srgbClr val="FFF9C4"/>
          </a:solidFill>
          <a:ln w="19050">
            <a:solidFill>
              <a:srgbClr val="F57F17"/>
            </a:solidFill>
            <a:prstDash val="solid"/>
          </a:ln>
        </p:spPr>
      </p:sp>
      <p:sp>
        <p:nvSpPr>
          <p:cNvPr id="20" name="Text 17"/>
          <p:cNvSpPr/>
          <p:nvPr/>
        </p:nvSpPr>
        <p:spPr>
          <a:xfrm>
            <a:off x="6144768" y="2176272"/>
            <a:ext cx="5513832" cy="347472"/>
          </a:xfrm>
          <a:prstGeom prst="rect">
            <a:avLst/>
          </a:prstGeom>
          <a:noFill/>
          <a:ln/>
        </p:spPr>
        <p:txBody>
          <a:bodyPr wrap="square" lIns="0" tIns="0" rIns="0" bIns="0" rtlCol="0" anchor="ctr"/>
          <a:lstStyle/>
          <a:p>
            <a:pPr indent="0" marL="0">
              <a:buNone/>
            </a:pPr>
            <a:r>
              <a:rPr lang="en-US" sz="1500" b="1" dirty="0">
                <a:solidFill>
                  <a:srgbClr val="F57F17"/>
                </a:solidFill>
                <a:latin typeface="Arial" pitchFamily="34" charset="0"/>
                <a:ea typeface="Arial" pitchFamily="34" charset="-122"/>
                <a:cs typeface="Arial" pitchFamily="34" charset="-120"/>
              </a:rPr>
              <a:t>Process &amp; Technology Tools</a:t>
            </a:r>
            <a:endParaRPr lang="en-US" sz="1500" dirty="0"/>
          </a:p>
        </p:txBody>
      </p:sp>
      <p:sp>
        <p:nvSpPr>
          <p:cNvPr id="21" name="Text 18"/>
          <p:cNvSpPr/>
          <p:nvPr/>
        </p:nvSpPr>
        <p:spPr>
          <a:xfrm>
            <a:off x="6144768" y="2606040"/>
            <a:ext cx="5513832" cy="3474720"/>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 Design Rules &amp; Checklists:</a:t>
            </a:r>
            <a:pPr indent="0" marL="0">
              <a:buNone/>
            </a:pPr>
            <a:r>
              <a:rPr lang="en-US" sz="1300" dirty="0">
                <a:solidFill>
                  <a:srgbClr val="000000"/>
                </a:solidFill>
                <a:latin typeface="Arial" pitchFamily="34" charset="0"/>
                <a:ea typeface="Arial" pitchFamily="34" charset="-122"/>
                <a:cs typeface="Arial" pitchFamily="34" charset="-120"/>
              </a:rPr>
              <a:t> Enforcing coding conventions, strict design patterns, and type checking constraints.</a:t>
            </a:r>
            <a:endParaRPr lang="en-US" sz="1300" dirty="0"/>
          </a:p>
          <a:p>
            <a:pPr indent="0" marL="0">
              <a:buNone/>
            </a:pPr>
            <a:r>
              <a:rPr lang="en-US" sz="1300" b="1" dirty="0">
                <a:solidFill>
                  <a:srgbClr val="990033"/>
                </a:solidFill>
                <a:latin typeface="Arial" pitchFamily="34" charset="0"/>
                <a:ea typeface="Arial" pitchFamily="34" charset="-122"/>
                <a:cs typeface="Arial" pitchFamily="34" charset="-120"/>
              </a:rPr>
              <a:t>• Cleanroom Software Engineering:</a:t>
            </a:r>
            <a:pPr indent="0" marL="0">
              <a:buNone/>
            </a:pPr>
            <a:r>
              <a:rPr lang="en-US" sz="1300" dirty="0">
                <a:solidFill>
                  <a:srgbClr val="000000"/>
                </a:solidFill>
                <a:latin typeface="Arial" pitchFamily="34" charset="0"/>
                <a:ea typeface="Arial" pitchFamily="34" charset="-122"/>
                <a:cs typeface="Arial" pitchFamily="34" charset="-120"/>
              </a:rPr>
              <a:t> A process model that uses formal design verification and mathematical proofs to ensure defect-free builds before testing begins.</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Automated Linting:</a:t>
            </a:r>
            <a:pPr indent="0" marL="0">
              <a:buNone/>
            </a:pPr>
            <a:r>
              <a:rPr lang="en-US" sz="1300" dirty="0">
                <a:solidFill>
                  <a:srgbClr val="000000"/>
                </a:solidFill>
                <a:latin typeface="Arial" pitchFamily="34" charset="0"/>
                <a:ea typeface="Arial" pitchFamily="34" charset="-122"/>
                <a:cs typeface="Arial" pitchFamily="34" charset="-120"/>
              </a:rPr>
              <a:t> Run code analyzers during development to catch syntax errors and poor style patterns automatically.</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Software Quality Engineering</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Defect Reduction: Inspection &amp; Testing</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45720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Defect reduction detects and removes bugs that have already been coded:</a:t>
            </a:r>
            <a:endParaRPr lang="en-US" sz="1400" dirty="0"/>
          </a:p>
        </p:txBody>
      </p:sp>
      <p:sp>
        <p:nvSpPr>
          <p:cNvPr id="16" name="Shape 13"/>
          <p:cNvSpPr/>
          <p:nvPr/>
        </p:nvSpPr>
        <p:spPr>
          <a:xfrm>
            <a:off x="457200" y="2103120"/>
            <a:ext cx="5394960" cy="4114800"/>
          </a:xfrm>
          <a:prstGeom prst="roundRect">
            <a:avLst>
              <a:gd name="adj" fmla="val 2222"/>
            </a:avLst>
          </a:prstGeom>
          <a:solidFill>
            <a:srgbClr val="E3F2FD"/>
          </a:solidFill>
          <a:ln w="19050">
            <a:solidFill>
              <a:srgbClr val="1565C0"/>
            </a:solidFill>
            <a:prstDash val="solid"/>
          </a:ln>
        </p:spPr>
      </p:sp>
      <p:sp>
        <p:nvSpPr>
          <p:cNvPr id="17" name="Text 14"/>
          <p:cNvSpPr/>
          <p:nvPr/>
        </p:nvSpPr>
        <p:spPr>
          <a:xfrm>
            <a:off x="566928" y="2176272"/>
            <a:ext cx="5212080" cy="347472"/>
          </a:xfrm>
          <a:prstGeom prst="rect">
            <a:avLst/>
          </a:prstGeom>
          <a:noFill/>
          <a:ln/>
        </p:spPr>
        <p:txBody>
          <a:bodyPr wrap="square" lIns="0" tIns="0" rIns="0" bIns="0" rtlCol="0" anchor="ctr"/>
          <a:lstStyle/>
          <a:p>
            <a:pPr indent="0" marL="0">
              <a:buNone/>
            </a:pPr>
            <a:r>
              <a:rPr lang="en-US" sz="1500" b="1" dirty="0">
                <a:solidFill>
                  <a:srgbClr val="1565C0"/>
                </a:solidFill>
                <a:latin typeface="Arial" pitchFamily="34" charset="0"/>
                <a:ea typeface="Arial" pitchFamily="34" charset="-122"/>
                <a:cs typeface="Arial" pitchFamily="34" charset="-120"/>
              </a:rPr>
              <a:t>Inspections (Static Verification)</a:t>
            </a:r>
            <a:endParaRPr lang="en-US" sz="1500" dirty="0"/>
          </a:p>
        </p:txBody>
      </p:sp>
      <p:sp>
        <p:nvSpPr>
          <p:cNvPr id="18" name="Text 15"/>
          <p:cNvSpPr/>
          <p:nvPr/>
        </p:nvSpPr>
        <p:spPr>
          <a:xfrm>
            <a:off x="566928" y="2606040"/>
            <a:ext cx="5212080" cy="3474720"/>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 Non-Execution Review:</a:t>
            </a:r>
            <a:pPr indent="0" marL="0">
              <a:buNone/>
            </a:pPr>
            <a:r>
              <a:rPr lang="en-US" sz="1300" dirty="0">
                <a:solidFill>
                  <a:srgbClr val="000000"/>
                </a:solidFill>
                <a:latin typeface="Arial" pitchFamily="34" charset="0"/>
                <a:ea typeface="Arial" pitchFamily="34" charset="-122"/>
                <a:cs typeface="Arial" pitchFamily="34" charset="-120"/>
              </a:rPr>
              <a:t> Reviews design docs, source code, and schemas without running the application.</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Peer Code Reviews:</a:t>
            </a:r>
            <a:pPr indent="0" marL="0">
              <a:buNone/>
            </a:pPr>
            <a:r>
              <a:rPr lang="en-US" sz="1300" dirty="0">
                <a:solidFill>
                  <a:srgbClr val="000000"/>
                </a:solidFill>
                <a:latin typeface="Arial" pitchFamily="34" charset="0"/>
                <a:ea typeface="Arial" pitchFamily="34" charset="-122"/>
                <a:cs typeface="Arial" pitchFamily="34" charset="-120"/>
              </a:rPr>
              <a:t> Team walkthroughs and formal code inspections led by moderators.</a:t>
            </a:r>
            <a:endParaRPr lang="en-US" sz="1300" dirty="0"/>
          </a:p>
          <a:p>
            <a:pPr indent="0" marL="0">
              <a:buNone/>
            </a:pPr>
            <a:r>
              <a:rPr lang="en-US" sz="1300" b="1" dirty="0">
                <a:solidFill>
                  <a:srgbClr val="006400"/>
                </a:solidFill>
                <a:latin typeface="Arial" pitchFamily="34" charset="0"/>
                <a:ea typeface="Arial" pitchFamily="34" charset="-122"/>
                <a:cs typeface="Arial" pitchFamily="34" charset="-120"/>
              </a:rPr>
              <a:t>• High Fault Detection Rate:</a:t>
            </a:r>
            <a:pPr indent="0" marL="0">
              <a:buNone/>
            </a:pPr>
            <a:r>
              <a:rPr lang="en-US" sz="1300" dirty="0">
                <a:solidFill>
                  <a:srgbClr val="000000"/>
                </a:solidFill>
                <a:latin typeface="Arial" pitchFamily="34" charset="0"/>
                <a:ea typeface="Arial" pitchFamily="34" charset="-122"/>
                <a:cs typeface="Arial" pitchFamily="34" charset="-120"/>
              </a:rPr>
              <a:t> Inspections typically detect 60% to 90% of code defects, finding root errors (faults) directly in the source.</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Static Analyzers:</a:t>
            </a:r>
            <a:pPr indent="0" marL="0">
              <a:buNone/>
            </a:pPr>
            <a:r>
              <a:rPr lang="en-US" sz="1300" dirty="0">
                <a:solidFill>
                  <a:srgbClr val="000000"/>
                </a:solidFill>
                <a:latin typeface="Arial" pitchFamily="34" charset="0"/>
                <a:ea typeface="Arial" pitchFamily="34" charset="-122"/>
                <a:cs typeface="Arial" pitchFamily="34" charset="-120"/>
              </a:rPr>
              <a:t> Automated tools scan code for logic errors, dead blocks, and compliance warnings.</a:t>
            </a:r>
            <a:endParaRPr lang="en-US" sz="1300" dirty="0"/>
          </a:p>
        </p:txBody>
      </p:sp>
      <p:sp>
        <p:nvSpPr>
          <p:cNvPr id="19" name="Shape 16"/>
          <p:cNvSpPr/>
          <p:nvPr/>
        </p:nvSpPr>
        <p:spPr>
          <a:xfrm>
            <a:off x="6035040" y="2103120"/>
            <a:ext cx="5715000" cy="4114800"/>
          </a:xfrm>
          <a:prstGeom prst="roundRect">
            <a:avLst>
              <a:gd name="adj" fmla="val 2222"/>
            </a:avLst>
          </a:prstGeom>
          <a:solidFill>
            <a:srgbClr val="FCE4EC"/>
          </a:solidFill>
          <a:ln w="19050">
            <a:solidFill>
              <a:srgbClr val="990033"/>
            </a:solidFill>
            <a:prstDash val="solid"/>
          </a:ln>
        </p:spPr>
      </p:sp>
      <p:sp>
        <p:nvSpPr>
          <p:cNvPr id="20" name="Text 17"/>
          <p:cNvSpPr/>
          <p:nvPr/>
        </p:nvSpPr>
        <p:spPr>
          <a:xfrm>
            <a:off x="6144768" y="2176272"/>
            <a:ext cx="5513832" cy="347472"/>
          </a:xfrm>
          <a:prstGeom prst="rect">
            <a:avLst/>
          </a:prstGeom>
          <a:noFill/>
          <a:ln/>
        </p:spPr>
        <p:txBody>
          <a:bodyPr wrap="square" lIns="0" tIns="0" rIns="0" bIns="0" rtlCol="0" anchor="ctr"/>
          <a:lstStyle/>
          <a:p>
            <a:pPr indent="0" marL="0">
              <a:buNone/>
            </a:pPr>
            <a:r>
              <a:rPr lang="en-US" sz="1500" b="1" dirty="0">
                <a:solidFill>
                  <a:srgbClr val="990033"/>
                </a:solidFill>
                <a:latin typeface="Arial" pitchFamily="34" charset="0"/>
                <a:ea typeface="Arial" pitchFamily="34" charset="-122"/>
                <a:cs typeface="Arial" pitchFamily="34" charset="-120"/>
              </a:rPr>
              <a:t>Software Testing (Dynamic Validation)</a:t>
            </a:r>
            <a:endParaRPr lang="en-US" sz="1500" dirty="0"/>
          </a:p>
        </p:txBody>
      </p:sp>
      <p:sp>
        <p:nvSpPr>
          <p:cNvPr id="21" name="Text 18"/>
          <p:cNvSpPr/>
          <p:nvPr/>
        </p:nvSpPr>
        <p:spPr>
          <a:xfrm>
            <a:off x="6144768" y="2606040"/>
            <a:ext cx="5513832" cy="3474720"/>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 Execution-Based:</a:t>
            </a:r>
            <a:pPr indent="0" marL="0">
              <a:buNone/>
            </a:pPr>
            <a:r>
              <a:rPr lang="en-US" sz="1300" dirty="0">
                <a:solidFill>
                  <a:srgbClr val="000000"/>
                </a:solidFill>
                <a:latin typeface="Arial" pitchFamily="34" charset="0"/>
                <a:ea typeface="Arial" pitchFamily="34" charset="-122"/>
                <a:cs typeface="Arial" pitchFamily="34" charset="-120"/>
              </a:rPr>
              <a:t> Evaluates system behavior by executing the code with test cases and inputs.</a:t>
            </a:r>
            <a:endParaRPr lang="en-US" sz="1300" dirty="0"/>
          </a:p>
          <a:p>
            <a:pPr indent="0" marL="0">
              <a:buNone/>
            </a:pPr>
            <a:r>
              <a:rPr lang="en-US" sz="1300" b="1" dirty="0">
                <a:solidFill>
                  <a:srgbClr val="990033"/>
                </a:solidFill>
                <a:latin typeface="Arial" pitchFamily="34" charset="0"/>
                <a:ea typeface="Arial" pitchFamily="34" charset="-122"/>
                <a:cs typeface="Arial" pitchFamily="34" charset="-120"/>
              </a:rPr>
              <a:t>• Failure Observation:</a:t>
            </a:r>
            <a:pPr indent="0" marL="0">
              <a:buNone/>
            </a:pPr>
            <a:r>
              <a:rPr lang="en-US" sz="1300" dirty="0">
                <a:solidFill>
                  <a:srgbClr val="000000"/>
                </a:solidFill>
                <a:latin typeface="Arial" pitchFamily="34" charset="0"/>
                <a:ea typeface="Arial" pitchFamily="34" charset="-122"/>
                <a:cs typeface="Arial" pitchFamily="34" charset="-120"/>
              </a:rPr>
              <a:t> Observes system failures (deviations from expectations), which must be debugged to locate the root fault.</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Testing Levels:</a:t>
            </a:r>
            <a:pPr indent="0" marL="0">
              <a:buNone/>
            </a:pPr>
            <a:r>
              <a:rPr lang="en-US" sz="1300" dirty="0">
                <a:solidFill>
                  <a:srgbClr val="000000"/>
                </a:solidFill>
                <a:latin typeface="Arial" pitchFamily="34" charset="0"/>
                <a:ea typeface="Arial" pitchFamily="34" charset="-122"/>
                <a:cs typeface="Arial" pitchFamily="34" charset="-120"/>
              </a:rPr>
              <a:t> Ranges from Unit Testing (components) to Integration Testing (modules) and System Testing (entire application).</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Limits:</a:t>
            </a:r>
            <a:pPr indent="0" marL="0">
              <a:buNone/>
            </a:pPr>
            <a:r>
              <a:rPr lang="en-US" sz="1300" dirty="0">
                <a:solidFill>
                  <a:srgbClr val="000000"/>
                </a:solidFill>
                <a:latin typeface="Arial" pitchFamily="34" charset="0"/>
                <a:ea typeface="Arial" pitchFamily="34" charset="-122"/>
                <a:cs typeface="Arial" pitchFamily="34" charset="-120"/>
              </a:rPr>
              <a:t> 'Testing shows the presence of bugs, not their absence' (Dijkstra).</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Software Quality Engineering</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Defect Containment: Production Resilience</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45720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Defect containment limits the impact of bugs that escape into production:</a:t>
            </a:r>
            <a:endParaRPr lang="en-US" sz="1400" dirty="0"/>
          </a:p>
        </p:txBody>
      </p:sp>
      <p:sp>
        <p:nvSpPr>
          <p:cNvPr id="16" name="Shape 13"/>
          <p:cNvSpPr/>
          <p:nvPr/>
        </p:nvSpPr>
        <p:spPr>
          <a:xfrm>
            <a:off x="457200" y="2103120"/>
            <a:ext cx="5394960" cy="4114800"/>
          </a:xfrm>
          <a:prstGeom prst="roundRect">
            <a:avLst>
              <a:gd name="adj" fmla="val 2222"/>
            </a:avLst>
          </a:prstGeom>
          <a:solidFill>
            <a:srgbClr val="FFF9C4"/>
          </a:solidFill>
          <a:ln w="19050">
            <a:solidFill>
              <a:srgbClr val="F57F17"/>
            </a:solidFill>
            <a:prstDash val="solid"/>
          </a:ln>
        </p:spPr>
      </p:sp>
      <p:sp>
        <p:nvSpPr>
          <p:cNvPr id="17" name="Text 14"/>
          <p:cNvSpPr/>
          <p:nvPr/>
        </p:nvSpPr>
        <p:spPr>
          <a:xfrm>
            <a:off x="566928" y="2176272"/>
            <a:ext cx="5212080" cy="347472"/>
          </a:xfrm>
          <a:prstGeom prst="rect">
            <a:avLst/>
          </a:prstGeom>
          <a:noFill/>
          <a:ln/>
        </p:spPr>
        <p:txBody>
          <a:bodyPr wrap="square" lIns="0" tIns="0" rIns="0" bIns="0" rtlCol="0" anchor="ctr"/>
          <a:lstStyle/>
          <a:p>
            <a:pPr indent="0" marL="0">
              <a:buNone/>
            </a:pPr>
            <a:r>
              <a:rPr lang="en-US" sz="1500" b="1" dirty="0">
                <a:solidFill>
                  <a:srgbClr val="F57F17"/>
                </a:solidFill>
                <a:latin typeface="Arial" pitchFamily="34" charset="0"/>
                <a:ea typeface="Arial" pitchFamily="34" charset="-122"/>
                <a:cs typeface="Arial" pitchFamily="34" charset="-120"/>
              </a:rPr>
              <a:t>Fault Tolerance (Software Resilience)</a:t>
            </a:r>
            <a:endParaRPr lang="en-US" sz="1500" dirty="0"/>
          </a:p>
        </p:txBody>
      </p:sp>
      <p:sp>
        <p:nvSpPr>
          <p:cNvPr id="18" name="Text 15"/>
          <p:cNvSpPr/>
          <p:nvPr/>
        </p:nvSpPr>
        <p:spPr>
          <a:xfrm>
            <a:off x="566928" y="2606040"/>
            <a:ext cx="5212080" cy="3474720"/>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 System Continuity:</a:t>
            </a:r>
            <a:pPr indent="0" marL="0">
              <a:buNone/>
            </a:pPr>
            <a:r>
              <a:rPr lang="en-US" sz="1300" dirty="0">
                <a:solidFill>
                  <a:srgbClr val="000000"/>
                </a:solidFill>
                <a:latin typeface="Arial" pitchFamily="34" charset="0"/>
                <a:ea typeface="Arial" pitchFamily="34" charset="-122"/>
                <a:cs typeface="Arial" pitchFamily="34" charset="-120"/>
              </a:rPr>
              <a:t> The software detects runtime errors and handles them without crashing the entire system.</a:t>
            </a:r>
            <a:endParaRPr lang="en-US" sz="1300" dirty="0"/>
          </a:p>
          <a:p>
            <a:pPr indent="0" marL="0">
              <a:buNone/>
            </a:pPr>
            <a:r>
              <a:rPr lang="en-US" sz="1300" b="1" dirty="0">
                <a:solidFill>
                  <a:srgbClr val="1565C0"/>
                </a:solidFill>
                <a:latin typeface="Arial" pitchFamily="34" charset="0"/>
                <a:ea typeface="Arial" pitchFamily="34" charset="-122"/>
                <a:cs typeface="Arial" pitchFamily="34" charset="-120"/>
              </a:rPr>
              <a:t>• N-Version Programming:</a:t>
            </a:r>
            <a:pPr indent="0" marL="0">
              <a:buNone/>
            </a:pPr>
            <a:r>
              <a:rPr lang="en-US" sz="1300" dirty="0">
                <a:solidFill>
                  <a:srgbClr val="000000"/>
                </a:solidFill>
                <a:latin typeface="Arial" pitchFamily="34" charset="0"/>
                <a:ea typeface="Arial" pitchFamily="34" charset="-122"/>
                <a:cs typeface="Arial" pitchFamily="34" charset="-120"/>
              </a:rPr>
              <a:t> Executes multiple versions of the same module in parallel. A voting system compares results to select the correct output, bypassing individual code bugs.</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Recovery Blocks:</a:t>
            </a:r>
            <a:pPr indent="0" marL="0">
              <a:buNone/>
            </a:pPr>
            <a:r>
              <a:rPr lang="en-US" sz="1300" dirty="0">
                <a:solidFill>
                  <a:srgbClr val="000000"/>
                </a:solidFill>
                <a:latin typeface="Arial" pitchFamily="34" charset="0"/>
                <a:ea typeface="Arial" pitchFamily="34" charset="-122"/>
                <a:cs typeface="Arial" pitchFamily="34" charset="-120"/>
              </a:rPr>
              <a:t> Tries to run a primary module. If the check fails, it rolls back state and executes an alternate backup module.</a:t>
            </a:r>
            <a:endParaRPr lang="en-US" sz="1300" dirty="0"/>
          </a:p>
        </p:txBody>
      </p:sp>
      <p:sp>
        <p:nvSpPr>
          <p:cNvPr id="19" name="Shape 16"/>
          <p:cNvSpPr/>
          <p:nvPr/>
        </p:nvSpPr>
        <p:spPr>
          <a:xfrm>
            <a:off x="6035040" y="2103120"/>
            <a:ext cx="5715000" cy="4114800"/>
          </a:xfrm>
          <a:prstGeom prst="roundRect">
            <a:avLst>
              <a:gd name="adj" fmla="val 2222"/>
            </a:avLst>
          </a:prstGeom>
          <a:solidFill>
            <a:srgbClr val="F8F8F8"/>
          </a:solidFill>
          <a:ln w="19050">
            <a:solidFill>
              <a:srgbClr val="555555"/>
            </a:solidFill>
            <a:prstDash val="solid"/>
          </a:ln>
        </p:spPr>
      </p:sp>
      <p:sp>
        <p:nvSpPr>
          <p:cNvPr id="20" name="Text 17"/>
          <p:cNvSpPr/>
          <p:nvPr/>
        </p:nvSpPr>
        <p:spPr>
          <a:xfrm>
            <a:off x="6144768" y="2176272"/>
            <a:ext cx="5513832" cy="347472"/>
          </a:xfrm>
          <a:prstGeom prst="rect">
            <a:avLst/>
          </a:prstGeom>
          <a:noFill/>
          <a:ln/>
        </p:spPr>
        <p:txBody>
          <a:bodyPr wrap="square" lIns="0" tIns="0" rIns="0" bIns="0" rtlCol="0" anchor="ctr"/>
          <a:lstStyle/>
          <a:p>
            <a:pPr indent="0" marL="0">
              <a:buNone/>
            </a:pPr>
            <a:r>
              <a:rPr lang="en-US" sz="1500" b="1" dirty="0">
                <a:solidFill>
                  <a:srgbClr val="555555"/>
                </a:solidFill>
                <a:latin typeface="Arial" pitchFamily="34" charset="0"/>
                <a:ea typeface="Arial" pitchFamily="34" charset="-122"/>
                <a:cs typeface="Arial" pitchFamily="34" charset="-120"/>
              </a:rPr>
              <a:t>Safety Assurance &amp; Containment</a:t>
            </a:r>
            <a:endParaRPr lang="en-US" sz="1500" dirty="0"/>
          </a:p>
        </p:txBody>
      </p:sp>
      <p:sp>
        <p:nvSpPr>
          <p:cNvPr id="21" name="Text 18"/>
          <p:cNvSpPr/>
          <p:nvPr/>
        </p:nvSpPr>
        <p:spPr>
          <a:xfrm>
            <a:off x="6144768" y="2606040"/>
            <a:ext cx="5513832" cy="3474720"/>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 Safety Checks:</a:t>
            </a:r>
            <a:pPr indent="0" marL="0">
              <a:buNone/>
            </a:pPr>
            <a:r>
              <a:rPr lang="en-US" sz="1300" dirty="0">
                <a:solidFill>
                  <a:srgbClr val="000000"/>
                </a:solidFill>
                <a:latin typeface="Arial" pitchFamily="34" charset="0"/>
                <a:ea typeface="Arial" pitchFamily="34" charset="-122"/>
                <a:cs typeface="Arial" pitchFamily="34" charset="-120"/>
              </a:rPr>
              <a:t> Code monitors parameters to detect dangerous conditions (e.g. medical devices checking dose values).</a:t>
            </a:r>
            <a:endParaRPr lang="en-US" sz="1300" dirty="0"/>
          </a:p>
          <a:p>
            <a:pPr indent="0" marL="0">
              <a:buNone/>
            </a:pPr>
            <a:r>
              <a:rPr lang="en-US" sz="1300" b="1" dirty="0">
                <a:solidFill>
                  <a:srgbClr val="990033"/>
                </a:solidFill>
                <a:latin typeface="Arial" pitchFamily="34" charset="0"/>
                <a:ea typeface="Arial" pitchFamily="34" charset="-122"/>
                <a:cs typeface="Arial" pitchFamily="34" charset="-120"/>
              </a:rPr>
              <a:t>• Fail-Safe Design:</a:t>
            </a:r>
            <a:pPr indent="0" marL="0">
              <a:buNone/>
            </a:pPr>
            <a:r>
              <a:rPr lang="en-US" sz="1300" dirty="0">
                <a:solidFill>
                  <a:srgbClr val="000000"/>
                </a:solidFill>
                <a:latin typeface="Arial" pitchFamily="34" charset="0"/>
                <a:ea typeface="Arial" pitchFamily="34" charset="-122"/>
                <a:cs typeface="Arial" pitchFamily="34" charset="-120"/>
              </a:rPr>
              <a:t> If a critical failure occurs, the system defaults to a safe state (e.g., shutting down power to prevent damage).</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Containment Boundaries:</a:t>
            </a:r>
            <a:pPr indent="0" marL="0">
              <a:buNone/>
            </a:pPr>
            <a:r>
              <a:rPr lang="en-US" sz="1300" dirty="0">
                <a:solidFill>
                  <a:srgbClr val="000000"/>
                </a:solidFill>
                <a:latin typeface="Arial" pitchFamily="34" charset="0"/>
                <a:ea typeface="Arial" pitchFamily="34" charset="-122"/>
                <a:cs typeface="Arial" pitchFamily="34" charset="-120"/>
              </a:rPr>
              <a:t> Isolates subsystems so a crash in a non-critical component (e.g., user profile UI) cannot crash the primary transaction module.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Software Quality Engineering</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Applications of QA Strategies</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36576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How modern dev teams implement the three pillars of QA:</a:t>
            </a:r>
            <a:endParaRPr lang="en-US" sz="1400" dirty="0"/>
          </a:p>
        </p:txBody>
      </p:sp>
      <p:sp>
        <p:nvSpPr>
          <p:cNvPr id="16" name="Shape 13"/>
          <p:cNvSpPr/>
          <p:nvPr/>
        </p:nvSpPr>
        <p:spPr>
          <a:xfrm>
            <a:off x="457200" y="2011680"/>
            <a:ext cx="5532120" cy="1956816"/>
          </a:xfrm>
          <a:prstGeom prst="roundRect">
            <a:avLst>
              <a:gd name="adj" fmla="val 4673"/>
            </a:avLst>
          </a:prstGeom>
          <a:solidFill>
            <a:srgbClr val="E8F5E9"/>
          </a:solidFill>
          <a:ln w="19050">
            <a:solidFill>
              <a:srgbClr val="009900"/>
            </a:solidFill>
            <a:prstDash val="solid"/>
          </a:ln>
        </p:spPr>
      </p:sp>
      <p:sp>
        <p:nvSpPr>
          <p:cNvPr id="17" name="Text 14"/>
          <p:cNvSpPr/>
          <p:nvPr/>
        </p:nvSpPr>
        <p:spPr>
          <a:xfrm>
            <a:off x="566928" y="2103120"/>
            <a:ext cx="5312664" cy="347472"/>
          </a:xfrm>
          <a:prstGeom prst="rect">
            <a:avLst/>
          </a:prstGeom>
          <a:noFill/>
          <a:ln/>
        </p:spPr>
        <p:txBody>
          <a:bodyPr wrap="square" lIns="0" tIns="0" rIns="0" bIns="0" rtlCol="0" anchor="ctr"/>
          <a:lstStyle/>
          <a:p>
            <a:pPr indent="0" marL="0">
              <a:buNone/>
            </a:pPr>
            <a:r>
              <a:rPr lang="en-US" sz="1450" b="1" dirty="0">
                <a:solidFill>
                  <a:srgbClr val="009900"/>
                </a:solidFill>
                <a:latin typeface="Arial" pitchFamily="34" charset="0"/>
                <a:ea typeface="Arial" pitchFamily="34" charset="-122"/>
                <a:cs typeface="Arial" pitchFamily="34" charset="-120"/>
              </a:rPr>
              <a:t>⚙️  CI/CD Automated Pipelines</a:t>
            </a:r>
            <a:endParaRPr lang="en-US" sz="1450" dirty="0"/>
          </a:p>
        </p:txBody>
      </p:sp>
      <p:sp>
        <p:nvSpPr>
          <p:cNvPr id="18" name="Text 15"/>
          <p:cNvSpPr/>
          <p:nvPr/>
        </p:nvSpPr>
        <p:spPr>
          <a:xfrm>
            <a:off x="566928" y="248716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Linting checks run on code commit (Prevention). Automated unit tests run on compilation, and integration tests run on build packaging (Reduction).</a:t>
            </a:r>
            <a:endParaRPr lang="en-US" sz="1300" dirty="0"/>
          </a:p>
        </p:txBody>
      </p:sp>
      <p:sp>
        <p:nvSpPr>
          <p:cNvPr id="19" name="Shape 16"/>
          <p:cNvSpPr/>
          <p:nvPr/>
        </p:nvSpPr>
        <p:spPr>
          <a:xfrm>
            <a:off x="6144768" y="2011680"/>
            <a:ext cx="5532120" cy="1956816"/>
          </a:xfrm>
          <a:prstGeom prst="roundRect">
            <a:avLst>
              <a:gd name="adj" fmla="val 4673"/>
            </a:avLst>
          </a:prstGeom>
          <a:solidFill>
            <a:srgbClr val="E3F2FD"/>
          </a:solidFill>
          <a:ln w="19050">
            <a:solidFill>
              <a:srgbClr val="1565C0"/>
            </a:solidFill>
            <a:prstDash val="solid"/>
          </a:ln>
        </p:spPr>
      </p:sp>
      <p:sp>
        <p:nvSpPr>
          <p:cNvPr id="20" name="Text 17"/>
          <p:cNvSpPr/>
          <p:nvPr/>
        </p:nvSpPr>
        <p:spPr>
          <a:xfrm>
            <a:off x="6254496" y="2103120"/>
            <a:ext cx="5312664" cy="347472"/>
          </a:xfrm>
          <a:prstGeom prst="rect">
            <a:avLst/>
          </a:prstGeom>
          <a:noFill/>
          <a:ln/>
        </p:spPr>
        <p:txBody>
          <a:bodyPr wrap="square" lIns="0" tIns="0" rIns="0" bIns="0" rtlCol="0" anchor="ctr"/>
          <a:lstStyle/>
          <a:p>
            <a:pPr indent="0" marL="0">
              <a:buNone/>
            </a:pPr>
            <a:r>
              <a:rPr lang="en-US" sz="1450" b="1" dirty="0">
                <a:solidFill>
                  <a:srgbClr val="1565C0"/>
                </a:solidFill>
                <a:latin typeface="Arial" pitchFamily="34" charset="0"/>
                <a:ea typeface="Arial" pitchFamily="34" charset="-122"/>
                <a:cs typeface="Arial" pitchFamily="34" charset="-120"/>
              </a:rPr>
              <a:t>👥  Rigorous Pull Request Code Reviews</a:t>
            </a:r>
            <a:endParaRPr lang="en-US" sz="1450" dirty="0"/>
          </a:p>
        </p:txBody>
      </p:sp>
      <p:sp>
        <p:nvSpPr>
          <p:cNvPr id="21" name="Text 18"/>
          <p:cNvSpPr/>
          <p:nvPr/>
        </p:nvSpPr>
        <p:spPr>
          <a:xfrm>
            <a:off x="6254496" y="248716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Code reviews and checklists verify that every line of code is inspected by colleagues before merge. Eliminates logic bugs and improves quality (Reduction).</a:t>
            </a:r>
            <a:endParaRPr lang="en-US" sz="1300" dirty="0"/>
          </a:p>
        </p:txBody>
      </p:sp>
      <p:sp>
        <p:nvSpPr>
          <p:cNvPr id="22" name="Shape 19"/>
          <p:cNvSpPr/>
          <p:nvPr/>
        </p:nvSpPr>
        <p:spPr>
          <a:xfrm>
            <a:off x="457200" y="4114800"/>
            <a:ext cx="5532120" cy="1956816"/>
          </a:xfrm>
          <a:prstGeom prst="roundRect">
            <a:avLst>
              <a:gd name="adj" fmla="val 4673"/>
            </a:avLst>
          </a:prstGeom>
          <a:solidFill>
            <a:srgbClr val="FCE4EC"/>
          </a:solidFill>
          <a:ln w="19050">
            <a:solidFill>
              <a:srgbClr val="990033"/>
            </a:solidFill>
            <a:prstDash val="solid"/>
          </a:ln>
        </p:spPr>
      </p:sp>
      <p:sp>
        <p:nvSpPr>
          <p:cNvPr id="23" name="Text 20"/>
          <p:cNvSpPr/>
          <p:nvPr/>
        </p:nvSpPr>
        <p:spPr>
          <a:xfrm>
            <a:off x="566928" y="4206240"/>
            <a:ext cx="5312664" cy="347472"/>
          </a:xfrm>
          <a:prstGeom prst="rect">
            <a:avLst/>
          </a:prstGeom>
          <a:noFill/>
          <a:ln/>
        </p:spPr>
        <p:txBody>
          <a:bodyPr wrap="square" lIns="0" tIns="0" rIns="0" bIns="0" rtlCol="0" anchor="ctr"/>
          <a:lstStyle/>
          <a:p>
            <a:pPr indent="0" marL="0">
              <a:buNone/>
            </a:pPr>
            <a:r>
              <a:rPr lang="en-US" sz="1450" b="1" dirty="0">
                <a:solidFill>
                  <a:srgbClr val="990033"/>
                </a:solidFill>
                <a:latin typeface="Arial" pitchFamily="34" charset="0"/>
                <a:ea typeface="Arial" pitchFamily="34" charset="-122"/>
                <a:cs typeface="Arial" pitchFamily="34" charset="-120"/>
              </a:rPr>
              <a:t>🌐  High-Availability Server Clusters</a:t>
            </a:r>
            <a:endParaRPr lang="en-US" sz="1450" dirty="0"/>
          </a:p>
        </p:txBody>
      </p:sp>
      <p:sp>
        <p:nvSpPr>
          <p:cNvPr id="24" name="Text 21"/>
          <p:cNvSpPr/>
          <p:nvPr/>
        </p:nvSpPr>
        <p:spPr>
          <a:xfrm>
            <a:off x="566928" y="459028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Database replicas and load balancers detect hardware or software errors and automatically redirect user traffic, preserving availability (Containment).</a:t>
            </a:r>
            <a:endParaRPr lang="en-US" sz="1300" dirty="0"/>
          </a:p>
        </p:txBody>
      </p:sp>
      <p:sp>
        <p:nvSpPr>
          <p:cNvPr id="25" name="Shape 22"/>
          <p:cNvSpPr/>
          <p:nvPr/>
        </p:nvSpPr>
        <p:spPr>
          <a:xfrm>
            <a:off x="6144768" y="4114800"/>
            <a:ext cx="5532120" cy="1956816"/>
          </a:xfrm>
          <a:prstGeom prst="roundRect">
            <a:avLst>
              <a:gd name="adj" fmla="val 4673"/>
            </a:avLst>
          </a:prstGeom>
          <a:solidFill>
            <a:srgbClr val="FFF9C4"/>
          </a:solidFill>
          <a:ln w="19050">
            <a:solidFill>
              <a:srgbClr val="F57F17"/>
            </a:solidFill>
            <a:prstDash val="solid"/>
          </a:ln>
        </p:spPr>
      </p:sp>
      <p:sp>
        <p:nvSpPr>
          <p:cNvPr id="26" name="Text 23"/>
          <p:cNvSpPr/>
          <p:nvPr/>
        </p:nvSpPr>
        <p:spPr>
          <a:xfrm>
            <a:off x="6254496" y="4206240"/>
            <a:ext cx="5312664" cy="347472"/>
          </a:xfrm>
          <a:prstGeom prst="rect">
            <a:avLst/>
          </a:prstGeom>
          <a:noFill/>
          <a:ln/>
        </p:spPr>
        <p:txBody>
          <a:bodyPr wrap="square" lIns="0" tIns="0" rIns="0" bIns="0" rtlCol="0" anchor="ctr"/>
          <a:lstStyle/>
          <a:p>
            <a:pPr indent="0" marL="0">
              <a:buNone/>
            </a:pPr>
            <a:r>
              <a:rPr lang="en-US" sz="1450" b="1" dirty="0">
                <a:solidFill>
                  <a:srgbClr val="F57F17"/>
                </a:solidFill>
                <a:latin typeface="Arial" pitchFamily="34" charset="0"/>
                <a:ea typeface="Arial" pitchFamily="34" charset="-122"/>
                <a:cs typeface="Arial" pitchFamily="34" charset="-120"/>
              </a:rPr>
              <a:t>🏥  Embedded Control Systems</a:t>
            </a:r>
            <a:endParaRPr lang="en-US" sz="1450" dirty="0"/>
          </a:p>
        </p:txBody>
      </p:sp>
      <p:sp>
        <p:nvSpPr>
          <p:cNvPr id="27" name="Text 24"/>
          <p:cNvSpPr/>
          <p:nvPr/>
        </p:nvSpPr>
        <p:spPr>
          <a:xfrm>
            <a:off x="6254496" y="459028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Medical, automotive, and avionics software run concurrent redundant processors to vote on mechanical decisions, preventing accidents (Containment).</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Software Quality Engineering</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2377440"/>
            <a:ext cx="11292840" cy="1371600"/>
          </a:xfrm>
          <a:prstGeom prst="rect">
            <a:avLst/>
          </a:prstGeom>
          <a:noFill/>
          <a:ln/>
        </p:spPr>
        <p:txBody>
          <a:bodyPr wrap="square" rtlCol="0" anchor="ctr"/>
          <a:lstStyle/>
          <a:p>
            <a:pPr algn="ctr" indent="0" marL="0">
              <a:buNone/>
            </a:pPr>
            <a:r>
              <a:rPr lang="en-US" sz="4800" b="1" dirty="0">
                <a:solidFill>
                  <a:srgbClr val="990033"/>
                </a:solidFill>
                <a:latin typeface="Arial" pitchFamily="34" charset="0"/>
                <a:ea typeface="Arial" pitchFamily="34" charset="-122"/>
                <a:cs typeface="Arial" pitchFamily="34" charset="-120"/>
              </a:rPr>
              <a:t>THANK YOU</a:t>
            </a:r>
            <a:endParaRPr lang="en-US" sz="4800" dirty="0"/>
          </a:p>
        </p:txBody>
      </p:sp>
      <p:sp>
        <p:nvSpPr>
          <p:cNvPr id="14" name="Text 11"/>
          <p:cNvSpPr/>
          <p:nvPr/>
        </p:nvSpPr>
        <p:spPr>
          <a:xfrm>
            <a:off x="457200" y="5029200"/>
            <a:ext cx="11292840" cy="822960"/>
          </a:xfrm>
          <a:prstGeom prst="rect">
            <a:avLst/>
          </a:prstGeom>
          <a:noFill/>
          <a:ln/>
        </p:spPr>
        <p:txBody>
          <a:bodyPr wrap="square" rtlCol="0" anchor="ctr"/>
          <a:lstStyle/>
          <a:p>
            <a:pPr algn="ctr" indent="0" marL="0">
              <a:buNone/>
            </a:pPr>
            <a:r>
              <a:rPr lang="en-US" sz="1300" dirty="0">
                <a:solidFill>
                  <a:srgbClr val="555555"/>
                </a:solidFill>
                <a:latin typeface="Arial" pitchFamily="34" charset="0"/>
                <a:ea typeface="Arial" pitchFamily="34" charset="-122"/>
                <a:cs typeface="Arial" pitchFamily="34" charset="-120"/>
              </a:rPr>
              <a:t>Department of Computer Science and Engineering</a:t>
            </a:r>
            <a:endParaRPr lang="en-US" sz="1300" dirty="0"/>
          </a:p>
          <a:p>
            <a:pPr algn="ctr" indent="0" marL="0">
              <a:buNone/>
            </a:pPr>
            <a:r>
              <a:rPr lang="en-US" sz="1300" dirty="0">
                <a:solidFill>
                  <a:srgbClr val="555555"/>
                </a:solidFill>
                <a:latin typeface="Arial" pitchFamily="34" charset="0"/>
                <a:ea typeface="Arial" pitchFamily="34" charset="-122"/>
                <a:cs typeface="Arial" pitchFamily="34" charset="-120"/>
              </a:rPr>
              <a:t>Marri Laxman Reddy Institute of Technology and Management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2026-06-14T18:38:04Z</dcterms:created>
  <dcterms:modified xsi:type="dcterms:W3CDTF">2026-06-14T18:38:04Z</dcterms:modified>
</cp:coreProperties>
</file>