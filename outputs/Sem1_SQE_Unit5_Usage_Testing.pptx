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my roll number is 257Y1D5805. In this presentation, I am going to talk about Usage-Based Statistical Testing in Software Quality Engineering. We will review the core concept of testing based on user-centric operational profiles rather than code coverage, analyze limitations of traditional checklist-based testing, study John Musa's five-step model for building operational profiles, go over a cartridge support software case study, and look at practical applications of usage-based testing across cloud systems, medical devices, automotive controllers, and mobile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begin with the core theory of usage-based statistical testing. Unlike traditional structural testing that checks code branches, usage-based testing focuses on how users execute the system in production. It prioritizes testing paths that users visit most frequently, which are mapped using an Operational Profile. This probability distribution maps user operations to their frequency of use. Testing against this profile provides a realistic estimate of the system's Mean Time to Failure. In contrast, traditional checklist testing uses static bug lists to audit features. Checklist testing has limitations: it easily becomes outdated, suffers from tester bias, does not scale, and fails to catch dynamic edge cases. Using operational profiles ensures we test what users actually do, improving quality where it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build these profiles, John Musa developed a structured five-step model. First, we identify customer profiles, segmenting users into groups like guest or admin. Second, we define user profiles, mapping the distinct system modules they access. Third, we establish system modes, identifying states like normal operations or peak loads. Fourth, we outline functional profiles to list all software functions. Finally, we build the operational profile, grouping functions into specific operations and assigning probabilities using log telemetry. For example, in an e-commerce system, query logs might reveal that searching products represents sixty percent of user operations, cart additions twenty-five percent, payments ten percent, and profile updates only five percent, directing our primary testing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examine a case study applying Musa's model to cartridge support utility software. The software checks ink levels, prints nozzle test patterns, and calibrates alignment. With a limited testing window before release, standard code coverage checks were too slow. The team analyzed printer logs to build an operational profile. The data showed that querying ink levels made up seventy-five percent of operations, print testing fifteen percent, nozzle alignment eight percent, and firmware upgrades only two percent. Testing efforts were allocated accordingly, prioritizing the high-use ink query UI. However, for firmware upgrades, despite a two percent probability, the team allocated critical testing resources because a firmware failure would brick the printer. This shows that we must combine usage probability with business risk to distribute testing efforts.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usage testing and operational profiles are utilized across several domains. For web applications, teams analyze production traffic logs to run telemetry-driven performance tests, simulating eighty percent reads and twenty percent writes to test databases. In medical engineering, infusion pumps and pacemakers undergo test runs based on clinical operational profiles to estimate Mean Time to Failure for FDA approval. In automotive systems, engine and ADAS controllers are tested against simulated city and highway driving profiles to ensure safety. For mobile apps, UI testing focuses on highly visited pages tracked via analytics, ensuring the most common user paths are bug-free.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my presentation on Usage-Based Statistical Testing. By prioritizing software paths based on real user behavior and combining probability with risk, organizations achieve high reliability and maximize the return on their testing investments. I want to thank the Department of Computer Science and Engineering at the Marri Laxman Reddy Institute of Technology and Management. Thank you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V: Checklist &amp; Usage Testing</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Usage-Based Statistical Testing</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Usage-Based Statistical Testing</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Usage-Based Statistical Testing </a:t>
            </a:r>
            <a:pPr indent="0" marL="0">
              <a:buNone/>
            </a:pPr>
            <a:r>
              <a:rPr lang="en-US" sz="1400" dirty="0">
                <a:solidFill>
                  <a:srgbClr val="000000"/>
                </a:solidFill>
                <a:latin typeface="Arial" pitchFamily="34" charset="0"/>
                <a:ea typeface="Arial" pitchFamily="34" charset="-122"/>
                <a:cs typeface="Arial" pitchFamily="34" charset="-120"/>
              </a:rPr>
              <a:t>focuses testing resources on software execution paths based on how users run the system in production, rather than focusing on structural code coverage.</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Core Concept &amp; Theory</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User-Centric View:</a:t>
            </a:r>
            <a:pPr indent="0" marL="0">
              <a:buNone/>
            </a:pPr>
            <a:r>
              <a:rPr lang="en-US" sz="1300" dirty="0">
                <a:solidFill>
                  <a:srgbClr val="000000"/>
                </a:solidFill>
                <a:latin typeface="Arial" pitchFamily="34" charset="0"/>
                <a:ea typeface="Arial" pitchFamily="34" charset="-122"/>
                <a:cs typeface="Arial" pitchFamily="34" charset="-120"/>
              </a:rPr>
              <a:t> Traditional testing checks code branches, but users only run specific paths. Usage-based testing prioritizes paths users visit most.</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Operational Profile (OP):</a:t>
            </a:r>
            <a:pPr indent="0" marL="0">
              <a:buNone/>
            </a:pPr>
            <a:r>
              <a:rPr lang="en-US" sz="1300" dirty="0">
                <a:solidFill>
                  <a:srgbClr val="000000"/>
                </a:solidFill>
                <a:latin typeface="Arial" pitchFamily="34" charset="0"/>
                <a:ea typeface="Arial" pitchFamily="34" charset="-122"/>
                <a:cs typeface="Arial" pitchFamily="34" charset="-120"/>
              </a:rPr>
              <a:t> A probability distribution mapping user operations to their run frequencies.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Reliability Estimation:</a:t>
            </a:r>
            <a:pPr indent="0" marL="0">
              <a:buNone/>
            </a:pPr>
            <a:r>
              <a:rPr lang="en-US" sz="1300" dirty="0">
                <a:solidFill>
                  <a:srgbClr val="000000"/>
                </a:solidFill>
                <a:latin typeface="Arial" pitchFamily="34" charset="0"/>
                <a:ea typeface="Arial" pitchFamily="34" charset="-122"/>
                <a:cs typeface="Arial" pitchFamily="34" charset="-120"/>
              </a:rPr>
              <a:t> Testing based on the OP provides a realistic estimate of the system's Mean Time to Failure (MTTF) in production.</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Checklist Limitations</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Checklist Testing:</a:t>
            </a:r>
            <a:pPr indent="0" marL="0">
              <a:buNone/>
            </a:pPr>
            <a:r>
              <a:rPr lang="en-US" sz="1300" dirty="0">
                <a:solidFill>
                  <a:srgbClr val="000000"/>
                </a:solidFill>
                <a:latin typeface="Arial" pitchFamily="34" charset="0"/>
                <a:ea typeface="Arial" pitchFamily="34" charset="-122"/>
                <a:cs typeface="Arial" pitchFamily="34" charset="-120"/>
              </a:rPr>
              <a:t> Uses static checklists of common bugs to audit features manually.</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Limitations:</a:t>
            </a:r>
            <a:pPr indent="0" marL="0">
              <a:buNone/>
            </a:pPr>
            <a:r>
              <a:rPr lang="en-US" sz="1300" dirty="0">
                <a:solidFill>
                  <a:srgbClr val="000000"/>
                </a:solidFill>
                <a:latin typeface="Arial" pitchFamily="34" charset="0"/>
                <a:ea typeface="Arial" pitchFamily="34" charset="-122"/>
                <a:cs typeface="Arial" pitchFamily="34" charset="-120"/>
              </a:rPr>
              <a:t> Checklists can become outdated, suffer from bias, and do not scale. They fail to test dynamic data interactions and edge cases.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Why Use OP instead:</a:t>
            </a:r>
            <a:pPr indent="0" marL="0">
              <a:buNone/>
            </a:pPr>
            <a:r>
              <a:rPr lang="en-US" sz="1300" dirty="0">
                <a:solidFill>
                  <a:srgbClr val="000000"/>
                </a:solidFill>
                <a:latin typeface="Arial" pitchFamily="34" charset="0"/>
                <a:ea typeface="Arial" pitchFamily="34" charset="-122"/>
                <a:cs typeface="Arial" pitchFamily="34" charset="-120"/>
              </a:rPr>
              <a:t> Checklists test what testers remember. Operational Profiles test what users actually do, ensuring high reliability where it matters most.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Musa's Operational Profiles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John Musa developed a structured, step-by-step model to build operational profiles:</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Five Steps to Build an OP</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1. Find Customer Profile:</a:t>
            </a:r>
            <a:pPr indent="0" marL="0">
              <a:buNone/>
            </a:pPr>
            <a:r>
              <a:rPr lang="en-US" sz="1300" dirty="0">
                <a:solidFill>
                  <a:srgbClr val="000000"/>
                </a:solidFill>
                <a:latin typeface="Arial" pitchFamily="34" charset="0"/>
                <a:ea typeface="Arial" pitchFamily="34" charset="-122"/>
                <a:cs typeface="Arial" pitchFamily="34" charset="-120"/>
              </a:rPr>
              <a:t> Identify user segments (e.g. admin, guest, subscriber).</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2. Find User Profile:</a:t>
            </a:r>
            <a:pPr indent="0" marL="0">
              <a:buNone/>
            </a:pPr>
            <a:r>
              <a:rPr lang="en-US" sz="1300" dirty="0">
                <a:solidFill>
                  <a:srgbClr val="000000"/>
                </a:solidFill>
                <a:latin typeface="Arial" pitchFamily="34" charset="0"/>
                <a:ea typeface="Arial" pitchFamily="34" charset="-122"/>
                <a:cs typeface="Arial" pitchFamily="34" charset="-120"/>
              </a:rPr>
              <a:t> Identify distinct systems or components users access.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3. Find System Modes:</a:t>
            </a:r>
            <a:pPr indent="0" marL="0">
              <a:buNone/>
            </a:pPr>
            <a:r>
              <a:rPr lang="en-US" sz="1300" dirty="0">
                <a:solidFill>
                  <a:srgbClr val="000000"/>
                </a:solidFill>
                <a:latin typeface="Arial" pitchFamily="34" charset="0"/>
                <a:ea typeface="Arial" pitchFamily="34" charset="-122"/>
                <a:cs typeface="Arial" pitchFamily="34" charset="-120"/>
              </a:rPr>
              <a:t> Identify system states (e.g. startup, normal, peak load).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4. Find Functional Profile:</a:t>
            </a:r>
            <a:pPr indent="0" marL="0">
              <a:buNone/>
            </a:pPr>
            <a:r>
              <a:rPr lang="en-US" sz="1300" dirty="0">
                <a:solidFill>
                  <a:srgbClr val="000000"/>
                </a:solidFill>
                <a:latin typeface="Arial" pitchFamily="34" charset="0"/>
                <a:ea typeface="Arial" pitchFamily="34" charset="-122"/>
                <a:cs typeface="Arial" pitchFamily="34" charset="-120"/>
              </a:rPr>
              <a:t> List functions the software performs.</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5. Find Operational Profile:</a:t>
            </a:r>
            <a:pPr indent="0" marL="0">
              <a:buNone/>
            </a:pPr>
            <a:r>
              <a:rPr lang="en-US" sz="1300" dirty="0">
                <a:solidFill>
                  <a:srgbClr val="000000"/>
                </a:solidFill>
                <a:latin typeface="Arial" pitchFamily="34" charset="0"/>
                <a:ea typeface="Arial" pitchFamily="34" charset="-122"/>
                <a:cs typeface="Arial" pitchFamily="34" charset="-120"/>
              </a:rPr>
              <a:t> Group functions into specific user operations. Assign probabilities based on log telemetry or marketing data.</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Profile Representation Example</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144768" y="2578608"/>
          <a:ext cx="5513832" cy="3474720"/>
        </p:xfrm>
        <a:graphic>
          <a:graphicData uri="http://schemas.openxmlformats.org/drawingml/2006/table">
            <a:tbl>
              <a:tblPr/>
              <a:tblGrid>
                <a:gridCol w="2286000"/>
                <a:gridCol w="1371600"/>
                <a:gridCol w="1856232"/>
              </a:tblGrid>
              <a:tr h="694944">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User Operation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7F17"/>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Count / hr</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7F17"/>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Probability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7F17"/>
                    </a:solidFill>
                  </a:tcPr>
                </a:tc>
              </a:tr>
              <a:tr h="694944">
                <a:tc>
                  <a:txBody>
                    <a:bodyPr/>
                    <a:lstStyle/>
                    <a:p>
                      <a:pPr indent="0" marL="0">
                        <a:buNone/>
                      </a:pPr>
                      <a:r>
                        <a:rPr lang="en-US" sz="1300" dirty="0">
                          <a:solidFill>
                            <a:srgbClr val="000000"/>
                          </a:solidFill>
                          <a:latin typeface="Arial" pitchFamily="34" charset="0"/>
                          <a:ea typeface="Arial" pitchFamily="34" charset="-122"/>
                          <a:cs typeface="Arial" pitchFamily="34" charset="-120"/>
                        </a:rPr>
                        <a:t>Search Products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6,000</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algn="ctr" indent="0" marL="0">
                        <a:buNone/>
                      </a:pPr>
                      <a:r>
                        <a:rPr lang="en-US" sz="1300" b="1" dirty="0">
                          <a:solidFill>
                            <a:srgbClr val="006400"/>
                          </a:solidFill>
                          <a:latin typeface="Arial" pitchFamily="34" charset="0"/>
                          <a:ea typeface="Arial" pitchFamily="34" charset="-122"/>
                          <a:cs typeface="Arial" pitchFamily="34" charset="-120"/>
                        </a:rPr>
                        <a:t>0.60  (60%)</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r h="694944">
                <a:tc>
                  <a:txBody>
                    <a:bodyPr/>
                    <a:lstStyle/>
                    <a:p>
                      <a:pPr indent="0" marL="0">
                        <a:buNone/>
                      </a:pPr>
                      <a:r>
                        <a:rPr lang="en-US" sz="1300" dirty="0">
                          <a:solidFill>
                            <a:srgbClr val="000000"/>
                          </a:solidFill>
                          <a:latin typeface="Arial" pitchFamily="34" charset="0"/>
                          <a:ea typeface="Arial" pitchFamily="34" charset="-122"/>
                          <a:cs typeface="Arial" pitchFamily="34" charset="-120"/>
                        </a:rPr>
                        <a:t>Add to Cart</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2,500</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300" b="1" dirty="0">
                          <a:solidFill>
                            <a:srgbClr val="006400"/>
                          </a:solidFill>
                          <a:latin typeface="Arial" pitchFamily="34" charset="0"/>
                          <a:ea typeface="Arial" pitchFamily="34" charset="-122"/>
                          <a:cs typeface="Arial" pitchFamily="34" charset="-120"/>
                        </a:rPr>
                        <a:t>0.25  (25%)</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r>
              <a:tr h="694944">
                <a:tc>
                  <a:txBody>
                    <a:bodyPr/>
                    <a:lstStyle/>
                    <a:p>
                      <a:pPr indent="0" marL="0">
                        <a:buNone/>
                      </a:pPr>
                      <a:r>
                        <a:rPr lang="en-US" sz="1300" dirty="0">
                          <a:solidFill>
                            <a:srgbClr val="000000"/>
                          </a:solidFill>
                          <a:latin typeface="Arial" pitchFamily="34" charset="0"/>
                          <a:ea typeface="Arial" pitchFamily="34" charset="-122"/>
                          <a:cs typeface="Arial" pitchFamily="34" charset="-120"/>
                        </a:rPr>
                        <a:t>Checkout Payment</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1,000</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300" b="1" dirty="0">
                          <a:solidFill>
                            <a:srgbClr val="006400"/>
                          </a:solidFill>
                          <a:latin typeface="Arial" pitchFamily="34" charset="0"/>
                          <a:ea typeface="Arial" pitchFamily="34" charset="-122"/>
                          <a:cs typeface="Arial" pitchFamily="34" charset="-120"/>
                        </a:rPr>
                        <a:t>0.10  (10%)</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r>
              <a:tr h="694944">
                <a:tc>
                  <a:txBody>
                    <a:bodyPr/>
                    <a:lstStyle/>
                    <a:p>
                      <a:pPr indent="0" marL="0">
                        <a:buNone/>
                      </a:pPr>
                      <a:r>
                        <a:rPr lang="en-US" sz="1300" dirty="0">
                          <a:solidFill>
                            <a:srgbClr val="000000"/>
                          </a:solidFill>
                          <a:latin typeface="Arial" pitchFamily="34" charset="0"/>
                          <a:ea typeface="Arial" pitchFamily="34" charset="-122"/>
                          <a:cs typeface="Arial" pitchFamily="34" charset="-120"/>
                        </a:rPr>
                        <a:t>Update Profile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500</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algn="ctr" indent="0" marL="0">
                        <a:buNone/>
                      </a:pPr>
                      <a:r>
                        <a:rPr lang="en-US" sz="1300" b="1" dirty="0">
                          <a:solidFill>
                            <a:srgbClr val="555555"/>
                          </a:solidFill>
                          <a:latin typeface="Arial" pitchFamily="34" charset="0"/>
                          <a:ea typeface="Arial" pitchFamily="34" charset="-122"/>
                          <a:cs typeface="Arial" pitchFamily="34" charset="-120"/>
                        </a:rPr>
                        <a:t>0.05  (5%)</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Case Study: Cartridge Support Software</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Applying Musa's operational profiling to printer driver utility software:</a:t>
            </a:r>
            <a:endParaRPr lang="en-US" sz="1400" dirty="0"/>
          </a:p>
        </p:txBody>
      </p:sp>
      <p:sp>
        <p:nvSpPr>
          <p:cNvPr id="16" name="Shape 13"/>
          <p:cNvSpPr/>
          <p:nvPr/>
        </p:nvSpPr>
        <p:spPr>
          <a:xfrm>
            <a:off x="457200" y="2103120"/>
            <a:ext cx="5394960" cy="4114800"/>
          </a:xfrm>
          <a:prstGeom prst="roundRect">
            <a:avLst>
              <a:gd name="adj" fmla="val 2222"/>
            </a:avLst>
          </a:prstGeom>
          <a:solidFill>
            <a:srgbClr val="F8F8F8"/>
          </a:solidFill>
          <a:ln w="19050">
            <a:solidFill>
              <a:srgbClr val="555555"/>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Project Overview &amp; Goals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Target System:</a:t>
            </a:r>
            <a:pPr indent="0" marL="0">
              <a:buNone/>
            </a:pPr>
            <a:r>
              <a:rPr lang="en-US" sz="1300" dirty="0">
                <a:solidFill>
                  <a:srgbClr val="000000"/>
                </a:solidFill>
                <a:latin typeface="Arial" pitchFamily="34" charset="0"/>
                <a:ea typeface="Arial" pitchFamily="34" charset="-122"/>
                <a:cs typeface="Arial" pitchFamily="34" charset="-120"/>
              </a:rPr>
              <a:t> PC utility software that manages ink cartridge statuses, prints nozzle test patterns, and calibrates printer alignment.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Context &amp; Problem:</a:t>
            </a:r>
            <a:pPr indent="0" marL="0">
              <a:buNone/>
            </a:pPr>
            <a:r>
              <a:rPr lang="en-US" sz="1300" dirty="0">
                <a:solidFill>
                  <a:srgbClr val="000000"/>
                </a:solidFill>
                <a:latin typeface="Arial" pitchFamily="34" charset="0"/>
                <a:ea typeface="Arial" pitchFamily="34" charset="-122"/>
                <a:cs typeface="Arial" pitchFamily="34" charset="-120"/>
              </a:rPr>
              <a:t> Limited verification window before software release. Standard code coverage checks were taking too long.</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 Objective:</a:t>
            </a:r>
            <a:pPr indent="0" marL="0">
              <a:buNone/>
            </a:pPr>
            <a:r>
              <a:rPr lang="en-US" sz="1300" dirty="0">
                <a:solidFill>
                  <a:srgbClr val="000000"/>
                </a:solidFill>
                <a:latin typeface="Arial" pitchFamily="34" charset="0"/>
                <a:ea typeface="Arial" pitchFamily="34" charset="-122"/>
                <a:cs typeface="Arial" pitchFamily="34" charset="-120"/>
              </a:rPr>
              <a:t> Model a 4-step functional profile and assign probabilities based on printer telemetry logs, targeting testing on the most frequent print paths.</a:t>
            </a:r>
            <a:endParaRPr lang="en-US" sz="1300" dirty="0"/>
          </a:p>
        </p:txBody>
      </p:sp>
      <p:sp>
        <p:nvSpPr>
          <p:cNvPr id="19" name="Shape 16"/>
          <p:cNvSpPr/>
          <p:nvPr/>
        </p:nvSpPr>
        <p:spPr>
          <a:xfrm>
            <a:off x="6035040" y="2103120"/>
            <a:ext cx="5715000" cy="4114800"/>
          </a:xfrm>
          <a:prstGeom prst="roundRect">
            <a:avLst>
              <a:gd name="adj" fmla="val 2222"/>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Cartridge Software Operational Profile</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144768" y="2578608"/>
          <a:ext cx="5513832" cy="3474720"/>
        </p:xfrm>
        <a:graphic>
          <a:graphicData uri="http://schemas.openxmlformats.org/drawingml/2006/table">
            <a:tbl>
              <a:tblPr/>
              <a:tblGrid>
                <a:gridCol w="2103120"/>
                <a:gridCol w="1645920"/>
                <a:gridCol w="1764792"/>
              </a:tblGrid>
              <a:tr h="694944">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Operation Class</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Telemetry Probability</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Test Effort Allocation</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565C0"/>
                    </a:solidFill>
                  </a:tcPr>
                </a:tc>
              </a:tr>
              <a:tr h="694944">
                <a:tc>
                  <a:txBody>
                    <a:bodyPr/>
                    <a:lstStyle/>
                    <a:p>
                      <a:pPr indent="0" marL="0">
                        <a:buNone/>
                      </a:pPr>
                      <a:r>
                        <a:rPr lang="en-US" sz="1250" dirty="0">
                          <a:solidFill>
                            <a:srgbClr val="000000"/>
                          </a:solidFill>
                          <a:latin typeface="Arial" pitchFamily="34" charset="0"/>
                          <a:ea typeface="Arial" pitchFamily="34" charset="-122"/>
                          <a:cs typeface="Arial" pitchFamily="34" charset="-120"/>
                        </a:rPr>
                        <a:t>Query Ink Levels</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algn="ctr" indent="0" marL="0">
                        <a:buNone/>
                      </a:pPr>
                      <a:r>
                        <a:rPr lang="en-US" sz="1250" dirty="0">
                          <a:solidFill>
                            <a:srgbClr val="000000"/>
                          </a:solidFill>
                          <a:latin typeface="Arial" pitchFamily="34" charset="0"/>
                          <a:ea typeface="Arial" pitchFamily="34" charset="-122"/>
                          <a:cs typeface="Arial" pitchFamily="34" charset="-120"/>
                        </a:rPr>
                        <a:t>0.75  (75%)</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algn="ctr" indent="0" marL="0">
                        <a:buNone/>
                      </a:pPr>
                      <a:r>
                        <a:rPr lang="en-US" sz="1250" b="1" dirty="0">
                          <a:solidFill>
                            <a:srgbClr val="006400"/>
                          </a:solidFill>
                          <a:latin typeface="Arial" pitchFamily="34" charset="0"/>
                          <a:ea typeface="Arial" pitchFamily="34" charset="-122"/>
                          <a:cs typeface="Arial" pitchFamily="34" charset="-120"/>
                        </a:rPr>
                        <a:t>High  (Verify UI/cache)</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r h="694944">
                <a:tc>
                  <a:txBody>
                    <a:bodyPr/>
                    <a:lstStyle/>
                    <a:p>
                      <a:pPr indent="0" marL="0">
                        <a:buNone/>
                      </a:pPr>
                      <a:r>
                        <a:rPr lang="en-US" sz="1250" dirty="0">
                          <a:solidFill>
                            <a:srgbClr val="000000"/>
                          </a:solidFill>
                          <a:latin typeface="Arial" pitchFamily="34" charset="0"/>
                          <a:ea typeface="Arial" pitchFamily="34" charset="-122"/>
                          <a:cs typeface="Arial" pitchFamily="34" charset="-120"/>
                        </a:rPr>
                        <a:t>Print Test Pattern</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250" dirty="0">
                          <a:solidFill>
                            <a:srgbClr val="000000"/>
                          </a:solidFill>
                          <a:latin typeface="Arial" pitchFamily="34" charset="0"/>
                          <a:ea typeface="Arial" pitchFamily="34" charset="-122"/>
                          <a:cs typeface="Arial" pitchFamily="34" charset="-120"/>
                        </a:rPr>
                        <a:t>0.15  (15%)</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250" b="1" dirty="0">
                          <a:solidFill>
                            <a:srgbClr val="006400"/>
                          </a:solidFill>
                          <a:latin typeface="Arial" pitchFamily="34" charset="0"/>
                          <a:ea typeface="Arial" pitchFamily="34" charset="-122"/>
                          <a:cs typeface="Arial" pitchFamily="34" charset="-120"/>
                        </a:rPr>
                        <a:t>Medium  (Check drivers)</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r>
              <a:tr h="694944">
                <a:tc>
                  <a:txBody>
                    <a:bodyPr/>
                    <a:lstStyle/>
                    <a:p>
                      <a:pPr indent="0" marL="0">
                        <a:buNone/>
                      </a:pPr>
                      <a:r>
                        <a:rPr lang="en-US" sz="1250" dirty="0">
                          <a:solidFill>
                            <a:srgbClr val="000000"/>
                          </a:solidFill>
                          <a:latin typeface="Arial" pitchFamily="34" charset="0"/>
                          <a:ea typeface="Arial" pitchFamily="34" charset="-122"/>
                          <a:cs typeface="Arial" pitchFamily="34" charset="-120"/>
                        </a:rPr>
                        <a:t>Nozzle Alignment</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250" dirty="0">
                          <a:solidFill>
                            <a:srgbClr val="000000"/>
                          </a:solidFill>
                          <a:latin typeface="Arial" pitchFamily="34" charset="0"/>
                          <a:ea typeface="Arial" pitchFamily="34" charset="-122"/>
                          <a:cs typeface="Arial" pitchFamily="34" charset="-120"/>
                        </a:rPr>
                        <a:t>0.08  (8%)</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250" b="1" dirty="0">
                          <a:solidFill>
                            <a:srgbClr val="F57F17"/>
                          </a:solidFill>
                          <a:latin typeface="Arial" pitchFamily="34" charset="0"/>
                          <a:ea typeface="Arial" pitchFamily="34" charset="-122"/>
                          <a:cs typeface="Arial" pitchFamily="34" charset="-120"/>
                        </a:rPr>
                        <a:t>Low  (Basic validation)</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r>
              <a:tr h="694944">
                <a:tc>
                  <a:txBody>
                    <a:bodyPr/>
                    <a:lstStyle/>
                    <a:p>
                      <a:pPr indent="0" marL="0">
                        <a:buNone/>
                      </a:pPr>
                      <a:r>
                        <a:rPr lang="en-US" sz="1250" dirty="0">
                          <a:solidFill>
                            <a:srgbClr val="000000"/>
                          </a:solidFill>
                          <a:latin typeface="Arial" pitchFamily="34" charset="0"/>
                          <a:ea typeface="Arial" pitchFamily="34" charset="-122"/>
                          <a:cs typeface="Arial" pitchFamily="34" charset="-120"/>
                        </a:rPr>
                        <a:t>Firmware Upgrade</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algn="ctr" indent="0" marL="0">
                        <a:buNone/>
                      </a:pPr>
                      <a:r>
                        <a:rPr lang="en-US" sz="1250" dirty="0">
                          <a:solidFill>
                            <a:srgbClr val="000000"/>
                          </a:solidFill>
                          <a:latin typeface="Arial" pitchFamily="34" charset="0"/>
                          <a:ea typeface="Arial" pitchFamily="34" charset="-122"/>
                          <a:cs typeface="Arial" pitchFamily="34" charset="-120"/>
                        </a:rPr>
                        <a:t>0.02  (2%)</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algn="ctr" indent="0" marL="0">
                        <a:buNone/>
                      </a:pPr>
                      <a:r>
                        <a:rPr lang="en-US" sz="1250" b="1" dirty="0">
                          <a:solidFill>
                            <a:srgbClr val="990033"/>
                          </a:solidFill>
                          <a:latin typeface="Arial" pitchFamily="34" charset="0"/>
                          <a:ea typeface="Arial" pitchFamily="34" charset="-122"/>
                          <a:cs typeface="Arial" pitchFamily="34" charset="-120"/>
                        </a:rPr>
                        <a:t>Critical  (Risk focused)</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Usage-Based Testing</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How software engineering teams utilize usage testing and profiles in practice:</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Telemetry-Driven Performance Tests</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Web apps analyze production traffic logs to build operational profiles. Load tests replicate this profile distribution (e.g. simulating 80% reads and 20% writes) to verify database performance under realistic loads.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Medical Device Reliability Models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Infusion pumps and pacemaker test runs are designed based on patient usage modes (operational profiles), enabling accurate Mean Time to Failure reliability estimates for FDA approval.</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Automotive Firmware Verification</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Engine and ADAS controllers are tested using simulated driving profiles (city, highway, extreme conditions) to ensure safety in typical user environments.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Mobile App UI Layout Tests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App analytics track user clicks. Teams focus manual UI testing on highly visited pages, keeping lesser-visited settings pages on automated schedules.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2026-06-14T18:38:16Z</dcterms:created>
  <dcterms:modified xsi:type="dcterms:W3CDTF">2026-06-14T18:38:16Z</dcterms:modified>
</cp:coreProperties>
</file>