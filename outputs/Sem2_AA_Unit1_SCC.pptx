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'Strongly Connected Components' as part of the Advanced Algorithms course for my M.Tech in Computer Science and Engineering. In this presentation, we will define strongly connected components in directed graphs, detail Kosaraju's algorithm for finding them in linear time, analyze the correctness of the two-pass DFS approach, compare it to Tarjan's single-pass method, and discuss various real-world applications in network and database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defining what a strongly connected component, or SCC, is. In a directed graph, connectivity is not symmetric. An SCC is a maximal subset of vertices where every vertex in the set can reach every other vertex. Under this definition, reachability acts as an equivalence relation, which partitions the graph's vertices into disjoint components. If we contract each SCC into a single super-node, the resulting graph is guaranteed to be a Directed Acyclic Graph, or DAG, because any cycle between components would merge them. To analyze these components, we run Depth-First Searches to build DFS trees. Additionally, we consider the transpose graph G-T, which is the same graph but with reversed edges. G and G-T share the exact same SCCs because reversing all edges in a cycle does not break the reachability between any pair of vertices.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 us explore Kosaraju's algorithm, which computes all strongly connected components of a directed graph in linear time, specifically O of V plus E. The algorithm is remarkably elegant and operates in two DFS passes. In the first pass, we run a standard Depth-First Search on the original graph G. As each vertex finishes—meaning all its outgoing edges have been fully explored—we push the vertex onto a global stack. This stack tracks the post-order finishing times. In step two, we construct the transpose graph G-T by reversing every edge. In the third step, we run a second DFS, but we process vertices by popping them from the stack. Each unvisited node we pop becomes the root of a new strongly connected component. We run a DFS from this root in G-T, and all reachable vertices belong to its SCC. Because we run two DFS searches, the total time complexity is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Kosaraju's algorithm works, we must analyze the role of the transpose graph and stack order. If we ran a second DFS on the original graph G without reversing edges, the search would leak from one SCC to downstream SCCs, incorrectly merging them. The transpose graph acts as a shield: reversing the edges turns a path from SCC-one to SCC-two into a path from SCC-two to SCC-one. Since the stack order guarantees that the top vertex belongs to a source component in G, it becomes a sink component in G-T. When we start DFS from this node in G-T, the reversed edges prevent the search from leaking to any other components, isolating the SCC perfectly. We can compare Kosaraju's algorithm to Tarjan's algorithm, which computes SCCs in a single pass by tracking discovery times and low-link values on an active stack. While Tarjan's is slightly faster, Kosaraju's is much simpler to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let us discuss the practical applications of strongly connected components in computer science. First, in social networks, SCCs identify tightly knit communities where information flows bidirectionally. Second, in software development, compilers build module dependency graphs. Finding SCCs in these graphs helps detect circular imports, such as class A importing B, B importing C, and C importing A, which must be refactored. Third, Google's PageRank algorithm uses SCC partitions to navigate the web graph without getting stuck in infinite link loops. Lastly, database engines construct wait-for graphs to manage transactions. A strongly connected component in a wait-for graph indicates a transaction cycle, which reveals a system deadlock that the database manager must resolve by aborting a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strongly connected components are a fundamental concept for analyzing directed graph connectivity. Algorithms like Kosaraju's and Tarjan's allow us to partition complex networks and detect cycles in O(V + E) time. Thank you for your time,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Sorting &amp; Graph Algorithms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Strongly Connected Components (SCC)</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Strongly Connected Component?</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Strongly Connected Component (SCC) </a:t>
            </a:r>
            <a:pPr indent="0" marL="0">
              <a:buNone/>
            </a:pPr>
            <a:r>
              <a:rPr lang="en-US" sz="1400" dirty="0">
                <a:solidFill>
                  <a:srgbClr val="000000"/>
                </a:solidFill>
                <a:latin typeface="Arial" pitchFamily="34" charset="0"/>
                <a:ea typeface="Arial" pitchFamily="34" charset="-122"/>
                <a:cs typeface="Arial" pitchFamily="34" charset="-120"/>
              </a:rPr>
              <a:t>of a directed graph G = (V, E) is a maximal set of vertices U ⊆ V such that for every pair of vertices u, v ∈ U, there is a directed path from u to v and a directed path from v to u.</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Mathematical Properties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Connectivity equivalence:</a:t>
            </a:r>
            <a:pPr indent="0" marL="0">
              <a:buNone/>
            </a:pPr>
            <a:r>
              <a:rPr lang="en-US" sz="1300" dirty="0">
                <a:solidFill>
                  <a:srgbClr val="000000"/>
                </a:solidFill>
                <a:latin typeface="Arial" pitchFamily="34" charset="0"/>
                <a:ea typeface="Arial" pitchFamily="34" charset="-122"/>
                <a:cs typeface="Arial" pitchFamily="34" charset="-120"/>
              </a:rPr>
              <a:t> The 'path connection' relation (u ~ v iff u is reachable from v and v from u) is an equivalence relation on V.</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Partitioning:</a:t>
            </a:r>
            <a:pPr indent="0" marL="0">
              <a:buNone/>
            </a:pPr>
            <a:r>
              <a:rPr lang="en-US" sz="1300" dirty="0">
                <a:solidFill>
                  <a:srgbClr val="000000"/>
                </a:solidFill>
                <a:latin typeface="Arial" pitchFamily="34" charset="0"/>
                <a:ea typeface="Arial" pitchFamily="34" charset="-122"/>
                <a:cs typeface="Arial" pitchFamily="34" charset="-120"/>
              </a:rPr>
              <a:t> The equivalence classes of this relation partition the graph G into disjoint SCCs.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Component Graph (DAG):</a:t>
            </a:r>
            <a:pPr indent="0" marL="0">
              <a:buNone/>
            </a:pPr>
            <a:r>
              <a:rPr lang="en-US" sz="1300" dirty="0">
                <a:solidFill>
                  <a:srgbClr val="000000"/>
                </a:solidFill>
                <a:latin typeface="Arial" pitchFamily="34" charset="0"/>
                <a:ea typeface="Arial" pitchFamily="34" charset="-122"/>
                <a:cs typeface="Arial" pitchFamily="34" charset="-120"/>
              </a:rPr>
              <a:t> If we collapse each SCC into a single super-node, the resulting graph of components is a Directed Acyclic Graph (DAG).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Cycles:</a:t>
            </a:r>
            <a:pPr indent="0" marL="0">
              <a:buNone/>
            </a:pPr>
            <a:r>
              <a:rPr lang="en-US" sz="1300" dirty="0">
                <a:solidFill>
                  <a:srgbClr val="000000"/>
                </a:solidFill>
                <a:latin typeface="Arial" pitchFamily="34" charset="0"/>
                <a:ea typeface="Arial" pitchFamily="34" charset="-122"/>
                <a:cs typeface="Arial" pitchFamily="34" charset="-120"/>
              </a:rPr>
              <a:t> An SCC contains at least one cycle (unless it is a single vertex with no self-loop).</a:t>
            </a:r>
            <a:endParaRPr lang="en-US" sz="1300" dirty="0"/>
          </a:p>
        </p:txBody>
      </p:sp>
      <p:sp>
        <p:nvSpPr>
          <p:cNvPr id="19" name="Shape 16"/>
          <p:cNvSpPr/>
          <p:nvPr/>
        </p:nvSpPr>
        <p:spPr>
          <a:xfrm>
            <a:off x="6035040" y="2103120"/>
            <a:ext cx="5715000" cy="3895344"/>
          </a:xfrm>
          <a:prstGeom prst="roundRect">
            <a:avLst>
              <a:gd name="adj" fmla="val 2347"/>
            </a:avLst>
          </a:prstGeom>
          <a:solidFill>
            <a:srgbClr val="E8F5E9"/>
          </a:solidFill>
          <a:ln w="19050">
            <a:solidFill>
              <a:srgbClr val="0099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Reachability &amp; DFS Trees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DFS Tree structure:</a:t>
            </a:r>
            <a:pPr indent="0" marL="0">
              <a:buNone/>
            </a:pPr>
            <a:r>
              <a:rPr lang="en-US" sz="1300" dirty="0">
                <a:solidFill>
                  <a:srgbClr val="000000"/>
                </a:solidFill>
                <a:latin typeface="Arial" pitchFamily="34" charset="0"/>
                <a:ea typeface="Arial" pitchFamily="34" charset="-122"/>
                <a:cs typeface="Arial" pitchFamily="34" charset="-120"/>
              </a:rPr>
              <a:t> Running Depth-First Search (DFS) on G partitions G into a forest of DFS trees.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Reachability Bounds:</a:t>
            </a:r>
            <a:pPr indent="0" marL="0">
              <a:buNone/>
            </a:pPr>
            <a:r>
              <a:rPr lang="en-US" sz="1300" dirty="0">
                <a:solidFill>
                  <a:srgbClr val="000000"/>
                </a:solidFill>
                <a:latin typeface="Arial" pitchFamily="34" charset="0"/>
                <a:ea typeface="Arial" pitchFamily="34" charset="-122"/>
                <a:cs typeface="Arial" pitchFamily="34" charset="-120"/>
              </a:rPr>
              <a:t> If two vertices u and v belong to the same SCC, they are guaranteed to be in the same DFS tree during any search.</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Transpose Graph Gᵀ:</a:t>
            </a:r>
            <a:pPr indent="0" marL="0">
              <a:buNone/>
            </a:pPr>
            <a:r>
              <a:rPr lang="en-US" sz="1300" dirty="0">
                <a:solidFill>
                  <a:srgbClr val="000000"/>
                </a:solidFill>
                <a:latin typeface="Arial" pitchFamily="34" charset="0"/>
                <a:ea typeface="Arial" pitchFamily="34" charset="-122"/>
                <a:cs typeface="Arial" pitchFamily="34" charset="-120"/>
              </a:rPr>
              <a:t> Gᵀ is the same graph G but with all edge directions reversed. G and Gᵀ have the EXACT same SCCs because reachability is symmetric.</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Kosaraju's DFS-Based Algorithm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Kosaraju-Sharir algorithm computes all SCCs of a directed graph in O(V + E) time:</a:t>
            </a:r>
            <a:endParaRPr lang="en-US" sz="1400" dirty="0"/>
          </a:p>
        </p:txBody>
      </p:sp>
      <p:sp>
        <p:nvSpPr>
          <p:cNvPr id="16" name="Shape 13"/>
          <p:cNvSpPr/>
          <p:nvPr/>
        </p:nvSpPr>
        <p:spPr>
          <a:xfrm>
            <a:off x="457200" y="2103120"/>
            <a:ext cx="11292840" cy="4389120"/>
          </a:xfrm>
          <a:prstGeom prst="roundRect">
            <a:avLst>
              <a:gd name="adj" fmla="val 2083"/>
            </a:avLst>
          </a:prstGeom>
          <a:solidFill>
            <a:srgbClr val="FFF9C4"/>
          </a:solidFill>
          <a:ln w="19050">
            <a:solidFill>
              <a:srgbClr val="F57F17"/>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The Two-Pass DFS Algorithm Steps</a:t>
            </a:r>
            <a:endParaRPr lang="en-US" sz="1500" dirty="0"/>
          </a:p>
        </p:txBody>
      </p:sp>
      <p:sp>
        <p:nvSpPr>
          <p:cNvPr id="18" name="Text 15"/>
          <p:cNvSpPr/>
          <p:nvPr/>
        </p:nvSpPr>
        <p:spPr>
          <a:xfrm>
            <a:off x="566928" y="2606040"/>
            <a:ext cx="11073384" cy="36576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1. Run First DFS on Graph G:</a:t>
            </a:r>
            <a:pPr indent="0" marL="0">
              <a:buNone/>
            </a:pPr>
            <a:r>
              <a:rPr lang="en-US" sz="1350" dirty="0">
                <a:solidFill>
                  <a:srgbClr val="000000"/>
                </a:solidFill>
                <a:latin typeface="Arial" pitchFamily="34" charset="0"/>
                <a:ea typeface="Arial" pitchFamily="34" charset="-122"/>
                <a:cs typeface="Arial" pitchFamily="34" charset="-120"/>
              </a:rPr>
              <a:t> Traverse G using DFS. As each vertex finishes execution (when all its outgoing edges are explored), push it onto an empty stack S.</a:t>
            </a:r>
            <a:endParaRPr lang="en-US" sz="1350" dirty="0"/>
          </a:p>
          <a:p>
            <a:pPr indent="0" marL="0">
              <a:buNone/>
            </a:pPr>
            <a:r>
              <a:rPr lang="en-US" sz="1350" b="1" dirty="0">
                <a:solidFill>
                  <a:srgbClr val="990033"/>
                </a:solidFill>
                <a:latin typeface="Arial" pitchFamily="34" charset="0"/>
                <a:ea typeface="Arial" pitchFamily="34" charset="-122"/>
                <a:cs typeface="Arial" pitchFamily="34" charset="-120"/>
              </a:rPr>
              <a:t>2. Reverse Graph to Get Gᵀ:</a:t>
            </a:r>
            <a:pPr indent="0" marL="0">
              <a:buNone/>
            </a:pPr>
            <a:r>
              <a:rPr lang="en-US" sz="1350" dirty="0">
                <a:solidFill>
                  <a:srgbClr val="000000"/>
                </a:solidFill>
                <a:latin typeface="Arial" pitchFamily="34" charset="0"/>
                <a:ea typeface="Arial" pitchFamily="34" charset="-122"/>
                <a:cs typeface="Arial" pitchFamily="34" charset="-120"/>
              </a:rPr>
              <a:t> Compute the transpose graph by reversing the directions of all edges in G.</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3. Run Second DFS on Gᵀ in Stack Order:</a:t>
            </a:r>
            <a:pPr indent="0" marL="0">
              <a:buNone/>
            </a:pPr>
            <a:r>
              <a:rPr lang="en-US" sz="1350" dirty="0">
                <a:solidFill>
                  <a:srgbClr val="000000"/>
                </a:solidFill>
                <a:latin typeface="Arial" pitchFamily="34" charset="0"/>
                <a:ea typeface="Arial" pitchFamily="34" charset="-122"/>
                <a:cs typeface="Arial" pitchFamily="34" charset="-120"/>
              </a:rPr>
              <a:t> While stack S is not empty:
</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 Pop the top vertex v from stack S.
</a:t>
            </a:r>
            <a:pPr indent="0" marL="0">
              <a:buNone/>
            </a:pPr>
            <a:r>
              <a:rPr lang="en-US" sz="1350" dirty="0">
                <a:solidFill>
                  <a:srgbClr val="000000"/>
                </a:solidFill>
                <a:latin typeface="Arial" pitchFamily="34" charset="0"/>
                <a:ea typeface="Arial" pitchFamily="34" charset="-122"/>
                <a:cs typeface="Arial" pitchFamily="34" charset="-120"/>
              </a:rPr>
              <a:t>   • If v has not been visited in this second pass, it is the root of a new SCC.
</a:t>
            </a:r>
            <a:pPr indent="0" marL="0">
              <a:buNone/>
            </a:pPr>
            <a:r>
              <a:rPr lang="en-US" sz="1350" dirty="0">
                <a:solidFill>
                  <a:srgbClr val="000000"/>
                </a:solidFill>
                <a:latin typeface="Arial" pitchFamily="34" charset="0"/>
                <a:ea typeface="Arial" pitchFamily="34" charset="-122"/>
                <a:cs typeface="Arial" pitchFamily="34" charset="-120"/>
              </a:rPr>
              <a:t>   • Run DFS starting at v in Gᵀ. All vertices reached from v in Gᵀ belong to the same SCC as v.
</a:t>
            </a:r>
            <a:pPr indent="0" marL="0">
              <a:buNone/>
            </a:pPr>
            <a:r>
              <a:rPr lang="en-US" sz="1350" dirty="0">
                <a:solidFill>
                  <a:srgbClr val="000000"/>
                </a:solidFill>
                <a:latin typeface="Arial" pitchFamily="34" charset="0"/>
                <a:ea typeface="Arial" pitchFamily="34" charset="-122"/>
                <a:cs typeface="Arial" pitchFamily="34" charset="-120"/>
              </a:rPr>
              <a:t>   • Output this group as a completed SCC and mark them as visited.
</a:t>
            </a:r>
            <a:endParaRPr lang="en-US" sz="1350" dirty="0"/>
          </a:p>
          <a:p>
            <a:pPr indent="0" marL="0">
              <a:buNone/>
            </a:pPr>
            <a:r>
              <a:rPr lang="en-US" sz="1350" b="1" dirty="0">
                <a:solidFill>
                  <a:srgbClr val="006400"/>
                </a:solidFill>
                <a:latin typeface="Arial" pitchFamily="34" charset="0"/>
                <a:ea typeface="Arial" pitchFamily="34" charset="-122"/>
                <a:cs typeface="Arial" pitchFamily="34" charset="-120"/>
              </a:rPr>
              <a:t>4. Time Complexity:</a:t>
            </a:r>
            <a:pPr indent="0" marL="0">
              <a:buNone/>
            </a:pPr>
            <a:r>
              <a:rPr lang="en-US" sz="1350" dirty="0">
                <a:solidFill>
                  <a:srgbClr val="000000"/>
                </a:solidFill>
                <a:latin typeface="Arial" pitchFamily="34" charset="0"/>
                <a:ea typeface="Arial" pitchFamily="34" charset="-122"/>
                <a:cs typeface="Arial" pitchFamily="34" charset="-120"/>
              </a:rPr>
              <a:t> O(V + E) since it runs two standard DFS scans and one graph transposition.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Why It Works: Correctness Proof</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Understanding the mathematical mechanism behind Kosaraju's algorithm:</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The Leakage Problem &amp; Transpose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Why not run DFS twice on G?</a:t>
            </a:r>
            <a:pPr indent="0" marL="0">
              <a:buNone/>
            </a:pPr>
            <a:r>
              <a:rPr lang="en-US" sz="1300" dirty="0">
                <a:solidFill>
                  <a:srgbClr val="000000"/>
                </a:solidFill>
                <a:latin typeface="Arial" pitchFamily="34" charset="0"/>
                <a:ea typeface="Arial" pitchFamily="34" charset="-122"/>
                <a:cs typeface="Arial" pitchFamily="34" charset="-120"/>
              </a:rPr>
              <a:t> If we simply run DFS on G, the search will leak from one SCC to another connected downstream, merging them incorrectly.</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The Transpose Shield:</a:t>
            </a:r>
            <a:pPr indent="0" marL="0">
              <a:buNone/>
            </a:pPr>
            <a:r>
              <a:rPr lang="en-US" sz="1300" dirty="0">
                <a:solidFill>
                  <a:srgbClr val="000000"/>
                </a:solidFill>
                <a:latin typeface="Arial" pitchFamily="34" charset="0"/>
                <a:ea typeface="Arial" pitchFamily="34" charset="-122"/>
                <a:cs typeface="Arial" pitchFamily="34" charset="-120"/>
              </a:rPr>
              <a:t> In Gᵀ, edges go backward. If there is a directed path SCC1 → SCC2 in G, then in Gᵀ the path goes SCC2 → SCC1.</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The Stack Order:</a:t>
            </a:r>
            <a:pPr indent="0" marL="0">
              <a:buNone/>
            </a:pPr>
            <a:r>
              <a:rPr lang="en-US" sz="1300" dirty="0">
                <a:solidFill>
                  <a:srgbClr val="000000"/>
                </a:solidFill>
                <a:latin typeface="Arial" pitchFamily="34" charset="0"/>
                <a:ea typeface="Arial" pitchFamily="34" charset="-122"/>
                <a:cs typeface="Arial" pitchFamily="34" charset="-120"/>
              </a:rPr>
              <a:t> The first DFS finish order guarantees that the top node of the stack belongs to a 'source' SCC in G (meaning it has no incoming edges from other SCCs in Gᵀ).</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Clean Isolation:</a:t>
            </a:r>
            <a:pPr indent="0" marL="0">
              <a:buNone/>
            </a:pPr>
            <a:r>
              <a:rPr lang="en-US" sz="1300" dirty="0">
                <a:solidFill>
                  <a:srgbClr val="000000"/>
                </a:solidFill>
                <a:latin typeface="Arial" pitchFamily="34" charset="0"/>
                <a:ea typeface="Arial" pitchFamily="34" charset="-122"/>
                <a:cs typeface="Arial" pitchFamily="34" charset="-120"/>
              </a:rPr>
              <a:t> When we run DFS in Gᵀ starting at this popped root, it cannot escape to other components, isolating the SCC perfectly.</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Kosaraju's vs. Tarjan's Algorithm</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Tarjan's SCC Algorithm:</a:t>
            </a:r>
            <a:pPr indent="0" marL="0">
              <a:buNone/>
            </a:pPr>
            <a:r>
              <a:rPr lang="en-US" sz="1250" dirty="0">
                <a:solidFill>
                  <a:srgbClr val="000000"/>
                </a:solidFill>
                <a:latin typeface="Arial" pitchFamily="34" charset="0"/>
                <a:ea typeface="Arial" pitchFamily="34" charset="-122"/>
                <a:cs typeface="Arial" pitchFamily="34" charset="-120"/>
              </a:rPr>
              <a:t> Another O(V + E) method that finds SCCs in a SINGLE DFS pass.</a:t>
            </a:r>
            <a:endParaRPr lang="en-US" sz="1250" dirty="0"/>
          </a:p>
          <a:p>
            <a:pPr indent="0" marL="0">
              <a:buNone/>
            </a:pPr>
            <a:r>
              <a:rPr lang="en-US" sz="1250" b="1" dirty="0">
                <a:solidFill>
                  <a:srgbClr val="1565C0"/>
                </a:solidFill>
                <a:latin typeface="Arial" pitchFamily="34" charset="0"/>
                <a:ea typeface="Arial" pitchFamily="34" charset="-122"/>
                <a:cs typeface="Arial" pitchFamily="34" charset="-120"/>
              </a:rPr>
              <a:t>• How Tarjan's Works:</a:t>
            </a:r>
            <a:pPr indent="0" marL="0">
              <a:buNone/>
            </a:pPr>
            <a:r>
              <a:rPr lang="en-US" sz="1250" dirty="0">
                <a:solidFill>
                  <a:srgbClr val="000000"/>
                </a:solidFill>
                <a:latin typeface="Arial" pitchFamily="34" charset="0"/>
                <a:ea typeface="Arial" pitchFamily="34" charset="-122"/>
                <a:cs typeface="Arial" pitchFamily="34" charset="-120"/>
              </a:rPr>
              <a:t> Tracks DFS discovery numbers and the lowest reachable node index ('low-link' values) on an active stack.</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Comparison:</a:t>
            </a:r>
            <a:pPr indent="0" marL="0">
              <a:buNone/>
            </a:pPr>
            <a:r>
              <a:rPr lang="en-US" sz="125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 Kosaraju's:</a:t>
            </a:r>
            <a:pPr indent="0" marL="0">
              <a:buNone/>
            </a:pPr>
            <a:r>
              <a:rPr lang="en-US" sz="1250" dirty="0">
                <a:solidFill>
                  <a:srgbClr val="000000"/>
                </a:solidFill>
                <a:latin typeface="Arial" pitchFamily="34" charset="0"/>
                <a:ea typeface="Arial" pitchFamily="34" charset="-122"/>
                <a:cs typeface="Arial" pitchFamily="34" charset="-120"/>
              </a:rPr>
              <a:t> Conceptually simpler, easier to implement, but requires transposing the graph and running two DFS passes.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 Tarjan's:</a:t>
            </a:r>
            <a:pPr indent="0" marL="0">
              <a:buNone/>
            </a:pPr>
            <a:r>
              <a:rPr lang="en-US" sz="1250" dirty="0">
                <a:solidFill>
                  <a:srgbClr val="000000"/>
                </a:solidFill>
                <a:latin typeface="Arial" pitchFamily="34" charset="0"/>
                <a:ea typeface="Arial" pitchFamily="34" charset="-122"/>
                <a:cs typeface="Arial" pitchFamily="34" charset="-120"/>
              </a:rPr>
              <a:t> More complex logic, but faster in practice since it only traverses the graph once and needs no transpose step.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SCCs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Strongly Connected Components model dependencies and structures in complex networks: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Social Network Communities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Identifies tightly knit groups of users where everyone interacts or shares info. Used to analyze information spread and recommend connections.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Software Dependency Loops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Compilers build module import graphs. Finding SCCs reveals circular imports (e.g. A imports B, B imports C, C imports A) which must be resolved.</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Web Page Ranking (Google PageRank)</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The web forms a directed graph of links. PageRank partitions the web into SCCs to calculate page importances without getting stuck in link cycles.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Deadlock Detection in DBMS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Database engines maintain 'wait-for' graphs of transactions waiting for locks. An SCC in this graph indicates a cycle, revealing a system deadlock.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2026-06-14T11:41:09Z</dcterms:created>
  <dcterms:modified xsi:type="dcterms:W3CDTF">2026-06-14T11:41:09Z</dcterms:modified>
</cp:coreProperties>
</file>