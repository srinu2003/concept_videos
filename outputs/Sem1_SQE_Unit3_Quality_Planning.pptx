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my roll number is 257Y1D5805. In this presentation, I am going to talk about Quality Planning and Goal Setting in Software Quality Engineering. We will explore the entire Quality Engineering Process, study the famous Goal-Question-Metric paradigm developed by Victor Basili, look at how we perform Quality Assessment and Continuous Quality Improvement, and finally, look at real-world applications of quality planning in Agile teams, medical device verification, cloud microservices, and legacy refactoring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Engineering is a disciplined approach that integrates quality goals, processes, planning, and evaluation throughout the software development life cycle. Rather than just finding bugs at the end, it focuses on three core activities: Quality Planning, which sets target goals and shapes validation strategies; Quality Assessment, which measures software characteristics against benchmarks during active development; and Quality Improvement, which uses feedback loops to optimize processes. During planning, we define objective benchmarks, select appropriate QA verification methods like inspections versus dynamic load testing, allocate developer and hardware testing resources, and conduct risk assessments to pinpoint critical modules that require intensive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quality, we need structured goals. The Goal-Question-Metric, or GQM, paradigm was developed by Victor Basili to establish measurable objectives. It works top-down across three levels. At the conceptual level is the Goal, defining the object of study, its purpose, quality focus, viewpoint, and context. At the operational level are the Questions, which check whether the goal is being met. At the quantitative level are the Metrics, providing numeric data to answer the questions. For example, if our goal is to improve billing API reliability, our questions might ask about crash frequency and exception trapping. Our selected metrics would track Mean Time Between Failures in hours and the percentage of logged exceptions, ensuring we only gather useful, actionable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assessment and improvement close the engineering feedback loop. In Quality Assessment, we collect quantitative data during development, covering metrics like defect density, code coverage, and compiler warnings. We benchmark these values against project thresholds, such as requiring eighty percent code coverage before a pull request can be merged, and conduct periodic audits to ensure compliance. If a severe bug slips into production, we perform Continuous Quality Improvement. We conduct a Root Cause Analysis to identify the process gap, run retrospectives to gather team feedback, and tune our development process by updating design rules, compiler rules, or unit testing targets to prevent the bug from recurring.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how quality planning is applied. In Agile Sprint Planning, teams establish quality goals inside their Definition of Done, such as requiring automated tests to pass before merging. In Medical Device Verification, quality plans detail the exact test cases and compliance audits needed to meet FDA validation criteria. In Cloud Microservices, teams apply GQM to monitor scalability, defining goals like optimizing query speeds and tracking ninety-ninth percentile response times and CPU usage. Finally, in Legacy Refactoring, quality plans establish strict validation thresholds to minimize regression bugs during migrations. This ensures quality is treated as a core business driver across all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on Quality Planning and Goal Setting. By using systematic models like GQM, software teams align their quality metrics directly with business and user needs, driving continuous improvement. I would like to thank the Department of Computer Science and Engineering at the Marri Laxman Reddy Institute of Technology and Management.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III: Quality Engineering</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Quality Planning &amp; Goal Setting</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 Quality Engineering Process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Quality Engineering </a:t>
            </a:r>
            <a:pPr indent="0" marL="0">
              <a:buNone/>
            </a:pPr>
            <a:r>
              <a:rPr lang="en-US" sz="1400" dirty="0">
                <a:solidFill>
                  <a:srgbClr val="000000"/>
                </a:solidFill>
                <a:latin typeface="Arial" pitchFamily="34" charset="0"/>
                <a:ea typeface="Arial" pitchFamily="34" charset="-122"/>
                <a:cs typeface="Arial" pitchFamily="34" charset="-120"/>
              </a:rPr>
              <a:t>is a disciplined approach that integrates quality goals, processes, planning, and evaluation throughout the software development life cycle.</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Key Quality Engineering Activities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 Quality Planning:</a:t>
            </a:r>
            <a:pPr indent="0" marL="0">
              <a:buNone/>
            </a:pPr>
            <a:r>
              <a:rPr lang="en-US" sz="1300" dirty="0">
                <a:solidFill>
                  <a:srgbClr val="000000"/>
                </a:solidFill>
                <a:latin typeface="Arial" pitchFamily="34" charset="0"/>
                <a:ea typeface="Arial" pitchFamily="34" charset="-122"/>
                <a:cs typeface="Arial" pitchFamily="34" charset="-120"/>
              </a:rPr>
              <a:t> Setting target quality goals and forming a validation strategy for the project.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Quality Assessment:</a:t>
            </a:r>
            <a:pPr indent="0" marL="0">
              <a:buNone/>
            </a:pPr>
            <a:r>
              <a:rPr lang="en-US" sz="1300" dirty="0">
                <a:solidFill>
                  <a:srgbClr val="000000"/>
                </a:solidFill>
                <a:latin typeface="Arial" pitchFamily="34" charset="0"/>
                <a:ea typeface="Arial" pitchFamily="34" charset="-122"/>
                <a:cs typeface="Arial" pitchFamily="34" charset="-120"/>
              </a:rPr>
              <a:t> Measuring software characteristics against benchmarks during development.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Quality Improvement:</a:t>
            </a:r>
            <a:pPr indent="0" marL="0">
              <a:buNone/>
            </a:pPr>
            <a:r>
              <a:rPr lang="en-US" sz="1300" dirty="0">
                <a:solidFill>
                  <a:srgbClr val="000000"/>
                </a:solidFill>
                <a:latin typeface="Arial" pitchFamily="34" charset="0"/>
                <a:ea typeface="Arial" pitchFamily="34" charset="-122"/>
                <a:cs typeface="Arial" pitchFamily="34" charset="-120"/>
              </a:rPr>
              <a:t> Feedback loops to tune the development process, preventing recurring code defects.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Process Integration:</a:t>
            </a:r>
            <a:pPr indent="0" marL="0">
              <a:buNone/>
            </a:pPr>
            <a:r>
              <a:rPr lang="en-US" sz="1300" dirty="0">
                <a:solidFill>
                  <a:srgbClr val="000000"/>
                </a:solidFill>
                <a:latin typeface="Arial" pitchFamily="34" charset="0"/>
                <a:ea typeface="Arial" pitchFamily="34" charset="-122"/>
                <a:cs typeface="Arial" pitchFamily="34" charset="-120"/>
              </a:rPr>
              <a:t> Ensuring quality tasks are built into milestones (requirements, architecture, code, test).</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Quality Planning &amp; Strategy</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Defining Objectives:</a:t>
            </a:r>
            <a:pPr indent="0" marL="0">
              <a:buNone/>
            </a:pPr>
            <a:r>
              <a:rPr lang="en-US" sz="1300" dirty="0">
                <a:solidFill>
                  <a:srgbClr val="000000"/>
                </a:solidFill>
                <a:latin typeface="Arial" pitchFamily="34" charset="0"/>
                <a:ea typeface="Arial" pitchFamily="34" charset="-122"/>
                <a:cs typeface="Arial" pitchFamily="34" charset="-120"/>
              </a:rPr>
              <a:t> Agreeing on target benchmarks (e.g. max 0.5 bugs/KLOC, 99.9% availability).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Selecting QA Methods:</a:t>
            </a:r>
            <a:pPr indent="0" marL="0">
              <a:buNone/>
            </a:pPr>
            <a:r>
              <a:rPr lang="en-US" sz="1300" dirty="0">
                <a:solidFill>
                  <a:srgbClr val="000000"/>
                </a:solidFill>
                <a:latin typeface="Arial" pitchFamily="34" charset="0"/>
                <a:ea typeface="Arial" pitchFamily="34" charset="-122"/>
                <a:cs typeface="Arial" pitchFamily="34" charset="-120"/>
              </a:rPr>
              <a:t> Deciding where to use inspections vs dynamic unit testing or load testing.</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Resource Budgeting:</a:t>
            </a:r>
            <a:pPr indent="0" marL="0">
              <a:buNone/>
            </a:pPr>
            <a:r>
              <a:rPr lang="en-US" sz="1300" dirty="0">
                <a:solidFill>
                  <a:srgbClr val="000000"/>
                </a:solidFill>
                <a:latin typeface="Arial" pitchFamily="34" charset="0"/>
                <a:ea typeface="Arial" pitchFamily="34" charset="-122"/>
                <a:cs typeface="Arial" pitchFamily="34" charset="-120"/>
              </a:rPr>
              <a:t> Allocating developers, QA testers, and hardware environments for testing.</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Risk Assessment:</a:t>
            </a:r>
            <a:pPr indent="0" marL="0">
              <a:buNone/>
            </a:pPr>
            <a:r>
              <a:rPr lang="en-US" sz="1300" dirty="0">
                <a:solidFill>
                  <a:srgbClr val="000000"/>
                </a:solidFill>
                <a:latin typeface="Arial" pitchFamily="34" charset="0"/>
                <a:ea typeface="Arial" pitchFamily="34" charset="-122"/>
                <a:cs typeface="Arial" pitchFamily="34" charset="-120"/>
              </a:rPr>
              <a:t> Identifying critical modules needing rigorous verification (e.g. payment APIs).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Goal-Question-Metric (GQM) Paradigm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GQM is a structured framework developed by Basili to establish measurable software goals:</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Hierarchical GQM Structure</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1. Goal (Conceptual Level):</a:t>
            </a:r>
            <a:pPr indent="0" marL="0">
              <a:buNone/>
            </a:pPr>
            <a:r>
              <a:rPr lang="en-US" sz="1300" dirty="0">
                <a:solidFill>
                  <a:srgbClr val="000000"/>
                </a:solidFill>
                <a:latin typeface="Arial" pitchFamily="34" charset="0"/>
                <a:ea typeface="Arial" pitchFamily="34" charset="-122"/>
                <a:cs typeface="Arial" pitchFamily="34" charset="-120"/>
              </a:rPr>
              <a:t> State the objective for a project, process, or product. Must define object, purpose, focus, viewpoint, and context.
</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2. Question (Operational Level):</a:t>
            </a:r>
            <a:pPr indent="0" marL="0">
              <a:buNone/>
            </a:pPr>
            <a:r>
              <a:rPr lang="en-US" sz="1300" dirty="0">
                <a:solidFill>
                  <a:srgbClr val="000000"/>
                </a:solidFill>
                <a:latin typeface="Arial" pitchFamily="34" charset="0"/>
                <a:ea typeface="Arial" pitchFamily="34" charset="-122"/>
                <a:cs typeface="Arial" pitchFamily="34" charset="-120"/>
              </a:rPr>
              <a:t> Formulate questions that determine if the goal is being met during development.
</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3. Metric (Quantitative Level):</a:t>
            </a:r>
            <a:pPr indent="0" marL="0">
              <a:buNone/>
            </a:pPr>
            <a:r>
              <a:rPr lang="en-US" sz="1300" dirty="0">
                <a:solidFill>
                  <a:srgbClr val="000000"/>
                </a:solidFill>
                <a:latin typeface="Arial" pitchFamily="34" charset="0"/>
                <a:ea typeface="Arial" pitchFamily="34" charset="-122"/>
                <a:cs typeface="Arial" pitchFamily="34" charset="-120"/>
              </a:rPr>
              <a:t> Define specific, numeric metrics to answer each question objectively.</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GQM Example in Practice</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990033"/>
                </a:solidFill>
                <a:latin typeface="Arial" pitchFamily="34" charset="0"/>
                <a:ea typeface="Arial" pitchFamily="34" charset="-122"/>
                <a:cs typeface="Arial" pitchFamily="34" charset="-120"/>
              </a:rPr>
              <a:t>• Goal:</a:t>
            </a:r>
            <a:pPr indent="0" marL="0">
              <a:buNone/>
            </a:pPr>
            <a:r>
              <a:rPr lang="en-US" sz="1250" dirty="0">
                <a:solidFill>
                  <a:srgbClr val="000000"/>
                </a:solidFill>
                <a:latin typeface="Arial" pitchFamily="34" charset="0"/>
                <a:ea typeface="Arial" pitchFamily="34" charset="-122"/>
                <a:cs typeface="Arial" pitchFamily="34" charset="-120"/>
              </a:rPr>
              <a:t> Improve the reliability of the billing API from the developer's viewpoint.
</a:t>
            </a:r>
            <a:endParaRPr lang="en-US" sz="1250" dirty="0"/>
          </a:p>
          <a:p>
            <a:pPr indent="0" marL="0">
              <a:buNone/>
            </a:pPr>
            <a:r>
              <a:rPr lang="en-US" sz="1250" b="1" dirty="0">
                <a:solidFill>
                  <a:srgbClr val="1565C0"/>
                </a:solidFill>
                <a:latin typeface="Arial" pitchFamily="34" charset="0"/>
                <a:ea typeface="Arial" pitchFamily="34" charset="-122"/>
                <a:cs typeface="Arial" pitchFamily="34" charset="-120"/>
              </a:rPr>
              <a:t>• Questions to ask:
</a:t>
            </a:r>
            <a:pPr indent="0" marL="0">
              <a:buNone/>
            </a:pPr>
            <a:r>
              <a:rPr lang="en-US" sz="1250" dirty="0">
                <a:solidFill>
                  <a:srgbClr val="000000"/>
                </a:solidFill>
                <a:latin typeface="Arial" pitchFamily="34" charset="0"/>
                <a:ea typeface="Arial" pitchFamily="34" charset="-122"/>
                <a:cs typeface="Arial" pitchFamily="34" charset="-120"/>
              </a:rPr>
              <a:t>  - Q1: What is the current crash frequency?
</a:t>
            </a:r>
            <a:pPr indent="0" marL="0">
              <a:buNone/>
            </a:pPr>
            <a:r>
              <a:rPr lang="en-US" sz="1250" dirty="0">
                <a:solidFill>
                  <a:srgbClr val="000000"/>
                </a:solidFill>
                <a:latin typeface="Arial" pitchFamily="34" charset="0"/>
                <a:ea typeface="Arial" pitchFamily="34" charset="-122"/>
                <a:cs typeface="Arial" pitchFamily="34" charset="-120"/>
              </a:rPr>
              <a:t>  - Q2: Are exception blocks trapping failures?
</a:t>
            </a:r>
            <a:pPr indent="0" marL="0">
              <a:buNone/>
            </a:pPr>
            <a:r>
              <a:rPr lang="en-US" sz="1250" b="1" dirty="0">
                <a:solidFill>
                  <a:srgbClr val="006400"/>
                </a:solidFill>
                <a:latin typeface="Arial" pitchFamily="34" charset="0"/>
                <a:ea typeface="Arial" pitchFamily="34" charset="-122"/>
                <a:cs typeface="Arial" pitchFamily="34" charset="-120"/>
              </a:rPr>
              <a:t>• Metrics defined:
</a:t>
            </a:r>
            <a:pPr indent="0" marL="0">
              <a:buNone/>
            </a:pPr>
            <a:r>
              <a:rPr lang="en-US" sz="1250" dirty="0">
                <a:solidFill>
                  <a:srgbClr val="000000"/>
                </a:solidFill>
                <a:latin typeface="Arial" pitchFamily="34" charset="0"/>
                <a:ea typeface="Arial" pitchFamily="34" charset="-122"/>
                <a:cs typeface="Arial" pitchFamily="34" charset="-120"/>
              </a:rPr>
              <a:t>  - M1: Mean Time Between Failures (MTBF) in hours.
</a:t>
            </a:r>
            <a:pPr indent="0" marL="0">
              <a:buNone/>
            </a:pPr>
            <a:r>
              <a:rPr lang="en-US" sz="1250" dirty="0">
                <a:solidFill>
                  <a:srgbClr val="000000"/>
                </a:solidFill>
                <a:latin typeface="Arial" pitchFamily="34" charset="0"/>
                <a:ea typeface="Arial" pitchFamily="34" charset="-122"/>
                <a:cs typeface="Arial" pitchFamily="34" charset="-120"/>
              </a:rPr>
              <a:t>  - M2: Percentage of database errors logged vs. uncaught runtime exceptions.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Quality Assessment &amp; Improvement</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companies measure quality during development and perform improvements:</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Quality Assessment (Measurement)</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Metrics Collection:</a:t>
            </a:r>
            <a:pPr indent="0" marL="0">
              <a:buNone/>
            </a:pPr>
            <a:r>
              <a:rPr lang="en-US" sz="1300" dirty="0">
                <a:solidFill>
                  <a:srgbClr val="000000"/>
                </a:solidFill>
                <a:latin typeface="Arial" pitchFamily="34" charset="0"/>
                <a:ea typeface="Arial" pitchFamily="34" charset="-122"/>
                <a:cs typeface="Arial" pitchFamily="34" charset="-120"/>
              </a:rPr>
              <a:t> Collecting quantitative data on defect density, test coverage, and compiler warnings during the project.</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Benchmarking:</a:t>
            </a:r>
            <a:pPr indent="0" marL="0">
              <a:buNone/>
            </a:pPr>
            <a:r>
              <a:rPr lang="en-US" sz="1300" dirty="0">
                <a:solidFill>
                  <a:srgbClr val="000000"/>
                </a:solidFill>
                <a:latin typeface="Arial" pitchFamily="34" charset="0"/>
                <a:ea typeface="Arial" pitchFamily="34" charset="-122"/>
                <a:cs typeface="Arial" pitchFamily="34" charset="-120"/>
              </a:rPr>
              <a:t> Comparing metrics against standards (e.g., requiring 80% code coverage before a pull request can be merged).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Quality Audits:</a:t>
            </a:r>
            <a:pPr indent="0" marL="0">
              <a:buNone/>
            </a:pPr>
            <a:r>
              <a:rPr lang="en-US" sz="1300" dirty="0">
                <a:solidFill>
                  <a:srgbClr val="000000"/>
                </a:solidFill>
                <a:latin typeface="Arial" pitchFamily="34" charset="0"/>
                <a:ea typeface="Arial" pitchFamily="34" charset="-122"/>
                <a:cs typeface="Arial" pitchFamily="34" charset="-120"/>
              </a:rPr>
              <a:t> Periodic reviews by QA leads to verify code matches design guidelines.</a:t>
            </a:r>
            <a:endParaRPr lang="en-US" sz="1300" dirty="0"/>
          </a:p>
        </p:txBody>
      </p:sp>
      <p:sp>
        <p:nvSpPr>
          <p:cNvPr id="19" name="Shape 16"/>
          <p:cNvSpPr/>
          <p:nvPr/>
        </p:nvSpPr>
        <p:spPr>
          <a:xfrm>
            <a:off x="6035040" y="2103120"/>
            <a:ext cx="5715000" cy="4114800"/>
          </a:xfrm>
          <a:prstGeom prst="roundRect">
            <a:avLst>
              <a:gd name="adj" fmla="val 2222"/>
            </a:avLst>
          </a:prstGeom>
          <a:solidFill>
            <a:srgbClr val="E8F5E9"/>
          </a:solidFill>
          <a:ln w="19050">
            <a:solidFill>
              <a:srgbClr val="0064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6400"/>
                </a:solidFill>
                <a:latin typeface="Arial" pitchFamily="34" charset="0"/>
                <a:ea typeface="Arial" pitchFamily="34" charset="-122"/>
                <a:cs typeface="Arial" pitchFamily="34" charset="-120"/>
              </a:rPr>
              <a:t>Continuous Quality Improvement</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Root Cause Analysis (RCA):</a:t>
            </a:r>
            <a:pPr indent="0" marL="0">
              <a:buNone/>
            </a:pPr>
            <a:r>
              <a:rPr lang="en-US" sz="1300" dirty="0">
                <a:solidFill>
                  <a:srgbClr val="000000"/>
                </a:solidFill>
                <a:latin typeface="Arial" pitchFamily="34" charset="0"/>
                <a:ea typeface="Arial" pitchFamily="34" charset="-122"/>
                <a:cs typeface="Arial" pitchFamily="34" charset="-120"/>
              </a:rPr>
              <a:t> When a severe defect escapes to production, the team conducts an RCA to identify the underlying process failure.</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Retrospectives:</a:t>
            </a:r>
            <a:pPr indent="0" marL="0">
              <a:buNone/>
            </a:pPr>
            <a:r>
              <a:rPr lang="en-US" sz="1300" dirty="0">
                <a:solidFill>
                  <a:srgbClr val="000000"/>
                </a:solidFill>
                <a:latin typeface="Arial" pitchFamily="34" charset="0"/>
                <a:ea typeface="Arial" pitchFamily="34" charset="-122"/>
                <a:cs typeface="Arial" pitchFamily="34" charset="-120"/>
              </a:rPr>
              <a:t> Post-sprint review sessions where developers identify bottlenecks and update quality checklists.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Process Tuning:</a:t>
            </a:r>
            <a:pPr indent="0" marL="0">
              <a:buNone/>
            </a:pPr>
            <a:r>
              <a:rPr lang="en-US" sz="1300" dirty="0">
                <a:solidFill>
                  <a:srgbClr val="000000"/>
                </a:solidFill>
                <a:latin typeface="Arial" pitchFamily="34" charset="0"/>
                <a:ea typeface="Arial" pitchFamily="34" charset="-122"/>
                <a:cs typeface="Arial" pitchFamily="34" charset="-120"/>
              </a:rPr>
              <a:t> Modifying design constraints, compiler rules, or unit test targets based on RCA feedback, preventing repeat bugs.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Quality Planning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Software teams implement GQM and quality plans across various development domains: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Agile Sprint Planning</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Teams establish Definition of Done (DoD) goals at sprint start. E.g., 'A story is Done only if it has 80% test coverage and passes security scans (DoD Goal).'</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Medical Device Verification</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Quality plans detail the specific test runs, compliance audits, and safety-critical thresholds required to meet FDA validation criteria.</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Cloud Microservices Scaling</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Applies GQM to monitor system latency. Goal: Optimize query speeds. Metrics tracked: 99th percentile response time, CPU utilization under load.</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Legacy Refactoring Projects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Establishes quality plans to minimize regression bugs during migrations. Defines strict validation thresholds prior to production deployment.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Software Quality Engineering</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2026-06-14T11:41:05Z</dcterms:created>
  <dcterms:modified xsi:type="dcterms:W3CDTF">2026-06-14T11:41:05Z</dcterms:modified>
</cp:coreProperties>
</file>