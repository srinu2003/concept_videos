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'Linear Pipeline Processors' as part of the Advanced Computer Architecture course for my M.Tech in Computer Science and Engineering. In this presentation, we will explore the concepts of linear pipelining, analyze instruction pipeline stages, discuss the classification of pipeline hazards, examine hardware and compiler solutions for resolving these hazards, and look at practical applications of pipelined processors in modern computing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by defining linear pipelining. Pipelining is an implementation technique where multiple instructions are overlapped in execution, similar to an assembly line. In a linear pipeline processor, the execution of an instruction is divided into sequential stages, with intermediate registers, called latches, separating each stage. A standard instruction pipeline contains five stages. First, Instruction Fetch, where the instruction is read from memory using the program counter. Second, Instruction Decode and Register Read, where the instruction is parsed and source operands are retrieved. Third, Execute, where the ALU performs the operation. Fourth, Memory Access, where data is read from or written to memory if it is a load or store instruction. Finally, Fifth is Write-Back, where the result is written to the destination register. Each stage takes one clock cycle, and once the pipeline is full, one instruction completes every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pipeline processor, hazards are conflicts that prevent the next instruction in the instruction stream from executing in its designated clock cycle. These hazards cause the pipeline to stall or introduce bubbles, reducing overall performance. We classify pipeline hazards into three main categories. First, structural hazards occur when two or more instructions in the pipeline require the same hardware resource at the same time, such as a single-ported memory being accessed for both fetching instructions and reading data. Second, data hazards arise when an instruction depends on the result of a previous instruction that has not yet completed execution. The three sub-types are Read-After-Write, Write-After-Read, and Write-After-Write hazards. Third, control hazards are caused by branch and jump instructions that alter the program flow, making the next instruction address unknown during the fetch stage. Understanding these hazards is essential for designing robust processor control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maintain high instruction throughput, processor designers and compilers use several techniques to resolve data and control hazards. Data forwarding, or bypassing, is a hardware solution where the output of the ALU is routed directly to the ALU inputs for subsequent instructions, skipping the write-back stage. However, for load-use data dependencies, hardware must stall the pipeline for one cycle, inserting a bubble, because the loaded data is not available until the end of the memory access stage. Compilers can also help by reordering instructions to place independent operations in hazard slots, or by utilizing branch delay slots where an instruction is executed regardless of the branch outcome. Hardware branch prediction also attempts to predict branch directions to reduce control hazard stalls.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how pipelining is applied in modern computer systems. First, desktop CISC and RISC processors utilize deep instruction pipelines, often ten to twenty stages, to achieve high clock speeds and high instruction throughput. Second, GPU vector cores utilize specialized arithmetic pipelines to run identical math operations on millions of pixels concurrently, which is critical for graphics rendering. Third, high-speed network switches apply pipelining to packet header checking and routing tables, allowing packets to be forwarded with minimal latency. Finally, supercomputer vector processing units use deep floating-point pipelines to accelerate massive matrix calculations, powering scientific modeling and simulation workloads.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linear pipelining is a fundamental technique that dramatically increases processor performance without requiring excessive hardware redundancy. By analyzing pipeline hazards and implementing mitigation strategies like forwarding, branch prediction, and compiler scheduling, computer architects can design high-performance processors. Thank you for your time, and I am ready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III: Pipelining &amp; Superscalar Designs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Pipelining &amp; Hazards in Processors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Pipelining?</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Pipelining </a:t>
            </a:r>
            <a:pPr indent="0" marL="0">
              <a:buNone/>
            </a:pPr>
            <a:r>
              <a:rPr lang="en-US" sz="1400" dirty="0">
                <a:solidFill>
                  <a:srgbClr val="000000"/>
                </a:solidFill>
                <a:latin typeface="Arial" pitchFamily="34" charset="0"/>
                <a:ea typeface="Arial" pitchFamily="34" charset="-122"/>
                <a:cs typeface="Arial" pitchFamily="34" charset="-120"/>
              </a:rPr>
              <a:t>is an implementation technique where multiple instructions are overlapped in execution, similar to a manufacturing assembly line. It maximizes processor instruction throughput.</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Core Pipeline Architecture</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Stage Division:</a:t>
            </a:r>
            <a:pPr indent="0" marL="0">
              <a:buNone/>
            </a:pPr>
            <a:r>
              <a:rPr lang="en-US" sz="1300" dirty="0">
                <a:solidFill>
                  <a:srgbClr val="000000"/>
                </a:solidFill>
                <a:latin typeface="Arial" pitchFamily="34" charset="0"/>
                <a:ea typeface="Arial" pitchFamily="34" charset="-122"/>
                <a:cs typeface="Arial" pitchFamily="34" charset="-120"/>
              </a:rPr>
              <a:t> Instructions are split into sequential steps, each executed by a dedicated hardware stage.</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Overlapped Execution:</a:t>
            </a:r>
            <a:pPr indent="0" marL="0">
              <a:buNone/>
            </a:pPr>
            <a:r>
              <a:rPr lang="en-US" sz="1300" dirty="0">
                <a:solidFill>
                  <a:srgbClr val="000000"/>
                </a:solidFill>
                <a:latin typeface="Arial" pitchFamily="34" charset="0"/>
                <a:ea typeface="Arial" pitchFamily="34" charset="-122"/>
                <a:cs typeface="Arial" pitchFamily="34" charset="-120"/>
              </a:rPr>
              <a:t> When stage 1 finishes instruction A and moves it to stage 2, stage 1 immediately begins instruction B.</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Ideal Speedup:</a:t>
            </a:r>
            <a:pPr indent="0" marL="0">
              <a:buNone/>
            </a:pPr>
            <a:r>
              <a:rPr lang="en-US" sz="1300" dirty="0">
                <a:solidFill>
                  <a:srgbClr val="000000"/>
                </a:solidFill>
                <a:latin typeface="Arial" pitchFamily="34" charset="0"/>
                <a:ea typeface="Arial" pitchFamily="34" charset="-122"/>
                <a:cs typeface="Arial" pitchFamily="34" charset="-120"/>
              </a:rPr>
              <a:t> A pipeline of k stages can achieve a speedup factor of k in the ideal case (completing 1 instruction per clock cycle).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Latency vs. Throughput:</a:t>
            </a:r>
            <a:pPr indent="0" marL="0">
              <a:buNone/>
            </a:pPr>
            <a:r>
              <a:rPr lang="en-US" sz="1300" dirty="0">
                <a:solidFill>
                  <a:srgbClr val="000000"/>
                </a:solidFill>
                <a:latin typeface="Arial" pitchFamily="34" charset="0"/>
                <a:ea typeface="Arial" pitchFamily="34" charset="-122"/>
                <a:cs typeface="Arial" pitchFamily="34" charset="-120"/>
              </a:rPr>
              <a:t> Pipelining does not decrease the execution latency of a single instruction. It increases the throughput of completed instructions.</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Standard 5-Stage MIPS Pipeline</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Most RISC designs use these classic 5 stages:</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1. Instruction Fetch (IF):</a:t>
            </a:r>
            <a:pPr indent="0" marL="0">
              <a:buNone/>
            </a:pPr>
            <a:r>
              <a:rPr lang="en-US" sz="1300" dirty="0">
                <a:solidFill>
                  <a:srgbClr val="000000"/>
                </a:solidFill>
                <a:latin typeface="Arial" pitchFamily="34" charset="0"/>
                <a:ea typeface="Arial" pitchFamily="34" charset="-122"/>
                <a:cs typeface="Arial" pitchFamily="34" charset="-120"/>
              </a:rPr>
              <a:t> Load instruction from memory.</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2. Instruction Decode (ID):</a:t>
            </a:r>
            <a:pPr indent="0" marL="0">
              <a:buNone/>
            </a:pPr>
            <a:r>
              <a:rPr lang="en-US" sz="1300" dirty="0">
                <a:solidFill>
                  <a:srgbClr val="000000"/>
                </a:solidFill>
                <a:latin typeface="Arial" pitchFamily="34" charset="0"/>
                <a:ea typeface="Arial" pitchFamily="34" charset="-122"/>
                <a:cs typeface="Arial" pitchFamily="34" charset="-120"/>
              </a:rPr>
              <a:t> Translate opcode and read register values.</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3. Execute (EX):</a:t>
            </a:r>
            <a:pPr indent="0" marL="0">
              <a:buNone/>
            </a:pPr>
            <a:r>
              <a:rPr lang="en-US" sz="1300" dirty="0">
                <a:solidFill>
                  <a:srgbClr val="000000"/>
                </a:solidFill>
                <a:latin typeface="Arial" pitchFamily="34" charset="0"/>
                <a:ea typeface="Arial" pitchFamily="34" charset="-122"/>
                <a:cs typeface="Arial" pitchFamily="34" charset="-120"/>
              </a:rPr>
              <a:t> Run arithmetic operations in the ALU.</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4. Memory Access (MEM):</a:t>
            </a:r>
            <a:pPr indent="0" marL="0">
              <a:buNone/>
            </a:pPr>
            <a:r>
              <a:rPr lang="en-US" sz="1300" dirty="0">
                <a:solidFill>
                  <a:srgbClr val="000000"/>
                </a:solidFill>
                <a:latin typeface="Arial" pitchFamily="34" charset="0"/>
                <a:ea typeface="Arial" pitchFamily="34" charset="-122"/>
                <a:cs typeface="Arial" pitchFamily="34" charset="-120"/>
              </a:rPr>
              <a:t> Read or write data from cache memory.</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5. Write-Back (WB):</a:t>
            </a:r>
            <a:pPr indent="0" marL="0">
              <a:buNone/>
            </a:pPr>
            <a:r>
              <a:rPr lang="en-US" sz="1300" dirty="0">
                <a:solidFill>
                  <a:srgbClr val="000000"/>
                </a:solidFill>
                <a:latin typeface="Arial" pitchFamily="34" charset="0"/>
                <a:ea typeface="Arial" pitchFamily="34" charset="-122"/>
                <a:cs typeface="Arial" pitchFamily="34" charset="-120"/>
              </a:rPr>
              <a:t> Write results back into register files.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Pipeline Hazards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Hazards are situations that prevent the next instruction in the instruction stream from executing in its designated clock cycle:</a:t>
            </a:r>
            <a:endParaRPr lang="en-US" sz="1400" dirty="0"/>
          </a:p>
        </p:txBody>
      </p:sp>
      <p:sp>
        <p:nvSpPr>
          <p:cNvPr id="16" name="Shape 13"/>
          <p:cNvSpPr/>
          <p:nvPr/>
        </p:nvSpPr>
        <p:spPr>
          <a:xfrm>
            <a:off x="457200" y="2103120"/>
            <a:ext cx="3657600" cy="4206240"/>
          </a:xfrm>
          <a:prstGeom prst="roundRect">
            <a:avLst>
              <a:gd name="adj" fmla="val 2500"/>
            </a:avLst>
          </a:prstGeom>
          <a:solidFill>
            <a:srgbClr val="E8F5E9"/>
          </a:solidFill>
          <a:ln w="19050">
            <a:solidFill>
              <a:srgbClr val="009900"/>
            </a:solidFill>
            <a:prstDash val="solid"/>
          </a:ln>
        </p:spPr>
      </p:sp>
      <p:sp>
        <p:nvSpPr>
          <p:cNvPr id="17" name="Text 14"/>
          <p:cNvSpPr/>
          <p:nvPr/>
        </p:nvSpPr>
        <p:spPr>
          <a:xfrm>
            <a:off x="566928" y="2194560"/>
            <a:ext cx="343814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1. Structural Hazards</a:t>
            </a:r>
            <a:endParaRPr lang="en-US" sz="1450" dirty="0"/>
          </a:p>
        </p:txBody>
      </p:sp>
      <p:sp>
        <p:nvSpPr>
          <p:cNvPr id="18" name="Text 15"/>
          <p:cNvSpPr/>
          <p:nvPr/>
        </p:nvSpPr>
        <p:spPr>
          <a:xfrm>
            <a:off x="56692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Conflict: Hardware cannot support all stage combinations in the same clock cycle.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Cause: E.g., single memory port for both fetching instructions (IF) and loading data (MEM).</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Solution: Separate instruction and data caches (Harvard Architecture).</a:t>
            </a:r>
            <a:endParaRPr lang="en-US" sz="1250" dirty="0"/>
          </a:p>
        </p:txBody>
      </p:sp>
      <p:sp>
        <p:nvSpPr>
          <p:cNvPr id="19" name="Shape 16"/>
          <p:cNvSpPr/>
          <p:nvPr/>
        </p:nvSpPr>
        <p:spPr>
          <a:xfrm>
            <a:off x="4251960" y="2103120"/>
            <a:ext cx="3657600" cy="4206240"/>
          </a:xfrm>
          <a:prstGeom prst="roundRect">
            <a:avLst>
              <a:gd name="adj" fmla="val 2500"/>
            </a:avLst>
          </a:prstGeom>
          <a:solidFill>
            <a:srgbClr val="E3F2FD"/>
          </a:solidFill>
          <a:ln w="19050">
            <a:solidFill>
              <a:srgbClr val="1565C0"/>
            </a:solidFill>
            <a:prstDash val="solid"/>
          </a:ln>
        </p:spPr>
      </p:sp>
      <p:sp>
        <p:nvSpPr>
          <p:cNvPr id="20" name="Text 17"/>
          <p:cNvSpPr/>
          <p:nvPr/>
        </p:nvSpPr>
        <p:spPr>
          <a:xfrm>
            <a:off x="4361688" y="2194560"/>
            <a:ext cx="343814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2. Data Hazards</a:t>
            </a:r>
            <a:endParaRPr lang="en-US" sz="1450" dirty="0"/>
          </a:p>
        </p:txBody>
      </p:sp>
      <p:sp>
        <p:nvSpPr>
          <p:cNvPr id="21" name="Text 18"/>
          <p:cNvSpPr/>
          <p:nvPr/>
        </p:nvSpPr>
        <p:spPr>
          <a:xfrm>
            <a:off x="436168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Conflict: An instruction depends on the result of a prior instruction still in the pipeline.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Cause: Read-After-Write (RAW) dependencies.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Solution: Data forwarding (ALU bypass), compiler instruction reordering, or inserting bubbles.</a:t>
            </a:r>
            <a:endParaRPr lang="en-US" sz="1250" dirty="0"/>
          </a:p>
        </p:txBody>
      </p:sp>
      <p:sp>
        <p:nvSpPr>
          <p:cNvPr id="22" name="Shape 19"/>
          <p:cNvSpPr/>
          <p:nvPr/>
        </p:nvSpPr>
        <p:spPr>
          <a:xfrm>
            <a:off x="8046720" y="2103120"/>
            <a:ext cx="3657600" cy="4206240"/>
          </a:xfrm>
          <a:prstGeom prst="roundRect">
            <a:avLst>
              <a:gd name="adj" fmla="val 2500"/>
            </a:avLst>
          </a:prstGeom>
          <a:solidFill>
            <a:srgbClr val="FFF9C4"/>
          </a:solidFill>
          <a:ln w="19050">
            <a:solidFill>
              <a:srgbClr val="F57F17"/>
            </a:solidFill>
            <a:prstDash val="solid"/>
          </a:ln>
        </p:spPr>
      </p:sp>
      <p:sp>
        <p:nvSpPr>
          <p:cNvPr id="23" name="Text 20"/>
          <p:cNvSpPr/>
          <p:nvPr/>
        </p:nvSpPr>
        <p:spPr>
          <a:xfrm>
            <a:off x="8156448" y="2194560"/>
            <a:ext cx="343814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3. Control Hazards</a:t>
            </a:r>
            <a:endParaRPr lang="en-US" sz="1450" dirty="0"/>
          </a:p>
        </p:txBody>
      </p:sp>
      <p:sp>
        <p:nvSpPr>
          <p:cNvPr id="24" name="Text 21"/>
          <p:cNvSpPr/>
          <p:nvPr/>
        </p:nvSpPr>
        <p:spPr>
          <a:xfrm>
            <a:off x="815644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Conflict: Imbalances caused by branch or jump instructions, which change the instruction flow.</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Cause: Target address is unknown during Fetch stage.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Solution: Branch prediction hardware, branch delay slots.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Resolving Data Hazards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CPU designers resolve data dependencies in high-performance pipelines:</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Data Forwarding &amp; Bypassing</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The Concept:</a:t>
            </a:r>
            <a:pPr indent="0" marL="0">
              <a:buNone/>
            </a:pPr>
            <a:r>
              <a:rPr lang="en-US" sz="1300" dirty="0">
                <a:solidFill>
                  <a:srgbClr val="000000"/>
                </a:solidFill>
                <a:latin typeface="Arial" pitchFamily="34" charset="0"/>
                <a:ea typeface="Arial" pitchFamily="34" charset="-122"/>
                <a:cs typeface="Arial" pitchFamily="34" charset="-120"/>
              </a:rPr>
              <a:t> Route the ALU calculation result directly to the ALU input stages of subsequent instructions, skipping the Write-Back register step.</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Dynamic Routing:</a:t>
            </a:r>
            <a:pPr indent="0" marL="0">
              <a:buNone/>
            </a:pPr>
            <a:r>
              <a:rPr lang="en-US" sz="1300" dirty="0">
                <a:solidFill>
                  <a:srgbClr val="000000"/>
                </a:solidFill>
                <a:latin typeface="Arial" pitchFamily="34" charset="0"/>
                <a:ea typeface="Arial" pitchFamily="34" charset="-122"/>
                <a:cs typeface="Arial" pitchFamily="34" charset="-120"/>
              </a:rPr>
              <a:t> Bypass multiplexers feed the EX output directly back to the EX input, resolving RAW hazards in one cycle.</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Load-Use Stalls:</a:t>
            </a:r>
            <a:pPr indent="0" marL="0">
              <a:buNone/>
            </a:pPr>
            <a:r>
              <a:rPr lang="en-US" sz="1300" dirty="0">
                <a:solidFill>
                  <a:srgbClr val="000000"/>
                </a:solidFill>
                <a:latin typeface="Arial" pitchFamily="34" charset="0"/>
                <a:ea typeface="Arial" pitchFamily="34" charset="-122"/>
                <a:cs typeface="Arial" pitchFamily="34" charset="-120"/>
              </a:rPr>
              <a:t> If an instruction depends on a memory LOAD (MEM stage), forwarding is not enough because data is not ready until the end of MEM. The pipeline MUST insert a 1-cycle stall (bubble).</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Compiler Solutions &amp; Bubbles</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Pipeline Stalling (Bubbles):</a:t>
            </a:r>
            <a:pPr indent="0" marL="0">
              <a:buNone/>
            </a:pPr>
            <a:r>
              <a:rPr lang="en-US" sz="1300" dirty="0">
                <a:solidFill>
                  <a:srgbClr val="000000"/>
                </a:solidFill>
                <a:latin typeface="Arial" pitchFamily="34" charset="0"/>
                <a:ea typeface="Arial" pitchFamily="34" charset="-122"/>
                <a:cs typeface="Arial" pitchFamily="34" charset="-120"/>
              </a:rPr>
              <a:t> Hardware detects dependencies and pauses the fetch/decode stages, inserting a 'no-operation' (NOP) instruction bubble to let prior instructions finish.</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 Compiler Reordering:</a:t>
            </a:r>
            <a:pPr indent="0" marL="0">
              <a:buNone/>
            </a:pPr>
            <a:r>
              <a:rPr lang="en-US" sz="1300" dirty="0">
                <a:solidFill>
                  <a:srgbClr val="000000"/>
                </a:solidFill>
                <a:latin typeface="Arial" pitchFamily="34" charset="0"/>
                <a:ea typeface="Arial" pitchFamily="34" charset="-122"/>
                <a:cs typeface="Arial" pitchFamily="34" charset="-120"/>
              </a:rPr>
              <a:t> Optimizing compilers analyze dependencies and insert independent instructions into hazard gaps, avoiding hardware stalls.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Branch Delay Slot:</a:t>
            </a:r>
            <a:pPr indent="0" marL="0">
              <a:buNone/>
            </a:pPr>
            <a:r>
              <a:rPr lang="en-US" sz="1300" dirty="0">
                <a:solidFill>
                  <a:srgbClr val="000000"/>
                </a:solidFill>
                <a:latin typeface="Arial" pitchFamily="34" charset="0"/>
                <a:ea typeface="Arial" pitchFamily="34" charset="-122"/>
                <a:cs typeface="Arial" pitchFamily="34" charset="-120"/>
              </a:rPr>
              <a:t> Compilers place an independent instruction after a branch, executing it regardless of the branch outcome, avoiding control stalls.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Pipelining</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Pipelining is a fundamental design principle across modern processor cores: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CISC &amp; RISC Processors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Every modern desktop CPU (Intel x86, AMD, ARM) utilizes deep pipelines (typically 10-20 stages) to achieve gigahertz clock speeds and high instruction throughput.</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GPU Vector Cores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Graphic processors use deep, specialized pipeline channels to run vector math on millions of pixels concurrently, accelerating graphics rendering.</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Network Router Switches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Router switches apply pipelining to packet header checking and route lookup, forwarding network packets with minimal latency.</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Supercomputer Vector Units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HPC vector units use deep pipelining to compute floating-point arithmetic (matrix operations) rapidly, powering scientific modeling.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2026-06-14T11:41:10Z</dcterms:created>
  <dcterms:modified xsi:type="dcterms:W3CDTF">2026-06-14T11:41:10Z</dcterms:modified>
</cp:coreProperties>
</file>