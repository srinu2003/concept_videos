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 am a first-year, first-semester M.Tech student in Computer Science and Engineering. Today, I will present PL/SQL Block Structure and Variables. In this presentation, we will explore what PL/SQL is as Oracle's procedural extension, examine the mandatory and optional parts of PL/SQL block structures, study variable declarations and type anchoring with percent-type and percent-rowtype, look at robust exception handling, and discuss practical applications of PL/SQL blocks in database application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PL/SQL? It stands for Procedural Language extension to SQL, developed by Oracle Corporation. While SQL is a declarative language where you specify what data you want, PL/SQL allows you to write step-by-step procedural logic using loops, conditions, and variables. Its core benefits include tight SQL integration, supporting all SQL data types and functions directly. It is block-structured, meaning code is grouped into logical, reusable units. Most importantly, it is highly efficient. Instead of sending queries one-by-one over the network, PL/SQL groups queries into a single block sent to the database engine, reducing network traffic and latency. Since it compiles and runs inside the Oracle Database kernel, it maximizes processing speed and secures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the PL/SQL Block Structure. Code is written in nested blocks containing three sections. The optional DECLARE section is where variables, constants, and cursors are allocated in memory. The mandatory BEGIN section contains procedural instructions and SQL queries; it must have at least one executable statement, even if it is just a NULL command. The optional EXCEPTION section traps runtime errors to prevent program crashes. Blocks can be anonymous, which are compiled and executed immediately in memory, or named, like stored procedures, functions, or triggers, which are saved permanently in the database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PL/SQL supports scalar, composite, reference, and LOB data types. Scalar types include VARCHAR2, NUMBER, DATE, and BOOLEAN. A key feature is the percent-type attribute, which anchors a variable to a database column's type. For example, declaring employee salary as employees dot salary percent-type ensures the variable automatically adapts if the DBA changes the column's definition, avoiding compilation errors. We can also declare variables as CONSTANT or NOT NULL. For composite records, we use the percent-rowtype attribute. This declares a record variable representing an entire database table row, mapping fields dynamically and allowing us to select rows directly into records using SELECT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Exceptions handle runtime errors cleanly, separating error-handling from main logic. Oracle has predefined exceptions raised automatically, such as NO_DATA_FOUND when a SELECT INTO returns zero rows, and TOO_MANY_ROWS when it returns more than one. We can also declare user-defined exceptions and trigger them manually using the RAISE statement when business rules are violated. The EXCEPTION block handles these errors using WHEN clauses. The WHEN OTHERS block acts as a catch-all to trap any unhandled error, where developers can log error details using SQLCODE and SQLERRM and perform a ROLLBACK to maintain transaction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are the applications of PL/SQL blocks? They are the backbone of secure database applications. In Transactional Controls, they group operations like funds transfers, committing only if all succeed, or rolling back in the exception block. In Batch Data Updates, they iterate through cursors to process millions of rows efficiently. In Data Validation APIs, they enforce business rule constraints before records are inserted, protecting database integrity. In ETL processes, they extract, transform, and load data during migrations, capturing and logging errors without halting the entire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this presentation on PL/SQL Block Structure and Variables. We have seen how combining SQL with procedural logic under structured blocks makes database applications highly efficient, secure, and resilient. I would like to thank the Department of Computer Science and Engineering at the Marri Laxman Reddy Institute of Technology and Management. Thank you all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PL/SQL Basics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PL/SQL Block Structure &amp; Variables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PL/SQL?</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PL/SQL </a:t>
            </a:r>
            <a:pPr indent="0" marL="0">
              <a:buNone/>
            </a:pPr>
            <a:r>
              <a:rPr lang="en-US" sz="1400" dirty="0">
                <a:solidFill>
                  <a:srgbClr val="000000"/>
                </a:solidFill>
                <a:latin typeface="Arial" pitchFamily="34" charset="0"/>
                <a:ea typeface="Arial" pitchFamily="34" charset="-122"/>
                <a:cs typeface="Arial" pitchFamily="34" charset="-120"/>
              </a:rPr>
              <a:t>(Procedural Language/Structured Query Language) is Oracle Corporation's procedural extension to SQL. It integrates SQL queries with procedural programming constructs (loops, conditions, variables).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Features &amp; Integration</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Block Structured:</a:t>
            </a:r>
            <a:pPr indent="0" marL="0">
              <a:buNone/>
            </a:pPr>
            <a:r>
              <a:rPr lang="en-US" sz="1300" dirty="0">
                <a:solidFill>
                  <a:srgbClr val="000000"/>
                </a:solidFill>
                <a:latin typeface="Arial" pitchFamily="34" charset="0"/>
                <a:ea typeface="Arial" pitchFamily="34" charset="-122"/>
                <a:cs typeface="Arial" pitchFamily="34" charset="-120"/>
              </a:rPr>
              <a:t> Code is structured into logically enclosed blocks. Each block is a single unit of execution.</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Tight SQL Integration:</a:t>
            </a:r>
            <a:pPr indent="0" marL="0">
              <a:buNone/>
            </a:pPr>
            <a:r>
              <a:rPr lang="en-US" sz="1300" dirty="0">
                <a:solidFill>
                  <a:srgbClr val="000000"/>
                </a:solidFill>
                <a:latin typeface="Arial" pitchFamily="34" charset="0"/>
                <a:ea typeface="Arial" pitchFamily="34" charset="-122"/>
                <a:cs typeface="Arial" pitchFamily="34" charset="-120"/>
              </a:rPr>
              <a:t> Supports all SQL statements, data types, and functions directly within the code.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Client-Server efficiency:</a:t>
            </a:r>
            <a:pPr indent="0" marL="0">
              <a:buNone/>
            </a:pPr>
            <a:r>
              <a:rPr lang="en-US" sz="1300" dirty="0">
                <a:solidFill>
                  <a:srgbClr val="000000"/>
                </a:solidFill>
                <a:latin typeface="Arial" pitchFamily="34" charset="0"/>
                <a:ea typeface="Arial" pitchFamily="34" charset="-122"/>
                <a:cs typeface="Arial" pitchFamily="34" charset="-120"/>
              </a:rPr>
              <a:t> Groups multiple SQL queries into a single block sent to the database engine, reducing network traffic and latency.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Performance gains:</a:t>
            </a:r>
            <a:pPr indent="0" marL="0">
              <a:buNone/>
            </a:pPr>
            <a:r>
              <a:rPr lang="en-US" sz="1300" dirty="0">
                <a:solidFill>
                  <a:srgbClr val="000000"/>
                </a:solidFill>
                <a:latin typeface="Arial" pitchFamily="34" charset="0"/>
                <a:ea typeface="Arial" pitchFamily="34" charset="-122"/>
                <a:cs typeface="Arial" pitchFamily="34" charset="-120"/>
              </a:rPr>
              <a:t> Compiled and run inside the Oracle Database kernel, maximizing data-processing speeds.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Benefits in Application Development</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Procedural Logic:</a:t>
            </a:r>
            <a:pPr indent="0" marL="0">
              <a:buNone/>
            </a:pPr>
            <a:r>
              <a:rPr lang="en-US" sz="1300" dirty="0">
                <a:solidFill>
                  <a:srgbClr val="000000"/>
                </a:solidFill>
                <a:latin typeface="Arial" pitchFamily="34" charset="0"/>
                <a:ea typeface="Arial" pitchFamily="34" charset="-122"/>
                <a:cs typeface="Arial" pitchFamily="34" charset="-120"/>
              </a:rPr>
              <a:t> Allows developers to implement complex algorithms, logical checks, and loops directly on the database side.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Robust Exception Handling:</a:t>
            </a:r>
            <a:pPr indent="0" marL="0">
              <a:buNone/>
            </a:pPr>
            <a:r>
              <a:rPr lang="en-US" sz="1300" dirty="0">
                <a:solidFill>
                  <a:srgbClr val="000000"/>
                </a:solidFill>
                <a:latin typeface="Arial" pitchFamily="34" charset="0"/>
                <a:ea typeface="Arial" pitchFamily="34" charset="-122"/>
                <a:cs typeface="Arial" pitchFamily="34" charset="-120"/>
              </a:rPr>
              <a:t> Has built-in, custom error-trapping blocks to handle query failures gracefully.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Portability &amp; Security:</a:t>
            </a:r>
            <a:pPr indent="0" marL="0">
              <a:buNone/>
            </a:pPr>
            <a:r>
              <a:rPr lang="en-US" sz="1300" dirty="0">
                <a:solidFill>
                  <a:srgbClr val="000000"/>
                </a:solidFill>
                <a:latin typeface="Arial" pitchFamily="34" charset="0"/>
                <a:ea typeface="Arial" pitchFamily="34" charset="-122"/>
                <a:cs typeface="Arial" pitchFamily="34" charset="-120"/>
              </a:rPr>
              <a:t> Runs on any OS hosting Oracle Database. Business logic is secured inside database schemas.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Modular Architecture:</a:t>
            </a:r>
            <a:pPr indent="0" marL="0">
              <a:buNone/>
            </a:pPr>
            <a:r>
              <a:rPr lang="en-US" sz="1300" dirty="0">
                <a:solidFill>
                  <a:srgbClr val="000000"/>
                </a:solidFill>
                <a:latin typeface="Arial" pitchFamily="34" charset="0"/>
                <a:ea typeface="Arial" pitchFamily="34" charset="-122"/>
                <a:cs typeface="Arial" pitchFamily="34" charset="-120"/>
              </a:rPr>
              <a:t> Supports packaging code into reusable procedures, functions, and packages.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PL/SQL Block Structure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code is written inside standardized, nested blocks containing up to three sections:</a:t>
            </a:r>
            <a:endParaRPr lang="en-US" sz="1400" dirty="0"/>
          </a:p>
        </p:txBody>
      </p:sp>
      <p:sp>
        <p:nvSpPr>
          <p:cNvPr id="16" name="Shape 13"/>
          <p:cNvSpPr/>
          <p:nvPr/>
        </p:nvSpPr>
        <p:spPr>
          <a:xfrm>
            <a:off x="457200" y="2103120"/>
            <a:ext cx="5394960" cy="4114800"/>
          </a:xfrm>
          <a:prstGeom prst="roundRect">
            <a:avLst>
              <a:gd name="adj" fmla="val 2222"/>
            </a:avLst>
          </a:prstGeom>
          <a:solidFill>
            <a:srgbClr val="F8F8F8"/>
          </a:solidFill>
          <a:ln w="19050">
            <a:solidFill>
              <a:srgbClr val="555555"/>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Courier New" pitchFamily="34" charset="0"/>
                <a:ea typeface="Courier New" pitchFamily="34" charset="-122"/>
                <a:cs typeface="Courier New" pitchFamily="34" charset="-120"/>
              </a:rPr>
              <a:t>Typical Syntax Structure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50" b="1" dirty="0">
                <a:solidFill>
                  <a:srgbClr val="990033"/>
                </a:solidFill>
                <a:latin typeface="Courier New" pitchFamily="34" charset="0"/>
                <a:ea typeface="Courier New" pitchFamily="34" charset="-122"/>
                <a:cs typeface="Courier New" pitchFamily="34" charset="-120"/>
              </a:rPr>
              <a:t>[DECLARE]
</a:t>
            </a:r>
            <a:pPr indent="0" marL="0">
              <a:buNone/>
            </a:pPr>
            <a:r>
              <a:rPr lang="en-US" sz="1350" dirty="0">
                <a:solidFill>
                  <a:srgbClr val="555555"/>
                </a:solidFill>
                <a:latin typeface="Courier New" pitchFamily="34" charset="0"/>
                <a:ea typeface="Courier New" pitchFamily="34" charset="-122"/>
                <a:cs typeface="Courier New" pitchFamily="34" charset="-120"/>
              </a:rPr>
              <a:t>   -- Declaration of variables, types, cursors
</a:t>
            </a:r>
            <a:pPr indent="0" marL="0">
              <a:buNone/>
            </a:pPr>
            <a:r>
              <a:rPr lang="en-US" sz="1350" b="1" dirty="0">
                <a:solidFill>
                  <a:srgbClr val="990033"/>
                </a:solidFill>
                <a:latin typeface="Courier New" pitchFamily="34" charset="0"/>
                <a:ea typeface="Courier New" pitchFamily="34" charset="-122"/>
                <a:cs typeface="Courier New" pitchFamily="34" charset="-120"/>
              </a:rPr>
              <a:t>BEGIN
</a:t>
            </a:r>
            <a:pPr indent="0" marL="0">
              <a:buNone/>
            </a:pPr>
            <a:r>
              <a:rPr lang="en-US" sz="1350" dirty="0">
                <a:solidFill>
                  <a:srgbClr val="000000"/>
                </a:solidFill>
                <a:latin typeface="Courier New" pitchFamily="34" charset="0"/>
                <a:ea typeface="Courier New" pitchFamily="34" charset="-122"/>
                <a:cs typeface="Courier New" pitchFamily="34" charset="-120"/>
              </a:rPr>
              <a:t>   -- Executable statements (SQL and PL/SQL)
</a:t>
            </a:r>
            <a:pPr indent="0" marL="0">
              <a:buNone/>
            </a:pPr>
            <a:r>
              <a:rPr lang="en-US" sz="1350" b="1" dirty="0">
                <a:solidFill>
                  <a:srgbClr val="990033"/>
                </a:solidFill>
                <a:latin typeface="Courier New" pitchFamily="34" charset="0"/>
                <a:ea typeface="Courier New" pitchFamily="34" charset="-122"/>
                <a:cs typeface="Courier New" pitchFamily="34" charset="-120"/>
              </a:rPr>
              <a:t>[EXCEPTION]
</a:t>
            </a:r>
            <a:pPr indent="0" marL="0">
              <a:buNone/>
            </a:pPr>
            <a:r>
              <a:rPr lang="en-US" sz="1350" dirty="0">
                <a:solidFill>
                  <a:srgbClr val="555555"/>
                </a:solidFill>
                <a:latin typeface="Courier New" pitchFamily="34" charset="0"/>
                <a:ea typeface="Courier New" pitchFamily="34" charset="-122"/>
                <a:cs typeface="Courier New" pitchFamily="34" charset="-120"/>
              </a:rPr>
              <a:t>   -- Error handling and trapping code
</a:t>
            </a:r>
            <a:pPr indent="0" marL="0">
              <a:buNone/>
            </a:pPr>
            <a:r>
              <a:rPr lang="en-US" sz="1350" b="1" dirty="0">
                <a:solidFill>
                  <a:srgbClr val="990033"/>
                </a:solidFill>
                <a:latin typeface="Courier New" pitchFamily="34" charset="0"/>
                <a:ea typeface="Courier New" pitchFamily="34" charset="-122"/>
                <a:cs typeface="Courier New" pitchFamily="34" charset="-120"/>
              </a:rPr>
              <a:t>END;
</a:t>
            </a:r>
            <a:pPr indent="0" marL="0">
              <a:buNone/>
            </a:pPr>
            <a:r>
              <a:rPr lang="en-US" sz="1350" dirty="0">
                <a:solidFill>
                  <a:srgbClr val="990033"/>
                </a:solidFill>
                <a:latin typeface="Courier New" pitchFamily="34" charset="0"/>
                <a:ea typeface="Courier New" pitchFamily="34" charset="-122"/>
                <a:cs typeface="Courier New" pitchFamily="34" charset="-120"/>
              </a:rPr>
              <a:t>/  -- Executes the block</a:t>
            </a:r>
            <a:endParaRPr lang="en-US" sz="135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Section Details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DECLARE (Optional):</a:t>
            </a:r>
            <a:pPr indent="0" marL="0">
              <a:buNone/>
            </a:pPr>
            <a:r>
              <a:rPr lang="en-US" sz="1300" dirty="0">
                <a:solidFill>
                  <a:srgbClr val="000000"/>
                </a:solidFill>
                <a:latin typeface="Arial" pitchFamily="34" charset="0"/>
                <a:ea typeface="Arial" pitchFamily="34" charset="-122"/>
                <a:cs typeface="Arial" pitchFamily="34" charset="-120"/>
              </a:rPr>
              <a:t> Allocates memory for variables, constants, cursors, and user-defined exceptions. Not accessible outside the block.</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BEGIN (Mandatory):</a:t>
            </a:r>
            <a:pPr indent="0" marL="0">
              <a:buNone/>
            </a:pPr>
            <a:r>
              <a:rPr lang="en-US" sz="1300" dirty="0">
                <a:solidFill>
                  <a:srgbClr val="000000"/>
                </a:solidFill>
                <a:latin typeface="Arial" pitchFamily="34" charset="0"/>
                <a:ea typeface="Arial" pitchFamily="34" charset="-122"/>
                <a:cs typeface="Arial" pitchFamily="34" charset="-120"/>
              </a:rPr>
              <a:t> Contains the core procedural instructions and SQL queries. Must have at least one executable statement (can be 'NULL;').</a:t>
            </a:r>
            <a:endParaRPr lang="en-US" sz="1300" dirty="0"/>
          </a:p>
          <a:p>
            <a:pPr indent="0" marL="0">
              <a:buNone/>
            </a:pPr>
            <a:r>
              <a:rPr lang="en-US" sz="1300" b="1" dirty="0">
                <a:solidFill>
                  <a:srgbClr val="F57F17"/>
                </a:solidFill>
                <a:latin typeface="Arial" pitchFamily="34" charset="0"/>
                <a:ea typeface="Arial" pitchFamily="34" charset="-122"/>
                <a:cs typeface="Arial" pitchFamily="34" charset="-120"/>
              </a:rPr>
              <a:t>• EXCEPTION (Optional):</a:t>
            </a:r>
            <a:pPr indent="0" marL="0">
              <a:buNone/>
            </a:pPr>
            <a:r>
              <a:rPr lang="en-US" sz="1300" dirty="0">
                <a:solidFill>
                  <a:srgbClr val="000000"/>
                </a:solidFill>
                <a:latin typeface="Arial" pitchFamily="34" charset="0"/>
                <a:ea typeface="Arial" pitchFamily="34" charset="-122"/>
                <a:cs typeface="Arial" pitchFamily="34" charset="-120"/>
              </a:rPr>
              <a:t> Traps errors that occur during the execution of the BEGIN section, preventing program crashes.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Anonymous vs. Named:</a:t>
            </a:r>
            <a:pPr indent="0" marL="0">
              <a:buNone/>
            </a:pPr>
            <a:r>
              <a:rPr lang="en-US" sz="1300" dirty="0">
                <a:solidFill>
                  <a:srgbClr val="000000"/>
                </a:solidFill>
                <a:latin typeface="Arial" pitchFamily="34" charset="0"/>
                <a:ea typeface="Arial" pitchFamily="34" charset="-122"/>
                <a:cs typeface="Arial" pitchFamily="34" charset="-120"/>
              </a:rPr>
              <a:t> Anonymous blocks are compiled on the fly and not saved. Named blocks (procedures, functions) are stored in the database catalog.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Variables and Data Types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supports robust scalar, composite, reference, and LOB data types: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Scalar Types &amp; Anchors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Standard SQL Scalars:</a:t>
            </a:r>
            <a:pPr indent="0" marL="0">
              <a:buNone/>
            </a:pPr>
            <a:r>
              <a:rPr lang="en-US" sz="1300" dirty="0">
                <a:solidFill>
                  <a:srgbClr val="000000"/>
                </a:solidFill>
                <a:latin typeface="Arial" pitchFamily="34" charset="0"/>
                <a:ea typeface="Arial" pitchFamily="34" charset="-122"/>
                <a:cs typeface="Arial" pitchFamily="34" charset="-120"/>
              </a:rPr>
              <a:t> VARCHAR2, NUMBER, DATE, CHAR, BOOLEAN (unique to PL/SQL).</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%TYPE Attribute (Anchored Type):</a:t>
            </a:r>
            <a:pPr indent="0" marL="0">
              <a:buNone/>
            </a:pPr>
            <a:r>
              <a:rPr lang="en-US" sz="1300" dirty="0">
                <a:solidFill>
                  <a:srgbClr val="000000"/>
                </a:solidFill>
                <a:latin typeface="Arial" pitchFamily="34" charset="0"/>
                <a:ea typeface="Arial" pitchFamily="34" charset="-122"/>
                <a:cs typeface="Arial" pitchFamily="34" charset="-120"/>
              </a:rPr>
              <a:t> Declares a variable with the exact data type of a database column. Dynamically adapts to table schema changes: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emp_salary  employees.salary%TYPE;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CONSTANT Declaration:</a:t>
            </a:r>
            <a:pPr indent="0" marL="0">
              <a:buNone/>
            </a:pPr>
            <a:r>
              <a:rPr lang="en-US" sz="1300" dirty="0">
                <a:solidFill>
                  <a:srgbClr val="000000"/>
                </a:solidFill>
                <a:latin typeface="Arial" pitchFamily="34" charset="0"/>
                <a:ea typeface="Arial" pitchFamily="34" charset="-122"/>
                <a:cs typeface="Arial" pitchFamily="34" charset="-120"/>
              </a:rPr>
              <a:t> Binds a value that cannot change during block execution:</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pi  CONSTANT  NUMBER := 3.14159;</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NOT NULL:</a:t>
            </a:r>
            <a:pPr indent="0" marL="0">
              <a:buNone/>
            </a:pPr>
            <a:r>
              <a:rPr lang="en-US" sz="1300" dirty="0">
                <a:solidFill>
                  <a:srgbClr val="000000"/>
                </a:solidFill>
                <a:latin typeface="Arial" pitchFamily="34" charset="0"/>
                <a:ea typeface="Arial" pitchFamily="34" charset="-122"/>
                <a:cs typeface="Arial" pitchFamily="34" charset="-120"/>
              </a:rPr>
              <a:t> Forces variable initialization and prevents assigning nulls.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Composite Record Types</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PL/SQL Records:</a:t>
            </a:r>
            <a:pPr indent="0" marL="0">
              <a:buNone/>
            </a:pPr>
            <a:r>
              <a:rPr lang="en-US" sz="1300" dirty="0">
                <a:solidFill>
                  <a:srgbClr val="000000"/>
                </a:solidFill>
                <a:latin typeface="Arial" pitchFamily="34" charset="0"/>
                <a:ea typeface="Arial" pitchFamily="34" charset="-122"/>
                <a:cs typeface="Arial" pitchFamily="34" charset="-120"/>
              </a:rPr>
              <a:t> Custom group of related fields. Similar to a struct in C/C++ or an object attribute list.</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%ROWTYPE Attribute:</a:t>
            </a:r>
            <a:pPr indent="0" marL="0">
              <a:buNone/>
            </a:pPr>
            <a:r>
              <a:rPr lang="en-US" sz="1300" dirty="0">
                <a:solidFill>
                  <a:srgbClr val="000000"/>
                </a:solidFill>
                <a:latin typeface="Arial" pitchFamily="34" charset="0"/>
                <a:ea typeface="Arial" pitchFamily="34" charset="-122"/>
                <a:cs typeface="Arial" pitchFamily="34" charset="-120"/>
              </a:rPr>
              <a:t> Declares a record that represents an entire row of a table or view. Fields map to table columns dynamically:</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emp_rec  employees%ROWTYPE;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Access: emp_rec.first_name := 'Srinivas';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Initialization:</a:t>
            </a:r>
            <a:pPr indent="0" marL="0">
              <a:buNone/>
            </a:pPr>
            <a:r>
              <a:rPr lang="en-US" sz="1300" dirty="0">
                <a:solidFill>
                  <a:srgbClr val="000000"/>
                </a:solidFill>
                <a:latin typeface="Arial" pitchFamily="34" charset="0"/>
                <a:ea typeface="Arial" pitchFamily="34" charset="-122"/>
                <a:cs typeface="Arial" pitchFamily="34" charset="-120"/>
              </a:rPr>
              <a:t> Variables are initialized using the assignment operator ':=' or the DEFAULT keyword. Uninitialized variables default to NULL.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Exception Handling: Resilient Code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Exceptions handle runtime errors cleanly, separating error-handling from main logic:</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Types of Exceptions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Predefined Exceptions:</a:t>
            </a:r>
            <a:pPr indent="0" marL="0">
              <a:buNone/>
            </a:pPr>
            <a:r>
              <a:rPr lang="en-US" sz="1300" dirty="0">
                <a:solidFill>
                  <a:srgbClr val="000000"/>
                </a:solidFill>
                <a:latin typeface="Arial" pitchFamily="34" charset="0"/>
                <a:ea typeface="Arial" pitchFamily="34" charset="-122"/>
                <a:cs typeface="Arial" pitchFamily="34" charset="-120"/>
              </a:rPr>
              <a:t> Automatically raised by Oracle Database runtime for common errors:
</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 NO_DATA_FOUND:</a:t>
            </a:r>
            <a:pPr indent="0" marL="0">
              <a:buNone/>
            </a:pPr>
            <a:r>
              <a:rPr lang="en-US" sz="1300" dirty="0">
                <a:solidFill>
                  <a:srgbClr val="000000"/>
                </a:solidFill>
                <a:latin typeface="Arial" pitchFamily="34" charset="0"/>
                <a:ea typeface="Arial" pitchFamily="34" charset="-122"/>
                <a:cs typeface="Arial" pitchFamily="34" charset="-120"/>
              </a:rPr>
              <a:t> SELECT INTO returned 0 rows.
</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 TOO_MANY_ROWS:</a:t>
            </a:r>
            <a:pPr indent="0" marL="0">
              <a:buNone/>
            </a:pPr>
            <a:r>
              <a:rPr lang="en-US" sz="1300" dirty="0">
                <a:solidFill>
                  <a:srgbClr val="000000"/>
                </a:solidFill>
                <a:latin typeface="Arial" pitchFamily="34" charset="0"/>
                <a:ea typeface="Arial" pitchFamily="34" charset="-122"/>
                <a:cs typeface="Arial" pitchFamily="34" charset="-120"/>
              </a:rPr>
              <a:t> SELECT INTO returned &gt;1 row.
</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 ZERO_DIVIDE:</a:t>
            </a:r>
            <a:pPr indent="0" marL="0">
              <a:buNone/>
            </a:pPr>
            <a:r>
              <a:rPr lang="en-US" sz="1300" dirty="0">
                <a:solidFill>
                  <a:srgbClr val="000000"/>
                </a:solidFill>
                <a:latin typeface="Arial" pitchFamily="34" charset="0"/>
                <a:ea typeface="Arial" pitchFamily="34" charset="-122"/>
                <a:cs typeface="Arial" pitchFamily="34" charset="-120"/>
              </a:rPr>
              <a:t> Division by zero error.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User-Defined Exceptions:</a:t>
            </a:r>
            <a:pPr indent="0" marL="0">
              <a:buNone/>
            </a:pPr>
            <a:r>
              <a:rPr lang="en-US" sz="1300" dirty="0">
                <a:solidFill>
                  <a:srgbClr val="000000"/>
                </a:solidFill>
                <a:latin typeface="Arial" pitchFamily="34" charset="0"/>
                <a:ea typeface="Arial" pitchFamily="34" charset="-122"/>
                <a:cs typeface="Arial" pitchFamily="34" charset="-120"/>
              </a:rPr>
              <a:t> Custom exceptions declared in DECLARE section and triggered manually using the RAISE statement when a business rule is violated.</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Courier New" pitchFamily="34" charset="0"/>
                <a:ea typeface="Courier New" pitchFamily="34" charset="-122"/>
                <a:cs typeface="Courier New" pitchFamily="34" charset="-120"/>
              </a:rPr>
              <a:t>Error Handling Block Syntax</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50" b="1" dirty="0">
                <a:solidFill>
                  <a:srgbClr val="990033"/>
                </a:solidFill>
                <a:latin typeface="Courier New" pitchFamily="34" charset="0"/>
                <a:ea typeface="Courier New" pitchFamily="34" charset="-122"/>
                <a:cs typeface="Courier New" pitchFamily="34" charset="-120"/>
              </a:rPr>
              <a:t>EXCEPTION
</a:t>
            </a:r>
            <a:pPr indent="0" marL="0">
              <a:buNone/>
            </a:pPr>
            <a:r>
              <a:rPr lang="en-US" sz="1350" b="1" dirty="0">
                <a:solidFill>
                  <a:srgbClr val="1565C0"/>
                </a:solidFill>
                <a:latin typeface="Courier New" pitchFamily="34" charset="0"/>
                <a:ea typeface="Courier New" pitchFamily="34" charset="-122"/>
                <a:cs typeface="Courier New" pitchFamily="34" charset="-120"/>
              </a:rPr>
              <a:t>  WHEN NO_DATA_FOUND THEN
</a:t>
            </a:r>
            <a:pPr indent="0" marL="0">
              <a:buNone/>
            </a:pPr>
            <a:r>
              <a:rPr lang="en-US" sz="1350" dirty="0">
                <a:solidFill>
                  <a:srgbClr val="000000"/>
                </a:solidFill>
                <a:latin typeface="Courier New" pitchFamily="34" charset="0"/>
                <a:ea typeface="Courier New" pitchFamily="34" charset="-122"/>
                <a:cs typeface="Courier New" pitchFamily="34" charset="-120"/>
              </a:rPr>
              <a:t>    dbms_output.put_line('No Employee found!');
</a:t>
            </a:r>
            <a:pPr indent="0" marL="0">
              <a:buNone/>
            </a:pPr>
            <a:r>
              <a:rPr lang="en-US" sz="1350" b="1" dirty="0">
                <a:solidFill>
                  <a:srgbClr val="1565C0"/>
                </a:solidFill>
                <a:latin typeface="Courier New" pitchFamily="34" charset="0"/>
                <a:ea typeface="Courier New" pitchFamily="34" charset="-122"/>
                <a:cs typeface="Courier New" pitchFamily="34" charset="-120"/>
              </a:rPr>
              <a:t>  WHEN OTHERS THEN
</a:t>
            </a:r>
            <a:pPr indent="0" marL="0">
              <a:buNone/>
            </a:pPr>
            <a:r>
              <a:rPr lang="en-US" sz="1350" dirty="0">
                <a:solidFill>
                  <a:srgbClr val="555555"/>
                </a:solidFill>
                <a:latin typeface="Courier New" pitchFamily="34" charset="0"/>
                <a:ea typeface="Courier New" pitchFamily="34" charset="-122"/>
                <a:cs typeface="Courier New" pitchFamily="34" charset="-120"/>
              </a:rPr>
              <a:t>    -- Handles any other error
</a:t>
            </a:r>
            <a:pPr indent="0" marL="0">
              <a:buNone/>
            </a:pPr>
            <a:r>
              <a:rPr lang="en-US" sz="1350" dirty="0">
                <a:solidFill>
                  <a:srgbClr val="000000"/>
                </a:solidFill>
                <a:latin typeface="Courier New" pitchFamily="34" charset="0"/>
                <a:ea typeface="Courier New" pitchFamily="34" charset="-122"/>
                <a:cs typeface="Courier New" pitchFamily="34" charset="-120"/>
              </a:rPr>
              <a:t>    dbms_output.put_line('Error: ' || SQLERRM);
</a:t>
            </a:r>
            <a:pPr indent="0" marL="0">
              <a:buNone/>
            </a:pPr>
            <a:r>
              <a:rPr lang="en-US" sz="1350" b="1" dirty="0">
                <a:solidFill>
                  <a:srgbClr val="000000"/>
                </a:solidFill>
                <a:latin typeface="Courier New" pitchFamily="34" charset="0"/>
                <a:ea typeface="Courier New" pitchFamily="34" charset="-122"/>
                <a:cs typeface="Courier New" pitchFamily="34" charset="-120"/>
              </a:rPr>
              <a:t>    ROLLBACK;
</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PL/SQL Blocks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block structures are the backbone of secure database application development:</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Transactional Controls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Groups complex SQL operations (e.g., deducting balance and adding to another account) into a single execution block. Commits transaction if all succeed, or performs a ROLLBACK in the EXCEPTION block if any step fails.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Batch Data Updates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Iterates through database cursors and performs batch updates. Bulk statements load millions of rows efficiently with minimal CPU overhead.</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Data Validation API</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Implements business validation constraints (e.g., checking user eligibility, verifying credit bounds) prior to database insertion, protecting database integrity.</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ETL Processes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Extracts, transforms, and loads data during data migrations. Exception sections capture and log malformed rows to error tables, keeping migrations running.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2026-06-14T18:37:46Z</dcterms:created>
  <dcterms:modified xsi:type="dcterms:W3CDTF">2026-06-14T18:37:46Z</dcterms:modified>
</cp:coreProperties>
</file>