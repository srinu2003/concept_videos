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everyone, my name is Srinivas Rao Tammireddy, and my roll number is 257Y1D5805. I am a first-year, first-semester M.Tech student in Computer Science and Engineering at the Marri Laxman Reddy Institute of Technology and Management. Today, I am going to present on Unit Four of Database Programming with PL/SQL, which covers PL/SQL Packages. In this session, we will look at the definition of packages, the two-part architecture of specification and body, the differences between Definer Rights and Invoker Rights, how packages are monitored in the database catalog, the timestamp versus signature validation methods, and their primary applications in enterprise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start by defining what a PL/SQL package is. A package is a schema object that groups logically related PL/SQL types, variables, constants, subprograms, and cursors. As shown on the slide, it uses a two-part architecture. The Package Specification serves as the public interface, declaring public variables, cursors, types, and subprogram signatures that are visible to other database programs. The Package Body, on the other hand, contains the private implementation and actual code of these subprograms, which remains hidden from the outer scope. A major benefit of this separate compilation is that we can change and re-compile the body without compiling the specification, which prevents the invalidation of dependent objects. Overall, packages support modular development, protect implementation details through encapsulation, maintain session-persistent state in memory, and improve performance by loading the entire package on the first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discuss package security contexts, specifically Definer Rights versus Invoker Rights, controlled by the AUTHID clause. Definer Rights, declared using AUTHID DEFINER, is the default behavior. Under this model, the package runs with the schema privileges of the user who created it. This provides strong security encapsulation because it allows less-privileged users to perform modifications on tables they cannot access directly by executing a procedure owned by a privileged creator. Unqualified table names resolve to the definer's schema. In contrast, Invoker Rights, declared using AUTHID CURRENT_USER, executes the package with the privileges of the active caller. References to unqualified tables resolve dynamically to the caller's schema, meaning the same query fetches different data depending on who runs it. This is ideal for sharing utility packages across different schemas while preventing privilege escalation.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examine how Oracle manages packages and dependencies. Package metadata and statuses are stored in catalog views like USER_OBJECTS and USER_SOURCE. A query on USER_OBJECTS, as shown on the slide, returns whether a package is VALID or INVALID. If a dependent table changes, Oracle marks the package as invalid. When recompiling, Oracle uses two methods: Timestamp and Signature. The default Timestamp method compares compilation times; if a package specification changes, all calling programs are marked invalid immediately, which can cause massive cascading invalidations. The Signature method compares subprogram parameter signatures and data types instead. Calling programs remain valid as long as parameter signatures do not change, which significantly reduces compilation overhead and avoids rebuild loops in production environments.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summarize, PL/SQL packages have vital applications in database development. They act as enterprise business API libraries, grouping related workflows like finance or HR into single repositories to standardize transactions. They also function as session cache managers. Because package variables persist throughout a database connection, they cache static data in memory, avoiding redundant table queries. Furthermore, packages encapsulate complex integrations, such as calling external APIs or parsing JSON, keeping body routines private. Finally, they serve as utility toolkits, grouping common helper subprograms for data mapping and error logging, similar to Oracle's built-in packages like DBMS_SQL.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brings me to the end of my presentation on PL/SQL Packages. We have seen how packaging related components improves modularity, security, and performance. I would like to express my sincere gratitude to the Department of Computer Science and Engineering at the Marri Laxman Reddy Institute of Technology and Management for this opportunity. Thank you all for your time and attention.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Database Programming with PL/SQL</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78992"/>
            <a:ext cx="11292840" cy="384048"/>
          </a:xfrm>
          <a:prstGeom prst="rect">
            <a:avLst/>
          </a:prstGeom>
          <a:noFill/>
          <a:ln/>
        </p:spPr>
        <p:txBody>
          <a:bodyPr wrap="square" rtlCol="0" anchor="ctr"/>
          <a:lstStyle/>
          <a:p>
            <a:pPr algn="ctr" indent="0" marL="0">
              <a:buNone/>
            </a:pPr>
            <a:r>
              <a:rPr lang="en-US" sz="1400" i="1" dirty="0">
                <a:solidFill>
                  <a:srgbClr val="990033"/>
                </a:solidFill>
                <a:latin typeface="Arial" pitchFamily="34" charset="0"/>
                <a:ea typeface="Arial" pitchFamily="34" charset="-122"/>
                <a:cs typeface="Arial" pitchFamily="34" charset="-120"/>
              </a:rPr>
              <a:t>Unit IV: Packages</a:t>
            </a:r>
            <a:endParaRPr lang="en-US" sz="1400" dirty="0"/>
          </a:p>
        </p:txBody>
      </p:sp>
      <p:sp>
        <p:nvSpPr>
          <p:cNvPr id="14" name="Shape 11"/>
          <p:cNvSpPr/>
          <p:nvPr/>
        </p:nvSpPr>
        <p:spPr>
          <a:xfrm>
            <a:off x="1645920" y="1572768"/>
            <a:ext cx="8897112" cy="1280160"/>
          </a:xfrm>
          <a:prstGeom prst="rect">
            <a:avLst/>
          </a:prstGeom>
          <a:solidFill>
            <a:srgbClr val="990033"/>
          </a:solidFill>
          <a:ln w="12700">
            <a:solidFill>
              <a:srgbClr val="990033"/>
            </a:solidFill>
            <a:prstDash val="solid"/>
          </a:ln>
        </p:spPr>
      </p:sp>
      <p:sp>
        <p:nvSpPr>
          <p:cNvPr id="15" name="Text 12"/>
          <p:cNvSpPr/>
          <p:nvPr/>
        </p:nvSpPr>
        <p:spPr>
          <a:xfrm>
            <a:off x="1645920" y="1572768"/>
            <a:ext cx="8897112" cy="1280160"/>
          </a:xfrm>
          <a:prstGeom prst="rect">
            <a:avLst/>
          </a:prstGeom>
          <a:noFill/>
          <a:ln/>
        </p:spPr>
        <p:txBody>
          <a:bodyPr wrap="square" lIns="0" tIns="0" rIns="0" bIns="0" rtlCol="0" anchor="ctr"/>
          <a:lstStyle/>
          <a:p>
            <a:pPr algn="ctr" indent="0" marL="0">
              <a:buNone/>
            </a:pPr>
            <a:r>
              <a:rPr lang="en-US" sz="2800" b="1" dirty="0">
                <a:solidFill>
                  <a:srgbClr val="FFFFFF"/>
                </a:solidFill>
                <a:latin typeface="Arial" pitchFamily="34" charset="0"/>
                <a:ea typeface="Arial" pitchFamily="34" charset="-122"/>
                <a:cs typeface="Arial" pitchFamily="34" charset="-120"/>
              </a:rPr>
              <a:t>PL/SQL Packages</a:t>
            </a:r>
            <a:endParaRPr lang="en-US" sz="2800" dirty="0"/>
          </a:p>
        </p:txBody>
      </p:sp>
      <p:sp>
        <p:nvSpPr>
          <p:cNvPr id="16" name="Text 13"/>
          <p:cNvSpPr/>
          <p:nvPr/>
        </p:nvSpPr>
        <p:spPr>
          <a:xfrm>
            <a:off x="457200" y="2999232"/>
            <a:ext cx="11292840" cy="365760"/>
          </a:xfrm>
          <a:prstGeom prst="rect">
            <a:avLst/>
          </a:prstGeom>
          <a:noFill/>
          <a:ln/>
        </p:spPr>
        <p:txBody>
          <a:bodyPr wrap="square" rtlCol="0" anchor="ctr"/>
          <a:lstStyle/>
          <a:p>
            <a:pPr algn="ctr" indent="0" marL="0">
              <a:buNone/>
            </a:pPr>
            <a:r>
              <a:rPr lang="en-US" sz="1500" b="1" dirty="0">
                <a:solidFill>
                  <a:srgbClr val="990033"/>
                </a:solidFill>
                <a:latin typeface="Arial" pitchFamily="34" charset="0"/>
                <a:ea typeface="Arial" pitchFamily="34" charset="-122"/>
                <a:cs typeface="Arial" pitchFamily="34" charset="-120"/>
              </a:rPr>
              <a:t>PPT PRESENTED BY</a:t>
            </a:r>
            <a:endParaRPr lang="en-US" sz="1500" dirty="0"/>
          </a:p>
        </p:txBody>
      </p:sp>
      <p:sp>
        <p:nvSpPr>
          <p:cNvPr id="17" name="Text 14"/>
          <p:cNvSpPr/>
          <p:nvPr/>
        </p:nvSpPr>
        <p:spPr>
          <a:xfrm>
            <a:off x="2926080" y="3438144"/>
            <a:ext cx="6400800" cy="384048"/>
          </a:xfrm>
          <a:prstGeom prst="rect">
            <a:avLst/>
          </a:prstGeom>
          <a:noFill/>
          <a:ln/>
        </p:spPr>
        <p:txBody>
          <a:bodyPr wrap="square" rtlCol="0" anchor="ctr"/>
          <a:lstStyle/>
          <a:p>
            <a:pPr indent="0" marL="0">
              <a:buNone/>
            </a:pPr>
            <a:r>
              <a:rPr lang="en-US" sz="1300" dirty="0">
                <a:solidFill>
                  <a:srgbClr val="000000"/>
                </a:solidFill>
                <a:latin typeface="Arial" pitchFamily="34" charset="0"/>
                <a:ea typeface="Arial" pitchFamily="34" charset="-122"/>
                <a:cs typeface="Arial" pitchFamily="34" charset="-120"/>
              </a:rPr>
              <a:t>NAME :   Srinivas Rao Tammireddy</a:t>
            </a:r>
            <a:endParaRPr lang="en-US" sz="1300" dirty="0"/>
          </a:p>
        </p:txBody>
      </p:sp>
      <p:sp>
        <p:nvSpPr>
          <p:cNvPr id="18" name="Text 15"/>
          <p:cNvSpPr/>
          <p:nvPr/>
        </p:nvSpPr>
        <p:spPr>
          <a:xfrm>
            <a:off x="2926080" y="3840480"/>
            <a:ext cx="6400800" cy="384048"/>
          </a:xfrm>
          <a:prstGeom prst="rect">
            <a:avLst/>
          </a:prstGeom>
          <a:noFill/>
          <a:ln/>
        </p:spPr>
        <p:txBody>
          <a:bodyPr wrap="square" rtlCol="0" anchor="ctr"/>
          <a:lstStyle/>
          <a:p>
            <a:pPr indent="0" marL="0">
              <a:buNone/>
            </a:pPr>
            <a:r>
              <a:rPr lang="en-US" sz="1300" dirty="0">
                <a:solidFill>
                  <a:srgbClr val="000000"/>
                </a:solidFill>
                <a:latin typeface="Arial" pitchFamily="34" charset="0"/>
                <a:ea typeface="Arial" pitchFamily="34" charset="-122"/>
                <a:cs typeface="Arial" pitchFamily="34" charset="-120"/>
              </a:rPr>
              <a:t>ROLL NO :   257Y1D5805</a:t>
            </a:r>
            <a:endParaRPr lang="en-US" sz="1300" dirty="0"/>
          </a:p>
        </p:txBody>
      </p:sp>
      <p:sp>
        <p:nvSpPr>
          <p:cNvPr id="19" name="Text 16"/>
          <p:cNvSpPr/>
          <p:nvPr/>
        </p:nvSpPr>
        <p:spPr>
          <a:xfrm>
            <a:off x="2926080" y="4242816"/>
            <a:ext cx="6400800" cy="384048"/>
          </a:xfrm>
          <a:prstGeom prst="rect">
            <a:avLst/>
          </a:prstGeom>
          <a:noFill/>
          <a:ln/>
        </p:spPr>
        <p:txBody>
          <a:bodyPr wrap="square" rtlCol="0" anchor="ctr"/>
          <a:lstStyle/>
          <a:p>
            <a:pPr indent="0" marL="0">
              <a:buNone/>
            </a:pPr>
            <a:r>
              <a:rPr lang="en-US" sz="1300" dirty="0">
                <a:solidFill>
                  <a:srgbClr val="000000"/>
                </a:solidFill>
                <a:latin typeface="Arial" pitchFamily="34" charset="0"/>
                <a:ea typeface="Arial" pitchFamily="34" charset="-122"/>
                <a:cs typeface="Arial" pitchFamily="34" charset="-120"/>
              </a:rPr>
              <a:t>YEAR :   I Year  I Semester</a:t>
            </a:r>
            <a:endParaRPr lang="en-US" sz="1300" dirty="0"/>
          </a:p>
        </p:txBody>
      </p:sp>
      <p:sp>
        <p:nvSpPr>
          <p:cNvPr id="20" name="Text 17"/>
          <p:cNvSpPr/>
          <p:nvPr/>
        </p:nvSpPr>
        <p:spPr>
          <a:xfrm>
            <a:off x="2926080" y="4645152"/>
            <a:ext cx="6400800" cy="384048"/>
          </a:xfrm>
          <a:prstGeom prst="rect">
            <a:avLst/>
          </a:prstGeom>
          <a:noFill/>
          <a:ln/>
        </p:spPr>
        <p:txBody>
          <a:bodyPr wrap="square" rtlCol="0" anchor="ctr"/>
          <a:lstStyle/>
          <a:p>
            <a:pPr indent="0" marL="0">
              <a:buNone/>
            </a:pPr>
            <a:r>
              <a:rPr lang="en-US" sz="1300" dirty="0">
                <a:solidFill>
                  <a:srgbClr val="000000"/>
                </a:solidFill>
                <a:latin typeface="Arial" pitchFamily="34" charset="0"/>
                <a:ea typeface="Arial" pitchFamily="34" charset="-122"/>
                <a:cs typeface="Arial" pitchFamily="34" charset="-120"/>
              </a:rPr>
              <a:t>ACADEMIC YEAR :   2025 - 2026</a:t>
            </a:r>
            <a:endParaRPr lang="en-US" sz="1300" dirty="0"/>
          </a:p>
        </p:txBody>
      </p:sp>
      <p:sp>
        <p:nvSpPr>
          <p:cNvPr id="21" name="Text 18"/>
          <p:cNvSpPr/>
          <p:nvPr/>
        </p:nvSpPr>
        <p:spPr>
          <a:xfrm>
            <a:off x="457200" y="6080760"/>
            <a:ext cx="11292840" cy="411480"/>
          </a:xfrm>
          <a:prstGeom prst="rect">
            <a:avLst/>
          </a:prstGeom>
          <a:noFill/>
          <a:ln/>
        </p:spPr>
        <p:txBody>
          <a:bodyPr wrap="square" rtlCol="0" anchor="ctr"/>
          <a:lstStyle/>
          <a:p>
            <a:pPr algn="ctr" indent="0" marL="0">
              <a:buNone/>
            </a:pPr>
            <a:r>
              <a:rPr lang="en-US" sz="1400" b="1" dirty="0">
                <a:solidFill>
                  <a:srgbClr val="990033"/>
                </a:solidFill>
                <a:latin typeface="Arial" pitchFamily="34" charset="0"/>
                <a:ea typeface="Arial" pitchFamily="34" charset="-122"/>
                <a:cs typeface="Arial" pitchFamily="34" charset="-120"/>
              </a:rPr>
              <a:t>DEPARTMENT OF COMPUTER SCIENCE AND ENGINEERING</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Database Programming with PL/SQL</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What is a PL/SQL Package?</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502920"/>
          </a:xfrm>
          <a:prstGeom prst="rect">
            <a:avLst/>
          </a:prstGeom>
          <a:noFill/>
          <a:ln/>
        </p:spPr>
        <p:txBody>
          <a:bodyPr wrap="square" rtlCol="0" anchor="ctr"/>
          <a:lstStyle/>
          <a:p>
            <a:pPr indent="0" marL="0">
              <a:buNone/>
            </a:pPr>
            <a:r>
              <a:rPr lang="en-US" sz="1400" b="1" dirty="0">
                <a:solidFill>
                  <a:srgbClr val="000000"/>
                </a:solidFill>
                <a:latin typeface="Arial" pitchFamily="34" charset="0"/>
                <a:ea typeface="Arial" pitchFamily="34" charset="-122"/>
                <a:cs typeface="Arial" pitchFamily="34" charset="-120"/>
              </a:rPr>
              <a:t>A PL/SQL Package </a:t>
            </a:r>
            <a:pPr indent="0" marL="0">
              <a:buNone/>
            </a:pPr>
            <a:r>
              <a:rPr lang="en-US" sz="1400" dirty="0">
                <a:solidFill>
                  <a:srgbClr val="000000"/>
                </a:solidFill>
                <a:latin typeface="Arial" pitchFamily="34" charset="0"/>
                <a:ea typeface="Arial" pitchFamily="34" charset="-122"/>
                <a:cs typeface="Arial" pitchFamily="34" charset="-120"/>
              </a:rPr>
              <a:t>is a schema object that groups logically related PL/SQL types, variables, constants, subprograms, and cursors. It consists of two distinct components compiled separately.</a:t>
            </a:r>
            <a:endParaRPr lang="en-US" sz="1400" dirty="0"/>
          </a:p>
        </p:txBody>
      </p:sp>
      <p:sp>
        <p:nvSpPr>
          <p:cNvPr id="16" name="Shape 13"/>
          <p:cNvSpPr/>
          <p:nvPr/>
        </p:nvSpPr>
        <p:spPr>
          <a:xfrm>
            <a:off x="457200" y="2103120"/>
            <a:ext cx="5394960" cy="3895344"/>
          </a:xfrm>
          <a:prstGeom prst="roundRect">
            <a:avLst>
              <a:gd name="adj" fmla="val 2347"/>
            </a:avLst>
          </a:prstGeom>
          <a:solidFill>
            <a:srgbClr val="E3F2FD"/>
          </a:solidFill>
          <a:ln w="19050">
            <a:solidFill>
              <a:srgbClr val="1565C0"/>
            </a:solidFill>
            <a:prstDash val="solid"/>
          </a:ln>
        </p:spPr>
      </p:sp>
      <p:sp>
        <p:nvSpPr>
          <p:cNvPr id="17" name="Text 14"/>
          <p:cNvSpPr/>
          <p:nvPr/>
        </p:nvSpPr>
        <p:spPr>
          <a:xfrm>
            <a:off x="566928" y="2176272"/>
            <a:ext cx="5212080" cy="347472"/>
          </a:xfrm>
          <a:prstGeom prst="rect">
            <a:avLst/>
          </a:prstGeom>
          <a:noFill/>
          <a:ln/>
        </p:spPr>
        <p:txBody>
          <a:bodyPr wrap="square" lIns="0" tIns="0" rIns="0" bIns="0" rtlCol="0" anchor="ctr"/>
          <a:lstStyle/>
          <a:p>
            <a:pPr indent="0" marL="0">
              <a:buNone/>
            </a:pPr>
            <a:r>
              <a:rPr lang="en-US" sz="1500" b="1" dirty="0">
                <a:solidFill>
                  <a:srgbClr val="1565C0"/>
                </a:solidFill>
                <a:latin typeface="Arial" pitchFamily="34" charset="0"/>
                <a:ea typeface="Arial" pitchFamily="34" charset="-122"/>
                <a:cs typeface="Arial" pitchFamily="34" charset="-120"/>
              </a:rPr>
              <a:t>Two-Part Architecture</a:t>
            </a:r>
            <a:endParaRPr lang="en-US" sz="1500" dirty="0"/>
          </a:p>
        </p:txBody>
      </p:sp>
      <p:sp>
        <p:nvSpPr>
          <p:cNvPr id="18" name="Text 15"/>
          <p:cNvSpPr/>
          <p:nvPr/>
        </p:nvSpPr>
        <p:spPr>
          <a:xfrm>
            <a:off x="566928" y="2560320"/>
            <a:ext cx="5212080" cy="3364992"/>
          </a:xfrm>
          <a:prstGeom prst="rect">
            <a:avLst/>
          </a:prstGeom>
          <a:noFill/>
          <a:ln/>
        </p:spPr>
        <p:txBody>
          <a:bodyPr wrap="square" lIns="0" tIns="0" rIns="0" bIns="0" rtlCol="0" anchor="ctr"/>
          <a:lstStyle/>
          <a:p>
            <a:pPr indent="0" marL="0">
              <a:buNone/>
            </a:pPr>
            <a:r>
              <a:rPr lang="en-US" sz="1300" b="1" dirty="0">
                <a:solidFill>
                  <a:srgbClr val="1565C0"/>
                </a:solidFill>
                <a:latin typeface="Arial" pitchFamily="34" charset="0"/>
                <a:ea typeface="Arial" pitchFamily="34" charset="-122"/>
                <a:cs typeface="Arial" pitchFamily="34" charset="-120"/>
              </a:rPr>
              <a:t>1. Package Specification (Spec):</a:t>
            </a:r>
            <a:pPr indent="0" marL="0">
              <a:buNone/>
            </a:pPr>
            <a:r>
              <a:rPr lang="en-US" sz="1300" dirty="0">
                <a:solidFill>
                  <a:srgbClr val="000000"/>
                </a:solidFill>
                <a:latin typeface="Arial" pitchFamily="34" charset="0"/>
                <a:ea typeface="Arial" pitchFamily="34" charset="-122"/>
                <a:cs typeface="Arial" pitchFamily="34" charset="-120"/>
              </a:rPr>
              <a:t> The public interface / header. Declares public variables, cursors, types, and subprogram signatures. Visible to other database programs.</a:t>
            </a:r>
            <a:endParaRPr lang="en-US" sz="1300" dirty="0"/>
          </a:p>
          <a:p>
            <a:pPr indent="0" marL="0">
              <a:buNone/>
            </a:pPr>
            <a:r>
              <a:rPr lang="en-US" sz="1300" b="1" dirty="0">
                <a:solidFill>
                  <a:srgbClr val="990033"/>
                </a:solidFill>
                <a:latin typeface="Arial" pitchFamily="34" charset="0"/>
                <a:ea typeface="Arial" pitchFamily="34" charset="-122"/>
                <a:cs typeface="Arial" pitchFamily="34" charset="-120"/>
              </a:rPr>
              <a:t>2. Package Body:</a:t>
            </a:r>
            <a:pPr indent="0" marL="0">
              <a:buNone/>
            </a:pPr>
            <a:r>
              <a:rPr lang="en-US" sz="1300" dirty="0">
                <a:solidFill>
                  <a:srgbClr val="000000"/>
                </a:solidFill>
                <a:latin typeface="Arial" pitchFamily="34" charset="0"/>
                <a:ea typeface="Arial" pitchFamily="34" charset="-122"/>
                <a:cs typeface="Arial" pitchFamily="34" charset="-120"/>
              </a:rPr>
              <a:t> The private implementation. Contains the code for subprograms declared in the specification, as well as private variables, types, and helper methods. Hidden from outer scope.</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Separate Compilation:</a:t>
            </a:r>
            <a:pPr indent="0" marL="0">
              <a:buNone/>
            </a:pPr>
            <a:r>
              <a:rPr lang="en-US" sz="1300" dirty="0">
                <a:solidFill>
                  <a:srgbClr val="000000"/>
                </a:solidFill>
                <a:latin typeface="Arial" pitchFamily="34" charset="0"/>
                <a:ea typeface="Arial" pitchFamily="34" charset="-122"/>
                <a:cs typeface="Arial" pitchFamily="34" charset="-120"/>
              </a:rPr>
              <a:t> You can change and re-compile the body without compiling the specification, preventing invalidation of dependent objects.</a:t>
            </a:r>
            <a:endParaRPr lang="en-US" sz="1300" dirty="0"/>
          </a:p>
        </p:txBody>
      </p:sp>
      <p:sp>
        <p:nvSpPr>
          <p:cNvPr id="19" name="Shape 16"/>
          <p:cNvSpPr/>
          <p:nvPr/>
        </p:nvSpPr>
        <p:spPr>
          <a:xfrm>
            <a:off x="6035040" y="2103120"/>
            <a:ext cx="5715000" cy="3895344"/>
          </a:xfrm>
          <a:prstGeom prst="roundRect">
            <a:avLst>
              <a:gd name="adj" fmla="val 2347"/>
            </a:avLst>
          </a:prstGeom>
          <a:solidFill>
            <a:srgbClr val="FCE4EC"/>
          </a:solidFill>
          <a:ln w="19050">
            <a:solidFill>
              <a:srgbClr val="990033"/>
            </a:solidFill>
            <a:prstDash val="solid"/>
          </a:ln>
        </p:spPr>
      </p:sp>
      <p:sp>
        <p:nvSpPr>
          <p:cNvPr id="20" name="Text 17"/>
          <p:cNvSpPr/>
          <p:nvPr/>
        </p:nvSpPr>
        <p:spPr>
          <a:xfrm>
            <a:off x="6144768" y="2176272"/>
            <a:ext cx="5513832" cy="347472"/>
          </a:xfrm>
          <a:prstGeom prst="rect">
            <a:avLst/>
          </a:prstGeom>
          <a:noFill/>
          <a:ln/>
        </p:spPr>
        <p:txBody>
          <a:bodyPr wrap="square" lIns="0" tIns="0" rIns="0" bIns="0" rtlCol="0" anchor="ctr"/>
          <a:lstStyle/>
          <a:p>
            <a:pPr indent="0" marL="0">
              <a:buNone/>
            </a:pPr>
            <a:r>
              <a:rPr lang="en-US" sz="1500" b="1" dirty="0">
                <a:solidFill>
                  <a:srgbClr val="990033"/>
                </a:solidFill>
                <a:latin typeface="Arial" pitchFamily="34" charset="0"/>
                <a:ea typeface="Arial" pitchFamily="34" charset="-122"/>
                <a:cs typeface="Arial" pitchFamily="34" charset="-120"/>
              </a:rPr>
              <a:t>Core Benefits of Packages</a:t>
            </a:r>
            <a:endParaRPr lang="en-US" sz="1500" dirty="0"/>
          </a:p>
        </p:txBody>
      </p:sp>
      <p:sp>
        <p:nvSpPr>
          <p:cNvPr id="21" name="Text 18"/>
          <p:cNvSpPr/>
          <p:nvPr/>
        </p:nvSpPr>
        <p:spPr>
          <a:xfrm>
            <a:off x="6144768" y="2560320"/>
            <a:ext cx="5513832" cy="3364992"/>
          </a:xfrm>
          <a:prstGeom prst="rect">
            <a:avLst/>
          </a:prstGeom>
          <a:noFill/>
          <a:ln/>
        </p:spPr>
        <p:txBody>
          <a:bodyPr wrap="square" lIns="0" tIns="0" rIns="0" bIns="0" rtlCol="0" anchor="ctr"/>
          <a:lstStyle/>
          <a:p>
            <a:pPr indent="0" marL="0">
              <a:buNone/>
            </a:pPr>
            <a:r>
              <a:rPr lang="en-US" sz="1300" b="1" dirty="0">
                <a:solidFill>
                  <a:srgbClr val="000000"/>
                </a:solidFill>
                <a:latin typeface="Arial" pitchFamily="34" charset="0"/>
                <a:ea typeface="Arial" pitchFamily="34" charset="-122"/>
                <a:cs typeface="Arial" pitchFamily="34" charset="-120"/>
              </a:rPr>
              <a:t>• Modular Development:</a:t>
            </a:r>
            <a:pPr indent="0" marL="0">
              <a:buNone/>
            </a:pPr>
            <a:r>
              <a:rPr lang="en-US" sz="1300" dirty="0">
                <a:solidFill>
                  <a:srgbClr val="000000"/>
                </a:solidFill>
                <a:latin typeface="Arial" pitchFamily="34" charset="0"/>
                <a:ea typeface="Arial" pitchFamily="34" charset="-122"/>
                <a:cs typeface="Arial" pitchFamily="34" charset="-120"/>
              </a:rPr>
              <a:t> Groups related business features into clean libraries (e.g., HR_PKG, FINANCE_PKG).</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Encapsulation (Information Hiding):</a:t>
            </a:r>
            <a:pPr indent="0" marL="0">
              <a:buNone/>
            </a:pPr>
            <a:r>
              <a:rPr lang="en-US" sz="1300" dirty="0">
                <a:solidFill>
                  <a:srgbClr val="000000"/>
                </a:solidFill>
                <a:latin typeface="Arial" pitchFamily="34" charset="0"/>
                <a:ea typeface="Arial" pitchFamily="34" charset="-122"/>
                <a:cs typeface="Arial" pitchFamily="34" charset="-120"/>
              </a:rPr>
              <a:t> Keeps helper functions and variables private inside the body, protecting the API implementation.</a:t>
            </a:r>
            <a:endParaRPr lang="en-US" sz="1300" dirty="0"/>
          </a:p>
          <a:p>
            <a:pPr indent="0" marL="0">
              <a:buNone/>
            </a:pPr>
            <a:r>
              <a:rPr lang="en-US" sz="1300" b="1" dirty="0">
                <a:solidFill>
                  <a:srgbClr val="006400"/>
                </a:solidFill>
                <a:latin typeface="Arial" pitchFamily="34" charset="0"/>
                <a:ea typeface="Arial" pitchFamily="34" charset="-122"/>
                <a:cs typeface="Arial" pitchFamily="34" charset="-120"/>
              </a:rPr>
              <a:t>• Session Persistent State:</a:t>
            </a:r>
            <a:pPr indent="0" marL="0">
              <a:buNone/>
            </a:pPr>
            <a:r>
              <a:rPr lang="en-US" sz="1300" dirty="0">
                <a:solidFill>
                  <a:srgbClr val="000000"/>
                </a:solidFill>
                <a:latin typeface="Arial" pitchFamily="34" charset="0"/>
                <a:ea typeface="Arial" pitchFamily="34" charset="-122"/>
                <a:cs typeface="Arial" pitchFamily="34" charset="-120"/>
              </a:rPr>
              <a:t> Package variables persist for the duration of a user's database session, acting as in-memory global state.</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High Performance:</a:t>
            </a:r>
            <a:pPr indent="0" marL="0">
              <a:buNone/>
            </a:pPr>
            <a:r>
              <a:rPr lang="en-US" sz="1300" dirty="0">
                <a:solidFill>
                  <a:srgbClr val="000000"/>
                </a:solidFill>
                <a:latin typeface="Arial" pitchFamily="34" charset="0"/>
                <a:ea typeface="Arial" pitchFamily="34" charset="-122"/>
                <a:cs typeface="Arial" pitchFamily="34" charset="-120"/>
              </a:rPr>
              <a:t> The entire package is loaded into memory on the first call, reducing database page reads for subsequent subprogram runs.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Database Programming with PL/SQL</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Definer Rights vs. Invoker Rights</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457200"/>
          </a:xfrm>
          <a:prstGeom prst="rect">
            <a:avLst/>
          </a:prstGeom>
          <a:noFill/>
          <a:ln/>
        </p:spPr>
        <p:txBody>
          <a:bodyPr wrap="square" rtlCol="0" anchor="ctr"/>
          <a:lstStyle/>
          <a:p>
            <a:pPr indent="0" marL="0">
              <a:buNone/>
            </a:pPr>
            <a:r>
              <a:rPr lang="en-US" sz="1400" dirty="0">
                <a:solidFill>
                  <a:srgbClr val="000000"/>
                </a:solidFill>
                <a:latin typeface="Arial" pitchFamily="34" charset="0"/>
                <a:ea typeface="Arial" pitchFamily="34" charset="-122"/>
                <a:cs typeface="Arial" pitchFamily="34" charset="-120"/>
              </a:rPr>
              <a:t>Packages run under different security context privileges, controlled by AUTHID:</a:t>
            </a:r>
            <a:endParaRPr lang="en-US" sz="1400" dirty="0"/>
          </a:p>
        </p:txBody>
      </p:sp>
      <p:sp>
        <p:nvSpPr>
          <p:cNvPr id="16" name="Shape 13"/>
          <p:cNvSpPr/>
          <p:nvPr/>
        </p:nvSpPr>
        <p:spPr>
          <a:xfrm>
            <a:off x="457200" y="2103120"/>
            <a:ext cx="5394960" cy="4114800"/>
          </a:xfrm>
          <a:prstGeom prst="roundRect">
            <a:avLst>
              <a:gd name="adj" fmla="val 2222"/>
            </a:avLst>
          </a:prstGeom>
          <a:solidFill>
            <a:srgbClr val="E8F5E9"/>
          </a:solidFill>
          <a:ln w="19050">
            <a:solidFill>
              <a:srgbClr val="009900"/>
            </a:solidFill>
            <a:prstDash val="solid"/>
          </a:ln>
        </p:spPr>
      </p:sp>
      <p:sp>
        <p:nvSpPr>
          <p:cNvPr id="17" name="Text 14"/>
          <p:cNvSpPr/>
          <p:nvPr/>
        </p:nvSpPr>
        <p:spPr>
          <a:xfrm>
            <a:off x="566928" y="2176272"/>
            <a:ext cx="5212080" cy="347472"/>
          </a:xfrm>
          <a:prstGeom prst="rect">
            <a:avLst/>
          </a:prstGeom>
          <a:noFill/>
          <a:ln/>
        </p:spPr>
        <p:txBody>
          <a:bodyPr wrap="square" lIns="0" tIns="0" rIns="0" bIns="0" rtlCol="0" anchor="ctr"/>
          <a:lstStyle/>
          <a:p>
            <a:pPr indent="0" marL="0">
              <a:buNone/>
            </a:pPr>
            <a:r>
              <a:rPr lang="en-US" sz="1500" b="1" dirty="0">
                <a:solidFill>
                  <a:srgbClr val="009900"/>
                </a:solidFill>
                <a:latin typeface="Arial" pitchFamily="34" charset="0"/>
                <a:ea typeface="Arial" pitchFamily="34" charset="-122"/>
                <a:cs typeface="Arial" pitchFamily="34" charset="-120"/>
              </a:rPr>
              <a:t>Definer Rights (AUTHID DEFINER)</a:t>
            </a:r>
            <a:endParaRPr lang="en-US" sz="1500" dirty="0"/>
          </a:p>
        </p:txBody>
      </p:sp>
      <p:sp>
        <p:nvSpPr>
          <p:cNvPr id="18" name="Text 15"/>
          <p:cNvSpPr/>
          <p:nvPr/>
        </p:nvSpPr>
        <p:spPr>
          <a:xfrm>
            <a:off x="566928" y="2606040"/>
            <a:ext cx="5212080" cy="3474720"/>
          </a:xfrm>
          <a:prstGeom prst="rect">
            <a:avLst/>
          </a:prstGeom>
          <a:noFill/>
          <a:ln/>
        </p:spPr>
        <p:txBody>
          <a:bodyPr wrap="square" lIns="0" tIns="0" rIns="0" bIns="0" rtlCol="0" anchor="ctr"/>
          <a:lstStyle/>
          <a:p>
            <a:pPr indent="0" marL="0">
              <a:buNone/>
            </a:pPr>
            <a:r>
              <a:rPr lang="en-US" sz="1300" b="1" dirty="0">
                <a:solidFill>
                  <a:srgbClr val="000000"/>
                </a:solidFill>
                <a:latin typeface="Arial" pitchFamily="34" charset="0"/>
                <a:ea typeface="Arial" pitchFamily="34" charset="-122"/>
                <a:cs typeface="Arial" pitchFamily="34" charset="-120"/>
              </a:rPr>
              <a:t>• Default Privilege Behavior:</a:t>
            </a:r>
            <a:pPr indent="0" marL="0">
              <a:buNone/>
            </a:pPr>
            <a:r>
              <a:rPr lang="en-US" sz="1300" dirty="0">
                <a:solidFill>
                  <a:srgbClr val="000000"/>
                </a:solidFill>
                <a:latin typeface="Arial" pitchFamily="34" charset="0"/>
                <a:ea typeface="Arial" pitchFamily="34" charset="-122"/>
                <a:cs typeface="Arial" pitchFamily="34" charset="-120"/>
              </a:rPr>
              <a:t> Run with the schema privileges of the user who CREATED (defined) the package.</a:t>
            </a:r>
            <a:endParaRPr lang="en-US" sz="1300" dirty="0"/>
          </a:p>
          <a:p>
            <a:pPr indent="0" marL="0">
              <a:buNone/>
            </a:pPr>
            <a:r>
              <a:rPr lang="en-US" sz="1300" b="1" dirty="0">
                <a:solidFill>
                  <a:srgbClr val="009900"/>
                </a:solidFill>
                <a:latin typeface="Arial" pitchFamily="34" charset="0"/>
                <a:ea typeface="Arial" pitchFamily="34" charset="-122"/>
                <a:cs typeface="Arial" pitchFamily="34" charset="-120"/>
              </a:rPr>
              <a:t>• Security Encapsulation:</a:t>
            </a:r>
            <a:pPr indent="0" marL="0">
              <a:buNone/>
            </a:pPr>
            <a:r>
              <a:rPr lang="en-US" sz="1300" dirty="0">
                <a:solidFill>
                  <a:srgbClr val="000000"/>
                </a:solidFill>
                <a:latin typeface="Arial" pitchFamily="34" charset="0"/>
                <a:ea typeface="Arial" pitchFamily="34" charset="-122"/>
                <a:cs typeface="Arial" pitchFamily="34" charset="-120"/>
              </a:rPr>
              <a:t> Allows a user to perform modifications on tables they cannot access directly, by calling a procedure owned by a privileged creator.</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Name Resolution:</a:t>
            </a:r>
            <a:pPr indent="0" marL="0">
              <a:buNone/>
            </a:pPr>
            <a:r>
              <a:rPr lang="en-US" sz="1300" dirty="0">
                <a:solidFill>
                  <a:srgbClr val="000000"/>
                </a:solidFill>
                <a:latin typeface="Arial" pitchFamily="34" charset="0"/>
                <a:ea typeface="Arial" pitchFamily="34" charset="-122"/>
                <a:cs typeface="Arial" pitchFamily="34" charset="-120"/>
              </a:rPr>
              <a:t> Unqualified table names resolve to the definer's schema.</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Execution context:</a:t>
            </a:r>
            <a:pPr indent="0" marL="0">
              <a:buNone/>
            </a:pPr>
            <a:r>
              <a:rPr lang="en-US" sz="1300" dirty="0">
                <a:solidFill>
                  <a:srgbClr val="000000"/>
                </a:solidFill>
                <a:latin typeface="Arial" pitchFamily="34" charset="0"/>
                <a:ea typeface="Arial" pitchFamily="34" charset="-122"/>
                <a:cs typeface="Arial" pitchFamily="34" charset="-120"/>
              </a:rPr>
              <a:t> Ideal for secure, transactional routines where table data modifications are highly regulated.</a:t>
            </a:r>
            <a:endParaRPr lang="en-US" sz="1300" dirty="0"/>
          </a:p>
        </p:txBody>
      </p:sp>
      <p:sp>
        <p:nvSpPr>
          <p:cNvPr id="19" name="Shape 16"/>
          <p:cNvSpPr/>
          <p:nvPr/>
        </p:nvSpPr>
        <p:spPr>
          <a:xfrm>
            <a:off x="6035040" y="2103120"/>
            <a:ext cx="5715000" cy="4114800"/>
          </a:xfrm>
          <a:prstGeom prst="roundRect">
            <a:avLst>
              <a:gd name="adj" fmla="val 2222"/>
            </a:avLst>
          </a:prstGeom>
          <a:solidFill>
            <a:srgbClr val="FFF9C4"/>
          </a:solidFill>
          <a:ln w="19050">
            <a:solidFill>
              <a:srgbClr val="F57F17"/>
            </a:solidFill>
            <a:prstDash val="solid"/>
          </a:ln>
        </p:spPr>
      </p:sp>
      <p:sp>
        <p:nvSpPr>
          <p:cNvPr id="20" name="Text 17"/>
          <p:cNvSpPr/>
          <p:nvPr/>
        </p:nvSpPr>
        <p:spPr>
          <a:xfrm>
            <a:off x="6144768" y="2176272"/>
            <a:ext cx="5513832" cy="347472"/>
          </a:xfrm>
          <a:prstGeom prst="rect">
            <a:avLst/>
          </a:prstGeom>
          <a:noFill/>
          <a:ln/>
        </p:spPr>
        <p:txBody>
          <a:bodyPr wrap="square" lIns="0" tIns="0" rIns="0" bIns="0" rtlCol="0" anchor="ctr"/>
          <a:lstStyle/>
          <a:p>
            <a:pPr indent="0" marL="0">
              <a:buNone/>
            </a:pPr>
            <a:r>
              <a:rPr lang="en-US" sz="1500" b="1" dirty="0">
                <a:solidFill>
                  <a:srgbClr val="F57F17"/>
                </a:solidFill>
                <a:latin typeface="Arial" pitchFamily="34" charset="0"/>
                <a:ea typeface="Arial" pitchFamily="34" charset="-122"/>
                <a:cs typeface="Arial" pitchFamily="34" charset="-120"/>
              </a:rPr>
              <a:t>Invoker Rights (AUTHID CURRENT_USER)</a:t>
            </a:r>
            <a:endParaRPr lang="en-US" sz="1500" dirty="0"/>
          </a:p>
        </p:txBody>
      </p:sp>
      <p:sp>
        <p:nvSpPr>
          <p:cNvPr id="21" name="Text 18"/>
          <p:cNvSpPr/>
          <p:nvPr/>
        </p:nvSpPr>
        <p:spPr>
          <a:xfrm>
            <a:off x="6144768" y="2606040"/>
            <a:ext cx="5513832" cy="3474720"/>
          </a:xfrm>
          <a:prstGeom prst="rect">
            <a:avLst/>
          </a:prstGeom>
          <a:noFill/>
          <a:ln/>
        </p:spPr>
        <p:txBody>
          <a:bodyPr wrap="square" lIns="0" tIns="0" rIns="0" bIns="0" rtlCol="0" anchor="ctr"/>
          <a:lstStyle/>
          <a:p>
            <a:pPr indent="0" marL="0">
              <a:buNone/>
            </a:pPr>
            <a:r>
              <a:rPr lang="en-US" sz="1300" b="1" dirty="0">
                <a:solidFill>
                  <a:srgbClr val="000000"/>
                </a:solidFill>
                <a:latin typeface="Arial" pitchFamily="34" charset="0"/>
                <a:ea typeface="Arial" pitchFamily="34" charset="-122"/>
                <a:cs typeface="Arial" pitchFamily="34" charset="-120"/>
              </a:rPr>
              <a:t>• Dynamic Privileges:</a:t>
            </a:r>
            <a:pPr indent="0" marL="0">
              <a:buNone/>
            </a:pPr>
            <a:r>
              <a:rPr lang="en-US" sz="1300" dirty="0">
                <a:solidFill>
                  <a:srgbClr val="000000"/>
                </a:solidFill>
                <a:latin typeface="Arial" pitchFamily="34" charset="0"/>
                <a:ea typeface="Arial" pitchFamily="34" charset="-122"/>
                <a:cs typeface="Arial" pitchFamily="34" charset="-120"/>
              </a:rPr>
              <a:t> Run with the schema privileges of the user currently executing (invoking) the package.</a:t>
            </a:r>
            <a:endParaRPr lang="en-US" sz="1300" dirty="0"/>
          </a:p>
          <a:p>
            <a:pPr indent="0" marL="0">
              <a:buNone/>
            </a:pPr>
            <a:r>
              <a:rPr lang="en-US" sz="1300" b="1" dirty="0">
                <a:solidFill>
                  <a:srgbClr val="990033"/>
                </a:solidFill>
                <a:latin typeface="Arial" pitchFamily="34" charset="0"/>
                <a:ea typeface="Arial" pitchFamily="34" charset="-122"/>
                <a:cs typeface="Arial" pitchFamily="34" charset="-120"/>
              </a:rPr>
              <a:t>• Name Resolution:</a:t>
            </a:r>
            <a:pPr indent="0" marL="0">
              <a:buNone/>
            </a:pPr>
            <a:r>
              <a:rPr lang="en-US" sz="1300" dirty="0">
                <a:solidFill>
                  <a:srgbClr val="000000"/>
                </a:solidFill>
                <a:latin typeface="Arial" pitchFamily="34" charset="0"/>
                <a:ea typeface="Arial" pitchFamily="34" charset="-122"/>
                <a:cs typeface="Arial" pitchFamily="34" charset="-120"/>
              </a:rPr>
              <a:t> Unqualified table references resolve to the invoker's current schema. The same package query fetches different data depending on who runs it.</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Code sharing:</a:t>
            </a:r>
            <a:pPr indent="0" marL="0">
              <a:buNone/>
            </a:pPr>
            <a:r>
              <a:rPr lang="en-US" sz="1300" dirty="0">
                <a:solidFill>
                  <a:srgbClr val="000000"/>
                </a:solidFill>
                <a:latin typeface="Arial" pitchFamily="34" charset="0"/>
                <a:ea typeface="Arial" pitchFamily="34" charset="-122"/>
                <a:cs typeface="Arial" pitchFamily="34" charset="-120"/>
              </a:rPr>
              <a:t> Ideal for utility packages (e.g. string formatting, mathematical tools) shared across multiple schemas.</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Security constraint:</a:t>
            </a:r>
            <a:pPr indent="0" marL="0">
              <a:buNone/>
            </a:pPr>
            <a:r>
              <a:rPr lang="en-US" sz="1300" dirty="0">
                <a:solidFill>
                  <a:srgbClr val="000000"/>
                </a:solidFill>
                <a:latin typeface="Arial" pitchFamily="34" charset="0"/>
                <a:ea typeface="Arial" pitchFamily="34" charset="-122"/>
                <a:cs typeface="Arial" pitchFamily="34" charset="-120"/>
              </a:rPr>
              <a:t> Prevents users from escalating privileges using malicious package code.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Database Programming with PL/SQL</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Managing Packages: Invalidation &amp; Catalog</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457200"/>
          </a:xfrm>
          <a:prstGeom prst="rect">
            <a:avLst/>
          </a:prstGeom>
          <a:noFill/>
          <a:ln/>
        </p:spPr>
        <p:txBody>
          <a:bodyPr wrap="square" rtlCol="0" anchor="ctr"/>
          <a:lstStyle/>
          <a:p>
            <a:pPr indent="0" marL="0">
              <a:buNone/>
            </a:pPr>
            <a:r>
              <a:rPr lang="en-US" sz="1400" dirty="0">
                <a:solidFill>
                  <a:srgbClr val="000000"/>
                </a:solidFill>
                <a:latin typeface="Arial" pitchFamily="34" charset="0"/>
                <a:ea typeface="Arial" pitchFamily="34" charset="-122"/>
                <a:cs typeface="Arial" pitchFamily="34" charset="-120"/>
              </a:rPr>
              <a:t>How Oracle monitors package status, invalidation, and dependencies:</a:t>
            </a:r>
            <a:endParaRPr lang="en-US" sz="1400" dirty="0"/>
          </a:p>
        </p:txBody>
      </p:sp>
      <p:sp>
        <p:nvSpPr>
          <p:cNvPr id="16" name="Shape 13"/>
          <p:cNvSpPr/>
          <p:nvPr/>
        </p:nvSpPr>
        <p:spPr>
          <a:xfrm>
            <a:off x="457200" y="2103120"/>
            <a:ext cx="5394960" cy="4114800"/>
          </a:xfrm>
          <a:prstGeom prst="roundRect">
            <a:avLst>
              <a:gd name="adj" fmla="val 2222"/>
            </a:avLst>
          </a:prstGeom>
          <a:solidFill>
            <a:srgbClr val="E3F2FD"/>
          </a:solidFill>
          <a:ln w="19050">
            <a:solidFill>
              <a:srgbClr val="1565C0"/>
            </a:solidFill>
            <a:prstDash val="solid"/>
          </a:ln>
        </p:spPr>
      </p:sp>
      <p:sp>
        <p:nvSpPr>
          <p:cNvPr id="17" name="Text 14"/>
          <p:cNvSpPr/>
          <p:nvPr/>
        </p:nvSpPr>
        <p:spPr>
          <a:xfrm>
            <a:off x="566928" y="2176272"/>
            <a:ext cx="5212080" cy="347472"/>
          </a:xfrm>
          <a:prstGeom prst="rect">
            <a:avLst/>
          </a:prstGeom>
          <a:noFill/>
          <a:ln/>
        </p:spPr>
        <p:txBody>
          <a:bodyPr wrap="square" lIns="0" tIns="0" rIns="0" bIns="0" rtlCol="0" anchor="ctr"/>
          <a:lstStyle/>
          <a:p>
            <a:pPr indent="0" marL="0">
              <a:buNone/>
            </a:pPr>
            <a:r>
              <a:rPr lang="en-US" sz="1500" b="1" dirty="0">
                <a:solidFill>
                  <a:srgbClr val="1565C0"/>
                </a:solidFill>
                <a:latin typeface="Arial" pitchFamily="34" charset="0"/>
                <a:ea typeface="Arial" pitchFamily="34" charset="-122"/>
                <a:cs typeface="Arial" pitchFamily="34" charset="-120"/>
              </a:rPr>
              <a:t>Database Catalog Queries</a:t>
            </a:r>
            <a:endParaRPr lang="en-US" sz="1500" dirty="0"/>
          </a:p>
        </p:txBody>
      </p:sp>
      <p:sp>
        <p:nvSpPr>
          <p:cNvPr id="18" name="Text 15"/>
          <p:cNvSpPr/>
          <p:nvPr/>
        </p:nvSpPr>
        <p:spPr>
          <a:xfrm>
            <a:off x="566928" y="2606040"/>
            <a:ext cx="5212080" cy="3474720"/>
          </a:xfrm>
          <a:prstGeom prst="rect">
            <a:avLst/>
          </a:prstGeom>
          <a:noFill/>
          <a:ln/>
        </p:spPr>
        <p:txBody>
          <a:bodyPr wrap="square" lIns="0" tIns="0" rIns="0" bIns="0" rtlCol="0" anchor="ctr"/>
          <a:lstStyle/>
          <a:p>
            <a:pPr indent="0" marL="0">
              <a:buNone/>
            </a:pPr>
            <a:r>
              <a:rPr lang="en-US" sz="1300" b="1" dirty="0">
                <a:solidFill>
                  <a:srgbClr val="000000"/>
                </a:solidFill>
                <a:latin typeface="Arial" pitchFamily="34" charset="0"/>
                <a:ea typeface="Arial" pitchFamily="34" charset="-122"/>
                <a:cs typeface="Arial" pitchFamily="34" charset="-120"/>
              </a:rPr>
              <a:t>• Finding Packages:</a:t>
            </a:r>
            <a:pPr indent="0" marL="0">
              <a:buNone/>
            </a:pPr>
            <a:r>
              <a:rPr lang="en-US" sz="1300" dirty="0">
                <a:solidFill>
                  <a:srgbClr val="000000"/>
                </a:solidFill>
                <a:latin typeface="Arial" pitchFamily="34" charset="0"/>
                <a:ea typeface="Arial" pitchFamily="34" charset="-122"/>
                <a:cs typeface="Arial" pitchFamily="34" charset="-120"/>
              </a:rPr>
              <a:t> Metadata is stored in catalog views like USER_OBJECTS and USER_SOURCE:</a:t>
            </a:r>
            <a:endParaRPr lang="en-US" sz="1300" dirty="0"/>
          </a:p>
          <a:p>
            <a:pPr indent="0" marL="0">
              <a:buNone/>
            </a:pPr>
            <a:r>
              <a:rPr lang="en-US" sz="1300" dirty="0">
                <a:solidFill>
                  <a:srgbClr val="000000"/>
                </a:solidFill>
                <a:latin typeface="Arial" pitchFamily="34" charset="0"/>
                <a:ea typeface="Arial" pitchFamily="34" charset="-122"/>
                <a:cs typeface="Arial" pitchFamily="34" charset="-120"/>
              </a:rPr>
              <a:t>   SELECT object_name, status FROM user_objects WHERE object_type = 'PACKAGE';</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Status Monitoring:</a:t>
            </a:r>
            <a:pPr indent="0" marL="0">
              <a:buNone/>
            </a:pPr>
            <a:r>
              <a:rPr lang="en-US" sz="1300" dirty="0">
                <a:solidFill>
                  <a:srgbClr val="000000"/>
                </a:solidFill>
                <a:latin typeface="Arial" pitchFamily="34" charset="0"/>
                <a:ea typeface="Arial" pitchFamily="34" charset="-122"/>
                <a:cs typeface="Arial" pitchFamily="34" charset="-120"/>
              </a:rPr>
              <a:t> Status can be 'VALID' or 'INVALID'. If a dependent table changes, the package becomes invalid and must be re-compiled.</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Describing Packages:</a:t>
            </a:r>
            <a:pPr indent="0" marL="0">
              <a:buNone/>
            </a:pPr>
            <a:r>
              <a:rPr lang="en-US" sz="1300" dirty="0">
                <a:solidFill>
                  <a:srgbClr val="000000"/>
                </a:solidFill>
                <a:latin typeface="Arial" pitchFamily="34" charset="0"/>
                <a:ea typeface="Arial" pitchFamily="34" charset="-122"/>
                <a:cs typeface="Arial" pitchFamily="34" charset="-120"/>
              </a:rPr>
              <a:t> Use DESCRIBE command in SQL*Plus to check public signatures:</a:t>
            </a:r>
            <a:endParaRPr lang="en-US" sz="1300" dirty="0"/>
          </a:p>
          <a:p>
            <a:pPr indent="0" marL="0">
              <a:buNone/>
            </a:pPr>
            <a:r>
              <a:rPr lang="en-US" sz="1300" dirty="0">
                <a:solidFill>
                  <a:srgbClr val="000000"/>
                </a:solidFill>
                <a:latin typeface="Arial" pitchFamily="34" charset="0"/>
                <a:ea typeface="Arial" pitchFamily="34" charset="-122"/>
                <a:cs typeface="Arial" pitchFamily="34" charset="-120"/>
              </a:rPr>
              <a:t>   DESCRIBE hr_pkg;</a:t>
            </a:r>
            <a:endParaRPr lang="en-US" sz="1300" dirty="0"/>
          </a:p>
        </p:txBody>
      </p:sp>
      <p:sp>
        <p:nvSpPr>
          <p:cNvPr id="19" name="Shape 16"/>
          <p:cNvSpPr/>
          <p:nvPr/>
        </p:nvSpPr>
        <p:spPr>
          <a:xfrm>
            <a:off x="6035040" y="2103120"/>
            <a:ext cx="5715000" cy="4114800"/>
          </a:xfrm>
          <a:prstGeom prst="roundRect">
            <a:avLst>
              <a:gd name="adj" fmla="val 2222"/>
            </a:avLst>
          </a:prstGeom>
          <a:solidFill>
            <a:srgbClr val="FCE4EC"/>
          </a:solidFill>
          <a:ln w="19050">
            <a:solidFill>
              <a:srgbClr val="990033"/>
            </a:solidFill>
            <a:prstDash val="solid"/>
          </a:ln>
        </p:spPr>
      </p:sp>
      <p:sp>
        <p:nvSpPr>
          <p:cNvPr id="20" name="Text 17"/>
          <p:cNvSpPr/>
          <p:nvPr/>
        </p:nvSpPr>
        <p:spPr>
          <a:xfrm>
            <a:off x="6144768" y="2176272"/>
            <a:ext cx="5513832" cy="347472"/>
          </a:xfrm>
          <a:prstGeom prst="rect">
            <a:avLst/>
          </a:prstGeom>
          <a:noFill/>
          <a:ln/>
        </p:spPr>
        <p:txBody>
          <a:bodyPr wrap="square" lIns="0" tIns="0" rIns="0" bIns="0" rtlCol="0" anchor="ctr"/>
          <a:lstStyle/>
          <a:p>
            <a:pPr indent="0" marL="0">
              <a:buNone/>
            </a:pPr>
            <a:r>
              <a:rPr lang="en-US" sz="1500" b="1" dirty="0">
                <a:solidFill>
                  <a:srgbClr val="990033"/>
                </a:solidFill>
                <a:latin typeface="Arial" pitchFamily="34" charset="0"/>
                <a:ea typeface="Arial" pitchFamily="34" charset="-122"/>
                <a:cs typeface="Arial" pitchFamily="34" charset="-120"/>
              </a:rPr>
              <a:t>Timestamp vs. Signature Validation</a:t>
            </a:r>
            <a:endParaRPr lang="en-US" sz="1500" dirty="0"/>
          </a:p>
        </p:txBody>
      </p:sp>
      <p:sp>
        <p:nvSpPr>
          <p:cNvPr id="21" name="Text 18"/>
          <p:cNvSpPr/>
          <p:nvPr/>
        </p:nvSpPr>
        <p:spPr>
          <a:xfrm>
            <a:off x="6144768" y="2606040"/>
            <a:ext cx="5513832" cy="3474720"/>
          </a:xfrm>
          <a:prstGeom prst="rect">
            <a:avLst/>
          </a:prstGeom>
          <a:noFill/>
          <a:ln/>
        </p:spPr>
        <p:txBody>
          <a:bodyPr wrap="square" lIns="0" tIns="0" rIns="0" bIns="0" rtlCol="0" anchor="ctr"/>
          <a:lstStyle/>
          <a:p>
            <a:pPr indent="0" marL="0">
              <a:buNone/>
            </a:pPr>
            <a:r>
              <a:rPr lang="en-US" sz="1250" dirty="0">
                <a:solidFill>
                  <a:srgbClr val="000000"/>
                </a:solidFill>
                <a:latin typeface="Arial" pitchFamily="34" charset="0"/>
                <a:ea typeface="Arial" pitchFamily="34" charset="-122"/>
                <a:cs typeface="Arial" pitchFamily="34" charset="-120"/>
              </a:rPr>
              <a:t>When a package is modified, Oracle determines if dependent programs must be recompiled using two methods:</a:t>
            </a:r>
            <a:endParaRPr lang="en-US" sz="1250" dirty="0"/>
          </a:p>
          <a:p>
            <a:pPr indent="0" marL="0">
              <a:buNone/>
            </a:pPr>
            <a:r>
              <a:rPr lang="en-US" sz="1250" b="1" dirty="0">
                <a:solidFill>
                  <a:srgbClr val="990033"/>
                </a:solidFill>
                <a:latin typeface="Arial" pitchFamily="34" charset="0"/>
                <a:ea typeface="Arial" pitchFamily="34" charset="-122"/>
                <a:cs typeface="Arial" pitchFamily="34" charset="-120"/>
              </a:rPr>
              <a:t>1. Timestamp Method (Default):</a:t>
            </a:r>
            <a:pPr indent="0" marL="0">
              <a:buNone/>
            </a:pPr>
            <a:r>
              <a:rPr lang="en-US" sz="1250" dirty="0">
                <a:solidFill>
                  <a:srgbClr val="000000"/>
                </a:solidFill>
                <a:latin typeface="Arial" pitchFamily="34" charset="0"/>
                <a:ea typeface="Arial" pitchFamily="34" charset="-122"/>
                <a:cs typeface="Arial" pitchFamily="34" charset="-120"/>
              </a:rPr>
              <a:t> Compares compile timestamps. If the package spec changes, all calling programs are immediately marked invalid and must re-compile. Causes cascading invalidations.</a:t>
            </a:r>
            <a:endParaRPr lang="en-US" sz="1250" dirty="0"/>
          </a:p>
          <a:p>
            <a:pPr indent="0" marL="0">
              <a:buNone/>
            </a:pPr>
            <a:r>
              <a:rPr lang="en-US" sz="1250" b="1" dirty="0">
                <a:solidFill>
                  <a:srgbClr val="006400"/>
                </a:solidFill>
                <a:latin typeface="Arial" pitchFamily="34" charset="0"/>
                <a:ea typeface="Arial" pitchFamily="34" charset="-122"/>
                <a:cs typeface="Arial" pitchFamily="34" charset="-120"/>
              </a:rPr>
              <a:t>2. Signature Method:</a:t>
            </a:r>
            <a:pPr indent="0" marL="0">
              <a:buNone/>
            </a:pPr>
            <a:r>
              <a:rPr lang="en-US" sz="1250" dirty="0">
                <a:solidFill>
                  <a:srgbClr val="000000"/>
                </a:solidFill>
                <a:latin typeface="Arial" pitchFamily="34" charset="0"/>
                <a:ea typeface="Arial" pitchFamily="34" charset="-122"/>
                <a:cs typeface="Arial" pitchFamily="34" charset="-120"/>
              </a:rPr>
              <a:t> Compares subprogram parameters and data types (signatures). Calling programs remain valid as long as parameter signatures are unchanged, avoiding rebuild loops.</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Database Programming with PL/SQL</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Applications of Packages</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365760"/>
          </a:xfrm>
          <a:prstGeom prst="rect">
            <a:avLst/>
          </a:prstGeom>
          <a:noFill/>
          <a:ln/>
        </p:spPr>
        <p:txBody>
          <a:bodyPr wrap="square" rtlCol="0" anchor="ctr"/>
          <a:lstStyle/>
          <a:p>
            <a:pPr indent="0" marL="0">
              <a:buNone/>
            </a:pPr>
            <a:r>
              <a:rPr lang="en-US" sz="1400" dirty="0">
                <a:solidFill>
                  <a:srgbClr val="000000"/>
                </a:solidFill>
                <a:latin typeface="Arial" pitchFamily="34" charset="0"/>
                <a:ea typeface="Arial" pitchFamily="34" charset="-122"/>
                <a:cs typeface="Arial" pitchFamily="34" charset="-120"/>
              </a:rPr>
              <a:t>PL/SQL packages are utilized to build modular, secure database interfaces:</a:t>
            </a:r>
            <a:endParaRPr lang="en-US" sz="1400" dirty="0"/>
          </a:p>
        </p:txBody>
      </p:sp>
      <p:sp>
        <p:nvSpPr>
          <p:cNvPr id="16" name="Shape 13"/>
          <p:cNvSpPr/>
          <p:nvPr/>
        </p:nvSpPr>
        <p:spPr>
          <a:xfrm>
            <a:off x="457200" y="2011680"/>
            <a:ext cx="5532120" cy="1956816"/>
          </a:xfrm>
          <a:prstGeom prst="roundRect">
            <a:avLst>
              <a:gd name="adj" fmla="val 4673"/>
            </a:avLst>
          </a:prstGeom>
          <a:solidFill>
            <a:srgbClr val="E8F5E9"/>
          </a:solidFill>
          <a:ln w="19050">
            <a:solidFill>
              <a:srgbClr val="009900"/>
            </a:solidFill>
            <a:prstDash val="solid"/>
          </a:ln>
        </p:spPr>
      </p:sp>
      <p:sp>
        <p:nvSpPr>
          <p:cNvPr id="17" name="Text 14"/>
          <p:cNvSpPr/>
          <p:nvPr/>
        </p:nvSpPr>
        <p:spPr>
          <a:xfrm>
            <a:off x="566928" y="2103120"/>
            <a:ext cx="5312664" cy="347472"/>
          </a:xfrm>
          <a:prstGeom prst="rect">
            <a:avLst/>
          </a:prstGeom>
          <a:noFill/>
          <a:ln/>
        </p:spPr>
        <p:txBody>
          <a:bodyPr wrap="square" lIns="0" tIns="0" rIns="0" bIns="0" rtlCol="0" anchor="ctr"/>
          <a:lstStyle/>
          <a:p>
            <a:pPr indent="0" marL="0">
              <a:buNone/>
            </a:pPr>
            <a:r>
              <a:rPr lang="en-US" sz="1450" b="1" dirty="0">
                <a:solidFill>
                  <a:srgbClr val="009900"/>
                </a:solidFill>
                <a:latin typeface="Arial" pitchFamily="34" charset="0"/>
                <a:ea typeface="Arial" pitchFamily="34" charset="-122"/>
                <a:cs typeface="Arial" pitchFamily="34" charset="-120"/>
              </a:rPr>
              <a:t>📦  Enterprise business API libraries</a:t>
            </a:r>
            <a:endParaRPr lang="en-US" sz="1450" dirty="0"/>
          </a:p>
        </p:txBody>
      </p:sp>
      <p:sp>
        <p:nvSpPr>
          <p:cNvPr id="18" name="Text 15"/>
          <p:cNvSpPr/>
          <p:nvPr/>
        </p:nvSpPr>
        <p:spPr>
          <a:xfrm>
            <a:off x="566928" y="2487168"/>
            <a:ext cx="5312664" cy="14264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Groups related workflows into single libraries (e.g. Ledger_Pkg, Inventory_Pkg). Standardizes how client software executes transactions, enforcing business rules.</a:t>
            </a:r>
            <a:endParaRPr lang="en-US" sz="1300" dirty="0"/>
          </a:p>
        </p:txBody>
      </p:sp>
      <p:sp>
        <p:nvSpPr>
          <p:cNvPr id="19" name="Shape 16"/>
          <p:cNvSpPr/>
          <p:nvPr/>
        </p:nvSpPr>
        <p:spPr>
          <a:xfrm>
            <a:off x="6144768" y="2011680"/>
            <a:ext cx="5532120" cy="1956816"/>
          </a:xfrm>
          <a:prstGeom prst="roundRect">
            <a:avLst>
              <a:gd name="adj" fmla="val 4673"/>
            </a:avLst>
          </a:prstGeom>
          <a:solidFill>
            <a:srgbClr val="E3F2FD"/>
          </a:solidFill>
          <a:ln w="19050">
            <a:solidFill>
              <a:srgbClr val="1565C0"/>
            </a:solidFill>
            <a:prstDash val="solid"/>
          </a:ln>
        </p:spPr>
      </p:sp>
      <p:sp>
        <p:nvSpPr>
          <p:cNvPr id="20" name="Text 17"/>
          <p:cNvSpPr/>
          <p:nvPr/>
        </p:nvSpPr>
        <p:spPr>
          <a:xfrm>
            <a:off x="6254496" y="2103120"/>
            <a:ext cx="5312664" cy="347472"/>
          </a:xfrm>
          <a:prstGeom prst="rect">
            <a:avLst/>
          </a:prstGeom>
          <a:noFill/>
          <a:ln/>
        </p:spPr>
        <p:txBody>
          <a:bodyPr wrap="square" lIns="0" tIns="0" rIns="0" bIns="0" rtlCol="0" anchor="ctr"/>
          <a:lstStyle/>
          <a:p>
            <a:pPr indent="0" marL="0">
              <a:buNone/>
            </a:pPr>
            <a:r>
              <a:rPr lang="en-US" sz="1450" b="1" dirty="0">
                <a:solidFill>
                  <a:srgbClr val="1565C0"/>
                </a:solidFill>
                <a:latin typeface="Arial" pitchFamily="34" charset="0"/>
                <a:ea typeface="Arial" pitchFamily="34" charset="-122"/>
                <a:cs typeface="Arial" pitchFamily="34" charset="-120"/>
              </a:rPr>
              <a:t>💾  Session Cache Managers</a:t>
            </a:r>
            <a:endParaRPr lang="en-US" sz="1450" dirty="0"/>
          </a:p>
        </p:txBody>
      </p:sp>
      <p:sp>
        <p:nvSpPr>
          <p:cNvPr id="21" name="Text 18"/>
          <p:cNvSpPr/>
          <p:nvPr/>
        </p:nvSpPr>
        <p:spPr>
          <a:xfrm>
            <a:off x="6254496" y="2487168"/>
            <a:ext cx="5312664" cy="14264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Package variables persist throughout a database connection. They are utilized to cache static data (e.g., system settings, user permissions) in memory, avoiding redundant table queries.</a:t>
            </a:r>
            <a:endParaRPr lang="en-US" sz="1300" dirty="0"/>
          </a:p>
        </p:txBody>
      </p:sp>
      <p:sp>
        <p:nvSpPr>
          <p:cNvPr id="22" name="Shape 19"/>
          <p:cNvSpPr/>
          <p:nvPr/>
        </p:nvSpPr>
        <p:spPr>
          <a:xfrm>
            <a:off x="457200" y="4114800"/>
            <a:ext cx="5532120" cy="1956816"/>
          </a:xfrm>
          <a:prstGeom prst="roundRect">
            <a:avLst>
              <a:gd name="adj" fmla="val 4673"/>
            </a:avLst>
          </a:prstGeom>
          <a:solidFill>
            <a:srgbClr val="FCE4EC"/>
          </a:solidFill>
          <a:ln w="19050">
            <a:solidFill>
              <a:srgbClr val="990033"/>
            </a:solidFill>
            <a:prstDash val="solid"/>
          </a:ln>
        </p:spPr>
      </p:sp>
      <p:sp>
        <p:nvSpPr>
          <p:cNvPr id="23" name="Text 20"/>
          <p:cNvSpPr/>
          <p:nvPr/>
        </p:nvSpPr>
        <p:spPr>
          <a:xfrm>
            <a:off x="566928" y="4206240"/>
            <a:ext cx="5312664" cy="347472"/>
          </a:xfrm>
          <a:prstGeom prst="rect">
            <a:avLst/>
          </a:prstGeom>
          <a:noFill/>
          <a:ln/>
        </p:spPr>
        <p:txBody>
          <a:bodyPr wrap="square" lIns="0" tIns="0" rIns="0" bIns="0" rtlCol="0" anchor="ctr"/>
          <a:lstStyle/>
          <a:p>
            <a:pPr indent="0" marL="0">
              <a:buNone/>
            </a:pPr>
            <a:r>
              <a:rPr lang="en-US" sz="1450" b="1" dirty="0">
                <a:solidFill>
                  <a:srgbClr val="990033"/>
                </a:solidFill>
                <a:latin typeface="Arial" pitchFamily="34" charset="0"/>
                <a:ea typeface="Arial" pitchFamily="34" charset="-122"/>
                <a:cs typeface="Arial" pitchFamily="34" charset="-120"/>
              </a:rPr>
              <a:t>🌐  System Integration Modules</a:t>
            </a:r>
            <a:endParaRPr lang="en-US" sz="1450" dirty="0"/>
          </a:p>
        </p:txBody>
      </p:sp>
      <p:sp>
        <p:nvSpPr>
          <p:cNvPr id="24" name="Text 21"/>
          <p:cNvSpPr/>
          <p:nvPr/>
        </p:nvSpPr>
        <p:spPr>
          <a:xfrm>
            <a:off x="566928" y="4590288"/>
            <a:ext cx="5312664" cy="14264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Encapsulates complex database integrations, such as calling external APIs, parsing XML/JSON, or managing TCP connections inside private package body routines.</a:t>
            </a:r>
            <a:endParaRPr lang="en-US" sz="1300" dirty="0"/>
          </a:p>
        </p:txBody>
      </p:sp>
      <p:sp>
        <p:nvSpPr>
          <p:cNvPr id="25" name="Shape 22"/>
          <p:cNvSpPr/>
          <p:nvPr/>
        </p:nvSpPr>
        <p:spPr>
          <a:xfrm>
            <a:off x="6144768" y="4114800"/>
            <a:ext cx="5532120" cy="1956816"/>
          </a:xfrm>
          <a:prstGeom prst="roundRect">
            <a:avLst>
              <a:gd name="adj" fmla="val 4673"/>
            </a:avLst>
          </a:prstGeom>
          <a:solidFill>
            <a:srgbClr val="FFF9C4"/>
          </a:solidFill>
          <a:ln w="19050">
            <a:solidFill>
              <a:srgbClr val="F57F17"/>
            </a:solidFill>
            <a:prstDash val="solid"/>
          </a:ln>
        </p:spPr>
      </p:sp>
      <p:sp>
        <p:nvSpPr>
          <p:cNvPr id="26" name="Text 23"/>
          <p:cNvSpPr/>
          <p:nvPr/>
        </p:nvSpPr>
        <p:spPr>
          <a:xfrm>
            <a:off x="6254496" y="4206240"/>
            <a:ext cx="5312664" cy="347472"/>
          </a:xfrm>
          <a:prstGeom prst="rect">
            <a:avLst/>
          </a:prstGeom>
          <a:noFill/>
          <a:ln/>
        </p:spPr>
        <p:txBody>
          <a:bodyPr wrap="square" lIns="0" tIns="0" rIns="0" bIns="0" rtlCol="0" anchor="ctr"/>
          <a:lstStyle/>
          <a:p>
            <a:pPr indent="0" marL="0">
              <a:buNone/>
            </a:pPr>
            <a:r>
              <a:rPr lang="en-US" sz="1450" b="1" dirty="0">
                <a:solidFill>
                  <a:srgbClr val="F57F17"/>
                </a:solidFill>
                <a:latin typeface="Arial" pitchFamily="34" charset="0"/>
                <a:ea typeface="Arial" pitchFamily="34" charset="-122"/>
                <a:cs typeface="Arial" pitchFamily="34" charset="-120"/>
              </a:rPr>
              <a:t>⚙️  Utility Toolkits</a:t>
            </a:r>
            <a:endParaRPr lang="en-US" sz="1450" dirty="0"/>
          </a:p>
        </p:txBody>
      </p:sp>
      <p:sp>
        <p:nvSpPr>
          <p:cNvPr id="27" name="Text 24"/>
          <p:cNvSpPr/>
          <p:nvPr/>
        </p:nvSpPr>
        <p:spPr>
          <a:xfrm>
            <a:off x="6254496" y="4590288"/>
            <a:ext cx="5312664" cy="14264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Groups helper subprograms for data mapping, error logging, and date arithmetic. Oracle built-in packages like DBMS_SQL and UT_FILE are classic examples.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Database Programming with PL/SQL</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2377440"/>
            <a:ext cx="11292840" cy="1371600"/>
          </a:xfrm>
          <a:prstGeom prst="rect">
            <a:avLst/>
          </a:prstGeom>
          <a:noFill/>
          <a:ln/>
        </p:spPr>
        <p:txBody>
          <a:bodyPr wrap="square" rtlCol="0" anchor="ctr"/>
          <a:lstStyle/>
          <a:p>
            <a:pPr algn="ctr" indent="0" marL="0">
              <a:buNone/>
            </a:pPr>
            <a:r>
              <a:rPr lang="en-US" sz="4800" b="1" dirty="0">
                <a:solidFill>
                  <a:srgbClr val="990033"/>
                </a:solidFill>
                <a:latin typeface="Arial" pitchFamily="34" charset="0"/>
                <a:ea typeface="Arial" pitchFamily="34" charset="-122"/>
                <a:cs typeface="Arial" pitchFamily="34" charset="-120"/>
              </a:rPr>
              <a:t>THANK YOU</a:t>
            </a:r>
            <a:endParaRPr lang="en-US" sz="4800" dirty="0"/>
          </a:p>
        </p:txBody>
      </p:sp>
      <p:sp>
        <p:nvSpPr>
          <p:cNvPr id="14" name="Text 11"/>
          <p:cNvSpPr/>
          <p:nvPr/>
        </p:nvSpPr>
        <p:spPr>
          <a:xfrm>
            <a:off x="457200" y="5029200"/>
            <a:ext cx="11292840" cy="822960"/>
          </a:xfrm>
          <a:prstGeom prst="rect">
            <a:avLst/>
          </a:prstGeom>
          <a:noFill/>
          <a:ln/>
        </p:spPr>
        <p:txBody>
          <a:bodyPr wrap="square" rtlCol="0" anchor="ctr"/>
          <a:lstStyle/>
          <a:p>
            <a:pPr algn="ctr" indent="0" marL="0">
              <a:buNone/>
            </a:pPr>
            <a:r>
              <a:rPr lang="en-US" sz="1300" dirty="0">
                <a:solidFill>
                  <a:srgbClr val="555555"/>
                </a:solidFill>
                <a:latin typeface="Arial" pitchFamily="34" charset="0"/>
                <a:ea typeface="Arial" pitchFamily="34" charset="-122"/>
                <a:cs typeface="Arial" pitchFamily="34" charset="-120"/>
              </a:rPr>
              <a:t>Department of Computer Science and Engineering</a:t>
            </a:r>
            <a:endParaRPr lang="en-US" sz="1300" dirty="0"/>
          </a:p>
          <a:p>
            <a:pPr algn="ctr" indent="0" marL="0">
              <a:buNone/>
            </a:pPr>
            <a:r>
              <a:rPr lang="en-US" sz="1300" dirty="0">
                <a:solidFill>
                  <a:srgbClr val="555555"/>
                </a:solidFill>
                <a:latin typeface="Arial" pitchFamily="34" charset="0"/>
                <a:ea typeface="Arial" pitchFamily="34" charset="-122"/>
                <a:cs typeface="Arial" pitchFamily="34" charset="-120"/>
              </a:rPr>
              <a:t>Marri Laxman Reddy Institute of Technology and Management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2026-06-14T11:41:05Z</dcterms:created>
  <dcterms:modified xsi:type="dcterms:W3CDTF">2026-06-14T11:41:05Z</dcterms:modified>
</cp:coreProperties>
</file>