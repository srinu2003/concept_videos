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What is a Fibonacci Heap?
Fibonacci heaps were introduced by Fredman and Tarjan in 1984. They are a collection of min-heap-ordered trees, but unlike binomial heaps, they have a highly relaxed structure.
The trees in a Fibonacci heap are not constrained to be binomial trees. This relaxation allows us to perform operations like insertion and key reduction in O(1) actual or amortized time by deferring the structural consolidation of the heap.
All roots of the trees are kept in a circular doubly-linked list. We maintain a pointer directly to the minimum root. This gives us instant O(1) access to the minimum key.
Why is it named after Fibonacci? It is because Fibonacci numbers arise in the analysis of its operations. Specifically, for any node with degree d, the size of its subtree is at least the (d+2)-th Fibonacci number. This mathematical property bounds the maximum degree of any node to O(log n), which is crucial for proving the efficiency of Extract-Min.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Complexity Analysis
This slide displays the power of Fibonacci Heaps. Traditional binary heaps require logarithmic time for insertions and key reductions.
Binomial heaps optimize insertions to O(1) amortized, but Union and Decrease-Key still take O(log n) time.
Fibonacci heaps achieve O(1) amortized time for Insert, Union, and Decrease-Key. The only operation that requires O(log n) amortized time is Extract-Min, because it is forced to do all the deferred work of consolidating the trees in the root list. This makes the Fibonacci heap ideal for algorithms that perform a large number of Decrease-Key operations, such as Dijkstra's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Extract-Min Operation
Extract-Min is where the 'lazy' design of the Fibonacci heap catch up with us. Since we did not structure the heap during insertions, the root list might contain many single nodes.
During Extract-Min:
1. We remove the minimum node.
2. We take its children and make them roots by placing them in the root list.
3. Then, we consolidate. We use a degree array to keep track of roots by degree. If we find two roots with the same degree, we merge them by making the root with the larger key a child of the root with the smaller key.
4. We repeat this until all roots in the root list have distinct degrees. This step bounds the size of the root list to O(log n) and guarantees the amortized log n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Decrease-Key Operation
Decrease-Key is the most elegant operation. If we decrease a node's key and it becomes smaller than its parent's key, the min-heap property is violated.
Instead of bubbling up, we cut the node from its parent and add it directly to the root list as a new tree root. However, if we do this repeatedly without rules, the trees could become long thin chains, destroying the O(log n) degree bound.
To prevent this, we use the mark flag. If a parent node loses its second child, we cut the parent too, and move it to the root list. This is called a cascading cut. It recursively bubbles up until it hits an unmarked node (which it marks) or a root. This cascading process ensures trees remain bushy and the Fibonacci bounds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Applications of Fibonacci Heaps
Fibonacci heaps excel in network and graph optimization algorithms. In Dijkstra's and Prim's algorithms, the number of Decrease-Key operations is bounded by the number of edges E, whereas Extract-Min is done V times.
By optimizing Decrease-Key to O(1) amortized, Fibonacci heaps yield an overall time complexity of O(E + V log V) instead of O(E log V). For dense graphs, this is a significant speedup.
However, in practice, Fibonacci heaps have large constant factors and complex pointer overhead. Therefore, for smaller or sparse graphs, simpler structures like binary heaps are often faster. But for very large scale networks, Fibonacci heaps are theoretically superior.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 Heap Structures</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Fibonacci Heaps</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What is a Fibonacci Heap?</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A Fibonacci Heap </a:t>
            </a:r>
            <a:pPr indent="0" marL="0">
              <a:buNone/>
            </a:pPr>
            <a:r>
              <a:rPr lang="en-US" sz="1400" dirty="0">
                <a:solidFill>
                  <a:srgbClr val="000000"/>
                </a:solidFill>
                <a:latin typeface="Arial" pitchFamily="34" charset="0"/>
                <a:ea typeface="Arial" pitchFamily="34" charset="-122"/>
                <a:cs typeface="Arial" pitchFamily="34" charset="-120"/>
              </a:rPr>
              <a:t>is a collection of min-heap-ordered trees. It provides faster amortized running times for several key operations compared to binary or binomial heaps.</a:t>
            </a:r>
            <a:endParaRPr lang="en-US" sz="1400" dirty="0"/>
          </a:p>
        </p:txBody>
      </p:sp>
      <p:sp>
        <p:nvSpPr>
          <p:cNvPr id="16" name="Shape 13"/>
          <p:cNvSpPr/>
          <p:nvPr/>
        </p:nvSpPr>
        <p:spPr>
          <a:xfrm>
            <a:off x="457200" y="2103120"/>
            <a:ext cx="5394960" cy="3895344"/>
          </a:xfrm>
          <a:prstGeom prst="roundRect">
            <a:avLst>
              <a:gd name="adj" fmla="val 2347"/>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Core Structure &amp; Principles</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Root List:</a:t>
            </a:r>
            <a:pPr indent="0" marL="0">
              <a:buNone/>
            </a:pPr>
            <a:r>
              <a:rPr lang="en-US" sz="1300" dirty="0">
                <a:solidFill>
                  <a:srgbClr val="000000"/>
                </a:solidFill>
                <a:latin typeface="Arial" pitchFamily="34" charset="0"/>
                <a:ea typeface="Arial" pitchFamily="34" charset="-122"/>
                <a:cs typeface="Arial" pitchFamily="34" charset="-120"/>
              </a:rPr>
              <a:t> Roots of all trees are linked using a circular doubly-linked list.</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Min Pointer:</a:t>
            </a:r>
            <a:pPr indent="0" marL="0">
              <a:buNone/>
            </a:pPr>
            <a:r>
              <a:rPr lang="en-US" sz="1300" dirty="0">
                <a:solidFill>
                  <a:srgbClr val="000000"/>
                </a:solidFill>
                <a:latin typeface="Arial" pitchFamily="34" charset="0"/>
                <a:ea typeface="Arial" pitchFamily="34" charset="-122"/>
                <a:cs typeface="Arial" pitchFamily="34" charset="-120"/>
              </a:rPr>
              <a:t> Points to the minimum root in the root list. Gives O(1) time access to the minimum element.</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Relaxed Structure:</a:t>
            </a:r>
            <a:pPr indent="0" marL="0">
              <a:buNone/>
            </a:pPr>
            <a:r>
              <a:rPr lang="en-US" sz="1300" dirty="0">
                <a:solidFill>
                  <a:srgbClr val="000000"/>
                </a:solidFill>
                <a:latin typeface="Arial" pitchFamily="34" charset="0"/>
                <a:ea typeface="Arial" pitchFamily="34" charset="-122"/>
                <a:cs typeface="Arial" pitchFamily="34" charset="-120"/>
              </a:rPr>
              <a:t> Trees do not have to be binomial. Consolidation of trees is deferred until the Extract-Min operation.</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Node Pointers:</a:t>
            </a:r>
            <a:pPr indent="0" marL="0">
              <a:buNone/>
            </a:pPr>
            <a:r>
              <a:rPr lang="en-US" sz="1300" dirty="0">
                <a:solidFill>
                  <a:srgbClr val="000000"/>
                </a:solidFill>
                <a:latin typeface="Arial" pitchFamily="34" charset="0"/>
                <a:ea typeface="Arial" pitchFamily="34" charset="-122"/>
                <a:cs typeface="Arial" pitchFamily="34" charset="-120"/>
              </a:rPr>
              <a:t> Each node contains parent, child (leftmost), left/right siblings, degree, and a mark flag.</a:t>
            </a:r>
            <a:endParaRPr lang="en-US" sz="1300" dirty="0"/>
          </a:p>
        </p:txBody>
      </p:sp>
      <p:sp>
        <p:nvSpPr>
          <p:cNvPr id="19" name="Shape 16"/>
          <p:cNvSpPr/>
          <p:nvPr/>
        </p:nvSpPr>
        <p:spPr>
          <a:xfrm>
            <a:off x="6035040" y="2103120"/>
            <a:ext cx="5715000" cy="3895344"/>
          </a:xfrm>
          <a:prstGeom prst="roundRect">
            <a:avLst>
              <a:gd name="adj" fmla="val 2347"/>
            </a:avLst>
          </a:prstGeom>
          <a:solidFill>
            <a:srgbClr val="FCE4EC"/>
          </a:solidFill>
          <a:ln w="19050">
            <a:solidFill>
              <a:srgbClr val="990033"/>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Why 'Fibonacci'?</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Degree Bounds:</a:t>
            </a:r>
            <a:pPr indent="0" marL="0">
              <a:buNone/>
            </a:pPr>
            <a:r>
              <a:rPr lang="en-US" sz="1300" dirty="0">
                <a:solidFill>
                  <a:srgbClr val="000000"/>
                </a:solidFill>
                <a:latin typeface="Arial" pitchFamily="34" charset="0"/>
                <a:ea typeface="Arial" pitchFamily="34" charset="-122"/>
                <a:cs typeface="Arial" pitchFamily="34" charset="-120"/>
              </a:rPr>
              <a:t> The maximum degree of any node in a heap of size n is bounded by O(log n).</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Golden Ratio relation:</a:t>
            </a:r>
            <a:pPr indent="0" marL="0">
              <a:buNone/>
            </a:pPr>
            <a:r>
              <a:rPr lang="en-US" sz="1300" dirty="0">
                <a:solidFill>
                  <a:srgbClr val="000000"/>
                </a:solidFill>
                <a:latin typeface="Arial" pitchFamily="34" charset="0"/>
                <a:ea typeface="Arial" pitchFamily="34" charset="-122"/>
                <a:cs typeface="Arial" pitchFamily="34" charset="-120"/>
              </a:rPr>
              <a:t> If a node in a Fibonacci heap has degree d, the subtree rooted at that node has size at least F_(d+2) (the (d+2)-th Fibonacci number).</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Size growth:</a:t>
            </a:r>
            <a:pPr indent="0" marL="0">
              <a:buNone/>
            </a:pPr>
            <a:r>
              <a:rPr lang="en-US" sz="1300" dirty="0">
                <a:solidFill>
                  <a:srgbClr val="000000"/>
                </a:solidFill>
                <a:latin typeface="Arial" pitchFamily="34" charset="0"/>
                <a:ea typeface="Arial" pitchFamily="34" charset="-122"/>
                <a:cs typeface="Arial" pitchFamily="34" charset="-120"/>
              </a:rPr>
              <a:t> Since Fibonacci numbers grow exponentially (F_k ≈ φ^k, where φ ≈ 1.618), the minimum size of a tree grows exponentially, bounding the maximum degree.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Node Marking:</a:t>
            </a:r>
            <a:pPr indent="0" marL="0">
              <a:buNone/>
            </a:pPr>
            <a:r>
              <a:rPr lang="en-US" sz="1300" dirty="0">
                <a:solidFill>
                  <a:srgbClr val="000000"/>
                </a:solidFill>
                <a:latin typeface="Arial" pitchFamily="34" charset="0"/>
                <a:ea typeface="Arial" pitchFamily="34" charset="-122"/>
                <a:cs typeface="Arial" pitchFamily="34" charset="-120"/>
              </a:rPr>
              <a:t> A node is marked if it has lost a single child since it was made a child of another node. Helps maintain structural balance.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Amortized Complexity Analysis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Comparison of asymptotic running times between different heap types:</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993392"/>
          <a:ext cx="11292840" cy="4572000"/>
        </p:xfrm>
        <a:graphic>
          <a:graphicData uri="http://schemas.openxmlformats.org/drawingml/2006/table">
            <a:tbl>
              <a:tblPr/>
              <a:tblGrid>
                <a:gridCol w="2286000"/>
                <a:gridCol w="2999232"/>
                <a:gridCol w="2999232"/>
                <a:gridCol w="3008376"/>
              </a:tblGrid>
              <a:tr h="762000">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Operation</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900"/>
                    </a:solidFill>
                  </a:tcPr>
                </a:tc>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Binary Heap (Worst)</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900"/>
                    </a:solidFill>
                  </a:tcPr>
                </a:tc>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Binomial Heap (Amortized)</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09900"/>
                    </a:solidFill>
                  </a:tcPr>
                </a:tc>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Fibonacci Heap (Amortized)</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r>
              <a:tr h="762000">
                <a:tc>
                  <a:txBody>
                    <a:bodyPr/>
                    <a:lstStyle/>
                    <a:p>
                      <a:pPr indent="0" marL="0">
                        <a:buNone/>
                      </a:pPr>
                      <a:r>
                        <a:rPr lang="en-US" sz="1350" b="1" dirty="0">
                          <a:solidFill>
                            <a:srgbClr val="000000"/>
                          </a:solidFill>
                          <a:latin typeface="Arial" pitchFamily="34" charset="0"/>
                          <a:ea typeface="Arial" pitchFamily="34" charset="-122"/>
                          <a:cs typeface="Arial" pitchFamily="34" charset="-120"/>
                        </a:rPr>
                        <a:t>Insert</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algn="ctr" indent="0" marL="0">
                        <a:buNone/>
                      </a:pPr>
                      <a:r>
                        <a:rPr lang="en-US" sz="1350" dirty="0">
                          <a:solidFill>
                            <a:srgbClr val="000000"/>
                          </a:solidFill>
                          <a:latin typeface="Arial" pitchFamily="34" charset="0"/>
                          <a:ea typeface="Arial" pitchFamily="34" charset="-122"/>
                          <a:cs typeface="Arial" pitchFamily="34" charset="-120"/>
                        </a:rPr>
                        <a:t>O(log n)</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algn="ctr" indent="0" marL="0">
                        <a:buNone/>
                      </a:pPr>
                      <a:r>
                        <a:rPr lang="en-US" sz="1350" dirty="0">
                          <a:solidFill>
                            <a:srgbClr val="000000"/>
                          </a:solidFill>
                          <a:latin typeface="Arial" pitchFamily="34" charset="0"/>
                          <a:ea typeface="Arial" pitchFamily="34" charset="-122"/>
                          <a:cs typeface="Arial" pitchFamily="34" charset="-120"/>
                        </a:rPr>
                        <a:t>O(1)</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algn="ctr" indent="0" marL="0">
                        <a:buNone/>
                      </a:pPr>
                      <a:r>
                        <a:rPr lang="en-US" sz="1350" b="1" dirty="0">
                          <a:solidFill>
                            <a:srgbClr val="006400"/>
                          </a:solidFill>
                          <a:latin typeface="Arial" pitchFamily="34" charset="0"/>
                          <a:ea typeface="Arial" pitchFamily="34" charset="-122"/>
                          <a:cs typeface="Arial" pitchFamily="34" charset="-120"/>
                        </a:rPr>
                        <a:t>O(1)</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r>
              <a:tr h="762000">
                <a:tc>
                  <a:txBody>
                    <a:bodyPr/>
                    <a:lstStyle/>
                    <a:p>
                      <a:pPr indent="0" marL="0">
                        <a:buNone/>
                      </a:pPr>
                      <a:r>
                        <a:rPr lang="en-US" sz="1350" b="1" dirty="0">
                          <a:solidFill>
                            <a:srgbClr val="000000"/>
                          </a:solidFill>
                          <a:latin typeface="Arial" pitchFamily="34" charset="0"/>
                          <a:ea typeface="Arial" pitchFamily="34" charset="-122"/>
                          <a:cs typeface="Arial" pitchFamily="34" charset="-120"/>
                        </a:rPr>
                        <a:t>Find Min</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350" dirty="0">
                          <a:solidFill>
                            <a:srgbClr val="000000"/>
                          </a:solidFill>
                          <a:latin typeface="Arial" pitchFamily="34" charset="0"/>
                          <a:ea typeface="Arial" pitchFamily="34" charset="-122"/>
                          <a:cs typeface="Arial" pitchFamily="34" charset="-120"/>
                        </a:rPr>
                        <a:t>O(1)</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350" dirty="0">
                          <a:solidFill>
                            <a:srgbClr val="000000"/>
                          </a:solidFill>
                          <a:latin typeface="Arial" pitchFamily="34" charset="0"/>
                          <a:ea typeface="Arial" pitchFamily="34" charset="-122"/>
                          <a:cs typeface="Arial" pitchFamily="34" charset="-120"/>
                        </a:rPr>
                        <a:t>O(log n) or O(1)</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350" b="1" dirty="0">
                          <a:solidFill>
                            <a:srgbClr val="006400"/>
                          </a:solidFill>
                          <a:latin typeface="Arial" pitchFamily="34" charset="0"/>
                          <a:ea typeface="Arial" pitchFamily="34" charset="-122"/>
                          <a:cs typeface="Arial" pitchFamily="34" charset="-120"/>
                        </a:rPr>
                        <a:t>O(1)</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r>
              <a:tr h="762000">
                <a:tc>
                  <a:txBody>
                    <a:bodyPr/>
                    <a:lstStyle/>
                    <a:p>
                      <a:pPr indent="0" marL="0">
                        <a:buNone/>
                      </a:pPr>
                      <a:r>
                        <a:rPr lang="en-US" sz="1350" b="1" dirty="0">
                          <a:solidFill>
                            <a:srgbClr val="000000"/>
                          </a:solidFill>
                          <a:latin typeface="Arial" pitchFamily="34" charset="0"/>
                          <a:ea typeface="Arial" pitchFamily="34" charset="-122"/>
                          <a:cs typeface="Arial" pitchFamily="34" charset="-120"/>
                        </a:rPr>
                        <a:t>Union</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350" dirty="0">
                          <a:solidFill>
                            <a:srgbClr val="000000"/>
                          </a:solidFill>
                          <a:latin typeface="Arial" pitchFamily="34" charset="0"/>
                          <a:ea typeface="Arial" pitchFamily="34" charset="-122"/>
                          <a:cs typeface="Arial" pitchFamily="34" charset="-120"/>
                        </a:rPr>
                        <a:t>O(n)</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350" dirty="0">
                          <a:solidFill>
                            <a:srgbClr val="000000"/>
                          </a:solidFill>
                          <a:latin typeface="Arial" pitchFamily="34" charset="0"/>
                          <a:ea typeface="Arial" pitchFamily="34" charset="-122"/>
                          <a:cs typeface="Arial" pitchFamily="34" charset="-120"/>
                        </a:rPr>
                        <a:t>O(log n)</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350" b="1" dirty="0">
                          <a:solidFill>
                            <a:srgbClr val="006400"/>
                          </a:solidFill>
                          <a:latin typeface="Arial" pitchFamily="34" charset="0"/>
                          <a:ea typeface="Arial" pitchFamily="34" charset="-122"/>
                          <a:cs typeface="Arial" pitchFamily="34" charset="-120"/>
                        </a:rPr>
                        <a:t>O(1)</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r>
              <a:tr h="762000">
                <a:tc>
                  <a:txBody>
                    <a:bodyPr/>
                    <a:lstStyle/>
                    <a:p>
                      <a:pPr indent="0" marL="0">
                        <a:buNone/>
                      </a:pPr>
                      <a:r>
                        <a:rPr lang="en-US" sz="1350" b="1" dirty="0">
                          <a:solidFill>
                            <a:srgbClr val="000000"/>
                          </a:solidFill>
                          <a:latin typeface="Arial" pitchFamily="34" charset="0"/>
                          <a:ea typeface="Arial" pitchFamily="34" charset="-122"/>
                          <a:cs typeface="Arial" pitchFamily="34" charset="-120"/>
                        </a:rPr>
                        <a:t>Extract Min</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algn="ctr" indent="0" marL="0">
                        <a:buNone/>
                      </a:pPr>
                      <a:r>
                        <a:rPr lang="en-US" sz="1350" dirty="0">
                          <a:solidFill>
                            <a:srgbClr val="000000"/>
                          </a:solidFill>
                          <a:latin typeface="Arial" pitchFamily="34" charset="0"/>
                          <a:ea typeface="Arial" pitchFamily="34" charset="-122"/>
                          <a:cs typeface="Arial" pitchFamily="34" charset="-120"/>
                        </a:rPr>
                        <a:t>O(log n)</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algn="ctr" indent="0" marL="0">
                        <a:buNone/>
                      </a:pPr>
                      <a:r>
                        <a:rPr lang="en-US" sz="1350" dirty="0">
                          <a:solidFill>
                            <a:srgbClr val="000000"/>
                          </a:solidFill>
                          <a:latin typeface="Arial" pitchFamily="34" charset="0"/>
                          <a:ea typeface="Arial" pitchFamily="34" charset="-122"/>
                          <a:cs typeface="Arial" pitchFamily="34" charset="-120"/>
                        </a:rPr>
                        <a:t>O(log n)</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algn="ctr" indent="0" marL="0">
                        <a:buNone/>
                      </a:pPr>
                      <a:r>
                        <a:rPr lang="en-US" sz="1350" b="1" dirty="0">
                          <a:solidFill>
                            <a:srgbClr val="990033"/>
                          </a:solidFill>
                          <a:latin typeface="Arial" pitchFamily="34" charset="0"/>
                          <a:ea typeface="Arial" pitchFamily="34" charset="-122"/>
                          <a:cs typeface="Arial" pitchFamily="34" charset="-120"/>
                        </a:rPr>
                        <a:t>O(log n)</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r>
              <a:tr h="762000">
                <a:tc>
                  <a:txBody>
                    <a:bodyPr/>
                    <a:lstStyle/>
                    <a:p>
                      <a:pPr indent="0" marL="0">
                        <a:buNone/>
                      </a:pPr>
                      <a:r>
                        <a:rPr lang="en-US" sz="1350" b="1" dirty="0">
                          <a:solidFill>
                            <a:srgbClr val="000000"/>
                          </a:solidFill>
                          <a:latin typeface="Arial" pitchFamily="34" charset="0"/>
                          <a:ea typeface="Arial" pitchFamily="34" charset="-122"/>
                          <a:cs typeface="Arial" pitchFamily="34" charset="-120"/>
                        </a:rPr>
                        <a:t>Decrease Key</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algn="ctr" indent="0" marL="0">
                        <a:buNone/>
                      </a:pPr>
                      <a:r>
                        <a:rPr lang="en-US" sz="1350" dirty="0">
                          <a:solidFill>
                            <a:srgbClr val="000000"/>
                          </a:solidFill>
                          <a:latin typeface="Arial" pitchFamily="34" charset="0"/>
                          <a:ea typeface="Arial" pitchFamily="34" charset="-122"/>
                          <a:cs typeface="Arial" pitchFamily="34" charset="-120"/>
                        </a:rPr>
                        <a:t>O(log n)</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algn="ctr" indent="0" marL="0">
                        <a:buNone/>
                      </a:pPr>
                      <a:r>
                        <a:rPr lang="en-US" sz="1350" dirty="0">
                          <a:solidFill>
                            <a:srgbClr val="000000"/>
                          </a:solidFill>
                          <a:latin typeface="Arial" pitchFamily="34" charset="0"/>
                          <a:ea typeface="Arial" pitchFamily="34" charset="-122"/>
                          <a:cs typeface="Arial" pitchFamily="34" charset="-120"/>
                        </a:rPr>
                        <a:t>O(log n)</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algn="ctr" indent="0" marL="0">
                        <a:buNone/>
                      </a:pPr>
                      <a:r>
                        <a:rPr lang="en-US" sz="1350" b="1" dirty="0">
                          <a:solidFill>
                            <a:srgbClr val="006400"/>
                          </a:solidFill>
                          <a:latin typeface="Arial" pitchFamily="34" charset="0"/>
                          <a:ea typeface="Arial" pitchFamily="34" charset="-122"/>
                          <a:cs typeface="Arial" pitchFamily="34" charset="-120"/>
                        </a:rPr>
                        <a:t>O(1)</a:t>
                      </a:r>
                      <a:endParaRPr lang="en-US" sz="13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Extract-Min: Consolidating Trees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Extract-Min is the most complex operation. It extracts the min node and cleans up the root list:</a:t>
            </a:r>
            <a:endParaRPr lang="en-US" sz="1400" dirty="0"/>
          </a:p>
        </p:txBody>
      </p:sp>
      <p:sp>
        <p:nvSpPr>
          <p:cNvPr id="16" name="Shape 13"/>
          <p:cNvSpPr/>
          <p:nvPr/>
        </p:nvSpPr>
        <p:spPr>
          <a:xfrm>
            <a:off x="457200" y="2103120"/>
            <a:ext cx="11292840" cy="4389120"/>
          </a:xfrm>
          <a:prstGeom prst="roundRect">
            <a:avLst>
              <a:gd name="adj" fmla="val 2083"/>
            </a:avLst>
          </a:prstGeom>
          <a:solidFill>
            <a:srgbClr val="E8F5E9"/>
          </a:solidFill>
          <a:ln w="19050">
            <a:solidFill>
              <a:srgbClr val="009900"/>
            </a:solidFill>
            <a:prstDash val="solid"/>
          </a:ln>
        </p:spPr>
      </p:sp>
      <p:sp>
        <p:nvSpPr>
          <p:cNvPr id="17" name="Text 14"/>
          <p:cNvSpPr/>
          <p:nvPr/>
        </p:nvSpPr>
        <p:spPr>
          <a:xfrm>
            <a:off x="566928" y="2176272"/>
            <a:ext cx="11073384"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Step-by-Step Extract-Min Process</a:t>
            </a:r>
            <a:endParaRPr lang="en-US" sz="1500" dirty="0"/>
          </a:p>
        </p:txBody>
      </p:sp>
      <p:sp>
        <p:nvSpPr>
          <p:cNvPr id="18" name="Text 15"/>
          <p:cNvSpPr/>
          <p:nvPr/>
        </p:nvSpPr>
        <p:spPr>
          <a:xfrm>
            <a:off x="566928" y="2606040"/>
            <a:ext cx="11073384" cy="3657600"/>
          </a:xfrm>
          <a:prstGeom prst="rect">
            <a:avLst/>
          </a:prstGeom>
          <a:noFill/>
          <a:ln/>
        </p:spPr>
        <p:txBody>
          <a:bodyPr wrap="square" lIns="0" tIns="0" rIns="0" bIns="0" rtlCol="0" anchor="ctr"/>
          <a:lstStyle/>
          <a:p>
            <a:pPr indent="0" marL="0">
              <a:buNone/>
            </a:pPr>
            <a:r>
              <a:rPr lang="en-US" sz="1350" b="1" dirty="0">
                <a:solidFill>
                  <a:srgbClr val="000000"/>
                </a:solidFill>
                <a:latin typeface="Arial" pitchFamily="34" charset="0"/>
                <a:ea typeface="Arial" pitchFamily="34" charset="-122"/>
                <a:cs typeface="Arial" pitchFamily="34" charset="-120"/>
              </a:rPr>
              <a:t>1. Remove the Minimum Node:</a:t>
            </a:r>
            <a:pPr indent="0" marL="0">
              <a:buNone/>
            </a:pPr>
            <a:r>
              <a:rPr lang="en-US" sz="1350" dirty="0">
                <a:solidFill>
                  <a:srgbClr val="000000"/>
                </a:solidFill>
                <a:latin typeface="Arial" pitchFamily="34" charset="0"/>
                <a:ea typeface="Arial" pitchFamily="34" charset="-122"/>
                <a:cs typeface="Arial" pitchFamily="34" charset="-120"/>
              </a:rPr>
              <a:t> Take out the node pointed to by the min pointer.</a:t>
            </a:r>
            <a:endParaRPr lang="en-US" sz="1350" dirty="0"/>
          </a:p>
          <a:p>
            <a:pPr indent="0" marL="0">
              <a:buNone/>
            </a:pPr>
            <a:r>
              <a:rPr lang="en-US" sz="1350" b="1" dirty="0">
                <a:solidFill>
                  <a:srgbClr val="000000"/>
                </a:solidFill>
                <a:latin typeface="Arial" pitchFamily="34" charset="0"/>
                <a:ea typeface="Arial" pitchFamily="34" charset="-122"/>
                <a:cs typeface="Arial" pitchFamily="34" charset="-120"/>
              </a:rPr>
              <a:t>2. Promote Children:</a:t>
            </a:r>
            <a:pPr indent="0" marL="0">
              <a:buNone/>
            </a:pPr>
            <a:r>
              <a:rPr lang="en-US" sz="1350" dirty="0">
                <a:solidFill>
                  <a:srgbClr val="000000"/>
                </a:solidFill>
                <a:latin typeface="Arial" pitchFamily="34" charset="0"/>
                <a:ea typeface="Arial" pitchFamily="34" charset="-122"/>
                <a:cs typeface="Arial" pitchFamily="34" charset="-120"/>
              </a:rPr>
              <a:t> Add all children of the removed min node to the root list. They become root trees.</a:t>
            </a:r>
            <a:endParaRPr lang="en-US" sz="1350" dirty="0"/>
          </a:p>
          <a:p>
            <a:pPr indent="0" marL="0">
              <a:buNone/>
            </a:pPr>
            <a:r>
              <a:rPr lang="en-US" sz="1350" b="1" dirty="0">
                <a:solidFill>
                  <a:srgbClr val="000000"/>
                </a:solidFill>
                <a:latin typeface="Arial" pitchFamily="34" charset="0"/>
                <a:ea typeface="Arial" pitchFamily="34" charset="-122"/>
                <a:cs typeface="Arial" pitchFamily="34" charset="-120"/>
              </a:rPr>
              <a:t>3. Consolidate Root List:</a:t>
            </a:r>
            <a:pPr indent="0" marL="0">
              <a:buNone/>
            </a:pPr>
            <a:r>
              <a:rPr lang="en-US" sz="1350" dirty="0">
                <a:solidFill>
                  <a:srgbClr val="000000"/>
                </a:solidFill>
                <a:latin typeface="Arial" pitchFamily="34" charset="0"/>
                <a:ea typeface="Arial" pitchFamily="34" charset="-122"/>
                <a:cs typeface="Arial" pitchFamily="34" charset="-120"/>
              </a:rPr>
              <a:t> Reduce the number of trees in the root list. We link trees of the same degree:</a:t>
            </a:r>
            <a:endParaRPr lang="en-US" sz="1350" dirty="0"/>
          </a:p>
          <a:p>
            <a:pPr indent="0" marL="0">
              <a:buNone/>
            </a:pPr>
            <a:r>
              <a:rPr lang="en-US" sz="1350" dirty="0">
                <a:solidFill>
                  <a:srgbClr val="000000"/>
                </a:solidFill>
                <a:latin typeface="Arial" pitchFamily="34" charset="0"/>
                <a:ea typeface="Arial" pitchFamily="34" charset="-122"/>
                <a:cs typeface="Arial" pitchFamily="34" charset="-120"/>
              </a:rPr>
              <a:t>   • Create an auxiliary array of size O(log n) indexed by degree.</a:t>
            </a:r>
            <a:endParaRPr lang="en-US" sz="1350" dirty="0"/>
          </a:p>
          <a:p>
            <a:pPr indent="0" marL="0">
              <a:buNone/>
            </a:pPr>
            <a:r>
              <a:rPr lang="en-US" sz="1350" dirty="0">
                <a:solidFill>
                  <a:srgbClr val="000000"/>
                </a:solidFill>
                <a:latin typeface="Arial" pitchFamily="34" charset="0"/>
                <a:ea typeface="Arial" pitchFamily="34" charset="-122"/>
                <a:cs typeface="Arial" pitchFamily="34" charset="-120"/>
              </a:rPr>
              <a:t>   • Traverse the root list. If two trees have the same degree d, make the one with the larger root key a child of the other, increasing its degree to d+1.</a:t>
            </a:r>
            <a:endParaRPr lang="en-US" sz="1350" dirty="0"/>
          </a:p>
          <a:p>
            <a:pPr indent="0" marL="0">
              <a:buNone/>
            </a:pPr>
            <a:r>
              <a:rPr lang="en-US" sz="1350" dirty="0">
                <a:solidFill>
                  <a:srgbClr val="000000"/>
                </a:solidFill>
                <a:latin typeface="Arial" pitchFamily="34" charset="0"/>
                <a:ea typeface="Arial" pitchFamily="34" charset="-122"/>
                <a:cs typeface="Arial" pitchFamily="34" charset="-120"/>
              </a:rPr>
              <a:t>   • Repeat this linking process until there is at most one tree of each degree.</a:t>
            </a:r>
            <a:endParaRPr lang="en-US" sz="1350" dirty="0"/>
          </a:p>
          <a:p>
            <a:pPr indent="0" marL="0">
              <a:buNone/>
            </a:pPr>
            <a:r>
              <a:rPr lang="en-US" sz="1350" b="1" dirty="0">
                <a:solidFill>
                  <a:srgbClr val="000000"/>
                </a:solidFill>
                <a:latin typeface="Arial" pitchFamily="34" charset="0"/>
                <a:ea typeface="Arial" pitchFamily="34" charset="-122"/>
                <a:cs typeface="Arial" pitchFamily="34" charset="-120"/>
              </a:rPr>
              <a:t>4. Re-establish Min Pointer:</a:t>
            </a:r>
            <a:pPr indent="0" marL="0">
              <a:buNone/>
            </a:pPr>
            <a:r>
              <a:rPr lang="en-US" sz="1350" dirty="0">
                <a:solidFill>
                  <a:srgbClr val="000000"/>
                </a:solidFill>
                <a:latin typeface="Arial" pitchFamily="34" charset="0"/>
                <a:ea typeface="Arial" pitchFamily="34" charset="-122"/>
                <a:cs typeface="Arial" pitchFamily="34" charset="-120"/>
              </a:rPr>
              <a:t> Scan the remaining consolidated roots to find the new minimum node.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Decrease-Key: Cascading Cuts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Decrease-Key reduces a node's key value. If the heap order is violated, it performs cuts:</a:t>
            </a:r>
            <a:endParaRPr lang="en-US" sz="1400" dirty="0"/>
          </a:p>
        </p:txBody>
      </p:sp>
      <p:sp>
        <p:nvSpPr>
          <p:cNvPr id="16" name="Shape 13"/>
          <p:cNvSpPr/>
          <p:nvPr/>
        </p:nvSpPr>
        <p:spPr>
          <a:xfrm>
            <a:off x="457200" y="2103120"/>
            <a:ext cx="5394960" cy="4297680"/>
          </a:xfrm>
          <a:prstGeom prst="roundRect">
            <a:avLst>
              <a:gd name="adj" fmla="val 2128"/>
            </a:avLst>
          </a:prstGeom>
          <a:solidFill>
            <a:srgbClr val="FCE4EC"/>
          </a:solidFill>
          <a:ln w="19050">
            <a:solidFill>
              <a:srgbClr val="990033"/>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The Cut &amp; Cascading Cut Algorithm</a:t>
            </a:r>
            <a:endParaRPr lang="en-US" sz="1500" dirty="0"/>
          </a:p>
        </p:txBody>
      </p:sp>
      <p:sp>
        <p:nvSpPr>
          <p:cNvPr id="18" name="Text 15"/>
          <p:cNvSpPr/>
          <p:nvPr/>
        </p:nvSpPr>
        <p:spPr>
          <a:xfrm>
            <a:off x="566928" y="2606040"/>
            <a:ext cx="5212080" cy="3657600"/>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If node x's new key is less than its parent y's key, heap order is violated:</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1. Cut Node x:</a:t>
            </a:r>
            <a:pPr indent="0" marL="0">
              <a:buNone/>
            </a:pPr>
            <a:r>
              <a:rPr lang="en-US" sz="1300" dirty="0">
                <a:solidFill>
                  <a:srgbClr val="000000"/>
                </a:solidFill>
                <a:latin typeface="Arial" pitchFamily="34" charset="0"/>
                <a:ea typeface="Arial" pitchFamily="34" charset="-122"/>
                <a:cs typeface="Arial" pitchFamily="34" charset="-120"/>
              </a:rPr>
              <a:t> Sever the link between x and y. Add x to the root list. Clear its mark flag.</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2. Cascading Cut on Parent y:</a:t>
            </a:r>
            <a:pPr indent="0" marL="0">
              <a:buNone/>
            </a:pPr>
            <a:r>
              <a:rPr lang="en-US" sz="1300" dirty="0">
                <a:solidFill>
                  <a:srgbClr val="000000"/>
                </a:solidFill>
                <a:latin typeface="Arial" pitchFamily="34" charset="0"/>
                <a:ea typeface="Arial" pitchFamily="34" charset="-122"/>
                <a:cs typeface="Arial" pitchFamily="34" charset="-120"/>
              </a:rPr>
              <a:t> Check parent y:</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 If y is a root, do nothing.</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 If y is unmarked, mark it (indicates it has lost a child).</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 If y is already marked, cut y from its parent, add y to the root list (unmarked), and recursively apply cascading cut to y's parent.</a:t>
            </a:r>
            <a:endParaRPr lang="en-US" sz="1300" dirty="0"/>
          </a:p>
        </p:txBody>
      </p:sp>
      <p:sp>
        <p:nvSpPr>
          <p:cNvPr id="19" name="Shape 16"/>
          <p:cNvSpPr/>
          <p:nvPr/>
        </p:nvSpPr>
        <p:spPr>
          <a:xfrm>
            <a:off x="6035040" y="2103120"/>
            <a:ext cx="5715000" cy="4297680"/>
          </a:xfrm>
          <a:prstGeom prst="roundRect">
            <a:avLst>
              <a:gd name="adj" fmla="val 2128"/>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Intuition &amp; Purpose</a:t>
            </a:r>
            <a:endParaRPr lang="en-US" sz="1500" dirty="0"/>
          </a:p>
        </p:txBody>
      </p:sp>
      <p:sp>
        <p:nvSpPr>
          <p:cNvPr id="21" name="Text 18"/>
          <p:cNvSpPr/>
          <p:nvPr/>
        </p:nvSpPr>
        <p:spPr>
          <a:xfrm>
            <a:off x="6144768" y="2606040"/>
            <a:ext cx="5513832" cy="365760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O(1) Amortized Time:</a:t>
            </a:r>
            <a:pPr indent="0" marL="0">
              <a:buNone/>
            </a:pPr>
            <a:r>
              <a:rPr lang="en-US" sz="1300" dirty="0">
                <a:solidFill>
                  <a:srgbClr val="000000"/>
                </a:solidFill>
                <a:latin typeface="Arial" pitchFamily="34" charset="0"/>
                <a:ea typeface="Arial" pitchFamily="34" charset="-122"/>
                <a:cs typeface="Arial" pitchFamily="34" charset="-120"/>
              </a:rPr>
              <a:t> By cutting immediately, we avoid traversing the tree to bubble up. The amortized cost of cascading cuts balances out over time.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Balanced Subtrees:</a:t>
            </a:r>
            <a:pPr indent="0" marL="0">
              <a:buNone/>
            </a:pPr>
            <a:r>
              <a:rPr lang="en-US" sz="1300" dirty="0">
                <a:solidFill>
                  <a:srgbClr val="000000"/>
                </a:solidFill>
                <a:latin typeface="Arial" pitchFamily="34" charset="0"/>
                <a:ea typeface="Arial" pitchFamily="34" charset="-122"/>
                <a:cs typeface="Arial" pitchFamily="34" charset="-120"/>
              </a:rPr>
              <a:t> Node marking guarantees that no node loses more than one child while remaining a child itself. This preserves the exponential size property of trees relative to their degree.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Fibonacci Relation:</a:t>
            </a:r>
            <a:pPr indent="0" marL="0">
              <a:buNone/>
            </a:pPr>
            <a:r>
              <a:rPr lang="en-US" sz="1300" dirty="0">
                <a:solidFill>
                  <a:srgbClr val="000000"/>
                </a:solidFill>
                <a:latin typeface="Arial" pitchFamily="34" charset="0"/>
                <a:ea typeface="Arial" pitchFamily="34" charset="-122"/>
                <a:cs typeface="Arial" pitchFamily="34" charset="-120"/>
              </a:rPr>
              <a:t> This specific rule ensures that a node of degree d has a subtree of size at least φ^d, keeping the maximum degree bounded by O(log 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in Computer Science</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Fibonacci heaps are primarily used in graph algorithms where Decrease-Key is frequent:</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Dijkstra's Shortest Path</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Dijkstra's algorithm finds the shortest path from a source node to all others. Using a Fibonacci heap, the complexity is reduced from O(E log V) to O(E + V log V). This is highly efficient for dense graphs with many edges.</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Prim's Minimum Spanning Tree</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Prim's algorithm finds the MST of a weighted graph. Using a Fibonacci heap to store vertices ordered by connection weight improves the runtime to O(E + V log V), matching Dijkstra's performance.</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Network Flow Algorithms</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Several advanced network flow and matching algorithms rely on min-priority queues. Using Fibonacci heaps speeds up the bottleneck operations of finding augmenting paths.</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Theoretical Algorithmics</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Fibonacci heaps are used as a building block in many advanced data structures, such as directed minimum spanning trees, and link-cut trees, where theoretical efficiency is critical.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2026-06-14T11:41:04Z</dcterms:created>
  <dcterms:modified xsi:type="dcterms:W3CDTF">2026-06-14T11:41:04Z</dcterms:modified>
</cp:coreProperties>
</file>