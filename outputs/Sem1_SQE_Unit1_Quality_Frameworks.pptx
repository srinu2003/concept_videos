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 am a first-year, first-semester M.Tech student in the Department of Computer Science and Engineering. Today, I am going to present our first topic in Software Quality Engineering: Software Quality Frameworks and the ISO-9126 standard. In this presentation, we will explore what defines software quality, examine different stakeholder perspectives, study the historical progression of defect measurement, analyze the six core characteristics of the ISO-9126 quality model, compare it to McCall's and Boehm's frameworks, and discuss how these frameworks are applied in the industry today. Let's begin by looking at the core definition of software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let's address the fundamental question: What is Software Quality? Software quality is the degree to which a software system satisfies its explicit functional requirements and implicit user expectations. Correctness and defects are its primary metrics. From a stakeholder perspective, quality means different things: users care about reliability and responsiveness; developers focus on maintainability, clean structure, and testability; while the business looks at cost-effectiveness and alignment with specs. Historically, we have measured quality using defect density, which is the number of defects per Thousand Lines of Code (KLOC). It is also crucial to distinguish between a fault, which is a bug in the code, and a failure, which is the actual execution of that fault causing incorrect user results. Over time, quality practices have progressed from simple post-development testing to active quality engineering throughout the software development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explore the ISO-9126 Quality Model. It is an international standard that defines a hierarchical software quality framework using six core characteristics. First is Functionality, which checks the existence of functions matching stated and implicit needs. Second is Reliability, focusing on the software's capability to maintain performance levels over time under specified conditions. Third is Usability, which measures the ease of understanding, learning, and operating the system. Fourth is Efficiency, evaluating performance relative to CPU, memory, and database resources. Fifth is Maintainability, which assesses the effort needed to make code modifications. Finally, Portability is the software's ability to be transferred from one environment to another. This model ensures that we assess software quality comprehensively from multiple dimensions, rather than just looking at the presence of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compare ISO-9126 with other classical frameworks, namely McCall's and Boehm's quality models. Structurally, McCall's model organizes quality into three product pillars: Product Operations, Product Revision, and Product Transition. Boehm's model uses a hierarchical tree representing user needs, while ISO-9126 uses six main characteristics and twenty-seven sub-characteristics. In terms of focus, McCall's emphasizes code properties and maintainability; Boehm's focuses on hardware utilization and efficiency; and ISO-9126 balances external quality, internal quality, and quality in use. Portability is a sub-category under Product Transition in McCall's and general utility in Boehm's, but is a top-level characteristic in ISO-9126. Finally, the target audience differs: McCall's is mainly for maintainers, Boehm's for system engineers, and ISO-9126 is designed for end-users, developers, and QA auditors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organizations implement these quality models in practice? First, in Contract Requirements Alignment, companies use ISO-9126 terms to specify clear service level agreement boundaries, such as defining fault tolerance or recovery times. Second, in Automated Code Scanning, static analysis tools like SonarQube map code issues to reliability or maintainability buckets to calculate technical debt. Third, in Vendor Benchmarking, IT enterprises use standardized checklists based on these models to evaluate third-party software before purchasing. Lastly, in Safety-Critical Certifications, such as aerospace and medical applications, software must strictly demonstrate compliance with reliability and maintainability standards prior to public deployment. By using these frameworks, companies translate abstract quality concepts into measurable business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this presentation on Software Quality Frameworks and ISO-9126. We have seen how defining, measuring, and applying quality models helps build more reliable and maintainable systems. I would like to thank the Department of Computer Science and Engineering at the Marri Laxman Reddy Institute of Technology and Management for this opportunity. Thank you everyone for your time and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Software Quality</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Software Quality Frameworks &amp; ISO-9126</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Software Quality?</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Software Quality </a:t>
            </a:r>
            <a:pPr indent="0" marL="0">
              <a:buNone/>
            </a:pPr>
            <a:r>
              <a:rPr lang="en-US" sz="1400" dirty="0">
                <a:solidFill>
                  <a:srgbClr val="000000"/>
                </a:solidFill>
                <a:latin typeface="Arial" pitchFamily="34" charset="0"/>
                <a:ea typeface="Arial" pitchFamily="34" charset="-122"/>
                <a:cs typeface="Arial" pitchFamily="34" charset="-120"/>
              </a:rPr>
              <a:t>is the degree to which a software system satisfies its explicit functional requirements and implicit user expectations. Correctness and defects are its primary metrics.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Perspectives of Quality</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User Perspective:</a:t>
            </a:r>
            <a:pPr indent="0" marL="0">
              <a:buNone/>
            </a:pPr>
            <a:r>
              <a:rPr lang="en-US" sz="1300" dirty="0">
                <a:solidFill>
                  <a:srgbClr val="000000"/>
                </a:solidFill>
                <a:latin typeface="Arial" pitchFamily="34" charset="0"/>
                <a:ea typeface="Arial" pitchFamily="34" charset="-122"/>
                <a:cs typeface="Arial" pitchFamily="34" charset="-120"/>
              </a:rPr>
              <a:t> Reliability, usability, and responsiveness during application execution.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Developer Perspective:</a:t>
            </a:r>
            <a:pPr indent="0" marL="0">
              <a:buNone/>
            </a:pPr>
            <a:r>
              <a:rPr lang="en-US" sz="1300" dirty="0">
                <a:solidFill>
                  <a:srgbClr val="000000"/>
                </a:solidFill>
                <a:latin typeface="Arial" pitchFamily="34" charset="0"/>
                <a:ea typeface="Arial" pitchFamily="34" charset="-122"/>
                <a:cs typeface="Arial" pitchFamily="34" charset="-120"/>
              </a:rPr>
              <a:t> Maintainability, clear structure, and testability of the source code.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Business Perspective:</a:t>
            </a:r>
            <a:pPr indent="0" marL="0">
              <a:buNone/>
            </a:pPr>
            <a:r>
              <a:rPr lang="en-US" sz="1300" dirty="0">
                <a:solidFill>
                  <a:srgbClr val="000000"/>
                </a:solidFill>
                <a:latin typeface="Arial" pitchFamily="34" charset="0"/>
                <a:ea typeface="Arial" pitchFamily="34" charset="-122"/>
                <a:cs typeface="Arial" pitchFamily="34" charset="-120"/>
              </a:rPr>
              <a:t> Cost-effectiveness, time-to-market, and alignment with contract specs.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Correctness vs. Defects:</a:t>
            </a:r>
            <a:pPr indent="0" marL="0">
              <a:buNone/>
            </a:pPr>
            <a:r>
              <a:rPr lang="en-US" sz="1300" dirty="0">
                <a:solidFill>
                  <a:srgbClr val="000000"/>
                </a:solidFill>
                <a:latin typeface="Arial" pitchFamily="34" charset="0"/>
                <a:ea typeface="Arial" pitchFamily="34" charset="-122"/>
                <a:cs typeface="Arial" pitchFamily="34" charset="-120"/>
              </a:rPr>
              <a:t> Correctness is adherence to specs; defects are deviations (faults, errors, failures) in execution.</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Historical Defect Measurements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Defect Density:</a:t>
            </a:r>
            <a:pPr indent="0" marL="0">
              <a:buNone/>
            </a:pPr>
            <a:r>
              <a:rPr lang="en-US" sz="1300" dirty="0">
                <a:solidFill>
                  <a:srgbClr val="000000"/>
                </a:solidFill>
                <a:latin typeface="Arial" pitchFamily="34" charset="0"/>
                <a:ea typeface="Arial" pitchFamily="34" charset="-122"/>
                <a:cs typeface="Arial" pitchFamily="34" charset="-120"/>
              </a:rPr>
              <a:t> Measured as the number of defects per Thousand Lines of Code (KLOC):</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Density = Defects / KLOC.</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Fault vs. Failure:</a:t>
            </a:r>
            <a:pPr indent="0" marL="0">
              <a:buNone/>
            </a:pPr>
            <a:r>
              <a:rPr lang="en-US" sz="1300" dirty="0">
                <a:solidFill>
                  <a:srgbClr val="000000"/>
                </a:solidFill>
                <a:latin typeface="Arial" pitchFamily="34" charset="0"/>
                <a:ea typeface="Arial" pitchFamily="34" charset="-122"/>
                <a:cs typeface="Arial" pitchFamily="34" charset="-120"/>
              </a:rPr>
              <a:t> A 'fault' is a bug in the code. A 'failure' is the execution of a fault causing incorrect user results.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Historical Progression:</a:t>
            </a:r>
            <a:pPr indent="0" marL="0">
              <a:buNone/>
            </a:pPr>
            <a:r>
              <a:rPr lang="en-US" sz="1300" dirty="0">
                <a:solidFill>
                  <a:srgbClr val="000000"/>
                </a:solidFill>
                <a:latin typeface="Arial" pitchFamily="34" charset="0"/>
                <a:ea typeface="Arial" pitchFamily="34" charset="-122"/>
                <a:cs typeface="Arial" pitchFamily="34" charset="-120"/>
              </a:rPr>
              <a:t> Quality has progressed from pure post-development testing to active quality engineering throughout the development lifecycle.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ISO-9126 Quality Model</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ISO-9126 is an international standard defining a hierarchical software quality framework:</a:t>
            </a:r>
            <a:endParaRPr lang="en-US" sz="1400" dirty="0"/>
          </a:p>
        </p:txBody>
      </p:sp>
      <p:sp>
        <p:nvSpPr>
          <p:cNvPr id="16" name="Shape 13"/>
          <p:cNvSpPr/>
          <p:nvPr/>
        </p:nvSpPr>
        <p:spPr>
          <a:xfrm>
            <a:off x="457200" y="2103120"/>
            <a:ext cx="11292840" cy="4389120"/>
          </a:xfrm>
          <a:prstGeom prst="roundRect">
            <a:avLst>
              <a:gd name="adj" fmla="val 2083"/>
            </a:avLst>
          </a:prstGeom>
          <a:solidFill>
            <a:srgbClr val="FFF9C4"/>
          </a:solidFill>
          <a:ln w="19050">
            <a:solidFill>
              <a:srgbClr val="F57F17"/>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The Six Core Quality Characteristics</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606040"/>
          <a:ext cx="11073384" cy="3657600"/>
        </p:xfrm>
        <a:graphic>
          <a:graphicData uri="http://schemas.openxmlformats.org/drawingml/2006/table">
            <a:tbl>
              <a:tblPr/>
              <a:tblGrid>
                <a:gridCol w="1828800"/>
                <a:gridCol w="5029200"/>
                <a:gridCol w="4215384"/>
              </a:tblGrid>
              <a:tr h="60960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Characteristic</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Definition / Focus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Key Metric Focus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Functionality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Existence of functions matching stated and implicit needs.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Accuracy, interoperability, compliance, security.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Reliability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Software's capability to maintain performance levels over time.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Maturity, fault tolerance, recoverability.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Usability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Ease of understanding, learning, and operating the system.</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Understandability, learnability, operability.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Efficiency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Performance relative to CPU, memory, and database resources.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Time behavior, resource utilization.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Maintainability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Effort needed to make specified code modifications.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Analyzability, changeability, stability, testability.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Comparison of Quality Models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 structural comparison of ISO-9126 with McCall's and Boehm's quality frameworks: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92840" cy="4389120"/>
        </p:xfrm>
        <a:graphic>
          <a:graphicData uri="http://schemas.openxmlformats.org/drawingml/2006/table">
            <a:tbl>
              <a:tblPr/>
              <a:tblGrid>
                <a:gridCol w="2286000"/>
                <a:gridCol w="2999232"/>
                <a:gridCol w="2999232"/>
                <a:gridCol w="3008376"/>
              </a:tblGrid>
              <a:tr h="877824">
                <a:tc>
                  <a:txBody>
                    <a:bodyPr/>
                    <a:lstStyle/>
                    <a:p>
                      <a:pPr indent="0" marL="0">
                        <a:buNone/>
                      </a:pPr>
                      <a:r>
                        <a:rPr lang="en-US" sz="1300" b="1" dirty="0">
                          <a:solidFill>
                            <a:srgbClr val="FFFFFF"/>
                          </a:solidFill>
                          <a:latin typeface="Arial" pitchFamily="34" charset="0"/>
                          <a:ea typeface="Arial" pitchFamily="34" charset="-122"/>
                          <a:cs typeface="Arial" pitchFamily="34" charset="-120"/>
                        </a:rPr>
                        <a:t>Evaluation Category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McCall's Quality Model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Boehm's Quality Model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ISO-9126 Standard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877824">
                <a:tc>
                  <a:txBody>
                    <a:bodyPr/>
                    <a:lstStyle/>
                    <a:p>
                      <a:pPr indent="0" marL="0">
                        <a:buNone/>
                      </a:pPr>
                      <a:r>
                        <a:rPr lang="en-US" sz="1300" b="1" dirty="0">
                          <a:solidFill>
                            <a:srgbClr val="000000"/>
                          </a:solidFill>
                          <a:latin typeface="Arial" pitchFamily="34" charset="0"/>
                          <a:ea typeface="Arial" pitchFamily="34" charset="-122"/>
                          <a:cs typeface="Arial" pitchFamily="34" charset="-120"/>
                        </a:rPr>
                        <a:t>Structure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 product pillars (Operations, Revision, Transition)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Hierarchical tree representing user needs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6 main characteristics, 27 sub-characteristics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877824">
                <a:tc>
                  <a:txBody>
                    <a:bodyPr/>
                    <a:lstStyle/>
                    <a:p>
                      <a:pPr indent="0" marL="0">
                        <a:buNone/>
                      </a:pPr>
                      <a:r>
                        <a:rPr lang="en-US" sz="1300" b="1" dirty="0">
                          <a:solidFill>
                            <a:srgbClr val="000000"/>
                          </a:solidFill>
                          <a:latin typeface="Arial" pitchFamily="34" charset="0"/>
                          <a:ea typeface="Arial" pitchFamily="34" charset="-122"/>
                          <a:cs typeface="Arial" pitchFamily="34" charset="-120"/>
                        </a:rPr>
                        <a:t>Focus Area</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Code properties and maintainer ease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Hardware utilization and efficiency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External quality, internal quality, quality in use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877824">
                <a:tc>
                  <a:txBody>
                    <a:bodyPr/>
                    <a:lstStyle/>
                    <a:p>
                      <a:pPr indent="0" marL="0">
                        <a:buNone/>
                      </a:pPr>
                      <a:r>
                        <a:rPr lang="en-US" sz="1300" b="1" dirty="0">
                          <a:solidFill>
                            <a:srgbClr val="000000"/>
                          </a:solidFill>
                          <a:latin typeface="Arial" pitchFamily="34" charset="0"/>
                          <a:ea typeface="Arial" pitchFamily="34" charset="-122"/>
                          <a:cs typeface="Arial" pitchFamily="34" charset="-120"/>
                        </a:rPr>
                        <a:t>Portability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Pillar of Product Transition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Classified under General Utility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Primary top-level characteristic</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877824">
                <a:tc>
                  <a:txBody>
                    <a:bodyPr/>
                    <a:lstStyle/>
                    <a:p>
                      <a:pPr indent="0" marL="0">
                        <a:buNone/>
                      </a:pPr>
                      <a:r>
                        <a:rPr lang="en-US" sz="1300" b="1" dirty="0">
                          <a:solidFill>
                            <a:srgbClr val="000000"/>
                          </a:solidFill>
                          <a:latin typeface="Arial" pitchFamily="34" charset="0"/>
                          <a:ea typeface="Arial" pitchFamily="34" charset="-122"/>
                          <a:cs typeface="Arial" pitchFamily="34" charset="-120"/>
                        </a:rPr>
                        <a:t>Target Audience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Software maintainers &amp; developers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System engineers &amp; customers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End-users, developers, and QA auditors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Quality Frameworks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software companies implement these quality models in practice: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Contract Requirements Alignment</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Organizations use ISO-9126 terms to specify contractual SLA bounds. E.g., 'Reliability must guarantee 99.9% uptime (fault tolerance) and Recoverability must be within 1 hour.'</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Automated Code Scanning</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Static analysis tools (e.g. SonarQube) map code issues to Maintainability, Security, and Reliability buckets, calculating 'Technical Debt' dynamically.</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Vendor Benchmarking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Allows IT enterprises to objectively evaluate third-party software products against standardized quality checklists before procurement.</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Safety-Critical Certifications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Aerospace and medical software must demonstrate compliance with strict Reliability and Maintainability standards prior to public deployment.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2026-06-14T11:41:05Z</dcterms:created>
  <dcterms:modified xsi:type="dcterms:W3CDTF">2026-06-14T11:41:05Z</dcterms:modified>
</cp:coreProperties>
</file>