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Hashing and the Collision Problem
Hashing is a classic data structure technique that achieves O(1) average time complexity for insertion, deletion, and lookup. We use a hash function to map keys to slots in an array.
However, because the set of possible keys is usually much larger than the array size, collisions are mathematically guaranteed to happen. This is a consequence of the Pigeonhole Principle.
Furthermore, the Birthday Paradox shows that collisions occur much sooner than intuitively expected. For instance, with only 23 keys in a table of size 365, the probability of at least one collision is already over 50%.
Therefore, the design of a hash table consists of two parts: a good hash function to minimize collisions, and a collision resolution algorithm to handle them when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Separate Chaining
Separate Chaining is a simple and robust collision resolution method. It is often referred to as open hashing because keys are stored outside the primary table array.
In separate chaining, each table index points to a linked list. When keys collide, they are simply appended to the list at that index. The load factor alpha represents the average length of these lists. Search time is proportional to 1 + alpha.
The main benefit is that the table can never get full — we can store more elements than the array size (alpha &gt; 1). However, the pointer overhead is a disadvantage, and traversing linked lists causes poor CPU cache locality.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Open Addressing
In Open Addressing, all elements are stored directly inside the array, meaning we have no linked lists and no pointers. If a slot is occupied, we search (probe) the table in a systematic sequence until we find an empty slot.
We look at three major probing strategies:
1. Linear Probing: Checks indices sequentially. It is very fast for CPU caches, but suffers from primary clustering — when keys group together in long chains, making lookup O(n) in the worst case.
2. Quadratic Probing: Steps grow quadratically to avoid linear clusters, but still has secondary clustering since keys with the same initial hash index share the same path.
3. Double Hashing: The best open addressing method. It uses a second hash function to calculate a custom step size for each key, eliminating both primary and secondary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Chaining vs. Open Addressing
This slide summarizes the tradeoffs. Chaining is robust against poor hash functions and doesn't break if load factor exceeds 1. Deletion is also simple.
Open Addressing is highly cache-friendly, but requires load factor to be kept small (usually below 0.7) to prevent slow lookups. Deletion in open addressing is notoriously tricky because removing an element can break the search path of other keys. We have to use special 'Deleted' marker values, which complicate the insert and search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We wrap up by seeing where hash tables are used. They are everywhere — in compilers (symbol tables), database systems (query caches), network routers (IP routes), and in core data structure implementations like hash sets and hash maps in modern programming languages. Implementing efficient collision resolution is what makes these systems performant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Hashing and Collisions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Collision Resolution in Hashing</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Hashing and the Collision Problem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Hashing </a:t>
            </a:r>
            <a:pPr indent="0" marL="0">
              <a:buNone/>
            </a:pPr>
            <a:r>
              <a:rPr lang="en-US" sz="1400" dirty="0">
                <a:solidFill>
                  <a:srgbClr val="000000"/>
                </a:solidFill>
                <a:latin typeface="Arial" pitchFamily="34" charset="0"/>
                <a:ea typeface="Arial" pitchFamily="34" charset="-122"/>
                <a:cs typeface="Arial" pitchFamily="34" charset="-120"/>
              </a:rPr>
              <a:t>maps keys of arbitrary size to fixed-size values (hash codes) using a hash function. A collision occurs when two distinct keys hash to the same table slot.</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Concepts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Hash Table:</a:t>
            </a:r>
            <a:pPr indent="0" marL="0">
              <a:buNone/>
            </a:pPr>
            <a:r>
              <a:rPr lang="en-US" sz="1300" dirty="0">
                <a:solidFill>
                  <a:srgbClr val="000000"/>
                </a:solidFill>
                <a:latin typeface="Arial" pitchFamily="34" charset="0"/>
                <a:ea typeface="Arial" pitchFamily="34" charset="-122"/>
                <a:cs typeface="Arial" pitchFamily="34" charset="-120"/>
              </a:rPr>
              <a:t> An array of size m that stores key-value pairs.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Hash Function h(k):</a:t>
            </a:r>
            <a:pPr indent="0" marL="0">
              <a:buNone/>
            </a:pPr>
            <a:r>
              <a:rPr lang="en-US" sz="1300" dirty="0">
                <a:solidFill>
                  <a:srgbClr val="000000"/>
                </a:solidFill>
                <a:latin typeface="Arial" pitchFamily="34" charset="0"/>
                <a:ea typeface="Arial" pitchFamily="34" charset="-122"/>
                <a:cs typeface="Arial" pitchFamily="34" charset="-120"/>
              </a:rPr>
              <a:t> Maps key k to an index in [0, m-1]. Ideal function is uniform (distributes keys equally).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Load Factor (α):</a:t>
            </a:r>
            <a:pPr indent="0" marL="0">
              <a:buNone/>
            </a:pPr>
            <a:r>
              <a:rPr lang="en-US" sz="1300" dirty="0">
                <a:solidFill>
                  <a:srgbClr val="000000"/>
                </a:solidFill>
                <a:latin typeface="Arial" pitchFamily="34" charset="0"/>
                <a:ea typeface="Arial" pitchFamily="34" charset="-122"/>
                <a:cs typeface="Arial" pitchFamily="34" charset="-120"/>
              </a:rPr>
              <a:t> α = n / m, where n is the number of keys and m is the table size. Indicates how full the table is.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Collision Definition:</a:t>
            </a:r>
            <a:pPr indent="0" marL="0">
              <a:buNone/>
            </a:pPr>
            <a:r>
              <a:rPr lang="en-US" sz="1300" dirty="0">
                <a:solidFill>
                  <a:srgbClr val="000000"/>
                </a:solidFill>
                <a:latin typeface="Arial" pitchFamily="34" charset="0"/>
                <a:ea typeface="Arial" pitchFamily="34" charset="-122"/>
                <a:cs typeface="Arial" pitchFamily="34" charset="-120"/>
              </a:rPr>
              <a:t> If k1 ≠ k2 but h(k1) = h(k2), they contend for the same array index.</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Why Collisions are Unavoidable</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Pigeonhole Principle:</a:t>
            </a:r>
            <a:pPr indent="0" marL="0">
              <a:buNone/>
            </a:pPr>
            <a:r>
              <a:rPr lang="en-US" sz="1300" dirty="0">
                <a:solidFill>
                  <a:srgbClr val="000000"/>
                </a:solidFill>
                <a:latin typeface="Arial" pitchFamily="34" charset="0"/>
                <a:ea typeface="Arial" pitchFamily="34" charset="-122"/>
                <a:cs typeface="Arial" pitchFamily="34" charset="-120"/>
              </a:rPr>
              <a:t> If the universe of keys U is larger than table size m, multiple keys MUST map to the same slot.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Birthday Paradox:</a:t>
            </a:r>
            <a:pPr indent="0" marL="0">
              <a:buNone/>
            </a:pPr>
            <a:r>
              <a:rPr lang="en-US" sz="1300" dirty="0">
                <a:solidFill>
                  <a:srgbClr val="000000"/>
                </a:solidFill>
                <a:latin typeface="Arial" pitchFamily="34" charset="0"/>
                <a:ea typeface="Arial" pitchFamily="34" charset="-122"/>
                <a:cs typeface="Arial" pitchFamily="34" charset="-120"/>
              </a:rPr>
              <a:t> In a table of size 365, there is a 50% chance of collision with only 23 keys inserted, even with a perfect random hash function.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Resolution Requirement:</a:t>
            </a:r>
            <a:pPr indent="0" marL="0">
              <a:buNone/>
            </a:pPr>
            <a:r>
              <a:rPr lang="en-US" sz="1300" dirty="0">
                <a:solidFill>
                  <a:srgbClr val="000000"/>
                </a:solidFill>
                <a:latin typeface="Arial" pitchFamily="34" charset="0"/>
                <a:ea typeface="Arial" pitchFamily="34" charset="-122"/>
                <a:cs typeface="Arial" pitchFamily="34" charset="-120"/>
              </a:rPr>
              <a:t> Hashing requires an efficient collision resolution strategy to maintain O(1) average lookup speed.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Separate Chaining (Open Hashing)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Separate Chaining resolves collisions by maintaining a linked list of elements at each slot:</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How it Works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Slots contain pointers:</a:t>
            </a:r>
            <a:pPr indent="0" marL="0">
              <a:buNone/>
            </a:pPr>
            <a:r>
              <a:rPr lang="en-US" sz="1300" dirty="0">
                <a:solidFill>
                  <a:srgbClr val="000000"/>
                </a:solidFill>
                <a:latin typeface="Arial" pitchFamily="34" charset="0"/>
                <a:ea typeface="Arial" pitchFamily="34" charset="-122"/>
                <a:cs typeface="Arial" pitchFamily="34" charset="-120"/>
              </a:rPr>
              <a:t> Each array entry points to the head of a linked list (or other dynamic container).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Insert:</a:t>
            </a:r>
            <a:pPr indent="0" marL="0">
              <a:buNone/>
            </a:pPr>
            <a:r>
              <a:rPr lang="en-US" sz="1300" dirty="0">
                <a:solidFill>
                  <a:srgbClr val="000000"/>
                </a:solidFill>
                <a:latin typeface="Arial" pitchFamily="34" charset="0"/>
                <a:ea typeface="Arial" pitchFamily="34" charset="-122"/>
                <a:cs typeface="Arial" pitchFamily="34" charset="-120"/>
              </a:rPr>
              <a:t> Hash key to slot i. Insert new element at the head of list i. O(1)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Search:</a:t>
            </a:r>
            <a:pPr indent="0" marL="0">
              <a:buNone/>
            </a:pPr>
            <a:r>
              <a:rPr lang="en-US" sz="1300" dirty="0">
                <a:solidFill>
                  <a:srgbClr val="000000"/>
                </a:solidFill>
                <a:latin typeface="Arial" pitchFamily="34" charset="0"/>
                <a:ea typeface="Arial" pitchFamily="34" charset="-122"/>
                <a:cs typeface="Arial" pitchFamily="34" charset="-120"/>
              </a:rPr>
              <a:t> Hash key to slot i. Traverse list i to find key. O(1 + α) average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Delete:</a:t>
            </a:r>
            <a:pPr indent="0" marL="0">
              <a:buNone/>
            </a:pPr>
            <a:r>
              <a:rPr lang="en-US" sz="1300" dirty="0">
                <a:solidFill>
                  <a:srgbClr val="000000"/>
                </a:solidFill>
                <a:latin typeface="Arial" pitchFamily="34" charset="0"/>
                <a:ea typeface="Arial" pitchFamily="34" charset="-122"/>
                <a:cs typeface="Arial" pitchFamily="34" charset="-120"/>
              </a:rPr>
              <a:t> Hash key to slot i. Find key in list i and remove the node. O(1 + α) average time.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8F8F8"/>
          </a:solidFill>
          <a:ln w="19050">
            <a:solidFill>
              <a:srgbClr val="555555"/>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555555"/>
                </a:solidFill>
                <a:latin typeface="Arial" pitchFamily="34" charset="0"/>
                <a:ea typeface="Arial" pitchFamily="34" charset="-122"/>
                <a:cs typeface="Arial" pitchFamily="34" charset="-120"/>
              </a:rPr>
              <a:t>Pros &amp; Cons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Simple to implement.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Table never fills up:</a:t>
            </a:r>
            <a:pPr indent="0" marL="0">
              <a:buNone/>
            </a:pPr>
            <a:r>
              <a:rPr lang="en-US" sz="1300" dirty="0">
                <a:solidFill>
                  <a:srgbClr val="000000"/>
                </a:solidFill>
                <a:latin typeface="Arial" pitchFamily="34" charset="0"/>
                <a:ea typeface="Arial" pitchFamily="34" charset="-122"/>
                <a:cs typeface="Arial" pitchFamily="34" charset="-120"/>
              </a:rPr>
              <a:t> Load factor α can exceed 1 without catastrophic failure.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Graceful degradation:</a:t>
            </a:r>
            <a:pPr indent="0" marL="0">
              <a:buNone/>
            </a:pPr>
            <a:r>
              <a:rPr lang="en-US" sz="1300" dirty="0">
                <a:solidFill>
                  <a:srgbClr val="000000"/>
                </a:solidFill>
                <a:latin typeface="Arial" pitchFamily="34" charset="0"/>
                <a:ea typeface="Arial" pitchFamily="34" charset="-122"/>
                <a:cs typeface="Arial" pitchFamily="34" charset="-120"/>
              </a:rPr>
              <a:t> Performance degrades linearly as α grows.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Memory overhead:</a:t>
            </a:r>
            <a:pPr indent="0" marL="0">
              <a:buNone/>
            </a:pPr>
            <a:r>
              <a:rPr lang="en-US" sz="1300" dirty="0">
                <a:solidFill>
                  <a:srgbClr val="000000"/>
                </a:solidFill>
                <a:latin typeface="Arial" pitchFamily="34" charset="0"/>
                <a:ea typeface="Arial" pitchFamily="34" charset="-122"/>
                <a:cs typeface="Arial" pitchFamily="34" charset="-120"/>
              </a:rPr>
              <a:t> Extra memory is wasted storing pointers for linked list nodes.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Cache inefficiency:</a:t>
            </a:r>
            <a:pPr indent="0" marL="0">
              <a:buNone/>
            </a:pPr>
            <a:r>
              <a:rPr lang="en-US" sz="1300" dirty="0">
                <a:solidFill>
                  <a:srgbClr val="000000"/>
                </a:solidFill>
                <a:latin typeface="Arial" pitchFamily="34" charset="0"/>
                <a:ea typeface="Arial" pitchFamily="34" charset="-122"/>
                <a:cs typeface="Arial" pitchFamily="34" charset="-120"/>
              </a:rPr>
              <a:t> Linked list nodes are scattered in memory, causing CPU cache misses.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Open Addressing (Closed Hashing)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Open Addressing stores all elements directly within the array. It probes subsequent slots on collision:</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Linear Probing</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Checks consecutive slots: h(k, i) = (h'(k) + i) % m.</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Easy to implement.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High cache locality.</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Primary Clustering: Long runs of occupied slots build up, slowing down searches.</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Quadratic Probing</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Checks slots quadratically: h(k, i) = (h'(k) + c1·i + c2·i²) % m.</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Reduces primary clustering.</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Secondary Clustering: Keys that hash to the same index traverse the same probe path.</a:t>
            </a:r>
            <a:endParaRPr lang="en-US" sz="1250" dirty="0"/>
          </a:p>
        </p:txBody>
      </p:sp>
      <p:sp>
        <p:nvSpPr>
          <p:cNvPr id="22" name="Shape 19"/>
          <p:cNvSpPr/>
          <p:nvPr/>
        </p:nvSpPr>
        <p:spPr>
          <a:xfrm>
            <a:off x="8046720" y="2103120"/>
            <a:ext cx="3657600" cy="4206240"/>
          </a:xfrm>
          <a:prstGeom prst="roundRect">
            <a:avLst>
              <a:gd name="adj" fmla="val 2500"/>
            </a:avLst>
          </a:prstGeom>
          <a:solidFill>
            <a:srgbClr val="FFF9C4"/>
          </a:solidFill>
          <a:ln w="19050">
            <a:solidFill>
              <a:srgbClr val="F57F17"/>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3. Double Hashing</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Uses a second hash function to determine step size: h(k, i) = (h1(k) + i·h2(k)) % m.</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Best distribution: step size depends on key.</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Eliminates clustering.</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h2(k) must be coprime to 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Comparison: Chaining vs. Open Addressing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direct structural and performance comparison between the two strategies: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92840" cy="4389120"/>
        </p:xfrm>
        <a:graphic>
          <a:graphicData uri="http://schemas.openxmlformats.org/drawingml/2006/table">
            <a:tbl>
              <a:tblPr/>
              <a:tblGrid>
                <a:gridCol w="2743200"/>
                <a:gridCol w="4270248"/>
                <a:gridCol w="4279392"/>
              </a:tblGrid>
              <a:tr h="731520">
                <a:tc>
                  <a:txBody>
                    <a:bodyPr/>
                    <a:lstStyle/>
                    <a:p>
                      <a:pPr indent="0" marL="0">
                        <a:buNone/>
                      </a:pPr>
                      <a:r>
                        <a:rPr lang="en-US" sz="1300" b="1" dirty="0">
                          <a:solidFill>
                            <a:srgbClr val="FFFFFF"/>
                          </a:solidFill>
                          <a:latin typeface="Arial" pitchFamily="34" charset="0"/>
                          <a:ea typeface="Arial" pitchFamily="34" charset="-122"/>
                          <a:cs typeface="Arial" pitchFamily="34" charset="-120"/>
                        </a:rPr>
                        <a:t>Feature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Separate Chaining</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Open Addressing</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Storage Location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Outside array (pointers/lists)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Inside the primary array slots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Max Load Factor (α)</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α can be &gt; 1 (limitless)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α strictly ≤ 1 (typically keeps α &lt; 0.7)</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Cache Performance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Poor (linked list traversals)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Excellent (array elements adjacent)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Deletion Complexity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Simple (standard node deletion)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Complex (requires 'deleted' placeholders)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Memory Overhead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Extra memory spent on pointers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Wasted array space if table is sparse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Hash Tables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Hashing and collision resolution are critical parts of high-performance software engineering:</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Symbol Tables in Compilers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Compilers and interpreters use hash tables to store identifier names (variables, functions) and their metadata. High lookup speeds are vital during syntactic analysis and code generation.</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Database Query Caching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Database engines cache parsed queries and execution plans in hash tables for instant retrieval, avoiding costly re-compilation of query strings.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IP Routing Table Lookups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Routers use hash tables to store IP routing routes, enabling quick route matching to direct network packets with minimum latency.</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Set Implementations &amp; deduplication</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Language runtimes implement 'Set' classes (e.g., HashSet in Java/C#) using hash tables to support O(1) membership checks and fast duplicate elimination.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