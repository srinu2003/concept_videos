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Introduction to Tries
A Trie, also known as a prefix tree, is a specialized tree structure for storing strings. The name comes from the word 're-trie-val'.
In a trie, keys are represented by paths from the root rather than being stored in individual nodes. Every node represents a prefix. The root represents the empty string. Edges represent characters. As you traverse down, you form words.
Searching for a word of length L takes O(L) time. This is incredibly fast, especially for large dictionaries, because the lookup time is independent of the number of words stored in the trie. However, the downside is space. Each node must have pointers to all possible child characters, which can waste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Standard vs. Binary Tries
We compare standard multiway tries and binary tries. Standard tries use a child pointer array for each character of the alphabet. This is very fast because char indices map directly to array elements, but it is extremely wasteful in memory.
Binary tries restrict the alphabet to {0,1}. Strings are parsed at the bit level. Each node has only two pointers (left and right), which dramatically reduces empty pointer waste. Binary tries are heavily used in low-level networking, particularly for IP address prefix matching in routers.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Patricia Tries
To solve the space problem, we can compress the trie. If a node has only one child, we merge it with its child, combining the edge characters. This is a Compressed Trie. It guarantees that every internal node has at least two children, which bounds the node count to O(n).
A Patricia Trie is a specialized compressed binary trie. It is designed to speed up search by storing the bit-index to test at each node. Instead of testing every bit sequentially, the search jumps directly to the bit positions where keys differ, making lookups extremely efficient.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Suffix Trees
A Suffix Tree is a spectacular data structure. If you insert all possible suffixes of a string S of length n into a compressed trie, you get a suffix tree.
For example, the suffixes of 'BANANA$' are inserted. The '$' character is used to ensure no suffix is a prefix of another, so all suffixes end at leaf nodes.
While a naive construction would take O(n²) time, Ukkonen's algorithm builds it in O(n) time. Once constructed, we can perform advanced string queries, like finding substrings, finding the longest common substring, or checking repetition, in time proportional to the query length, completely independent of the size of the original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Applications
Digital search structures are incredibly practical. Autocomplete is the classic application, where tries are used to quickly find words matching a prefix.
In networking, Patricia tries are used for routing tables. Spell checkers use tries because they are compact and fast. Finally, in genomics, suffix trees are used to align massive DNA sequences in linear time, which is essential for medical research.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Advanced Data Structures</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78992"/>
            <a:ext cx="11292840" cy="384048"/>
          </a:xfrm>
          <a:prstGeom prst="rect">
            <a:avLst/>
          </a:prstGeom>
          <a:noFill/>
          <a:ln/>
        </p:spPr>
        <p:txBody>
          <a:bodyPr wrap="square" rtlCol="0" anchor="ctr"/>
          <a:lstStyle/>
          <a:p>
            <a:pPr algn="ctr" indent="0" marL="0">
              <a:buNone/>
            </a:pPr>
            <a:r>
              <a:rPr lang="en-US" sz="1400" i="1" dirty="0">
                <a:solidFill>
                  <a:srgbClr val="990033"/>
                </a:solidFill>
                <a:latin typeface="Arial" pitchFamily="34" charset="0"/>
                <a:ea typeface="Arial" pitchFamily="34" charset="-122"/>
                <a:cs typeface="Arial" pitchFamily="34" charset="-120"/>
              </a:rPr>
              <a:t>Unit IV: Digital Search Structures</a:t>
            </a:r>
            <a:endParaRPr lang="en-US" sz="1400" dirty="0"/>
          </a:p>
        </p:txBody>
      </p:sp>
      <p:sp>
        <p:nvSpPr>
          <p:cNvPr id="14" name="Shape 11"/>
          <p:cNvSpPr/>
          <p:nvPr/>
        </p:nvSpPr>
        <p:spPr>
          <a:xfrm>
            <a:off x="1645920" y="1572768"/>
            <a:ext cx="8897112" cy="1280160"/>
          </a:xfrm>
          <a:prstGeom prst="rect">
            <a:avLst/>
          </a:prstGeom>
          <a:solidFill>
            <a:srgbClr val="990033"/>
          </a:solidFill>
          <a:ln w="12700">
            <a:solidFill>
              <a:srgbClr val="990033"/>
            </a:solidFill>
            <a:prstDash val="solid"/>
          </a:ln>
        </p:spPr>
      </p:sp>
      <p:sp>
        <p:nvSpPr>
          <p:cNvPr id="15" name="Text 12"/>
          <p:cNvSpPr/>
          <p:nvPr/>
        </p:nvSpPr>
        <p:spPr>
          <a:xfrm>
            <a:off x="1645920" y="1572768"/>
            <a:ext cx="8897112" cy="1280160"/>
          </a:xfrm>
          <a:prstGeom prst="rect">
            <a:avLst/>
          </a:prstGeom>
          <a:noFill/>
          <a:ln/>
        </p:spPr>
        <p:txBody>
          <a:bodyPr wrap="square" lIns="0" tIns="0" rIns="0" bIns="0"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Tries &amp; Digital Search Structures</a:t>
            </a:r>
            <a:endParaRPr lang="en-US" sz="2800" dirty="0"/>
          </a:p>
        </p:txBody>
      </p:sp>
      <p:sp>
        <p:nvSpPr>
          <p:cNvPr id="16" name="Text 13"/>
          <p:cNvSpPr/>
          <p:nvPr/>
        </p:nvSpPr>
        <p:spPr>
          <a:xfrm>
            <a:off x="457200" y="2999232"/>
            <a:ext cx="11292840" cy="365760"/>
          </a:xfrm>
          <a:prstGeom prst="rect">
            <a:avLst/>
          </a:prstGeom>
          <a:noFill/>
          <a:ln/>
        </p:spPr>
        <p:txBody>
          <a:bodyPr wrap="square" rtlCol="0" anchor="ctr"/>
          <a:lstStyle/>
          <a:p>
            <a:pPr algn="ctr" indent="0" marL="0">
              <a:buNone/>
            </a:pPr>
            <a:r>
              <a:rPr lang="en-US" sz="1500" b="1" dirty="0">
                <a:solidFill>
                  <a:srgbClr val="990033"/>
                </a:solidFill>
                <a:latin typeface="Arial" pitchFamily="34" charset="0"/>
                <a:ea typeface="Arial" pitchFamily="34" charset="-122"/>
                <a:cs typeface="Arial" pitchFamily="34" charset="-120"/>
              </a:rPr>
              <a:t>PPT PRESENTED BY</a:t>
            </a:r>
            <a:endParaRPr lang="en-US" sz="1500" dirty="0"/>
          </a:p>
        </p:txBody>
      </p:sp>
      <p:sp>
        <p:nvSpPr>
          <p:cNvPr id="17" name="Text 14"/>
          <p:cNvSpPr/>
          <p:nvPr/>
        </p:nvSpPr>
        <p:spPr>
          <a:xfrm>
            <a:off x="2926080" y="3438144"/>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NAME :   Srinivas Rao Tammireddy</a:t>
            </a:r>
            <a:endParaRPr lang="en-US" sz="1300" dirty="0"/>
          </a:p>
        </p:txBody>
      </p:sp>
      <p:sp>
        <p:nvSpPr>
          <p:cNvPr id="18" name="Text 15"/>
          <p:cNvSpPr/>
          <p:nvPr/>
        </p:nvSpPr>
        <p:spPr>
          <a:xfrm>
            <a:off x="2926080" y="3840480"/>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ROLL NO :   257Y1D5805</a:t>
            </a:r>
            <a:endParaRPr lang="en-US" sz="1300" dirty="0"/>
          </a:p>
        </p:txBody>
      </p:sp>
      <p:sp>
        <p:nvSpPr>
          <p:cNvPr id="19" name="Text 16"/>
          <p:cNvSpPr/>
          <p:nvPr/>
        </p:nvSpPr>
        <p:spPr>
          <a:xfrm>
            <a:off x="2926080" y="4242816"/>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YEAR :   I Year  I Semester</a:t>
            </a:r>
            <a:endParaRPr lang="en-US" sz="1300" dirty="0"/>
          </a:p>
        </p:txBody>
      </p:sp>
      <p:sp>
        <p:nvSpPr>
          <p:cNvPr id="20" name="Text 17"/>
          <p:cNvSpPr/>
          <p:nvPr/>
        </p:nvSpPr>
        <p:spPr>
          <a:xfrm>
            <a:off x="2926080" y="4645152"/>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ACADEMIC YEAR :   2025 - 2026</a:t>
            </a:r>
            <a:endParaRPr lang="en-US" sz="1300" dirty="0"/>
          </a:p>
        </p:txBody>
      </p:sp>
      <p:sp>
        <p:nvSpPr>
          <p:cNvPr id="21" name="Text 18"/>
          <p:cNvSpPr/>
          <p:nvPr/>
        </p:nvSpPr>
        <p:spPr>
          <a:xfrm>
            <a:off x="457200" y="6080760"/>
            <a:ext cx="11292840" cy="411480"/>
          </a:xfrm>
          <a:prstGeom prst="rect">
            <a:avLst/>
          </a:prstGeom>
          <a:noFill/>
          <a:ln/>
        </p:spPr>
        <p:txBody>
          <a:bodyPr wrap="square" rtlCol="0" anchor="ctr"/>
          <a:lstStyle/>
          <a:p>
            <a:pPr algn="ctr" indent="0" marL="0">
              <a:buNone/>
            </a:pPr>
            <a:r>
              <a:rPr lang="en-US" sz="1400" b="1" dirty="0">
                <a:solidFill>
                  <a:srgbClr val="990033"/>
                </a:solidFill>
                <a:latin typeface="Arial" pitchFamily="34" charset="0"/>
                <a:ea typeface="Arial" pitchFamily="34" charset="-122"/>
                <a:cs typeface="Arial" pitchFamily="34" charset="-120"/>
              </a:rPr>
              <a:t>DEPARTMENT OF COMPUTER SCIENCE AND ENGINEERING</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Advanced Data Structures</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Introduction to Tries</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502920"/>
          </a:xfrm>
          <a:prstGeom prst="rect">
            <a:avLst/>
          </a:prstGeom>
          <a:noFill/>
          <a:ln/>
        </p:spPr>
        <p:txBody>
          <a:bodyPr wrap="square" rtlCol="0" anchor="ctr"/>
          <a:lstStyle/>
          <a:p>
            <a:pPr indent="0" marL="0">
              <a:buNone/>
            </a:pPr>
            <a:r>
              <a:rPr lang="en-US" sz="1400" b="1" dirty="0">
                <a:solidFill>
                  <a:srgbClr val="000000"/>
                </a:solidFill>
                <a:latin typeface="Arial" pitchFamily="34" charset="0"/>
                <a:ea typeface="Arial" pitchFamily="34" charset="-122"/>
                <a:cs typeface="Arial" pitchFamily="34" charset="-120"/>
              </a:rPr>
              <a:t>A Trie </a:t>
            </a:r>
            <a:pPr indent="0" marL="0">
              <a:buNone/>
            </a:pPr>
            <a:r>
              <a:rPr lang="en-US" sz="1400" dirty="0">
                <a:solidFill>
                  <a:srgbClr val="000000"/>
                </a:solidFill>
                <a:latin typeface="Arial" pitchFamily="34" charset="0"/>
                <a:ea typeface="Arial" pitchFamily="34" charset="-122"/>
                <a:cs typeface="Arial" pitchFamily="34" charset="-120"/>
              </a:rPr>
              <a:t>(derived from 'retrieval') is an ordered tree-like data structure used to store a dynamic set of strings, where keys are usually strings. It is also known as a prefix tree.</a:t>
            </a:r>
            <a:endParaRPr lang="en-US" sz="1400" dirty="0"/>
          </a:p>
        </p:txBody>
      </p:sp>
      <p:sp>
        <p:nvSpPr>
          <p:cNvPr id="16" name="Shape 13"/>
          <p:cNvSpPr/>
          <p:nvPr/>
        </p:nvSpPr>
        <p:spPr>
          <a:xfrm>
            <a:off x="457200" y="2103120"/>
            <a:ext cx="5394960" cy="3895344"/>
          </a:xfrm>
          <a:prstGeom prst="roundRect">
            <a:avLst>
              <a:gd name="adj" fmla="val 2347"/>
            </a:avLst>
          </a:prstGeom>
          <a:solidFill>
            <a:srgbClr val="E3F2FD"/>
          </a:solidFill>
          <a:ln w="19050">
            <a:solidFill>
              <a:srgbClr val="1565C0"/>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1565C0"/>
                </a:solidFill>
                <a:latin typeface="Arial" pitchFamily="34" charset="0"/>
                <a:ea typeface="Arial" pitchFamily="34" charset="-122"/>
                <a:cs typeface="Arial" pitchFamily="34" charset="-120"/>
              </a:rPr>
              <a:t>Core Structure &amp; Design</a:t>
            </a:r>
            <a:endParaRPr lang="en-US" sz="1500" dirty="0"/>
          </a:p>
        </p:txBody>
      </p:sp>
      <p:sp>
        <p:nvSpPr>
          <p:cNvPr id="18" name="Text 15"/>
          <p:cNvSpPr/>
          <p:nvPr/>
        </p:nvSpPr>
        <p:spPr>
          <a:xfrm>
            <a:off x="566928" y="2560320"/>
            <a:ext cx="5212080" cy="3364992"/>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Key Sharing:</a:t>
            </a:r>
            <a:pPr indent="0" marL="0">
              <a:buNone/>
            </a:pPr>
            <a:r>
              <a:rPr lang="en-US" sz="1300" dirty="0">
                <a:solidFill>
                  <a:srgbClr val="000000"/>
                </a:solidFill>
                <a:latin typeface="Arial" pitchFamily="34" charset="0"/>
                <a:ea typeface="Arial" pitchFamily="34" charset="-122"/>
                <a:cs typeface="Arial" pitchFamily="34" charset="-120"/>
              </a:rPr>
              <a:t> Unlike BSTs, nodes do not store their associated keys. Instead, a node's position in the tree defines its key.</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Character Edges:</a:t>
            </a:r>
            <a:pPr indent="0" marL="0">
              <a:buNone/>
            </a:pPr>
            <a:r>
              <a:rPr lang="en-US" sz="1300" dirty="0">
                <a:solidFill>
                  <a:srgbClr val="000000"/>
                </a:solidFill>
                <a:latin typeface="Arial" pitchFamily="34" charset="0"/>
                <a:ea typeface="Arial" pitchFamily="34" charset="-122"/>
                <a:cs typeface="Arial" pitchFamily="34" charset="-120"/>
              </a:rPr>
              <a:t> Edges outgoing from a node represent characters in the alphabet. All descendants of a node share a common string prefix.</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End of Word Marker:</a:t>
            </a:r>
            <a:pPr indent="0" marL="0">
              <a:buNone/>
            </a:pPr>
            <a:r>
              <a:rPr lang="en-US" sz="1300" dirty="0">
                <a:solidFill>
                  <a:srgbClr val="000000"/>
                </a:solidFill>
                <a:latin typeface="Arial" pitchFamily="34" charset="0"/>
                <a:ea typeface="Arial" pitchFamily="34" charset="-122"/>
                <a:cs typeface="Arial" pitchFamily="34" charset="-120"/>
              </a:rPr>
              <a:t> A boolean flag (isEndOfWord) indicates if the path from root to that node represents a complete word in the set.</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Root Node:</a:t>
            </a:r>
            <a:pPr indent="0" marL="0">
              <a:buNone/>
            </a:pPr>
            <a:r>
              <a:rPr lang="en-US" sz="1300" dirty="0">
                <a:solidFill>
                  <a:srgbClr val="000000"/>
                </a:solidFill>
                <a:latin typeface="Arial" pitchFamily="34" charset="0"/>
                <a:ea typeface="Arial" pitchFamily="34" charset="-122"/>
                <a:cs typeface="Arial" pitchFamily="34" charset="-120"/>
              </a:rPr>
              <a:t> Always represents the empty string (root of all search prefixes).</a:t>
            </a:r>
            <a:endParaRPr lang="en-US" sz="1300" dirty="0"/>
          </a:p>
        </p:txBody>
      </p:sp>
      <p:sp>
        <p:nvSpPr>
          <p:cNvPr id="19" name="Shape 16"/>
          <p:cNvSpPr/>
          <p:nvPr/>
        </p:nvSpPr>
        <p:spPr>
          <a:xfrm>
            <a:off x="6035040" y="2103120"/>
            <a:ext cx="5715000" cy="3895344"/>
          </a:xfrm>
          <a:prstGeom prst="roundRect">
            <a:avLst>
              <a:gd name="adj" fmla="val 2347"/>
            </a:avLst>
          </a:prstGeom>
          <a:solidFill>
            <a:srgbClr val="E8F5E9"/>
          </a:solidFill>
          <a:ln w="19050">
            <a:solidFill>
              <a:srgbClr val="009900"/>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009900"/>
                </a:solidFill>
                <a:latin typeface="Arial" pitchFamily="34" charset="0"/>
                <a:ea typeface="Arial" pitchFamily="34" charset="-122"/>
                <a:cs typeface="Arial" pitchFamily="34" charset="-120"/>
              </a:rPr>
              <a:t>Key Complexity &amp; Benefits</a:t>
            </a:r>
            <a:endParaRPr lang="en-US" sz="1500" dirty="0"/>
          </a:p>
        </p:txBody>
      </p:sp>
      <p:sp>
        <p:nvSpPr>
          <p:cNvPr id="21" name="Text 18"/>
          <p:cNvSpPr/>
          <p:nvPr/>
        </p:nvSpPr>
        <p:spPr>
          <a:xfrm>
            <a:off x="6144768" y="2560320"/>
            <a:ext cx="5513832" cy="3364992"/>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O(L) Operations:</a:t>
            </a:r>
            <a:pPr indent="0" marL="0">
              <a:buNone/>
            </a:pPr>
            <a:r>
              <a:rPr lang="en-US" sz="1300" dirty="0">
                <a:solidFill>
                  <a:srgbClr val="000000"/>
                </a:solidFill>
                <a:latin typeface="Arial" pitchFamily="34" charset="0"/>
                <a:ea typeface="Arial" pitchFamily="34" charset="-122"/>
                <a:cs typeface="Arial" pitchFamily="34" charset="-120"/>
              </a:rPr>
              <a:t> Lookup, insert, and delete run in O(L) time, where L is the length of the string. Completely independent of table size n!</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Fast Misses:</a:t>
            </a:r>
            <a:pPr indent="0" marL="0">
              <a:buNone/>
            </a:pPr>
            <a:r>
              <a:rPr lang="en-US" sz="1300" dirty="0">
                <a:solidFill>
                  <a:srgbClr val="000000"/>
                </a:solidFill>
                <a:latin typeface="Arial" pitchFamily="34" charset="0"/>
                <a:ea typeface="Arial" pitchFamily="34" charset="-122"/>
                <a:cs typeface="Arial" pitchFamily="34" charset="-120"/>
              </a:rPr>
              <a:t> Searches terminate immediately when a character edge is missing — much faster than hashing on key mismatches.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Prefix Queries:</a:t>
            </a:r>
            <a:pPr indent="0" marL="0">
              <a:buNone/>
            </a:pPr>
            <a:r>
              <a:rPr lang="en-US" sz="1300" dirty="0">
                <a:solidFill>
                  <a:srgbClr val="000000"/>
                </a:solidFill>
                <a:latin typeface="Arial" pitchFamily="34" charset="0"/>
                <a:ea typeface="Arial" pitchFamily="34" charset="-122"/>
                <a:cs typeface="Arial" pitchFamily="34" charset="-120"/>
              </a:rPr>
              <a:t> Can easily retrieve all keys starting with a given prefix, which is impossible with standard hash tables.</a:t>
            </a:r>
            <a:endParaRPr lang="en-US" sz="1300" dirty="0"/>
          </a:p>
          <a:p>
            <a:pPr indent="0" marL="0">
              <a:buNone/>
            </a:pPr>
            <a:r>
              <a:rPr lang="en-US" sz="1300" b="1" dirty="0">
                <a:solidFill>
                  <a:srgbClr val="990033"/>
                </a:solidFill>
                <a:latin typeface="Arial" pitchFamily="34" charset="0"/>
                <a:ea typeface="Arial" pitchFamily="34" charset="-122"/>
                <a:cs typeface="Arial" pitchFamily="34" charset="-120"/>
              </a:rPr>
              <a:t>• Space Trade-off:</a:t>
            </a:r>
            <a:pPr indent="0" marL="0">
              <a:buNone/>
            </a:pPr>
            <a:r>
              <a:rPr lang="en-US" sz="1300" dirty="0">
                <a:solidFill>
                  <a:srgbClr val="000000"/>
                </a:solidFill>
                <a:latin typeface="Arial" pitchFamily="34" charset="0"/>
                <a:ea typeface="Arial" pitchFamily="34" charset="-122"/>
                <a:cs typeface="Arial" pitchFamily="34" charset="-120"/>
              </a:rPr>
              <a:t> Tries can use significant memory because of pointer overhead for empty edges at each node.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Advanced Data Structures</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Standard Tries vs. Binary Tries</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45720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Tries can be implemented using different alphabet sizes and structures:</a:t>
            </a:r>
            <a:endParaRPr lang="en-US" sz="1400" dirty="0"/>
          </a:p>
        </p:txBody>
      </p:sp>
      <p:sp>
        <p:nvSpPr>
          <p:cNvPr id="16" name="Shape 13"/>
          <p:cNvSpPr/>
          <p:nvPr/>
        </p:nvSpPr>
        <p:spPr>
          <a:xfrm>
            <a:off x="457200" y="2103120"/>
            <a:ext cx="5394960" cy="4114800"/>
          </a:xfrm>
          <a:prstGeom prst="roundRect">
            <a:avLst>
              <a:gd name="adj" fmla="val 2222"/>
            </a:avLst>
          </a:prstGeom>
          <a:solidFill>
            <a:srgbClr val="FCE4EC"/>
          </a:solidFill>
          <a:ln w="19050">
            <a:solidFill>
              <a:srgbClr val="990033"/>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990033"/>
                </a:solidFill>
                <a:latin typeface="Arial" pitchFamily="34" charset="0"/>
                <a:ea typeface="Arial" pitchFamily="34" charset="-122"/>
                <a:cs typeface="Arial" pitchFamily="34" charset="-120"/>
              </a:rPr>
              <a:t>Standard Tries (Multiway Tries)</a:t>
            </a:r>
            <a:endParaRPr lang="en-US" sz="1500" dirty="0"/>
          </a:p>
        </p:txBody>
      </p:sp>
      <p:sp>
        <p:nvSpPr>
          <p:cNvPr id="18" name="Text 15"/>
          <p:cNvSpPr/>
          <p:nvPr/>
        </p:nvSpPr>
        <p:spPr>
          <a:xfrm>
            <a:off x="566928" y="2606040"/>
            <a:ext cx="5212080" cy="3474720"/>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Alphabet size (Σ):</a:t>
            </a:r>
            <a:pPr indent="0" marL="0">
              <a:buNone/>
            </a:pPr>
            <a:r>
              <a:rPr lang="en-US" sz="1300" dirty="0">
                <a:solidFill>
                  <a:srgbClr val="000000"/>
                </a:solidFill>
                <a:latin typeface="Arial" pitchFamily="34" charset="0"/>
                <a:ea typeface="Arial" pitchFamily="34" charset="-122"/>
                <a:cs typeface="Arial" pitchFamily="34" charset="-120"/>
              </a:rPr>
              <a:t> Typically large (e.g. Σ = 26 for lowercase English, Σ = 256 for ASCII).</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Child Representation:</a:t>
            </a:r>
            <a:pPr indent="0" marL="0">
              <a:buNone/>
            </a:pPr>
            <a:r>
              <a:rPr lang="en-US" sz="1300" dirty="0">
                <a:solidFill>
                  <a:srgbClr val="000000"/>
                </a:solidFill>
                <a:latin typeface="Arial" pitchFamily="34" charset="0"/>
                <a:ea typeface="Arial" pitchFamily="34" charset="-122"/>
                <a:cs typeface="Arial" pitchFamily="34" charset="-120"/>
              </a:rPr>
              <a:t> Each node stores an array of size Σ pointing to child nodes: Node* children[26].</a:t>
            </a:r>
            <a:endParaRPr lang="en-US" sz="1300" dirty="0"/>
          </a:p>
          <a:p>
            <a:pPr indent="0" marL="0">
              <a:buNone/>
            </a:pPr>
            <a:r>
              <a:rPr lang="en-US" sz="1300" b="1" dirty="0">
                <a:solidFill>
                  <a:srgbClr val="990033"/>
                </a:solidFill>
                <a:latin typeface="Arial" pitchFamily="34" charset="0"/>
                <a:ea typeface="Arial" pitchFamily="34" charset="-122"/>
                <a:cs typeface="Arial" pitchFamily="34" charset="-120"/>
              </a:rPr>
              <a:t>• Pointer overhead:</a:t>
            </a:r>
            <a:pPr indent="0" marL="0">
              <a:buNone/>
            </a:pPr>
            <a:r>
              <a:rPr lang="en-US" sz="1300" dirty="0">
                <a:solidFill>
                  <a:srgbClr val="000000"/>
                </a:solidFill>
                <a:latin typeface="Arial" pitchFamily="34" charset="0"/>
                <a:ea typeface="Arial" pitchFamily="34" charset="-122"/>
                <a:cs typeface="Arial" pitchFamily="34" charset="-120"/>
              </a:rPr>
              <a:t> Wastes substantial memory. If a node only has one child, 25 array slots are empty pointers.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Search Speed:</a:t>
            </a:r>
            <a:pPr indent="0" marL="0">
              <a:buNone/>
            </a:pPr>
            <a:r>
              <a:rPr lang="en-US" sz="1300" dirty="0">
                <a:solidFill>
                  <a:srgbClr val="000000"/>
                </a:solidFill>
                <a:latin typeface="Arial" pitchFamily="34" charset="0"/>
                <a:ea typeface="Arial" pitchFamily="34" charset="-122"/>
                <a:cs typeface="Arial" pitchFamily="34" charset="-120"/>
              </a:rPr>
              <a:t> Extremely fast. Direct array access child = node.children[char] in O(1) step time.</a:t>
            </a:r>
            <a:endParaRPr lang="en-US" sz="1300" dirty="0"/>
          </a:p>
        </p:txBody>
      </p:sp>
      <p:sp>
        <p:nvSpPr>
          <p:cNvPr id="19" name="Shape 16"/>
          <p:cNvSpPr/>
          <p:nvPr/>
        </p:nvSpPr>
        <p:spPr>
          <a:xfrm>
            <a:off x="6035040" y="2103120"/>
            <a:ext cx="5715000" cy="4114800"/>
          </a:xfrm>
          <a:prstGeom prst="roundRect">
            <a:avLst>
              <a:gd name="adj" fmla="val 2222"/>
            </a:avLst>
          </a:prstGeom>
          <a:solidFill>
            <a:srgbClr val="FFF9C4"/>
          </a:solidFill>
          <a:ln w="19050">
            <a:solidFill>
              <a:srgbClr val="F57F17"/>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F57F17"/>
                </a:solidFill>
                <a:latin typeface="Arial" pitchFamily="34" charset="0"/>
                <a:ea typeface="Arial" pitchFamily="34" charset="-122"/>
                <a:cs typeface="Arial" pitchFamily="34" charset="-120"/>
              </a:rPr>
              <a:t>Binary Tries</a:t>
            </a:r>
            <a:endParaRPr lang="en-US" sz="1500" dirty="0"/>
          </a:p>
        </p:txBody>
      </p:sp>
      <p:sp>
        <p:nvSpPr>
          <p:cNvPr id="21" name="Text 18"/>
          <p:cNvSpPr/>
          <p:nvPr/>
        </p:nvSpPr>
        <p:spPr>
          <a:xfrm>
            <a:off x="6144768" y="2606040"/>
            <a:ext cx="5513832" cy="3474720"/>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Alphabet size (Σ):</a:t>
            </a:r>
            <a:pPr indent="0" marL="0">
              <a:buNone/>
            </a:pPr>
            <a:r>
              <a:rPr lang="en-US" sz="1300" dirty="0">
                <a:solidFill>
                  <a:srgbClr val="000000"/>
                </a:solidFill>
                <a:latin typeface="Arial" pitchFamily="34" charset="0"/>
                <a:ea typeface="Arial" pitchFamily="34" charset="-122"/>
                <a:cs typeface="Arial" pitchFamily="34" charset="-120"/>
              </a:rPr>
              <a:t> Binary alphabet Σ = {0, 1}.</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Bit-level Representation:</a:t>
            </a:r>
            <a:pPr indent="0" marL="0">
              <a:buNone/>
            </a:pPr>
            <a:r>
              <a:rPr lang="en-US" sz="1300" dirty="0">
                <a:solidFill>
                  <a:srgbClr val="000000"/>
                </a:solidFill>
                <a:latin typeface="Arial" pitchFamily="34" charset="0"/>
                <a:ea typeface="Arial" pitchFamily="34" charset="-122"/>
                <a:cs typeface="Arial" pitchFamily="34" charset="-120"/>
              </a:rPr>
              <a:t> Keys are split into their binary bit strings. The edges represent 0 or 1 bits.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Child Representation:</a:t>
            </a:r>
            <a:pPr indent="0" marL="0">
              <a:buNone/>
            </a:pPr>
            <a:r>
              <a:rPr lang="en-US" sz="1300" dirty="0">
                <a:solidFill>
                  <a:srgbClr val="000000"/>
                </a:solidFill>
                <a:latin typeface="Arial" pitchFamily="34" charset="0"/>
                <a:ea typeface="Arial" pitchFamily="34" charset="-122"/>
                <a:cs typeface="Arial" pitchFamily="34" charset="-120"/>
              </a:rPr>
              <a:t> Node only has two child pointers: left (for 0) and right (for 1).</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Space Efficiency:</a:t>
            </a:r>
            <a:pPr indent="0" marL="0">
              <a:buNone/>
            </a:pPr>
            <a:r>
              <a:rPr lang="en-US" sz="1300" dirty="0">
                <a:solidFill>
                  <a:srgbClr val="000000"/>
                </a:solidFill>
                <a:latin typeface="Arial" pitchFamily="34" charset="0"/>
                <a:ea typeface="Arial" pitchFamily="34" charset="-122"/>
                <a:cs typeface="Arial" pitchFamily="34" charset="-120"/>
              </a:rPr>
              <a:t> High. Minimum pointer waste compared to standard multiway tries.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Bit-level search:</a:t>
            </a:r>
            <a:pPr indent="0" marL="0">
              <a:buNone/>
            </a:pPr>
            <a:r>
              <a:rPr lang="en-US" sz="1300" dirty="0">
                <a:solidFill>
                  <a:srgbClr val="000000"/>
                </a:solidFill>
                <a:latin typeface="Arial" pitchFamily="34" charset="0"/>
                <a:ea typeface="Arial" pitchFamily="34" charset="-122"/>
                <a:cs typeface="Arial" pitchFamily="34" charset="-120"/>
              </a:rPr>
              <a:t> Searching involves traversing bit by bit. Useful in routing tables where IP addresses are represented as 32-bit strings.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Advanced Data Structures</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Compressed Tries &amp; Patricia Tries</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45720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To solve the space overhead of tries, we compress paths with single-child nodes:</a:t>
            </a:r>
            <a:endParaRPr lang="en-US" sz="1400" dirty="0"/>
          </a:p>
        </p:txBody>
      </p:sp>
      <p:sp>
        <p:nvSpPr>
          <p:cNvPr id="16" name="Shape 13"/>
          <p:cNvSpPr/>
          <p:nvPr/>
        </p:nvSpPr>
        <p:spPr>
          <a:xfrm>
            <a:off x="457200" y="2103120"/>
            <a:ext cx="5394960" cy="4114800"/>
          </a:xfrm>
          <a:prstGeom prst="roundRect">
            <a:avLst>
              <a:gd name="adj" fmla="val 2222"/>
            </a:avLst>
          </a:prstGeom>
          <a:solidFill>
            <a:srgbClr val="E8F5E9"/>
          </a:solidFill>
          <a:ln w="19050">
            <a:solidFill>
              <a:srgbClr val="006400"/>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006400"/>
                </a:solidFill>
                <a:latin typeface="Arial" pitchFamily="34" charset="0"/>
                <a:ea typeface="Arial" pitchFamily="34" charset="-122"/>
                <a:cs typeface="Arial" pitchFamily="34" charset="-120"/>
              </a:rPr>
              <a:t>Compressed Tries</a:t>
            </a:r>
            <a:endParaRPr lang="en-US" sz="1500" dirty="0"/>
          </a:p>
        </p:txBody>
      </p:sp>
      <p:sp>
        <p:nvSpPr>
          <p:cNvPr id="18" name="Text 15"/>
          <p:cNvSpPr/>
          <p:nvPr/>
        </p:nvSpPr>
        <p:spPr>
          <a:xfrm>
            <a:off x="566928" y="2606040"/>
            <a:ext cx="5212080" cy="3474720"/>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The Idea:</a:t>
            </a:r>
            <a:pPr indent="0" marL="0">
              <a:buNone/>
            </a:pPr>
            <a:r>
              <a:rPr lang="en-US" sz="1300" dirty="0">
                <a:solidFill>
                  <a:srgbClr val="000000"/>
                </a:solidFill>
                <a:latin typeface="Arial" pitchFamily="34" charset="0"/>
                <a:ea typeface="Arial" pitchFamily="34" charset="-122"/>
                <a:cs typeface="Arial" pitchFamily="34" charset="-120"/>
              </a:rPr>
              <a:t> If a chain of single-child nodes exists (e.g. p -&gt; a -&gt; t -&gt; h), collapse them into a single node with edge label 'path'.</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Structural Benefit:</a:t>
            </a:r>
            <a:pPr indent="0" marL="0">
              <a:buNone/>
            </a:pPr>
            <a:r>
              <a:rPr lang="en-US" sz="1300" dirty="0">
                <a:solidFill>
                  <a:srgbClr val="000000"/>
                </a:solidFill>
                <a:latin typeface="Arial" pitchFamily="34" charset="0"/>
                <a:ea typeface="Arial" pitchFamily="34" charset="-122"/>
                <a:cs typeface="Arial" pitchFamily="34" charset="-120"/>
              </a:rPr>
              <a:t> Reduces the number of internal nodes. Every internal node in a compressed trie now has at least two children.</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Size Bound:</a:t>
            </a:r>
            <a:pPr indent="0" marL="0">
              <a:buNone/>
            </a:pPr>
            <a:r>
              <a:rPr lang="en-US" sz="1300" dirty="0">
                <a:solidFill>
                  <a:srgbClr val="000000"/>
                </a:solidFill>
                <a:latin typeface="Arial" pitchFamily="34" charset="0"/>
                <a:ea typeface="Arial" pitchFamily="34" charset="-122"/>
                <a:cs typeface="Arial" pitchFamily="34" charset="-120"/>
              </a:rPr>
              <a:t> For a set of n words, the number of leaf nodes is n, and the number of internal nodes is at most n-1. Total space is O(n).</a:t>
            </a:r>
            <a:endParaRPr lang="en-US" sz="1300" dirty="0"/>
          </a:p>
        </p:txBody>
      </p:sp>
      <p:sp>
        <p:nvSpPr>
          <p:cNvPr id="19" name="Shape 16"/>
          <p:cNvSpPr/>
          <p:nvPr/>
        </p:nvSpPr>
        <p:spPr>
          <a:xfrm>
            <a:off x="6035040" y="2103120"/>
            <a:ext cx="5715000" cy="4114800"/>
          </a:xfrm>
          <a:prstGeom prst="roundRect">
            <a:avLst>
              <a:gd name="adj" fmla="val 2222"/>
            </a:avLst>
          </a:prstGeom>
          <a:solidFill>
            <a:srgbClr val="E3F2FD"/>
          </a:solidFill>
          <a:ln w="19050">
            <a:solidFill>
              <a:srgbClr val="1565C0"/>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1565C0"/>
                </a:solidFill>
                <a:latin typeface="Arial" pitchFamily="34" charset="0"/>
                <a:ea typeface="Arial" pitchFamily="34" charset="-122"/>
                <a:cs typeface="Arial" pitchFamily="34" charset="-120"/>
              </a:rPr>
              <a:t>Patricia Tries</a:t>
            </a:r>
            <a:endParaRPr lang="en-US" sz="1500" dirty="0"/>
          </a:p>
        </p:txBody>
      </p:sp>
      <p:sp>
        <p:nvSpPr>
          <p:cNvPr id="21" name="Text 18"/>
          <p:cNvSpPr/>
          <p:nvPr/>
        </p:nvSpPr>
        <p:spPr>
          <a:xfrm>
            <a:off x="6144768" y="2606040"/>
            <a:ext cx="5513832" cy="3474720"/>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Definition:</a:t>
            </a:r>
            <a:pPr indent="0" marL="0">
              <a:buNone/>
            </a:pPr>
            <a:r>
              <a:rPr lang="en-US" sz="1300" dirty="0">
                <a:solidFill>
                  <a:srgbClr val="000000"/>
                </a:solidFill>
                <a:latin typeface="Arial" pitchFamily="34" charset="0"/>
                <a:ea typeface="Arial" pitchFamily="34" charset="-122"/>
                <a:cs typeface="Arial" pitchFamily="34" charset="-120"/>
              </a:rPr>
              <a:t> PATRICIA stands for: 'Practical Algorithm to Retrieve Information Coded in Alphanumeric'.</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Compact Binary Trie:</a:t>
            </a:r>
            <a:pPr indent="0" marL="0">
              <a:buNone/>
            </a:pPr>
            <a:r>
              <a:rPr lang="en-US" sz="1300" dirty="0">
                <a:solidFill>
                  <a:srgbClr val="000000"/>
                </a:solidFill>
                <a:latin typeface="Arial" pitchFamily="34" charset="0"/>
                <a:ea typeface="Arial" pitchFamily="34" charset="-122"/>
                <a:cs typeface="Arial" pitchFamily="34" charset="-120"/>
              </a:rPr>
              <a:t> A compressed binary trie. Instead of storing edge characters, nodes store the bit-index to be tested next.</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Fast Bit Testing:</a:t>
            </a:r>
            <a:pPr indent="0" marL="0">
              <a:buNone/>
            </a:pPr>
            <a:r>
              <a:rPr lang="en-US" sz="1300" dirty="0">
                <a:solidFill>
                  <a:srgbClr val="000000"/>
                </a:solidFill>
                <a:latin typeface="Arial" pitchFamily="34" charset="0"/>
                <a:ea typeface="Arial" pitchFamily="34" charset="-122"/>
                <a:cs typeface="Arial" pitchFamily="34" charset="-120"/>
              </a:rPr>
              <a:t> When searching, we skip bit positions that do not distinguish between keys, jumping directly to the bit position where they diverge.</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Application:</a:t>
            </a:r>
            <a:pPr indent="0" marL="0">
              <a:buNone/>
            </a:pPr>
            <a:r>
              <a:rPr lang="en-US" sz="1300" dirty="0">
                <a:solidFill>
                  <a:srgbClr val="000000"/>
                </a:solidFill>
                <a:latin typeface="Arial" pitchFamily="34" charset="0"/>
                <a:ea typeface="Arial" pitchFamily="34" charset="-122"/>
                <a:cs typeface="Arial" pitchFamily="34" charset="-120"/>
              </a:rPr>
              <a:t> Highly efficient for prefix search, IP routing lookups, and text processing.</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Advanced Data Structures</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Suffix Trees</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502920"/>
          </a:xfrm>
          <a:prstGeom prst="rect">
            <a:avLst/>
          </a:prstGeom>
          <a:noFill/>
          <a:ln/>
        </p:spPr>
        <p:txBody>
          <a:bodyPr wrap="square" rtlCol="0" anchor="ctr"/>
          <a:lstStyle/>
          <a:p>
            <a:pPr indent="0" marL="0">
              <a:buNone/>
            </a:pPr>
            <a:r>
              <a:rPr lang="en-US" sz="1400" b="1" dirty="0">
                <a:solidFill>
                  <a:srgbClr val="000000"/>
                </a:solidFill>
                <a:latin typeface="Arial" pitchFamily="34" charset="0"/>
                <a:ea typeface="Arial" pitchFamily="34" charset="-122"/>
                <a:cs typeface="Arial" pitchFamily="34" charset="-120"/>
              </a:rPr>
              <a:t>A Suffix Tree </a:t>
            </a:r>
            <a:pPr indent="0" marL="0">
              <a:buNone/>
            </a:pPr>
            <a:r>
              <a:rPr lang="en-US" sz="1400" dirty="0">
                <a:solidFill>
                  <a:srgbClr val="000000"/>
                </a:solidFill>
                <a:latin typeface="Arial" pitchFamily="34" charset="0"/>
                <a:ea typeface="Arial" pitchFamily="34" charset="-122"/>
                <a:cs typeface="Arial" pitchFamily="34" charset="-120"/>
              </a:rPr>
              <a:t>is a compressed trie containing all suffixes of a single string S. It is a powerful index for text searching.</a:t>
            </a:r>
            <a:endParaRPr lang="en-US" sz="1400" dirty="0"/>
          </a:p>
        </p:txBody>
      </p:sp>
      <p:sp>
        <p:nvSpPr>
          <p:cNvPr id="16" name="Shape 13"/>
          <p:cNvSpPr/>
          <p:nvPr/>
        </p:nvSpPr>
        <p:spPr>
          <a:xfrm>
            <a:off x="457200" y="2103120"/>
            <a:ext cx="5394960" cy="4114800"/>
          </a:xfrm>
          <a:prstGeom prst="roundRect">
            <a:avLst>
              <a:gd name="adj" fmla="val 2222"/>
            </a:avLst>
          </a:prstGeom>
          <a:solidFill>
            <a:srgbClr val="FFF9C4"/>
          </a:solidFill>
          <a:ln w="19050">
            <a:solidFill>
              <a:srgbClr val="F57F17"/>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F57F17"/>
                </a:solidFill>
                <a:latin typeface="Arial" pitchFamily="34" charset="0"/>
                <a:ea typeface="Arial" pitchFamily="34" charset="-122"/>
                <a:cs typeface="Arial" pitchFamily="34" charset="-120"/>
              </a:rPr>
              <a:t>How it is Built</a:t>
            </a:r>
            <a:endParaRPr lang="en-US" sz="1500" dirty="0"/>
          </a:p>
        </p:txBody>
      </p:sp>
      <p:sp>
        <p:nvSpPr>
          <p:cNvPr id="18" name="Text 15"/>
          <p:cNvSpPr/>
          <p:nvPr/>
        </p:nvSpPr>
        <p:spPr>
          <a:xfrm>
            <a:off x="566928" y="2606040"/>
            <a:ext cx="5212080" cy="3474720"/>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Suffix Set:</a:t>
            </a:r>
            <a:pPr indent="0" marL="0">
              <a:buNone/>
            </a:pPr>
            <a:r>
              <a:rPr lang="en-US" sz="1300" dirty="0">
                <a:solidFill>
                  <a:srgbClr val="000000"/>
                </a:solidFill>
                <a:latin typeface="Arial" pitchFamily="34" charset="0"/>
                <a:ea typeface="Arial" pitchFamily="34" charset="-122"/>
                <a:cs typeface="Arial" pitchFamily="34" charset="-120"/>
              </a:rPr>
              <a:t> For a string S of length n, append a termination character '$'. Generate all n suffixes of 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Example (S = 'BANANA$'):</a:t>
            </a:r>
            <a:pPr indent="0" marL="0">
              <a:buNone/>
            </a:pPr>
            <a:r>
              <a:rPr lang="en-US" sz="1300" dirty="0">
                <a:solidFill>
                  <a:srgbClr val="000000"/>
                </a:solidFill>
                <a:latin typeface="Arial" pitchFamily="34" charset="0"/>
                <a:ea typeface="Arial" pitchFamily="34" charset="-122"/>
                <a:cs typeface="Arial" pitchFamily="34" charset="-120"/>
              </a:rPr>
              <a:t> Suffixes are:</a:t>
            </a:r>
            <a:endParaRPr lang="en-US" sz="1300" dirty="0"/>
          </a:p>
          <a:p>
            <a:pPr indent="0" marL="0">
              <a:buNone/>
            </a:pPr>
            <a:r>
              <a:rPr lang="en-US" sz="1300" dirty="0">
                <a:solidFill>
                  <a:srgbClr val="000000"/>
                </a:solidFill>
                <a:latin typeface="Arial" pitchFamily="34" charset="0"/>
                <a:ea typeface="Arial" pitchFamily="34" charset="-122"/>
                <a:cs typeface="Arial" pitchFamily="34" charset="-120"/>
              </a:rPr>
              <a:t>  'BANANA$', 'ANANA$', 'NANA$', 'ANA$', 'NA$', 'A$', '$'.</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Trie Compression:</a:t>
            </a:r>
            <a:pPr indent="0" marL="0">
              <a:buNone/>
            </a:pPr>
            <a:r>
              <a:rPr lang="en-US" sz="1300" dirty="0">
                <a:solidFill>
                  <a:srgbClr val="000000"/>
                </a:solidFill>
                <a:latin typeface="Arial" pitchFamily="34" charset="0"/>
                <a:ea typeface="Arial" pitchFamily="34" charset="-122"/>
                <a:cs typeface="Arial" pitchFamily="34" charset="-120"/>
              </a:rPr>
              <a:t> Insert all these suffixes into a compressed trie.</a:t>
            </a:r>
            <a:endParaRPr lang="en-US" sz="1300" dirty="0"/>
          </a:p>
          <a:p>
            <a:pPr indent="0" marL="0">
              <a:buNone/>
            </a:pPr>
            <a:r>
              <a:rPr lang="en-US" sz="1300" b="1" dirty="0">
                <a:solidFill>
                  <a:srgbClr val="006400"/>
                </a:solidFill>
                <a:latin typeface="Arial" pitchFamily="34" charset="0"/>
                <a:ea typeface="Arial" pitchFamily="34" charset="-122"/>
                <a:cs typeface="Arial" pitchFamily="34" charset="-120"/>
              </a:rPr>
              <a:t>• Linear Construction:</a:t>
            </a:r>
            <a:pPr indent="0" marL="0">
              <a:buNone/>
            </a:pPr>
            <a:r>
              <a:rPr lang="en-US" sz="1300" dirty="0">
                <a:solidFill>
                  <a:srgbClr val="000000"/>
                </a:solidFill>
                <a:latin typeface="Arial" pitchFamily="34" charset="0"/>
                <a:ea typeface="Arial" pitchFamily="34" charset="-122"/>
                <a:cs typeface="Arial" pitchFamily="34" charset="-120"/>
              </a:rPr>
              <a:t> Ukkonen's algorithm builds a suffix tree in O(n) time and space.</a:t>
            </a:r>
            <a:endParaRPr lang="en-US" sz="1300" dirty="0"/>
          </a:p>
        </p:txBody>
      </p:sp>
      <p:sp>
        <p:nvSpPr>
          <p:cNvPr id="19" name="Shape 16"/>
          <p:cNvSpPr/>
          <p:nvPr/>
        </p:nvSpPr>
        <p:spPr>
          <a:xfrm>
            <a:off x="6035040" y="2103120"/>
            <a:ext cx="5715000" cy="4114800"/>
          </a:xfrm>
          <a:prstGeom prst="roundRect">
            <a:avLst>
              <a:gd name="adj" fmla="val 2222"/>
            </a:avLst>
          </a:prstGeom>
          <a:solidFill>
            <a:srgbClr val="FCE4EC"/>
          </a:solidFill>
          <a:ln w="19050">
            <a:solidFill>
              <a:srgbClr val="990033"/>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990033"/>
                </a:solidFill>
                <a:latin typeface="Arial" pitchFamily="34" charset="0"/>
                <a:ea typeface="Arial" pitchFamily="34" charset="-122"/>
                <a:cs typeface="Arial" pitchFamily="34" charset="-120"/>
              </a:rPr>
              <a:t>String Operations</a:t>
            </a:r>
            <a:endParaRPr lang="en-US" sz="1500" dirty="0"/>
          </a:p>
        </p:txBody>
      </p:sp>
      <p:sp>
        <p:nvSpPr>
          <p:cNvPr id="21" name="Text 18"/>
          <p:cNvSpPr/>
          <p:nvPr/>
        </p:nvSpPr>
        <p:spPr>
          <a:xfrm>
            <a:off x="6144768" y="2606040"/>
            <a:ext cx="5513832" cy="3474720"/>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Pattern Matching:</a:t>
            </a:r>
            <a:pPr indent="0" marL="0">
              <a:buNone/>
            </a:pPr>
            <a:r>
              <a:rPr lang="en-US" sz="1300" dirty="0">
                <a:solidFill>
                  <a:srgbClr val="000000"/>
                </a:solidFill>
                <a:latin typeface="Arial" pitchFamily="34" charset="0"/>
                <a:ea typeface="Arial" pitchFamily="34" charset="-122"/>
                <a:cs typeface="Arial" pitchFamily="34" charset="-120"/>
              </a:rPr>
              <a:t> Check if pattern P is a substring of S in O(|P|) time. We just trace P from root.</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Longest Repeated Substring:</a:t>
            </a:r>
            <a:pPr indent="0" marL="0">
              <a:buNone/>
            </a:pPr>
            <a:r>
              <a:rPr lang="en-US" sz="1300" dirty="0">
                <a:solidFill>
                  <a:srgbClr val="000000"/>
                </a:solidFill>
                <a:latin typeface="Arial" pitchFamily="34" charset="0"/>
                <a:ea typeface="Arial" pitchFamily="34" charset="-122"/>
                <a:cs typeface="Arial" pitchFamily="34" charset="-120"/>
              </a:rPr>
              <a:t> Find the deepest internal node in the tree. Can be solved in O(n) time.</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Longest Common Substring:</a:t>
            </a:r>
            <a:pPr indent="0" marL="0">
              <a:buNone/>
            </a:pPr>
            <a:r>
              <a:rPr lang="en-US" sz="1300" dirty="0">
                <a:solidFill>
                  <a:srgbClr val="000000"/>
                </a:solidFill>
                <a:latin typeface="Arial" pitchFamily="34" charset="0"/>
                <a:ea typeface="Arial" pitchFamily="34" charset="-122"/>
                <a:cs typeface="Arial" pitchFamily="34" charset="-120"/>
              </a:rPr>
              <a:t> Build a generalized suffix tree for S1 and S2. Deepest node with descendants from both strings is the solution. O(n1 + n2) time.</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Substring Count:</a:t>
            </a:r>
            <a:pPr indent="0" marL="0">
              <a:buNone/>
            </a:pPr>
            <a:r>
              <a:rPr lang="en-US" sz="1300" dirty="0">
                <a:solidFill>
                  <a:srgbClr val="000000"/>
                </a:solidFill>
                <a:latin typeface="Arial" pitchFamily="34" charset="0"/>
                <a:ea typeface="Arial" pitchFamily="34" charset="-122"/>
                <a:cs typeface="Arial" pitchFamily="34" charset="-120"/>
              </a:rPr>
              <a:t> Find the number of occurrences of P in O(|P|) time.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Advanced Data Structures</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Applications of Digital Search Structures</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36576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Tries and suffix trees form the core of modern search, routing, and text analysis:</a:t>
            </a:r>
            <a:endParaRPr lang="en-US" sz="1400" dirty="0"/>
          </a:p>
        </p:txBody>
      </p:sp>
      <p:sp>
        <p:nvSpPr>
          <p:cNvPr id="16" name="Shape 13"/>
          <p:cNvSpPr/>
          <p:nvPr/>
        </p:nvSpPr>
        <p:spPr>
          <a:xfrm>
            <a:off x="457200" y="2011680"/>
            <a:ext cx="5532120" cy="1956816"/>
          </a:xfrm>
          <a:prstGeom prst="roundRect">
            <a:avLst>
              <a:gd name="adj" fmla="val 4673"/>
            </a:avLst>
          </a:prstGeom>
          <a:solidFill>
            <a:srgbClr val="E8F5E9"/>
          </a:solidFill>
          <a:ln w="19050">
            <a:solidFill>
              <a:srgbClr val="009900"/>
            </a:solidFill>
            <a:prstDash val="solid"/>
          </a:ln>
        </p:spPr>
      </p:sp>
      <p:sp>
        <p:nvSpPr>
          <p:cNvPr id="17" name="Text 14"/>
          <p:cNvSpPr/>
          <p:nvPr/>
        </p:nvSpPr>
        <p:spPr>
          <a:xfrm>
            <a:off x="566928" y="2103120"/>
            <a:ext cx="5312664" cy="347472"/>
          </a:xfrm>
          <a:prstGeom prst="rect">
            <a:avLst/>
          </a:prstGeom>
          <a:noFill/>
          <a:ln/>
        </p:spPr>
        <p:txBody>
          <a:bodyPr wrap="square" lIns="0" tIns="0" rIns="0" bIns="0" rtlCol="0" anchor="ctr"/>
          <a:lstStyle/>
          <a:p>
            <a:pPr indent="0" marL="0">
              <a:buNone/>
            </a:pPr>
            <a:r>
              <a:rPr lang="en-US" sz="1450" b="1" dirty="0">
                <a:solidFill>
                  <a:srgbClr val="009900"/>
                </a:solidFill>
                <a:latin typeface="Arial" pitchFamily="34" charset="0"/>
                <a:ea typeface="Arial" pitchFamily="34" charset="-122"/>
                <a:cs typeface="Arial" pitchFamily="34" charset="-120"/>
              </a:rPr>
              <a:t>⌨️  Autocomplete &amp; Typeahead</a:t>
            </a:r>
            <a:endParaRPr lang="en-US" sz="1450" dirty="0"/>
          </a:p>
        </p:txBody>
      </p:sp>
      <p:sp>
        <p:nvSpPr>
          <p:cNvPr id="18" name="Text 15"/>
          <p:cNvSpPr/>
          <p:nvPr/>
        </p:nvSpPr>
        <p:spPr>
          <a:xfrm>
            <a:off x="566928" y="248716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Tries store dictionary terms. As the user types, the prefix acts as a path to a node. The sub-tree under that node is traversed to yield suggestions in O(L) time, where L is prefix length.</a:t>
            </a:r>
            <a:endParaRPr lang="en-US" sz="1300" dirty="0"/>
          </a:p>
        </p:txBody>
      </p:sp>
      <p:sp>
        <p:nvSpPr>
          <p:cNvPr id="19" name="Shape 16"/>
          <p:cNvSpPr/>
          <p:nvPr/>
        </p:nvSpPr>
        <p:spPr>
          <a:xfrm>
            <a:off x="6144768" y="2011680"/>
            <a:ext cx="5532120" cy="1956816"/>
          </a:xfrm>
          <a:prstGeom prst="roundRect">
            <a:avLst>
              <a:gd name="adj" fmla="val 4673"/>
            </a:avLst>
          </a:prstGeom>
          <a:solidFill>
            <a:srgbClr val="E3F2FD"/>
          </a:solidFill>
          <a:ln w="19050">
            <a:solidFill>
              <a:srgbClr val="1565C0"/>
            </a:solidFill>
            <a:prstDash val="solid"/>
          </a:ln>
        </p:spPr>
      </p:sp>
      <p:sp>
        <p:nvSpPr>
          <p:cNvPr id="20" name="Text 17"/>
          <p:cNvSpPr/>
          <p:nvPr/>
        </p:nvSpPr>
        <p:spPr>
          <a:xfrm>
            <a:off x="6254496" y="2103120"/>
            <a:ext cx="5312664" cy="347472"/>
          </a:xfrm>
          <a:prstGeom prst="rect">
            <a:avLst/>
          </a:prstGeom>
          <a:noFill/>
          <a:ln/>
        </p:spPr>
        <p:txBody>
          <a:bodyPr wrap="square" lIns="0" tIns="0" rIns="0" bIns="0" rtlCol="0" anchor="ctr"/>
          <a:lstStyle/>
          <a:p>
            <a:pPr indent="0" marL="0">
              <a:buNone/>
            </a:pPr>
            <a:r>
              <a:rPr lang="en-US" sz="1450" b="1" dirty="0">
                <a:solidFill>
                  <a:srgbClr val="1565C0"/>
                </a:solidFill>
                <a:latin typeface="Arial" pitchFamily="34" charset="0"/>
                <a:ea typeface="Arial" pitchFamily="34" charset="-122"/>
                <a:cs typeface="Arial" pitchFamily="34" charset="-120"/>
              </a:rPr>
              <a:t>🌐  IP Routing Table Lookups</a:t>
            </a:r>
            <a:endParaRPr lang="en-US" sz="1450" dirty="0"/>
          </a:p>
        </p:txBody>
      </p:sp>
      <p:sp>
        <p:nvSpPr>
          <p:cNvPr id="21" name="Text 18"/>
          <p:cNvSpPr/>
          <p:nvPr/>
        </p:nvSpPr>
        <p:spPr>
          <a:xfrm>
            <a:off x="6254496" y="248716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Patricia tries are used in network routers to store routing tables. The router performs a 'Longest Prefix Match' on the incoming packet's IP address to find the forwarding route in O(1) time.</a:t>
            </a:r>
            <a:endParaRPr lang="en-US" sz="1300" dirty="0"/>
          </a:p>
        </p:txBody>
      </p:sp>
      <p:sp>
        <p:nvSpPr>
          <p:cNvPr id="22" name="Shape 19"/>
          <p:cNvSpPr/>
          <p:nvPr/>
        </p:nvSpPr>
        <p:spPr>
          <a:xfrm>
            <a:off x="457200" y="4114800"/>
            <a:ext cx="5532120" cy="1956816"/>
          </a:xfrm>
          <a:prstGeom prst="roundRect">
            <a:avLst>
              <a:gd name="adj" fmla="val 4673"/>
            </a:avLst>
          </a:prstGeom>
          <a:solidFill>
            <a:srgbClr val="FCE4EC"/>
          </a:solidFill>
          <a:ln w="19050">
            <a:solidFill>
              <a:srgbClr val="990033"/>
            </a:solidFill>
            <a:prstDash val="solid"/>
          </a:ln>
        </p:spPr>
      </p:sp>
      <p:sp>
        <p:nvSpPr>
          <p:cNvPr id="23" name="Text 20"/>
          <p:cNvSpPr/>
          <p:nvPr/>
        </p:nvSpPr>
        <p:spPr>
          <a:xfrm>
            <a:off x="566928" y="4206240"/>
            <a:ext cx="5312664" cy="347472"/>
          </a:xfrm>
          <a:prstGeom prst="rect">
            <a:avLst/>
          </a:prstGeom>
          <a:noFill/>
          <a:ln/>
        </p:spPr>
        <p:txBody>
          <a:bodyPr wrap="square" lIns="0" tIns="0" rIns="0" bIns="0" rtlCol="0" anchor="ctr"/>
          <a:lstStyle/>
          <a:p>
            <a:pPr indent="0" marL="0">
              <a:buNone/>
            </a:pPr>
            <a:r>
              <a:rPr lang="en-US" sz="1450" b="1" dirty="0">
                <a:solidFill>
                  <a:srgbClr val="990033"/>
                </a:solidFill>
                <a:latin typeface="Arial" pitchFamily="34" charset="0"/>
                <a:ea typeface="Arial" pitchFamily="34" charset="-122"/>
                <a:cs typeface="Arial" pitchFamily="34" charset="-120"/>
              </a:rPr>
              <a:t>📖  Spell Checkers &amp; Dictionaries</a:t>
            </a:r>
            <a:endParaRPr lang="en-US" sz="1450" dirty="0"/>
          </a:p>
        </p:txBody>
      </p:sp>
      <p:sp>
        <p:nvSpPr>
          <p:cNvPr id="24" name="Text 21"/>
          <p:cNvSpPr/>
          <p:nvPr/>
        </p:nvSpPr>
        <p:spPr>
          <a:xfrm>
            <a:off x="566928" y="459028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Tries act as spelling dictionaries. It is extremely fast to detect if a word exists, and to list nearby word candidates using spelling edit distance algorithms on the trie.</a:t>
            </a:r>
            <a:endParaRPr lang="en-US" sz="1300" dirty="0"/>
          </a:p>
        </p:txBody>
      </p:sp>
      <p:sp>
        <p:nvSpPr>
          <p:cNvPr id="25" name="Shape 22"/>
          <p:cNvSpPr/>
          <p:nvPr/>
        </p:nvSpPr>
        <p:spPr>
          <a:xfrm>
            <a:off x="6144768" y="4114800"/>
            <a:ext cx="5532120" cy="1956816"/>
          </a:xfrm>
          <a:prstGeom prst="roundRect">
            <a:avLst>
              <a:gd name="adj" fmla="val 4673"/>
            </a:avLst>
          </a:prstGeom>
          <a:solidFill>
            <a:srgbClr val="FFF9C4"/>
          </a:solidFill>
          <a:ln w="19050">
            <a:solidFill>
              <a:srgbClr val="F57F17"/>
            </a:solidFill>
            <a:prstDash val="solid"/>
          </a:ln>
        </p:spPr>
      </p:sp>
      <p:sp>
        <p:nvSpPr>
          <p:cNvPr id="26" name="Text 23"/>
          <p:cNvSpPr/>
          <p:nvPr/>
        </p:nvSpPr>
        <p:spPr>
          <a:xfrm>
            <a:off x="6254496" y="4206240"/>
            <a:ext cx="5312664" cy="347472"/>
          </a:xfrm>
          <a:prstGeom prst="rect">
            <a:avLst/>
          </a:prstGeom>
          <a:noFill/>
          <a:ln/>
        </p:spPr>
        <p:txBody>
          <a:bodyPr wrap="square" lIns="0" tIns="0" rIns="0" bIns="0" rtlCol="0" anchor="ctr"/>
          <a:lstStyle/>
          <a:p>
            <a:pPr indent="0" marL="0">
              <a:buNone/>
            </a:pPr>
            <a:r>
              <a:rPr lang="en-US" sz="1450" b="1" dirty="0">
                <a:solidFill>
                  <a:srgbClr val="F57F17"/>
                </a:solidFill>
                <a:latin typeface="Arial" pitchFamily="34" charset="0"/>
                <a:ea typeface="Arial" pitchFamily="34" charset="-122"/>
                <a:cs typeface="Arial" pitchFamily="34" charset="-120"/>
              </a:rPr>
              <a:t>🧬  Bioinformatics &amp; DNA Indexing</a:t>
            </a:r>
            <a:endParaRPr lang="en-US" sz="1450" dirty="0"/>
          </a:p>
        </p:txBody>
      </p:sp>
      <p:sp>
        <p:nvSpPr>
          <p:cNvPr id="27" name="Text 24"/>
          <p:cNvSpPr/>
          <p:nvPr/>
        </p:nvSpPr>
        <p:spPr>
          <a:xfrm>
            <a:off x="6254496" y="459028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Suffix trees index massive genomes. Researchers search for DNA sub-sequences, repeating genes, and similarities across species in linear time using suffix tree lookups.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Advanced Data Structures</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2377440"/>
            <a:ext cx="11292840" cy="1371600"/>
          </a:xfrm>
          <a:prstGeom prst="rect">
            <a:avLst/>
          </a:prstGeom>
          <a:noFill/>
          <a:ln/>
        </p:spPr>
        <p:txBody>
          <a:bodyPr wrap="square" rtlCol="0" anchor="ctr"/>
          <a:lstStyle/>
          <a:p>
            <a:pPr algn="ctr" indent="0" marL="0">
              <a:buNone/>
            </a:pPr>
            <a:r>
              <a:rPr lang="en-US" sz="4800" b="1" dirty="0">
                <a:solidFill>
                  <a:srgbClr val="990033"/>
                </a:solidFill>
                <a:latin typeface="Arial" pitchFamily="34" charset="0"/>
                <a:ea typeface="Arial" pitchFamily="34" charset="-122"/>
                <a:cs typeface="Arial" pitchFamily="34" charset="-120"/>
              </a:rPr>
              <a:t>THANK YOU</a:t>
            </a:r>
            <a:endParaRPr lang="en-US" sz="4800" dirty="0"/>
          </a:p>
        </p:txBody>
      </p:sp>
      <p:sp>
        <p:nvSpPr>
          <p:cNvPr id="14" name="Text 11"/>
          <p:cNvSpPr/>
          <p:nvPr/>
        </p:nvSpPr>
        <p:spPr>
          <a:xfrm>
            <a:off x="457200" y="5029200"/>
            <a:ext cx="11292840" cy="822960"/>
          </a:xfrm>
          <a:prstGeom prst="rect">
            <a:avLst/>
          </a:prstGeom>
          <a:noFill/>
          <a:ln/>
        </p:spPr>
        <p:txBody>
          <a:bodyPr wrap="square" rtlCol="0" anchor="ctr"/>
          <a:lstStyle/>
          <a:p>
            <a:pPr algn="ctr" indent="0" marL="0">
              <a:buNone/>
            </a:pPr>
            <a:r>
              <a:rPr lang="en-US" sz="1300" dirty="0">
                <a:solidFill>
                  <a:srgbClr val="555555"/>
                </a:solidFill>
                <a:latin typeface="Arial" pitchFamily="34" charset="0"/>
                <a:ea typeface="Arial" pitchFamily="34" charset="-122"/>
                <a:cs typeface="Arial" pitchFamily="34" charset="-120"/>
              </a:rPr>
              <a:t>Department of Computer Science and Engineering</a:t>
            </a:r>
            <a:endParaRPr lang="en-US" sz="1300" dirty="0"/>
          </a:p>
          <a:p>
            <a:pPr algn="ctr" indent="0" marL="0">
              <a:buNone/>
            </a:pPr>
            <a:r>
              <a:rPr lang="en-US" sz="1300" dirty="0">
                <a:solidFill>
                  <a:srgbClr val="555555"/>
                </a:solidFill>
                <a:latin typeface="Arial" pitchFamily="34" charset="0"/>
                <a:ea typeface="Arial" pitchFamily="34" charset="-122"/>
                <a:cs typeface="Arial" pitchFamily="34" charset="-120"/>
              </a:rPr>
              <a:t>Marri Laxman Reddy Institute of Technology and Management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2026-06-14T11:41:04Z</dcterms:created>
  <dcterms:modified xsi:type="dcterms:W3CDTF">2026-06-14T11:41:04Z</dcterms:modified>
</cp:coreProperties>
</file>