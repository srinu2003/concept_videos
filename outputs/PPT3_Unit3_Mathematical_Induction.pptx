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Mathematical Induction?
Mathematical induction is a powerful proof technique used to prove that some statement P(n) is true for every natural number n greater than or equal to some starting value n₀, usually n₀ = 1 or n₀ = 0.
The domino analogy is the best way to understand it. Imagine an infinite line of dominoes numbered 1, 2, 3, and so on. Now suppose two things are true: first, the first domino (Domino 1) falls. Second, whenever any domino k falls, it knocks over the next domino k+1. Under these two conditions, ALL dominoes will eventually fall — even domino number one million. This is exactly how mathematical induction works.
A critical distinction: Mathematical induction is a DEDUCTIVE proof technique, not the 'inductive reasoning' used in science where we observe patterns and make generalizations. In mathematics, observing that a statement is true for the first million values does NOT constitute a proof — we need the formal inductive argument. There are famous examples where a pattern holds for millions of cases but fails eventually.
For example, the expression n² + n + 41 is prime for n = 0, 1, 2, ..., 39 — forty consecutive values! But for n = 40, it gives 40² + 40 + 41 = 1681 = 41², which is NOT prime. Without a formal proof, we cannot trust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Two Steps of Mathematical Induction
The formal proof by mathematical induction has exactly two steps.
STEP 1 — BASE CASE: We directly prove that the statement P(n) is true for the initial value n₀, which is usually 1 (or sometimes 0). This is straightforward verification — just substitute n=1 into the statement and check. This step is like pushing the first domino over. Without the base case, the proof is incomplete and invalid.
STEP 2 — INDUCTIVE STEP: This is the heart of the proof. We assume the statement is true for SOME arbitrary k — this assumption is called the Inductive Hypothesis (IH). Then, using the IH as a given fact, we must PROVE that P(k+1) is also true. This step is like showing that whenever domino k falls, it will knock over domino k+1.
The logic is: the base case gives us P(1). The inductive step, applied to k=1, gives us P(2). Applying it again to k=2 gives P(3). And so on — we get P(n) for every natural number n.
CONCLUSION: Once both steps are proven, we can conclude P(n) is true for ALL n ≥ 1 by the Principle of Mathematical Induction.
The crucial skill is in the inductive step: you must write 'Assume P(k) is true' (the hypothesis), then express P(k+1) in terms of P(k), and substitute the hypothesis to complete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Example: Setting Up the Proof
We will prove by mathematical induction that the sum 1 + 2 + 3 + ... + n equals n(n+1)/2 for all integers n ≥ 1. This is one of the most famous formulas in mathematics — the Gaussian sum formula.
STEP 1 — BASE CASE (n=1):
We verify the formula for n=1. The left-hand side is just 1 (the sum of the first 1 integer). The right-hand side is 1×(1+1)/2 = 1×2/2 = 1. Both sides equal 1, so the base case holds.
STEP 2 — INDUCTIVE STEP:
First, we state the Inductive Hypothesis (IH): Assume P(k) is true for some k ≥ 1. This means we assume that 1 + 2 + 3 + ... + k equals k(k+1)/2. We ASSUME this — we don't prove it here. It is our working assumption.
Our GOAL is to prove P(k+1): that 1 + 2 + ... + k + (k+1) equals (k+1)(k+2)/2.
Notice the pattern: P(k+1) is what you get by replacing n with k+1 in the original formula. The right-hand side becomes (k+1)((k+1)+1)/2 = (k+1)(k+2)/2. We need to show the left-hand side equals this.
The proof continues on the next slide where we use the Inductive Hypothesis to complete the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Completing the Inductive Proof
Now we complete the inductive step. We need to prove P(k+1): that 1 + 2 + ... + k + (k+1) = (k+1)(k+2)/2.
Step 1 – Start: Write down the left-hand side of P(k+1), which is 1 + 2 + ... + k + (k+1).
Step 2 – Group: Separate the last term by bracketing the first k terms: [1 + 2 + ... + k] + (k+1).
Step 3 – Apply the Inductive Hypothesis: The bracket [1 + 2 + ... + k] is exactly what our Inductive Hypothesis says equals k(k+1)/2. So we substitute to get k(k+1)/2 + (k+1).
Step 4 – Factor: Both terms have the common factor (k+1). Factor it out to get (k+1) × [k/2 + 1].
Step 5 – Simplify: [k/2 + 1] = (k+2)/2. So the expression becomes (k+1)(k+2)/2, which is EXACTLY the right-hand side of P(k+1).
The left-hand side and right-hand side of P(k+1) are equal, so the inductive step is proven!
CONCLUSION: We proved the base case P(1), and we proved that P(k) implies P(k+1). By the Principle of Mathematical Induction, P(n) is true for ALL n ≥ 1. The formula 1+2+...+n = n(n+1)/2 is established for every positive integer n.
Fun fact: The German mathematician Carl Friedrich Gauss discovered this formula as a child when his teacher asked him to add numbers 1 to 100. He instantly answered 5050 using the insight that pairs like (1+100), (2+99)... each sum to 101, and there are 50 such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Strong Induction and Applications
Strong induction (also called complete induction) is a more powerful variant of mathematical induction. In regular induction, the inductive hypothesis assumes only P(k). In strong induction, we assume P(j) is true for ALL j from 1 up to k.
Why would we need this? Sometimes proving P(k+1) requires more than just knowing P(k) — we might need to use results for smaller values too. A classic example is the Fundamental Theorem of Arithmetic: every integer greater than 1 is either prime or a product of primes. If a number n is composite, we write n = a×b where both a and b are strictly less than n. To apply induction to both a and b, we need to assume the theorem is true for ALL values up to k, not just k.
Applications of Mathematical Induction in Computer Science:
Algorithm Correctness: Induction is the standard technique for proving recursive algorithms correct. For example, we prove Merge Sort correct by showing: base case (sorting 1 element is trivially correct) + inductive step (if we correctly sort two halves, merging gives the correct sort of the whole).
Complexity Analysis: Proofs about running time often use recurrence relations solved by induction. The claim 'Binary search runs in O(log n) steps' is proved by induction on the size of the search space.
Data Structure Properties: The claim 'A complete binary tree with n levels has 2^n - 1 nodes' is proven by induction on the number of levels.
Loop Invariants: In formal program verification, a loop invariant is a property that holds before and after every iteration. We prove this by induction on the iteration count, guaranteeing the program's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300" i="1" dirty="0">
                <a:solidFill>
                  <a:srgbClr val="990033"/>
                </a:solidFill>
                <a:latin typeface="Arial" pitchFamily="34" charset="0"/>
                <a:ea typeface="Arial" pitchFamily="34" charset="-122"/>
                <a:cs typeface="Arial" pitchFamily="34" charset="-120"/>
              </a:rPr>
              <a:t>Unit III: Algorithms, Induction and Recursion</a:t>
            </a:r>
            <a:endParaRPr lang="en-US" sz="13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Mathematical Induction</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PPT PRESENTED BY</a:t>
            </a:r>
            <a:endParaRPr lang="en-US" sz="14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NAME :   SRinivas Rao Tammireddy</a:t>
            </a:r>
            <a:endParaRPr lang="en-US" sz="12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ROLL NO :   257Y1D5805</a:t>
            </a:r>
            <a:endParaRPr lang="en-US" sz="12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YEAR :   I Year  I Semester</a:t>
            </a:r>
            <a:endParaRPr lang="en-US" sz="12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ACADEMIC YEAR :   2025 - 2026</a:t>
            </a:r>
            <a:endParaRPr lang="en-US" sz="12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300" b="1" dirty="0">
                <a:solidFill>
                  <a:srgbClr val="990033"/>
                </a:solidFill>
                <a:latin typeface="Arial" pitchFamily="34" charset="0"/>
                <a:ea typeface="Arial" pitchFamily="34" charset="-122"/>
                <a:cs typeface="Arial" pitchFamily="34" charset="-120"/>
              </a:rPr>
              <a:t>DEPARTMENT OF COMPUTER SCIENCE AND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What is Mathematical Induction?</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75488"/>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Mathematical Induction </a:t>
            </a:r>
            <a:pPr indent="0" marL="0">
              <a:buNone/>
            </a:pPr>
            <a:r>
              <a:rPr lang="en-US" sz="1350" dirty="0">
                <a:solidFill>
                  <a:srgbClr val="000000"/>
                </a:solidFill>
                <a:latin typeface="Arial" pitchFamily="34" charset="0"/>
                <a:ea typeface="Arial" pitchFamily="34" charset="-122"/>
                <a:cs typeface="Arial" pitchFamily="34" charset="-120"/>
              </a:rPr>
              <a:t>is a proof technique used to establish that a statement P(n) is true for ALL natural numbers n ≥ n₀.</a:t>
            </a:r>
            <a:endParaRPr lang="en-US" sz="1350" dirty="0"/>
          </a:p>
        </p:txBody>
      </p:sp>
      <p:sp>
        <p:nvSpPr>
          <p:cNvPr id="16" name="Shape 13"/>
          <p:cNvSpPr/>
          <p:nvPr/>
        </p:nvSpPr>
        <p:spPr>
          <a:xfrm>
            <a:off x="457200" y="2130552"/>
            <a:ext cx="11292840" cy="1572768"/>
          </a:xfrm>
          <a:prstGeom prst="roundRect">
            <a:avLst>
              <a:gd name="adj" fmla="val 5814"/>
            </a:avLst>
          </a:prstGeom>
          <a:solidFill>
            <a:srgbClr val="FFF9C4"/>
          </a:solidFill>
          <a:ln w="25400">
            <a:solidFill>
              <a:srgbClr val="F57F17"/>
            </a:solidFill>
            <a:prstDash val="solid"/>
          </a:ln>
        </p:spPr>
      </p:sp>
      <p:sp>
        <p:nvSpPr>
          <p:cNvPr id="17" name="Text 14"/>
          <p:cNvSpPr/>
          <p:nvPr/>
        </p:nvSpPr>
        <p:spPr>
          <a:xfrm>
            <a:off x="566928" y="2203704"/>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The Domino Analogy</a:t>
            </a:r>
            <a:endParaRPr lang="en-US" sz="1500" dirty="0"/>
          </a:p>
        </p:txBody>
      </p:sp>
      <p:sp>
        <p:nvSpPr>
          <p:cNvPr id="18" name="Text 15"/>
          <p:cNvSpPr/>
          <p:nvPr/>
        </p:nvSpPr>
        <p:spPr>
          <a:xfrm>
            <a:off x="566928" y="2587752"/>
            <a:ext cx="11073384" cy="1042416"/>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Imagine an infinite row of dominoes labelled 1, 2, 3, …</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If  (1) the FIRST domino falls, and (2) whenever a domino falls it knocks the NEXT one — </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then ALL dominoes fall.</a:t>
            </a:r>
            <a:endParaRPr lang="en-US" sz="1350" dirty="0"/>
          </a:p>
        </p:txBody>
      </p:sp>
      <p:sp>
        <p:nvSpPr>
          <p:cNvPr id="19" name="Shape 16"/>
          <p:cNvSpPr/>
          <p:nvPr/>
        </p:nvSpPr>
        <p:spPr>
          <a:xfrm>
            <a:off x="457200" y="3822192"/>
            <a:ext cx="5394960" cy="2194560"/>
          </a:xfrm>
          <a:prstGeom prst="roundRect">
            <a:avLst>
              <a:gd name="adj" fmla="val 4167"/>
            </a:avLst>
          </a:prstGeom>
          <a:solidFill>
            <a:srgbClr val="E8F5E9"/>
          </a:solidFill>
          <a:ln w="19050">
            <a:solidFill>
              <a:srgbClr val="009900"/>
            </a:solidFill>
            <a:prstDash val="solid"/>
          </a:ln>
        </p:spPr>
      </p:sp>
      <p:sp>
        <p:nvSpPr>
          <p:cNvPr id="20" name="Text 17"/>
          <p:cNvSpPr/>
          <p:nvPr/>
        </p:nvSpPr>
        <p:spPr>
          <a:xfrm>
            <a:off x="566928" y="3895344"/>
            <a:ext cx="5212080"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Mathematical Induction IS:</a:t>
            </a:r>
            <a:endParaRPr lang="en-US" sz="1400" dirty="0"/>
          </a:p>
        </p:txBody>
      </p:sp>
      <p:sp>
        <p:nvSpPr>
          <p:cNvPr id="21" name="Text 18"/>
          <p:cNvSpPr/>
          <p:nvPr/>
        </p:nvSpPr>
        <p:spPr>
          <a:xfrm>
            <a:off x="566928" y="4279392"/>
            <a:ext cx="5212080" cy="1682496"/>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  A rigorous mathematical proof technique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Proves statements for all n ≥ n₀</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Uses logical deduction (deductive reasoning)</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100% certain conclusion</a:t>
            </a:r>
            <a:endParaRPr lang="en-US" sz="1250" dirty="0"/>
          </a:p>
        </p:txBody>
      </p:sp>
      <p:sp>
        <p:nvSpPr>
          <p:cNvPr id="22" name="Shape 19"/>
          <p:cNvSpPr/>
          <p:nvPr/>
        </p:nvSpPr>
        <p:spPr>
          <a:xfrm>
            <a:off x="6035040" y="3822192"/>
            <a:ext cx="5715000" cy="2194560"/>
          </a:xfrm>
          <a:prstGeom prst="roundRect">
            <a:avLst>
              <a:gd name="adj" fmla="val 4167"/>
            </a:avLst>
          </a:prstGeom>
          <a:solidFill>
            <a:srgbClr val="FCE4EC"/>
          </a:solidFill>
          <a:ln w="19050">
            <a:solidFill>
              <a:srgbClr val="990033"/>
            </a:solidFill>
            <a:prstDash val="solid"/>
          </a:ln>
        </p:spPr>
      </p:sp>
      <p:sp>
        <p:nvSpPr>
          <p:cNvPr id="23" name="Text 20"/>
          <p:cNvSpPr/>
          <p:nvPr/>
        </p:nvSpPr>
        <p:spPr>
          <a:xfrm>
            <a:off x="6144768" y="3895344"/>
            <a:ext cx="5513832"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Mathematical Induction is NOT:</a:t>
            </a:r>
            <a:endParaRPr lang="en-US" sz="1400" dirty="0"/>
          </a:p>
        </p:txBody>
      </p:sp>
      <p:sp>
        <p:nvSpPr>
          <p:cNvPr id="24" name="Text 21"/>
          <p:cNvSpPr/>
          <p:nvPr/>
        </p:nvSpPr>
        <p:spPr>
          <a:xfrm>
            <a:off x="6144768" y="4279392"/>
            <a:ext cx="5513832" cy="1682496"/>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  Inductive reasoning (science/empirical)</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"It works for first 100 cases, so always"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 pattern guess or conjecture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Trial and error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The Two Steps of Mathematical Induction</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To prove P(n) is true for all n ≥ 1, we need exactly TWO steps:</a:t>
            </a:r>
            <a:endParaRPr lang="en-US" sz="1400" dirty="0"/>
          </a:p>
        </p:txBody>
      </p:sp>
      <p:sp>
        <p:nvSpPr>
          <p:cNvPr id="16" name="Shape 13"/>
          <p:cNvSpPr/>
          <p:nvPr/>
        </p:nvSpPr>
        <p:spPr>
          <a:xfrm>
            <a:off x="457200" y="2029968"/>
            <a:ext cx="11292840" cy="1691640"/>
          </a:xfrm>
          <a:prstGeom prst="roundRect">
            <a:avLst>
              <a:gd name="adj" fmla="val 5405"/>
            </a:avLst>
          </a:prstGeom>
          <a:solidFill>
            <a:srgbClr val="E8F5E9"/>
          </a:solidFill>
          <a:ln w="25400">
            <a:solidFill>
              <a:srgbClr val="009900"/>
            </a:solidFill>
            <a:prstDash val="solid"/>
          </a:ln>
        </p:spPr>
      </p:sp>
      <p:sp>
        <p:nvSpPr>
          <p:cNvPr id="17" name="Text 14"/>
          <p:cNvSpPr/>
          <p:nvPr/>
        </p:nvSpPr>
        <p:spPr>
          <a:xfrm>
            <a:off x="566928" y="2103120"/>
            <a:ext cx="11073384" cy="411480"/>
          </a:xfrm>
          <a:prstGeom prst="rect">
            <a:avLst/>
          </a:prstGeom>
          <a:noFill/>
          <a:ln/>
        </p:spPr>
        <p:txBody>
          <a:bodyPr wrap="square" lIns="0" tIns="0" rIns="0" bIns="0" rtlCol="0" anchor="ctr"/>
          <a:lstStyle/>
          <a:p>
            <a:pPr indent="0" marL="0">
              <a:buNone/>
            </a:pPr>
            <a:r>
              <a:rPr lang="en-US" sz="1600" b="1" dirty="0">
                <a:solidFill>
                  <a:srgbClr val="009900"/>
                </a:solidFill>
                <a:latin typeface="Arial" pitchFamily="34" charset="0"/>
                <a:ea typeface="Arial" pitchFamily="34" charset="-122"/>
                <a:cs typeface="Arial" pitchFamily="34" charset="-120"/>
              </a:rPr>
              <a:t>Step 1:  BASE CASE  (The first domino falls)</a:t>
            </a:r>
            <a:endParaRPr lang="en-US" sz="1600" dirty="0"/>
          </a:p>
        </p:txBody>
      </p:sp>
      <p:sp>
        <p:nvSpPr>
          <p:cNvPr id="18" name="Text 15"/>
          <p:cNvSpPr/>
          <p:nvPr/>
        </p:nvSpPr>
        <p:spPr>
          <a:xfrm>
            <a:off x="566928" y="2542032"/>
            <a:ext cx="11073384" cy="1115568"/>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Prove that P(1) is true.</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Directly verify the statement for the smallest value n₀ (usually n₀ = 1).</a:t>
            </a:r>
            <a:endParaRPr lang="en-US" sz="1350" dirty="0"/>
          </a:p>
          <a:p>
            <a:pPr indent="0" marL="0">
              <a:buNone/>
            </a:pPr>
            <a:r>
              <a:rPr lang="en-US" sz="1350" i="1" dirty="0">
                <a:solidFill>
                  <a:srgbClr val="000000"/>
                </a:solidFill>
                <a:latin typeface="Arial" pitchFamily="34" charset="0"/>
                <a:ea typeface="Arial" pitchFamily="34" charset="-122"/>
                <a:cs typeface="Arial" pitchFamily="34" charset="-120"/>
              </a:rPr>
              <a:t>This is the 'anchor' — it grounds the proof in a concrete fact.</a:t>
            </a:r>
            <a:endParaRPr lang="en-US" sz="1350" dirty="0"/>
          </a:p>
        </p:txBody>
      </p:sp>
      <p:sp>
        <p:nvSpPr>
          <p:cNvPr id="19" name="Shape 16"/>
          <p:cNvSpPr/>
          <p:nvPr/>
        </p:nvSpPr>
        <p:spPr>
          <a:xfrm>
            <a:off x="457200" y="3822192"/>
            <a:ext cx="11292840" cy="1883664"/>
          </a:xfrm>
          <a:prstGeom prst="roundRect">
            <a:avLst>
              <a:gd name="adj" fmla="val 4854"/>
            </a:avLst>
          </a:prstGeom>
          <a:solidFill>
            <a:srgbClr val="E3F2FD"/>
          </a:solidFill>
          <a:ln w="25400">
            <a:solidFill>
              <a:srgbClr val="1565C0"/>
            </a:solidFill>
            <a:prstDash val="solid"/>
          </a:ln>
        </p:spPr>
      </p:sp>
      <p:sp>
        <p:nvSpPr>
          <p:cNvPr id="20" name="Text 17"/>
          <p:cNvSpPr/>
          <p:nvPr/>
        </p:nvSpPr>
        <p:spPr>
          <a:xfrm>
            <a:off x="566928" y="3895344"/>
            <a:ext cx="11073384" cy="411480"/>
          </a:xfrm>
          <a:prstGeom prst="rect">
            <a:avLst/>
          </a:prstGeom>
          <a:noFill/>
          <a:ln/>
        </p:spPr>
        <p:txBody>
          <a:bodyPr wrap="square" lIns="0" tIns="0" rIns="0" bIns="0" rtlCol="0" anchor="ctr"/>
          <a:lstStyle/>
          <a:p>
            <a:pPr indent="0" marL="0">
              <a:buNone/>
            </a:pPr>
            <a:r>
              <a:rPr lang="en-US" sz="1600" b="1" dirty="0">
                <a:solidFill>
                  <a:srgbClr val="1565C0"/>
                </a:solidFill>
                <a:latin typeface="Arial" pitchFamily="34" charset="0"/>
                <a:ea typeface="Arial" pitchFamily="34" charset="-122"/>
                <a:cs typeface="Arial" pitchFamily="34" charset="-120"/>
              </a:rPr>
              <a:t>Step 2:  INDUCTIVE STEP  (Each domino knocks the next)</a:t>
            </a:r>
            <a:endParaRPr lang="en-US" sz="1600" dirty="0"/>
          </a:p>
        </p:txBody>
      </p:sp>
      <p:sp>
        <p:nvSpPr>
          <p:cNvPr id="21" name="Text 18"/>
          <p:cNvSpPr/>
          <p:nvPr/>
        </p:nvSpPr>
        <p:spPr>
          <a:xfrm>
            <a:off x="566928" y="4352544"/>
            <a:ext cx="11073384" cy="1298448"/>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Inductive Hypothesis (IH):</a:t>
            </a:r>
            <a:pPr indent="0" marL="0">
              <a:buNone/>
            </a:pPr>
            <a:r>
              <a:rPr lang="en-US" sz="1350" dirty="0">
                <a:solidFill>
                  <a:srgbClr val="000000"/>
                </a:solidFill>
                <a:latin typeface="Arial" pitchFamily="34" charset="0"/>
                <a:ea typeface="Arial" pitchFamily="34" charset="-122"/>
                <a:cs typeface="Arial" pitchFamily="34" charset="-120"/>
              </a:rPr>
              <a:t>  Assume P(k) is true for some arbitrary k ≥ 1.</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Goal:</a:t>
            </a:r>
            <a:pPr indent="0" marL="0">
              <a:buNone/>
            </a:pPr>
            <a:r>
              <a:rPr lang="en-US" sz="1350" dirty="0">
                <a:solidFill>
                  <a:srgbClr val="000000"/>
                </a:solidFill>
                <a:latin typeface="Arial" pitchFamily="34" charset="0"/>
                <a:ea typeface="Arial" pitchFamily="34" charset="-122"/>
                <a:cs typeface="Arial" pitchFamily="34" charset="-120"/>
              </a:rPr>
              <a:t>  Using the IH, prove that P(k+1) is also true.</a:t>
            </a:r>
            <a:endParaRPr lang="en-US" sz="1350" dirty="0"/>
          </a:p>
          <a:p>
            <a:pPr indent="0" marL="0">
              <a:buNone/>
            </a:pPr>
            <a:r>
              <a:rPr lang="en-US" sz="1350" i="1" dirty="0">
                <a:solidFill>
                  <a:srgbClr val="000000"/>
                </a:solidFill>
                <a:latin typeface="Arial" pitchFamily="34" charset="0"/>
                <a:ea typeface="Arial" pitchFamily="34" charset="-122"/>
                <a:cs typeface="Arial" pitchFamily="34" charset="-120"/>
              </a:rPr>
              <a:t>The IH is the key tool — we USE P(k) as a 'known fact' to derive P(k+1).</a:t>
            </a:r>
            <a:endParaRPr lang="en-US" sz="1350" dirty="0"/>
          </a:p>
        </p:txBody>
      </p:sp>
      <p:sp>
        <p:nvSpPr>
          <p:cNvPr id="22" name="Shape 19"/>
          <p:cNvSpPr/>
          <p:nvPr/>
        </p:nvSpPr>
        <p:spPr>
          <a:xfrm>
            <a:off x="457200" y="5806440"/>
            <a:ext cx="11292840" cy="685800"/>
          </a:xfrm>
          <a:prstGeom prst="roundRect">
            <a:avLst>
              <a:gd name="adj" fmla="val 13333"/>
            </a:avLst>
          </a:prstGeom>
          <a:solidFill>
            <a:srgbClr val="FCE4EC"/>
          </a:solidFill>
          <a:ln w="25400">
            <a:solidFill>
              <a:srgbClr val="990033"/>
            </a:solidFill>
            <a:prstDash val="solid"/>
          </a:ln>
        </p:spPr>
      </p:sp>
      <p:sp>
        <p:nvSpPr>
          <p:cNvPr id="23" name="Text 20"/>
          <p:cNvSpPr/>
          <p:nvPr/>
        </p:nvSpPr>
        <p:spPr>
          <a:xfrm>
            <a:off x="566928" y="5833872"/>
            <a:ext cx="11073384" cy="6217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CONCLUSION: If both steps succeed, then P(n) is true for ALL n ≥ 1  (by the Principle of Mathematical Induction)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Example: Setting Up the Proof</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Shape 12"/>
          <p:cNvSpPr/>
          <p:nvPr/>
        </p:nvSpPr>
        <p:spPr>
          <a:xfrm>
            <a:off x="457200" y="1572768"/>
            <a:ext cx="11292840" cy="777240"/>
          </a:xfrm>
          <a:prstGeom prst="roundRect">
            <a:avLst>
              <a:gd name="adj" fmla="val 11765"/>
            </a:avLst>
          </a:prstGeom>
          <a:solidFill>
            <a:srgbClr val="FFF9C4"/>
          </a:solidFill>
          <a:ln w="25400">
            <a:solidFill>
              <a:srgbClr val="F57F17"/>
            </a:solidFill>
            <a:prstDash val="solid"/>
          </a:ln>
        </p:spPr>
      </p:sp>
      <p:sp>
        <p:nvSpPr>
          <p:cNvPr id="16" name="Text 13"/>
          <p:cNvSpPr/>
          <p:nvPr/>
        </p:nvSpPr>
        <p:spPr>
          <a:xfrm>
            <a:off x="566928" y="1645920"/>
            <a:ext cx="11073384" cy="621792"/>
          </a:xfrm>
          <a:prstGeom prst="rect">
            <a:avLst/>
          </a:prstGeom>
          <a:noFill/>
          <a:ln/>
        </p:spPr>
        <p:txBody>
          <a:bodyPr wrap="square" lIns="0" tIns="0" rIns="0" bIns="0" rtlCol="0" anchor="ctr"/>
          <a:lstStyle/>
          <a:p>
            <a:pPr algn="ctr" indent="0" marL="0">
              <a:buNone/>
            </a:pPr>
            <a:r>
              <a:rPr lang="en-US" sz="1600" b="1" dirty="0">
                <a:solidFill>
                  <a:srgbClr val="F57F17"/>
                </a:solidFill>
                <a:latin typeface="Arial" pitchFamily="34" charset="0"/>
                <a:ea typeface="Arial" pitchFamily="34" charset="-122"/>
                <a:cs typeface="Arial" pitchFamily="34" charset="-120"/>
              </a:rPr>
              <a:t>Theorem:  1 + 2 + 3 + ⋯ + n  =  n(n+1)/2     for all integers n ≥ 1</a:t>
            </a:r>
            <a:endParaRPr lang="en-US" sz="1600" dirty="0"/>
          </a:p>
        </p:txBody>
      </p:sp>
      <p:sp>
        <p:nvSpPr>
          <p:cNvPr id="17" name="Shape 14"/>
          <p:cNvSpPr/>
          <p:nvPr/>
        </p:nvSpPr>
        <p:spPr>
          <a:xfrm>
            <a:off x="457200" y="2487168"/>
            <a:ext cx="5394960" cy="1920240"/>
          </a:xfrm>
          <a:prstGeom prst="roundRect">
            <a:avLst>
              <a:gd name="adj" fmla="val 4762"/>
            </a:avLst>
          </a:prstGeom>
          <a:solidFill>
            <a:srgbClr val="E8F5E9"/>
          </a:solidFill>
          <a:ln w="19050">
            <a:solidFill>
              <a:srgbClr val="009900"/>
            </a:solidFill>
            <a:prstDash val="solid"/>
          </a:ln>
        </p:spPr>
      </p:sp>
      <p:sp>
        <p:nvSpPr>
          <p:cNvPr id="18" name="Text 15"/>
          <p:cNvSpPr/>
          <p:nvPr/>
        </p:nvSpPr>
        <p:spPr>
          <a:xfrm>
            <a:off x="566928" y="2560320"/>
            <a:ext cx="5212080"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Step 1: Base Case  (n = 1)</a:t>
            </a:r>
            <a:endParaRPr lang="en-US" sz="1400" dirty="0"/>
          </a:p>
        </p:txBody>
      </p:sp>
      <p:sp>
        <p:nvSpPr>
          <p:cNvPr id="19" name="Text 16"/>
          <p:cNvSpPr/>
          <p:nvPr/>
        </p:nvSpPr>
        <p:spPr>
          <a:xfrm>
            <a:off x="566928" y="2944368"/>
            <a:ext cx="5212080" cy="1389888"/>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LHS (Left-Hand Side):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Sum = 1</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RHS (Right-Hand Side):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1 × (1+1) / 2 = 1 × 2 / 2 = 1</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LHS = RHS = 1  ✔  Base Case holds!</a:t>
            </a:r>
            <a:endParaRPr lang="en-US" sz="1250" dirty="0"/>
          </a:p>
        </p:txBody>
      </p:sp>
      <p:sp>
        <p:nvSpPr>
          <p:cNvPr id="20" name="Shape 17"/>
          <p:cNvSpPr/>
          <p:nvPr/>
        </p:nvSpPr>
        <p:spPr>
          <a:xfrm>
            <a:off x="6035040" y="2487168"/>
            <a:ext cx="5715000" cy="1920240"/>
          </a:xfrm>
          <a:prstGeom prst="roundRect">
            <a:avLst>
              <a:gd name="adj" fmla="val 4762"/>
            </a:avLst>
          </a:prstGeom>
          <a:solidFill>
            <a:srgbClr val="E3F2FD"/>
          </a:solidFill>
          <a:ln w="19050">
            <a:solidFill>
              <a:srgbClr val="1565C0"/>
            </a:solidFill>
            <a:prstDash val="solid"/>
          </a:ln>
        </p:spPr>
      </p:sp>
      <p:sp>
        <p:nvSpPr>
          <p:cNvPr id="21" name="Text 18"/>
          <p:cNvSpPr/>
          <p:nvPr/>
        </p:nvSpPr>
        <p:spPr>
          <a:xfrm>
            <a:off x="6144768" y="2560320"/>
            <a:ext cx="5513832"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Step 2: Inductive Hypothesis</a:t>
            </a:r>
            <a:endParaRPr lang="en-US" sz="1400" dirty="0"/>
          </a:p>
        </p:txBody>
      </p:sp>
      <p:sp>
        <p:nvSpPr>
          <p:cNvPr id="22" name="Text 19"/>
          <p:cNvSpPr/>
          <p:nvPr/>
        </p:nvSpPr>
        <p:spPr>
          <a:xfrm>
            <a:off x="6144768" y="2944368"/>
            <a:ext cx="5513832" cy="1389888"/>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Assume P(k) is true:</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1 + 2 + 3 + ⋯ + k  =  k(k+1)/2</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i="1" dirty="0">
                <a:solidFill>
                  <a:srgbClr val="000000"/>
                </a:solidFill>
                <a:latin typeface="Arial" pitchFamily="34" charset="0"/>
                <a:ea typeface="Arial" pitchFamily="34" charset="-122"/>
                <a:cs typeface="Arial" pitchFamily="34" charset="-120"/>
              </a:rPr>
              <a:t>We call this the Inductive Hypothesis (IH).</a:t>
            </a:r>
            <a:endParaRPr lang="en-US" sz="1250" dirty="0"/>
          </a:p>
          <a:p>
            <a:pPr indent="0" marL="0">
              <a:buNone/>
            </a:pPr>
            <a:r>
              <a:rPr lang="en-US" sz="1250" i="1" dirty="0">
                <a:solidFill>
                  <a:srgbClr val="000000"/>
                </a:solidFill>
                <a:latin typeface="Arial" pitchFamily="34" charset="0"/>
                <a:ea typeface="Arial" pitchFamily="34" charset="-122"/>
                <a:cs typeface="Arial" pitchFamily="34" charset="-120"/>
              </a:rPr>
              <a:t>We will USE this in the next step.</a:t>
            </a:r>
            <a:endParaRPr lang="en-US" sz="1250" dirty="0"/>
          </a:p>
        </p:txBody>
      </p:sp>
      <p:sp>
        <p:nvSpPr>
          <p:cNvPr id="23" name="Shape 20"/>
          <p:cNvSpPr/>
          <p:nvPr/>
        </p:nvSpPr>
        <p:spPr>
          <a:xfrm>
            <a:off x="457200" y="4526280"/>
            <a:ext cx="11292840" cy="1517904"/>
          </a:xfrm>
          <a:prstGeom prst="roundRect">
            <a:avLst>
              <a:gd name="adj" fmla="val 6024"/>
            </a:avLst>
          </a:prstGeom>
          <a:solidFill>
            <a:srgbClr val="FCE4EC"/>
          </a:solidFill>
          <a:ln w="19050">
            <a:solidFill>
              <a:srgbClr val="990033"/>
            </a:solidFill>
            <a:prstDash val="solid"/>
          </a:ln>
        </p:spPr>
      </p:sp>
      <p:sp>
        <p:nvSpPr>
          <p:cNvPr id="24" name="Text 21"/>
          <p:cNvSpPr/>
          <p:nvPr/>
        </p:nvSpPr>
        <p:spPr>
          <a:xfrm>
            <a:off x="566928" y="4599432"/>
            <a:ext cx="11073384"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Goal of the Inductive Step: Prove P(k+1)</a:t>
            </a:r>
            <a:endParaRPr lang="en-US" sz="1400" dirty="0"/>
          </a:p>
        </p:txBody>
      </p:sp>
      <p:sp>
        <p:nvSpPr>
          <p:cNvPr id="25" name="Text 22"/>
          <p:cNvSpPr/>
          <p:nvPr/>
        </p:nvSpPr>
        <p:spPr>
          <a:xfrm>
            <a:off x="566928" y="4983480"/>
            <a:ext cx="11073384" cy="100584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We need to show: 1 + 2 + ⋯ + k + (k+1)  =  </a:t>
            </a:r>
            <a:pPr indent="0" marL="0">
              <a:buNone/>
            </a:pPr>
            <a:r>
              <a:rPr lang="en-US" sz="1400" b="1" dirty="0">
                <a:solidFill>
                  <a:srgbClr val="990033"/>
                </a:solidFill>
                <a:latin typeface="Arial" pitchFamily="34" charset="0"/>
                <a:ea typeface="Arial" pitchFamily="34" charset="-122"/>
                <a:cs typeface="Arial" pitchFamily="34" charset="-120"/>
              </a:rPr>
              <a:t>(k+1)(k+2)/2</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Completing the Inductive Proof</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84048"/>
          </a:xfrm>
          <a:prstGeom prst="rect">
            <a:avLst/>
          </a:prstGeom>
          <a:noFill/>
          <a:ln/>
        </p:spPr>
        <p:txBody>
          <a:bodyPr wrap="square" rtlCol="0" anchor="ctr"/>
          <a:lstStyle/>
          <a:p>
            <a:pPr indent="0" marL="0">
              <a:buNone/>
            </a:pPr>
            <a:r>
              <a:rPr lang="en-US" sz="1400" b="1" dirty="0">
                <a:solidFill>
                  <a:srgbClr val="990033"/>
                </a:solidFill>
                <a:latin typeface="Arial" pitchFamily="34" charset="0"/>
                <a:ea typeface="Arial" pitchFamily="34" charset="-122"/>
                <a:cs typeface="Arial" pitchFamily="34" charset="-120"/>
              </a:rPr>
              <a:t>We prove P(k+1):  1 + 2 + ⋯ + k + (k+1)  =  (k+1)(k+2)/2</a:t>
            </a:r>
            <a:endParaRPr lang="en-US" sz="1400" dirty="0"/>
          </a:p>
        </p:txBody>
      </p:sp>
      <p:sp>
        <p:nvSpPr>
          <p:cNvPr id="16" name="Shape 13"/>
          <p:cNvSpPr/>
          <p:nvPr/>
        </p:nvSpPr>
        <p:spPr>
          <a:xfrm>
            <a:off x="457200" y="2057400"/>
            <a:ext cx="11292840" cy="731520"/>
          </a:xfrm>
          <a:prstGeom prst="roundRect">
            <a:avLst>
              <a:gd name="adj" fmla="val 10000"/>
            </a:avLst>
          </a:prstGeom>
          <a:solidFill>
            <a:srgbClr val="F8F8F8"/>
          </a:solidFill>
          <a:ln w="12700">
            <a:solidFill>
              <a:srgbClr val="CCCCCC"/>
            </a:solidFill>
            <a:prstDash val="solid"/>
          </a:ln>
        </p:spPr>
      </p:sp>
      <p:sp>
        <p:nvSpPr>
          <p:cNvPr id="17" name="Text 14"/>
          <p:cNvSpPr/>
          <p:nvPr/>
        </p:nvSpPr>
        <p:spPr>
          <a:xfrm>
            <a:off x="566928" y="2130552"/>
            <a:ext cx="11073384" cy="585216"/>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Start:  </a:t>
            </a:r>
            <a:pPr indent="0" marL="0">
              <a:buNone/>
            </a:pPr>
            <a:r>
              <a:rPr lang="en-US" sz="1350" dirty="0">
                <a:solidFill>
                  <a:srgbClr val="000000"/>
                </a:solidFill>
                <a:latin typeface="Arial" pitchFamily="34" charset="0"/>
                <a:ea typeface="Arial" pitchFamily="34" charset="-122"/>
                <a:cs typeface="Arial" pitchFamily="34" charset="-120"/>
              </a:rPr>
              <a:t>1 + 2 + ⋯ + k + (k+1)</a:t>
            </a:r>
            <a:pPr indent="0" marL="0">
              <a:buNone/>
            </a:pPr>
            <a:r>
              <a:rPr lang="en-US" sz="1100" i="1" dirty="0">
                <a:solidFill>
                  <a:srgbClr val="555555"/>
                </a:solidFill>
                <a:latin typeface="Arial" pitchFamily="34" charset="0"/>
                <a:ea typeface="Arial" pitchFamily="34" charset="-122"/>
                <a:cs typeface="Arial" pitchFamily="34" charset="-120"/>
              </a:rPr>
              <a:t>    (The left-hand side of P(k+1))</a:t>
            </a:r>
            <a:endParaRPr lang="en-US" sz="1350" dirty="0"/>
          </a:p>
        </p:txBody>
      </p:sp>
      <p:sp>
        <p:nvSpPr>
          <p:cNvPr id="18" name="Shape 15"/>
          <p:cNvSpPr/>
          <p:nvPr/>
        </p:nvSpPr>
        <p:spPr>
          <a:xfrm>
            <a:off x="457200" y="2862072"/>
            <a:ext cx="11292840" cy="731520"/>
          </a:xfrm>
          <a:prstGeom prst="roundRect">
            <a:avLst>
              <a:gd name="adj" fmla="val 10000"/>
            </a:avLst>
          </a:prstGeom>
          <a:solidFill>
            <a:srgbClr val="E3F2FD"/>
          </a:solidFill>
          <a:ln w="12700">
            <a:solidFill>
              <a:srgbClr val="CCCCCC"/>
            </a:solidFill>
            <a:prstDash val="solid"/>
          </a:ln>
        </p:spPr>
      </p:sp>
      <p:sp>
        <p:nvSpPr>
          <p:cNvPr id="19" name="Text 16"/>
          <p:cNvSpPr/>
          <p:nvPr/>
        </p:nvSpPr>
        <p:spPr>
          <a:xfrm>
            <a:off x="566928" y="2935224"/>
            <a:ext cx="11073384" cy="585216"/>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Group the first k terms:  </a:t>
            </a:r>
            <a:pPr indent="0" marL="0">
              <a:buNone/>
            </a:pPr>
            <a:r>
              <a:rPr lang="en-US" sz="1350" dirty="0">
                <a:solidFill>
                  <a:srgbClr val="000000"/>
                </a:solidFill>
                <a:latin typeface="Arial" pitchFamily="34" charset="0"/>
                <a:ea typeface="Arial" pitchFamily="34" charset="-122"/>
                <a:cs typeface="Arial" pitchFamily="34" charset="-120"/>
              </a:rPr>
              <a:t>= [ 1 + 2 + ⋯ + k ]  +  (k+1)</a:t>
            </a:r>
            <a:pPr indent="0" marL="0">
              <a:buNone/>
            </a:pPr>
            <a:r>
              <a:rPr lang="en-US" sz="1100" i="1" dirty="0">
                <a:solidFill>
                  <a:srgbClr val="555555"/>
                </a:solidFill>
                <a:latin typeface="Arial" pitchFamily="34" charset="0"/>
                <a:ea typeface="Arial" pitchFamily="34" charset="-122"/>
                <a:cs typeface="Arial" pitchFamily="34" charset="-120"/>
              </a:rPr>
              <a:t>    (Separate the last term)</a:t>
            </a:r>
            <a:endParaRPr lang="en-US" sz="1350" dirty="0"/>
          </a:p>
        </p:txBody>
      </p:sp>
      <p:sp>
        <p:nvSpPr>
          <p:cNvPr id="20" name="Shape 17"/>
          <p:cNvSpPr/>
          <p:nvPr/>
        </p:nvSpPr>
        <p:spPr>
          <a:xfrm>
            <a:off x="457200" y="3666744"/>
            <a:ext cx="11292840" cy="731520"/>
          </a:xfrm>
          <a:prstGeom prst="roundRect">
            <a:avLst>
              <a:gd name="adj" fmla="val 10000"/>
            </a:avLst>
          </a:prstGeom>
          <a:solidFill>
            <a:srgbClr val="E8F5E9"/>
          </a:solidFill>
          <a:ln w="12700">
            <a:solidFill>
              <a:srgbClr val="CCCCCC"/>
            </a:solidFill>
            <a:prstDash val="solid"/>
          </a:ln>
        </p:spPr>
      </p:sp>
      <p:sp>
        <p:nvSpPr>
          <p:cNvPr id="21" name="Text 18"/>
          <p:cNvSpPr/>
          <p:nvPr/>
        </p:nvSpPr>
        <p:spPr>
          <a:xfrm>
            <a:off x="566928" y="3739896"/>
            <a:ext cx="11073384" cy="585216"/>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Apply the IH:  </a:t>
            </a:r>
            <a:pPr indent="0" marL="0">
              <a:buNone/>
            </a:pPr>
            <a:r>
              <a:rPr lang="en-US" sz="1350" dirty="0">
                <a:solidFill>
                  <a:srgbClr val="000000"/>
                </a:solidFill>
                <a:latin typeface="Arial" pitchFamily="34" charset="0"/>
                <a:ea typeface="Arial" pitchFamily="34" charset="-122"/>
                <a:cs typeface="Arial" pitchFamily="34" charset="-120"/>
              </a:rPr>
              <a:t>= k(k+1)/2  +  (k+1)</a:t>
            </a:r>
            <a:pPr indent="0" marL="0">
              <a:buNone/>
            </a:pPr>
            <a:r>
              <a:rPr lang="en-US" sz="1100" i="1" dirty="0">
                <a:solidFill>
                  <a:srgbClr val="555555"/>
                </a:solidFill>
                <a:latin typeface="Arial" pitchFamily="34" charset="0"/>
                <a:ea typeface="Arial" pitchFamily="34" charset="-122"/>
                <a:cs typeface="Arial" pitchFamily="34" charset="-120"/>
              </a:rPr>
              <a:t>    (IH says the bracket = k(k+1)/2)</a:t>
            </a:r>
            <a:endParaRPr lang="en-US" sz="1350" dirty="0"/>
          </a:p>
        </p:txBody>
      </p:sp>
      <p:sp>
        <p:nvSpPr>
          <p:cNvPr id="22" name="Shape 19"/>
          <p:cNvSpPr/>
          <p:nvPr/>
        </p:nvSpPr>
        <p:spPr>
          <a:xfrm>
            <a:off x="457200" y="4471416"/>
            <a:ext cx="11292840" cy="731520"/>
          </a:xfrm>
          <a:prstGeom prst="roundRect">
            <a:avLst>
              <a:gd name="adj" fmla="val 10000"/>
            </a:avLst>
          </a:prstGeom>
          <a:solidFill>
            <a:srgbClr val="FFF9C4"/>
          </a:solidFill>
          <a:ln w="12700">
            <a:solidFill>
              <a:srgbClr val="CCCCCC"/>
            </a:solidFill>
            <a:prstDash val="solid"/>
          </a:ln>
        </p:spPr>
      </p:sp>
      <p:sp>
        <p:nvSpPr>
          <p:cNvPr id="23" name="Text 20"/>
          <p:cNvSpPr/>
          <p:nvPr/>
        </p:nvSpPr>
        <p:spPr>
          <a:xfrm>
            <a:off x="566928" y="4544568"/>
            <a:ext cx="11073384" cy="585216"/>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Factor out (k+1):  </a:t>
            </a:r>
            <a:pPr indent="0" marL="0">
              <a:buNone/>
            </a:pPr>
            <a:r>
              <a:rPr lang="en-US" sz="1350" dirty="0">
                <a:solidFill>
                  <a:srgbClr val="000000"/>
                </a:solidFill>
                <a:latin typeface="Arial" pitchFamily="34" charset="0"/>
                <a:ea typeface="Arial" pitchFamily="34" charset="-122"/>
                <a:cs typeface="Arial" pitchFamily="34" charset="-120"/>
              </a:rPr>
              <a:t>= (k+1) × [ k/2 + 1 ]</a:t>
            </a:r>
            <a:pPr indent="0" marL="0">
              <a:buNone/>
            </a:pPr>
            <a:r>
              <a:rPr lang="en-US" sz="1100" i="1" dirty="0">
                <a:solidFill>
                  <a:srgbClr val="555555"/>
                </a:solidFill>
                <a:latin typeface="Arial" pitchFamily="34" charset="0"/>
                <a:ea typeface="Arial" pitchFamily="34" charset="-122"/>
                <a:cs typeface="Arial" pitchFamily="34" charset="-120"/>
              </a:rPr>
              <a:t>    (Common factor)</a:t>
            </a:r>
            <a:endParaRPr lang="en-US" sz="1350" dirty="0"/>
          </a:p>
        </p:txBody>
      </p:sp>
      <p:sp>
        <p:nvSpPr>
          <p:cNvPr id="24" name="Shape 21"/>
          <p:cNvSpPr/>
          <p:nvPr/>
        </p:nvSpPr>
        <p:spPr>
          <a:xfrm>
            <a:off x="457200" y="5276088"/>
            <a:ext cx="11292840" cy="731520"/>
          </a:xfrm>
          <a:prstGeom prst="roundRect">
            <a:avLst>
              <a:gd name="adj" fmla="val 10000"/>
            </a:avLst>
          </a:prstGeom>
          <a:solidFill>
            <a:srgbClr val="FCE4EC"/>
          </a:solidFill>
          <a:ln w="12700">
            <a:solidFill>
              <a:srgbClr val="CCCCCC"/>
            </a:solidFill>
            <a:prstDash val="solid"/>
          </a:ln>
        </p:spPr>
      </p:sp>
      <p:sp>
        <p:nvSpPr>
          <p:cNvPr id="25" name="Text 22"/>
          <p:cNvSpPr/>
          <p:nvPr/>
        </p:nvSpPr>
        <p:spPr>
          <a:xfrm>
            <a:off x="566928" y="5349240"/>
            <a:ext cx="11073384" cy="585216"/>
          </a:xfrm>
          <a:prstGeom prst="rect">
            <a:avLst/>
          </a:prstGeom>
          <a:noFill/>
          <a:ln/>
        </p:spPr>
        <p:txBody>
          <a:bodyPr wrap="square" lIns="0" tIns="0" rIns="0" bIns="0" rtlCol="0" anchor="ctr"/>
          <a:lstStyle/>
          <a:p>
            <a:pPr indent="0" marL="0">
              <a:buNone/>
            </a:pPr>
            <a:r>
              <a:rPr lang="en-US" sz="1350" b="1" dirty="0">
                <a:solidFill>
                  <a:srgbClr val="990033"/>
                </a:solidFill>
                <a:latin typeface="Arial" pitchFamily="34" charset="0"/>
                <a:ea typeface="Arial" pitchFamily="34" charset="-122"/>
                <a:cs typeface="Arial" pitchFamily="34" charset="-120"/>
              </a:rPr>
              <a:t>Simplify:  </a:t>
            </a:r>
            <a:pPr indent="0" marL="0">
              <a:buNone/>
            </a:pPr>
            <a:r>
              <a:rPr lang="en-US" sz="1350" dirty="0">
                <a:solidFill>
                  <a:srgbClr val="000000"/>
                </a:solidFill>
                <a:latin typeface="Arial" pitchFamily="34" charset="0"/>
                <a:ea typeface="Arial" pitchFamily="34" charset="-122"/>
                <a:cs typeface="Arial" pitchFamily="34" charset="-120"/>
              </a:rPr>
              <a:t>= (k+1) × (k+2)/2  =  (k+1)(k+2)/2  ✔</a:t>
            </a:r>
            <a:pPr indent="0" marL="0">
              <a:buNone/>
            </a:pPr>
            <a:r>
              <a:rPr lang="en-US" sz="1100" i="1" dirty="0">
                <a:solidFill>
                  <a:srgbClr val="555555"/>
                </a:solidFill>
                <a:latin typeface="Arial" pitchFamily="34" charset="0"/>
                <a:ea typeface="Arial" pitchFamily="34" charset="-122"/>
                <a:cs typeface="Arial" pitchFamily="34" charset="-120"/>
              </a:rPr>
              <a:t>    (This is exactly P(k+1)!)</a:t>
            </a:r>
            <a:endParaRPr lang="en-US" sz="1350" dirty="0"/>
          </a:p>
        </p:txBody>
      </p:sp>
      <p:sp>
        <p:nvSpPr>
          <p:cNvPr id="26" name="Shape 23"/>
          <p:cNvSpPr/>
          <p:nvPr/>
        </p:nvSpPr>
        <p:spPr>
          <a:xfrm>
            <a:off x="457200" y="6071616"/>
            <a:ext cx="11292840" cy="621792"/>
          </a:xfrm>
          <a:prstGeom prst="roundRect">
            <a:avLst>
              <a:gd name="adj" fmla="val 14706"/>
            </a:avLst>
          </a:prstGeom>
          <a:solidFill>
            <a:srgbClr val="E8F5E9"/>
          </a:solidFill>
          <a:ln w="25400">
            <a:solidFill>
              <a:srgbClr val="009900"/>
            </a:solidFill>
            <a:prstDash val="solid"/>
          </a:ln>
        </p:spPr>
      </p:sp>
      <p:sp>
        <p:nvSpPr>
          <p:cNvPr id="27" name="Text 24"/>
          <p:cNvSpPr/>
          <p:nvPr/>
        </p:nvSpPr>
        <p:spPr>
          <a:xfrm>
            <a:off x="566928" y="6099048"/>
            <a:ext cx="11073384" cy="566928"/>
          </a:xfrm>
          <a:prstGeom prst="rect">
            <a:avLst/>
          </a:prstGeom>
          <a:noFill/>
          <a:ln/>
        </p:spPr>
        <p:txBody>
          <a:bodyPr wrap="square" lIns="0" tIns="0" rIns="0" bIns="0" rtlCol="0" anchor="ctr"/>
          <a:lstStyle/>
          <a:p>
            <a:pPr indent="0" marL="0">
              <a:buNone/>
            </a:pPr>
            <a:r>
              <a:rPr lang="en-US" sz="1250" b="1" dirty="0">
                <a:solidFill>
                  <a:srgbClr val="009900"/>
                </a:solidFill>
                <a:latin typeface="Arial" pitchFamily="34" charset="0"/>
                <a:ea typeface="Arial" pitchFamily="34" charset="-122"/>
                <a:cs typeface="Arial" pitchFamily="34" charset="-120"/>
              </a:rPr>
              <a:t>✔  CONCLUSION: Both steps are complete. By the Principle of Mathematical Induction, 1+2+⋯+n = n(n+1)/2  for ALL n ≥ 1.</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Strong Induction &amp; Applications</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66928"/>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Strong Induction </a:t>
            </a:r>
            <a:pPr indent="0" marL="0">
              <a:buNone/>
            </a:pPr>
            <a:r>
              <a:rPr lang="en-US" sz="1350" dirty="0">
                <a:solidFill>
                  <a:srgbClr val="000000"/>
                </a:solidFill>
                <a:latin typeface="Arial" pitchFamily="34" charset="0"/>
                <a:ea typeface="Arial" pitchFamily="34" charset="-122"/>
                <a:cs typeface="Arial" pitchFamily="34" charset="-120"/>
              </a:rPr>
              <a:t>(also called Complete Induction) assumes P(j) is true for ALL j ≤ k, not just P(k). This stronger hypothesis is needed when P(k+1) depends on multiple previous cases.</a:t>
            </a:r>
            <a:endParaRPr lang="en-US" sz="1350" dirty="0"/>
          </a:p>
        </p:txBody>
      </p:sp>
      <p:sp>
        <p:nvSpPr>
          <p:cNvPr id="16" name="Shape 13"/>
          <p:cNvSpPr/>
          <p:nvPr/>
        </p:nvSpPr>
        <p:spPr>
          <a:xfrm>
            <a:off x="457200" y="2240280"/>
            <a:ext cx="5532120" cy="1938528"/>
          </a:xfrm>
          <a:prstGeom prst="roundRect">
            <a:avLst>
              <a:gd name="adj" fmla="val 4717"/>
            </a:avLst>
          </a:prstGeom>
          <a:solidFill>
            <a:srgbClr val="E3F2FD"/>
          </a:solidFill>
          <a:ln w="19050">
            <a:solidFill>
              <a:srgbClr val="1565C0"/>
            </a:solidFill>
            <a:prstDash val="solid"/>
          </a:ln>
        </p:spPr>
      </p:sp>
      <p:sp>
        <p:nvSpPr>
          <p:cNvPr id="17" name="Text 14"/>
          <p:cNvSpPr/>
          <p:nvPr/>
        </p:nvSpPr>
        <p:spPr>
          <a:xfrm>
            <a:off x="566928" y="2313432"/>
            <a:ext cx="5321808"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Strong Induction Steps</a:t>
            </a:r>
            <a:endParaRPr lang="en-US" sz="1400" dirty="0"/>
          </a:p>
        </p:txBody>
      </p:sp>
      <p:sp>
        <p:nvSpPr>
          <p:cNvPr id="18" name="Text 15"/>
          <p:cNvSpPr/>
          <p:nvPr/>
        </p:nvSpPr>
        <p:spPr>
          <a:xfrm>
            <a:off x="566928" y="2697480"/>
            <a:ext cx="5321808" cy="14173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1. Base Case(s):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Prove P(1) [and possibly P(2), P(3), etc.]</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2. Strong IH:</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Assume P(j) is true for ALL j ≤ k</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3. Goal:</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Prove P(k+1) using any previous P(j), j ≤ k</a:t>
            </a:r>
            <a:endParaRPr lang="en-US" sz="1250" dirty="0"/>
          </a:p>
        </p:txBody>
      </p:sp>
      <p:sp>
        <p:nvSpPr>
          <p:cNvPr id="19" name="Shape 16"/>
          <p:cNvSpPr/>
          <p:nvPr/>
        </p:nvSpPr>
        <p:spPr>
          <a:xfrm>
            <a:off x="6035040" y="2240280"/>
            <a:ext cx="5715000" cy="1938528"/>
          </a:xfrm>
          <a:prstGeom prst="roundRect">
            <a:avLst>
              <a:gd name="adj" fmla="val 4717"/>
            </a:avLst>
          </a:prstGeom>
          <a:solidFill>
            <a:srgbClr val="FFF9C4"/>
          </a:solidFill>
          <a:ln w="19050">
            <a:solidFill>
              <a:srgbClr val="F57F17"/>
            </a:solidFill>
            <a:prstDash val="solid"/>
          </a:ln>
        </p:spPr>
      </p:sp>
      <p:sp>
        <p:nvSpPr>
          <p:cNvPr id="20" name="Text 17"/>
          <p:cNvSpPr/>
          <p:nvPr/>
        </p:nvSpPr>
        <p:spPr>
          <a:xfrm>
            <a:off x="6144768" y="2313432"/>
            <a:ext cx="5513832" cy="347472"/>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Example: Fundamental Theorem of Arithmetic</a:t>
            </a:r>
            <a:endParaRPr lang="en-US" sz="1300" dirty="0"/>
          </a:p>
        </p:txBody>
      </p:sp>
      <p:sp>
        <p:nvSpPr>
          <p:cNvPr id="21" name="Text 18"/>
          <p:cNvSpPr/>
          <p:nvPr/>
        </p:nvSpPr>
        <p:spPr>
          <a:xfrm>
            <a:off x="6144768" y="2697480"/>
            <a:ext cx="5513832" cy="141732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Theorem:</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Every integer n &gt; 1 is either prime or can be written as a product of primes.</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0000"/>
                </a:solidFill>
                <a:latin typeface="Arial" pitchFamily="34" charset="0"/>
                <a:ea typeface="Arial" pitchFamily="34" charset="-122"/>
                <a:cs typeface="Arial" pitchFamily="34" charset="-120"/>
              </a:rPr>
              <a:t>Why Strong Induction?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If n is composite, n = a×b where both a,b &lt; n. We need induction applied to BOTH a and b.</a:t>
            </a:r>
            <a:endParaRPr lang="en-US" sz="1200" dirty="0"/>
          </a:p>
        </p:txBody>
      </p:sp>
      <p:sp>
        <p:nvSpPr>
          <p:cNvPr id="22" name="Text 19"/>
          <p:cNvSpPr/>
          <p:nvPr/>
        </p:nvSpPr>
        <p:spPr>
          <a:xfrm>
            <a:off x="457200" y="4297680"/>
            <a:ext cx="11292840" cy="347472"/>
          </a:xfrm>
          <a:prstGeom prst="rect">
            <a:avLst/>
          </a:prstGeom>
          <a:noFill/>
          <a:ln/>
        </p:spPr>
        <p:txBody>
          <a:bodyPr wrap="square" rtlCol="0" anchor="ctr"/>
          <a:lstStyle/>
          <a:p>
            <a:pPr indent="0" marL="0">
              <a:buNone/>
            </a:pPr>
            <a:r>
              <a:rPr lang="en-US" sz="1400" b="1" dirty="0">
                <a:solidFill>
                  <a:srgbClr val="990033"/>
                </a:solidFill>
                <a:latin typeface="Arial" pitchFamily="34" charset="0"/>
                <a:ea typeface="Arial" pitchFamily="34" charset="-122"/>
                <a:cs typeface="Arial" pitchFamily="34" charset="-120"/>
              </a:rPr>
              <a:t>Applications in CS:</a:t>
            </a:r>
            <a:endParaRPr lang="en-US" sz="1400" dirty="0"/>
          </a:p>
        </p:txBody>
      </p:sp>
      <p:sp>
        <p:nvSpPr>
          <p:cNvPr id="23" name="Shape 20"/>
          <p:cNvSpPr/>
          <p:nvPr/>
        </p:nvSpPr>
        <p:spPr>
          <a:xfrm>
            <a:off x="457200" y="4700016"/>
            <a:ext cx="5532120" cy="749808"/>
          </a:xfrm>
          <a:prstGeom prst="roundRect">
            <a:avLst>
              <a:gd name="adj" fmla="val 9756"/>
            </a:avLst>
          </a:prstGeom>
          <a:solidFill>
            <a:srgbClr val="E8F5E9"/>
          </a:solidFill>
          <a:ln w="12700">
            <a:solidFill>
              <a:srgbClr val="009900"/>
            </a:solidFill>
            <a:prstDash val="solid"/>
          </a:ln>
        </p:spPr>
      </p:sp>
      <p:sp>
        <p:nvSpPr>
          <p:cNvPr id="24" name="Text 21"/>
          <p:cNvSpPr/>
          <p:nvPr/>
        </p:nvSpPr>
        <p:spPr>
          <a:xfrm>
            <a:off x="548640" y="4773168"/>
            <a:ext cx="5349240" cy="603504"/>
          </a:xfrm>
          <a:prstGeom prst="rect">
            <a:avLst/>
          </a:prstGeom>
          <a:noFill/>
          <a:ln/>
        </p:spPr>
        <p:txBody>
          <a:bodyPr wrap="square" lIns="0" tIns="0" rIns="0" bIns="0" rtlCol="0" anchor="ctr"/>
          <a:lstStyle/>
          <a:p>
            <a:pPr indent="0" marL="0">
              <a:buNone/>
            </a:pPr>
            <a:r>
              <a:rPr lang="en-US" sz="1150" b="1" dirty="0">
                <a:solidFill>
                  <a:srgbClr val="009900"/>
                </a:solidFill>
                <a:latin typeface="Arial" pitchFamily="34" charset="0"/>
                <a:ea typeface="Arial" pitchFamily="34" charset="-122"/>
                <a:cs typeface="Arial" pitchFamily="34" charset="-120"/>
              </a:rPr>
              <a:t>Algorithm Correctness:  </a:t>
            </a:r>
            <a:pPr indent="0" marL="0">
              <a:buNone/>
            </a:pPr>
            <a:r>
              <a:rPr lang="en-US" sz="1150" dirty="0">
                <a:solidFill>
                  <a:srgbClr val="000000"/>
                </a:solidFill>
                <a:latin typeface="Arial" pitchFamily="34" charset="0"/>
                <a:ea typeface="Arial" pitchFamily="34" charset="-122"/>
                <a:cs typeface="Arial" pitchFamily="34" charset="-120"/>
              </a:rPr>
              <a:t>Proving recursive algorithms (like Merge Sort, Binary Search) produce correct output for all inputs.</a:t>
            </a:r>
            <a:endParaRPr lang="en-US" sz="1150" dirty="0"/>
          </a:p>
        </p:txBody>
      </p:sp>
      <p:sp>
        <p:nvSpPr>
          <p:cNvPr id="25" name="Shape 22"/>
          <p:cNvSpPr/>
          <p:nvPr/>
        </p:nvSpPr>
        <p:spPr>
          <a:xfrm>
            <a:off x="6144768" y="4700016"/>
            <a:ext cx="5532120" cy="749808"/>
          </a:xfrm>
          <a:prstGeom prst="roundRect">
            <a:avLst>
              <a:gd name="adj" fmla="val 9756"/>
            </a:avLst>
          </a:prstGeom>
          <a:solidFill>
            <a:srgbClr val="E3F2FD"/>
          </a:solidFill>
          <a:ln w="12700">
            <a:solidFill>
              <a:srgbClr val="1565C0"/>
            </a:solidFill>
            <a:prstDash val="solid"/>
          </a:ln>
        </p:spPr>
      </p:sp>
      <p:sp>
        <p:nvSpPr>
          <p:cNvPr id="26" name="Text 23"/>
          <p:cNvSpPr/>
          <p:nvPr/>
        </p:nvSpPr>
        <p:spPr>
          <a:xfrm>
            <a:off x="6236208" y="4773168"/>
            <a:ext cx="5349240" cy="603504"/>
          </a:xfrm>
          <a:prstGeom prst="rect">
            <a:avLst/>
          </a:prstGeom>
          <a:noFill/>
          <a:ln/>
        </p:spPr>
        <p:txBody>
          <a:bodyPr wrap="square" lIns="0" tIns="0" rIns="0" bIns="0" rtlCol="0" anchor="ctr"/>
          <a:lstStyle/>
          <a:p>
            <a:pPr indent="0" marL="0">
              <a:buNone/>
            </a:pPr>
            <a:r>
              <a:rPr lang="en-US" sz="1150" b="1" dirty="0">
                <a:solidFill>
                  <a:srgbClr val="1565C0"/>
                </a:solidFill>
                <a:latin typeface="Arial" pitchFamily="34" charset="0"/>
                <a:ea typeface="Arial" pitchFamily="34" charset="-122"/>
                <a:cs typeface="Arial" pitchFamily="34" charset="-120"/>
              </a:rPr>
              <a:t>Complexity Proofs:  </a:t>
            </a:r>
            <a:pPr indent="0" marL="0">
              <a:buNone/>
            </a:pPr>
            <a:r>
              <a:rPr lang="en-US" sz="1150" dirty="0">
                <a:solidFill>
                  <a:srgbClr val="000000"/>
                </a:solidFill>
                <a:latin typeface="Arial" pitchFamily="34" charset="0"/>
                <a:ea typeface="Arial" pitchFamily="34" charset="-122"/>
                <a:cs typeface="Arial" pitchFamily="34" charset="-120"/>
              </a:rPr>
              <a:t>Proving that algorithms run in O(n log n) time uses recurrences solved by induction.</a:t>
            </a:r>
            <a:endParaRPr lang="en-US" sz="1150" dirty="0"/>
          </a:p>
        </p:txBody>
      </p:sp>
      <p:sp>
        <p:nvSpPr>
          <p:cNvPr id="27" name="Shape 24"/>
          <p:cNvSpPr/>
          <p:nvPr/>
        </p:nvSpPr>
        <p:spPr>
          <a:xfrm>
            <a:off x="457200" y="5559552"/>
            <a:ext cx="5532120" cy="749808"/>
          </a:xfrm>
          <a:prstGeom prst="roundRect">
            <a:avLst>
              <a:gd name="adj" fmla="val 9756"/>
            </a:avLst>
          </a:prstGeom>
          <a:solidFill>
            <a:srgbClr val="FCE4EC"/>
          </a:solidFill>
          <a:ln w="12700">
            <a:solidFill>
              <a:srgbClr val="990033"/>
            </a:solidFill>
            <a:prstDash val="solid"/>
          </a:ln>
        </p:spPr>
      </p:sp>
      <p:sp>
        <p:nvSpPr>
          <p:cNvPr id="28" name="Text 25"/>
          <p:cNvSpPr/>
          <p:nvPr/>
        </p:nvSpPr>
        <p:spPr>
          <a:xfrm>
            <a:off x="548640" y="5632704"/>
            <a:ext cx="5349240" cy="603504"/>
          </a:xfrm>
          <a:prstGeom prst="rect">
            <a:avLst/>
          </a:prstGeom>
          <a:noFill/>
          <a:ln/>
        </p:spPr>
        <p:txBody>
          <a:bodyPr wrap="square" lIns="0" tIns="0" rIns="0" bIns="0" rtlCol="0" anchor="ctr"/>
          <a:lstStyle/>
          <a:p>
            <a:pPr indent="0" marL="0">
              <a:buNone/>
            </a:pPr>
            <a:r>
              <a:rPr lang="en-US" sz="1150" b="1" dirty="0">
                <a:solidFill>
                  <a:srgbClr val="990033"/>
                </a:solidFill>
                <a:latin typeface="Arial" pitchFamily="34" charset="0"/>
                <a:ea typeface="Arial" pitchFamily="34" charset="-122"/>
                <a:cs typeface="Arial" pitchFamily="34" charset="-120"/>
              </a:rPr>
              <a:t>Data Structure Props:  </a:t>
            </a:r>
            <a:pPr indent="0" marL="0">
              <a:buNone/>
            </a:pPr>
            <a:r>
              <a:rPr lang="en-US" sz="1150" dirty="0">
                <a:solidFill>
                  <a:srgbClr val="000000"/>
                </a:solidFill>
                <a:latin typeface="Arial" pitchFamily="34" charset="0"/>
                <a:ea typeface="Arial" pitchFamily="34" charset="-122"/>
                <a:cs typeface="Arial" pitchFamily="34" charset="-120"/>
              </a:rPr>
              <a:t>Properties of heaps, trees, and balanced BSTs (height, node count) are proven by induction on height.</a:t>
            </a:r>
            <a:endParaRPr lang="en-US" sz="1150" dirty="0"/>
          </a:p>
        </p:txBody>
      </p:sp>
      <p:sp>
        <p:nvSpPr>
          <p:cNvPr id="29" name="Shape 26"/>
          <p:cNvSpPr/>
          <p:nvPr/>
        </p:nvSpPr>
        <p:spPr>
          <a:xfrm>
            <a:off x="6144768" y="5559552"/>
            <a:ext cx="5532120" cy="749808"/>
          </a:xfrm>
          <a:prstGeom prst="roundRect">
            <a:avLst>
              <a:gd name="adj" fmla="val 9756"/>
            </a:avLst>
          </a:prstGeom>
          <a:solidFill>
            <a:srgbClr val="FFF9C4"/>
          </a:solidFill>
          <a:ln w="12700">
            <a:solidFill>
              <a:srgbClr val="F57F17"/>
            </a:solidFill>
            <a:prstDash val="solid"/>
          </a:ln>
        </p:spPr>
      </p:sp>
      <p:sp>
        <p:nvSpPr>
          <p:cNvPr id="30" name="Text 27"/>
          <p:cNvSpPr/>
          <p:nvPr/>
        </p:nvSpPr>
        <p:spPr>
          <a:xfrm>
            <a:off x="6236208" y="5632704"/>
            <a:ext cx="5349240" cy="603504"/>
          </a:xfrm>
          <a:prstGeom prst="rect">
            <a:avLst/>
          </a:prstGeom>
          <a:noFill/>
          <a:ln/>
        </p:spPr>
        <p:txBody>
          <a:bodyPr wrap="square" lIns="0" tIns="0" rIns="0" bIns="0" rtlCol="0" anchor="ctr"/>
          <a:lstStyle/>
          <a:p>
            <a:pPr indent="0" marL="0">
              <a:buNone/>
            </a:pPr>
            <a:r>
              <a:rPr lang="en-US" sz="1150" b="1" dirty="0">
                <a:solidFill>
                  <a:srgbClr val="F57F17"/>
                </a:solidFill>
                <a:latin typeface="Arial" pitchFamily="34" charset="0"/>
                <a:ea typeface="Arial" pitchFamily="34" charset="-122"/>
                <a:cs typeface="Arial" pitchFamily="34" charset="-120"/>
              </a:rPr>
              <a:t>Formal Verification:  </a:t>
            </a:r>
            <a:pPr indent="0" marL="0">
              <a:buNone/>
            </a:pPr>
            <a:r>
              <a:rPr lang="en-US" sz="1150" dirty="0">
                <a:solidFill>
                  <a:srgbClr val="000000"/>
                </a:solidFill>
                <a:latin typeface="Arial" pitchFamily="34" charset="0"/>
                <a:ea typeface="Arial" pitchFamily="34" charset="-122"/>
                <a:cs typeface="Arial" pitchFamily="34" charset="-120"/>
              </a:rPr>
              <a:t>Proving that program loops maintain invariants — induction on iteration count guarantees correctness.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Department of Computer Science and Engineering</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Marri Laxman Reddy Institute of Technology and Management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2026-06-14T08:30:05Z</dcterms:created>
  <dcterms:modified xsi:type="dcterms:W3CDTF">2026-06-14T08:30:05Z</dcterms:modified>
</cp:coreProperties>
</file>