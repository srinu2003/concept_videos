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'Identifying a Research Problem' as part of the Research Methodology and IPR course for my M.Tech in Computer Science and Engineering. In this presentation, we will define what a research problem is, identify its key characteristics and sources, discuss common errors researchers make in selecting a problem, outline the systematic investigation lifecycle, and highlight practical applications in academic and industrial domains.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understanding what a research problem is. A research problem is a clear, precise expression of an area of concern, a gap or contradiction in existing literature, or a practical challenge that requires systematic investigation to solve. A well-formulated research problem must possess several key characteristics. It must be novel and original, meaning it addresses a genuine gap in knowledge and does not duplicate completed studies. It must be feasible, meaning it can be solved within standard constraints like time, budget, and available equipment. It must hold scientific or social value, offering practical or theoretical relevance to academia or industry. Additionally, it must have clear boundaries to ensure it remains manageable. We identify these problems through academic literature reviews, observing real-world engineering inefficiencies, tracking technological advancements, or testing established scientific theories in new, unexplored contexts.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 us discuss the common errors researchers make when selecting a research problem. The first classic error is choosing a topic that is too broad, such as 'Improving Cloud Database Uptime'. A single research project cannot solve such a massive, unconstrained problem; it must be narrowed to a specific query, layer, or mechanism. Conversely, choosing too narrow a topic, like optimizing database index lookups for a single local restaurant's local system, lacks general applicability and scientific value. Another common pitfall is overlooking resource constraints, such as selecting problems that require specialized hardware or supercomputers that are unavailable. Researchers must also avoid pre-conceived biases, ensuring they explore topics objectively. To address these issues, a researcher must plan their systematic investigation early, establishing protocols for data collection, analytical interpretation using statistical validation, and identifying the necessary software tools and hardware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scientific process of investigating a research problem proceeds through a structured, six-step lifecycle. The first step is to identify and define the problem, translating an area of concern into a specific, bounded research question. The second step is to construct hypotheses, formulating testable assertions about the relationships between variables. The third step is to design experiments, planning the test setup, control conditions, and target metrics. The fourth step is data collection, running code simulations, querying database testbeds, or gathering hardware logs systematically. The fifth step is to analyze and interpret the collected data, applying statistical modeling like regressions to process the results. Finally, the sixth step is to draw conclusions, determining if the hypotheses were validated, documenting limitations, and publishing the findings. This structured approach prevents research bias and ensures results are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Formulating a precise research problem is critical in academic and corporate domains. First, in research grant proposals, funding bodies like DST, UGC, or corporate foundations reject proposals with vague problem definitions. A clear, well-formulated problem statement is essential for securing research funding. Second, for graduate students, a clearly bounded, novel problem statement guarantees a clear direction for their master's or PhD thesis defense. Third, in corporate R&amp;D initiatives, technology companies frame R&amp;D goals as precise problems to guide engineering teams toward clear performance targets. Finally, patent offices require inventions to solve a specific technical problem in a non-obvious way, making a precise problem definition key to getting a patent granted.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formulating a clear and bounded research problem is the foundation of the scientific method. By avoiding common selection errors and following a systematic investigation flow, researchers can generate high-value, reproducible solutions that advance both science and industry. Thank you for your time, and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Research Problem Formulation</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Identifying a Research Problem</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Research Problem?</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Research Problem </a:t>
            </a:r>
            <a:pPr indent="0" marL="0">
              <a:buNone/>
            </a:pPr>
            <a:r>
              <a:rPr lang="en-US" sz="1400" dirty="0">
                <a:solidFill>
                  <a:srgbClr val="000000"/>
                </a:solidFill>
                <a:latin typeface="Arial" pitchFamily="34" charset="0"/>
                <a:ea typeface="Arial" pitchFamily="34" charset="-122"/>
                <a:cs typeface="Arial" pitchFamily="34" charset="-120"/>
              </a:rPr>
              <a:t>is a clear, precise expression of an area of concern, a gap or contradiction in literature, or a practical challenge that requires systematic investigation to solve.</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Characteristics of a Good Problem</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6400"/>
                </a:solidFill>
                <a:latin typeface="Arial" pitchFamily="34" charset="0"/>
                <a:ea typeface="Arial" pitchFamily="34" charset="-122"/>
                <a:cs typeface="Arial" pitchFamily="34" charset="-120"/>
              </a:rPr>
              <a:t>• Novelty &amp; Originality:</a:t>
            </a:r>
            <a:pPr indent="0" marL="0">
              <a:buNone/>
            </a:pPr>
            <a:r>
              <a:rPr lang="en-US" sz="1300" dirty="0">
                <a:solidFill>
                  <a:srgbClr val="000000"/>
                </a:solidFill>
                <a:latin typeface="Arial" pitchFamily="34" charset="0"/>
                <a:ea typeface="Arial" pitchFamily="34" charset="-122"/>
                <a:cs typeface="Arial" pitchFamily="34" charset="-120"/>
              </a:rPr>
              <a:t> Must address a genuine gap. Should not duplicate completed research.</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Feasibility &amp; Resources:</a:t>
            </a:r>
            <a:pPr indent="0" marL="0">
              <a:buNone/>
            </a:pPr>
            <a:r>
              <a:rPr lang="en-US" sz="1300" dirty="0">
                <a:solidFill>
                  <a:srgbClr val="000000"/>
                </a:solidFill>
                <a:latin typeface="Arial" pitchFamily="34" charset="0"/>
                <a:ea typeface="Arial" pitchFamily="34" charset="-122"/>
                <a:cs typeface="Arial" pitchFamily="34" charset="-120"/>
              </a:rPr>
              <a:t> Can be solved within standard constraints (time, budget, equipment).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Social &amp; Scientific Value:</a:t>
            </a:r>
            <a:pPr indent="0" marL="0">
              <a:buNone/>
            </a:pPr>
            <a:r>
              <a:rPr lang="en-US" sz="1300" dirty="0">
                <a:solidFill>
                  <a:srgbClr val="000000"/>
                </a:solidFill>
                <a:latin typeface="Arial" pitchFamily="34" charset="0"/>
                <a:ea typeface="Arial" pitchFamily="34" charset="-122"/>
                <a:cs typeface="Arial" pitchFamily="34" charset="-120"/>
              </a:rPr>
              <a:t> Practical or theoretical relevance, adding value to academia or industry.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Scope Boundary:</a:t>
            </a:r>
            <a:pPr indent="0" marL="0">
              <a:buNone/>
            </a:pPr>
            <a:r>
              <a:rPr lang="en-US" sz="1300" dirty="0">
                <a:solidFill>
                  <a:srgbClr val="000000"/>
                </a:solidFill>
                <a:latin typeface="Arial" pitchFamily="34" charset="0"/>
                <a:ea typeface="Arial" pitchFamily="34" charset="-122"/>
                <a:cs typeface="Arial" pitchFamily="34" charset="-120"/>
              </a:rPr>
              <a:t> Clearly bounded so it is manageable — avoiding topics that are too broad.</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Primary Sources of Research Problems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Literature Gaps:</a:t>
            </a:r>
            <a:pPr indent="0" marL="0">
              <a:buNone/>
            </a:pPr>
            <a:r>
              <a:rPr lang="en-US" sz="1300" dirty="0">
                <a:solidFill>
                  <a:srgbClr val="000000"/>
                </a:solidFill>
                <a:latin typeface="Arial" pitchFamily="34" charset="0"/>
                <a:ea typeface="Arial" pitchFamily="34" charset="-122"/>
                <a:cs typeface="Arial" pitchFamily="34" charset="-120"/>
              </a:rPr>
              <a:t> Contradictory findings in journals, recommendations for future study.</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Practical Challenges:</a:t>
            </a:r>
            <a:pPr indent="0" marL="0">
              <a:buNone/>
            </a:pPr>
            <a:r>
              <a:rPr lang="en-US" sz="1300" dirty="0">
                <a:solidFill>
                  <a:srgbClr val="000000"/>
                </a:solidFill>
                <a:latin typeface="Arial" pitchFamily="34" charset="0"/>
                <a:ea typeface="Arial" pitchFamily="34" charset="-122"/>
                <a:cs typeface="Arial" pitchFamily="34" charset="-120"/>
              </a:rPr>
              <a:t> Real-world engineering issues, system inefficiencies, or software bugs.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Technological Changes:</a:t>
            </a:r>
            <a:pPr indent="0" marL="0">
              <a:buNone/>
            </a:pPr>
            <a:r>
              <a:rPr lang="en-US" sz="1300" dirty="0">
                <a:solidFill>
                  <a:srgbClr val="000000"/>
                </a:solidFill>
                <a:latin typeface="Arial" pitchFamily="34" charset="0"/>
                <a:ea typeface="Arial" pitchFamily="34" charset="-122"/>
                <a:cs typeface="Arial" pitchFamily="34" charset="-120"/>
              </a:rPr>
              <a:t> New tools (AI, cloud) create fresh domains needing new research.</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Conceptual Theories:</a:t>
            </a:r>
            <a:pPr indent="0" marL="0">
              <a:buNone/>
            </a:pPr>
            <a:r>
              <a:rPr lang="en-US" sz="1300" dirty="0">
                <a:solidFill>
                  <a:srgbClr val="000000"/>
                </a:solidFill>
                <a:latin typeface="Arial" pitchFamily="34" charset="0"/>
                <a:ea typeface="Arial" pitchFamily="34" charset="-122"/>
                <a:cs typeface="Arial" pitchFamily="34" charset="-120"/>
              </a:rPr>
              <a:t> Testing established scientific theories in new, unexplored contexts.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Errors in Problem Selection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Researchers often commit classic errors when selecting and defining their research problem:</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Common Selection Errors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Choosing Too Broad a Topic:</a:t>
            </a:r>
            <a:pPr indent="0" marL="0">
              <a:buNone/>
            </a:pPr>
            <a:r>
              <a:rPr lang="en-US" sz="1300" dirty="0">
                <a:solidFill>
                  <a:srgbClr val="000000"/>
                </a:solidFill>
                <a:latin typeface="Arial" pitchFamily="34" charset="0"/>
                <a:ea typeface="Arial" pitchFamily="34" charset="-122"/>
                <a:cs typeface="Arial" pitchFamily="34" charset="-120"/>
              </a:rPr>
              <a:t> E.g., 'Improving Cloud Database Uptime'. A single research paper cannot solve this. It must be narrowed to a specific query, layer, or mechanism.</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Choosing Too Narrow a Topic:</a:t>
            </a:r>
            <a:pPr indent="0" marL="0">
              <a:buNone/>
            </a:pPr>
            <a:r>
              <a:rPr lang="en-US" sz="1300" dirty="0">
                <a:solidFill>
                  <a:srgbClr val="000000"/>
                </a:solidFill>
                <a:latin typeface="Arial" pitchFamily="34" charset="0"/>
                <a:ea typeface="Arial" pitchFamily="34" charset="-122"/>
                <a:cs typeface="Arial" pitchFamily="34" charset="-120"/>
              </a:rPr>
              <a:t> E.g., 'Optimizing database index lookups for one local restaurant system'. Lacks general applicability or scientific value.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Overlooking Constraints:</a:t>
            </a:r>
            <a:pPr indent="0" marL="0">
              <a:buNone/>
            </a:pPr>
            <a:r>
              <a:rPr lang="en-US" sz="1300" dirty="0">
                <a:solidFill>
                  <a:srgbClr val="000000"/>
                </a:solidFill>
                <a:latin typeface="Arial" pitchFamily="34" charset="0"/>
                <a:ea typeface="Arial" pitchFamily="34" charset="-122"/>
                <a:cs typeface="Arial" pitchFamily="34" charset="-120"/>
              </a:rPr>
              <a:t> Selecting problems requiring equipment (like supercomputers or specialized hardware) the university does not possess.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Pre-conceived Bias:</a:t>
            </a:r>
            <a:pPr indent="0" marL="0">
              <a:buNone/>
            </a:pPr>
            <a:r>
              <a:rPr lang="en-US" sz="1300" dirty="0">
                <a:solidFill>
                  <a:srgbClr val="000000"/>
                </a:solidFill>
                <a:latin typeface="Arial" pitchFamily="34" charset="0"/>
                <a:ea typeface="Arial" pitchFamily="34" charset="-122"/>
                <a:cs typeface="Arial" pitchFamily="34" charset="-120"/>
              </a:rPr>
              <a:t> Selecting a topic to prove a personal bias rather than exploring objectively.</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Approaches of Investigation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Systematic Data Collection:</a:t>
            </a:r>
            <a:pPr indent="0" marL="0">
              <a:buNone/>
            </a:pPr>
            <a:r>
              <a:rPr lang="en-US" sz="1300" dirty="0">
                <a:solidFill>
                  <a:srgbClr val="000000"/>
                </a:solidFill>
                <a:latin typeface="Arial" pitchFamily="34" charset="0"/>
                <a:ea typeface="Arial" pitchFamily="34" charset="-122"/>
                <a:cs typeface="Arial" pitchFamily="34" charset="-120"/>
              </a:rPr>
              <a:t> Formulating protocols to log experimental parameters or user metrics.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Analytical Interpretation:</a:t>
            </a:r>
            <a:pPr indent="0" marL="0">
              <a:buNone/>
            </a:pPr>
            <a:r>
              <a:rPr lang="en-US" sz="1300" dirty="0">
                <a:solidFill>
                  <a:srgbClr val="000000"/>
                </a:solidFill>
                <a:latin typeface="Arial" pitchFamily="34" charset="0"/>
                <a:ea typeface="Arial" pitchFamily="34" charset="-122"/>
                <a:cs typeface="Arial" pitchFamily="34" charset="-120"/>
              </a:rPr>
              <a:t> Applying statistical validation tests (t-tests, ANOVA) to verify if results are significant.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Instrumentation Requirements:</a:t>
            </a:r>
            <a:pPr indent="0" marL="0">
              <a:buNone/>
            </a:pPr>
            <a:r>
              <a:rPr lang="en-US" sz="1300" dirty="0">
                <a:solidFill>
                  <a:srgbClr val="000000"/>
                </a:solidFill>
                <a:latin typeface="Arial" pitchFamily="34" charset="0"/>
                <a:ea typeface="Arial" pitchFamily="34" charset="-122"/>
                <a:cs typeface="Arial" pitchFamily="34" charset="-120"/>
              </a:rPr>
              <a:t> Identifying the necessary software tools, datasets, and hardware metrics (e.g. CPU temperature, network latency) to measure results accurately.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Systematic Investigation Flow</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scientific process of investigating a research problem proceeds in six steps:</a:t>
            </a:r>
            <a:endParaRPr lang="en-US" sz="1400" dirty="0"/>
          </a:p>
        </p:txBody>
      </p:sp>
      <p:sp>
        <p:nvSpPr>
          <p:cNvPr id="16" name="Shape 13"/>
          <p:cNvSpPr/>
          <p:nvPr/>
        </p:nvSpPr>
        <p:spPr>
          <a:xfrm>
            <a:off x="457200" y="2103120"/>
            <a:ext cx="11292840" cy="4389120"/>
          </a:xfrm>
          <a:prstGeom prst="roundRect">
            <a:avLst>
              <a:gd name="adj" fmla="val 2083"/>
            </a:avLst>
          </a:prstGeom>
          <a:solidFill>
            <a:srgbClr val="E3F2FD"/>
          </a:solidFill>
          <a:ln w="19050">
            <a:solidFill>
              <a:srgbClr val="1565C0"/>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The Six Steps of Investigation</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1. Identify &amp; Define the Problem:</a:t>
            </a:r>
            <a:pPr indent="0" marL="0">
              <a:buNone/>
            </a:pPr>
            <a:r>
              <a:rPr lang="en-US" sz="1350" dirty="0">
                <a:solidFill>
                  <a:srgbClr val="000000"/>
                </a:solidFill>
                <a:latin typeface="Arial" pitchFamily="34" charset="0"/>
                <a:ea typeface="Arial" pitchFamily="34" charset="-122"/>
                <a:cs typeface="Arial" pitchFamily="34" charset="-120"/>
              </a:rPr>
              <a:t> Translate an area of concern into a specific, bounded research question.</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2. Construct Hypotheses:</a:t>
            </a:r>
            <a:pPr indent="0" marL="0">
              <a:buNone/>
            </a:pPr>
            <a:r>
              <a:rPr lang="en-US" sz="1350" dirty="0">
                <a:solidFill>
                  <a:srgbClr val="000000"/>
                </a:solidFill>
                <a:latin typeface="Arial" pitchFamily="34" charset="0"/>
                <a:ea typeface="Arial" pitchFamily="34" charset="-122"/>
                <a:cs typeface="Arial" pitchFamily="34" charset="-120"/>
              </a:rPr>
              <a:t> Formulate testable assertions about relationships between variables.</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3. Design Experiments:</a:t>
            </a:r>
            <a:pPr indent="0" marL="0">
              <a:buNone/>
            </a:pPr>
            <a:r>
              <a:rPr lang="en-US" sz="1350" dirty="0">
                <a:solidFill>
                  <a:srgbClr val="000000"/>
                </a:solidFill>
                <a:latin typeface="Arial" pitchFamily="34" charset="0"/>
                <a:ea typeface="Arial" pitchFamily="34" charset="-122"/>
                <a:cs typeface="Arial" pitchFamily="34" charset="-120"/>
              </a:rPr>
              <a:t> Plan the test setup, control conditions, and target metrics.</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4. Collect Data:</a:t>
            </a:r>
            <a:pPr indent="0" marL="0">
              <a:buNone/>
            </a:pPr>
            <a:r>
              <a:rPr lang="en-US" sz="1350" dirty="0">
                <a:solidFill>
                  <a:srgbClr val="000000"/>
                </a:solidFill>
                <a:latin typeface="Arial" pitchFamily="34" charset="0"/>
                <a:ea typeface="Arial" pitchFamily="34" charset="-122"/>
                <a:cs typeface="Arial" pitchFamily="34" charset="-120"/>
              </a:rPr>
              <a:t> Run code simulations, query database testbeds, or gather hardware logs systematically.</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5. Analyze &amp; Interpret:</a:t>
            </a:r>
            <a:pPr indent="0" marL="0">
              <a:buNone/>
            </a:pPr>
            <a:r>
              <a:rPr lang="en-US" sz="1350" dirty="0">
                <a:solidFill>
                  <a:srgbClr val="000000"/>
                </a:solidFill>
                <a:latin typeface="Arial" pitchFamily="34" charset="0"/>
                <a:ea typeface="Arial" pitchFamily="34" charset="-122"/>
                <a:cs typeface="Arial" pitchFamily="34" charset="-120"/>
              </a:rPr>
              <a:t> Apply statistical modeling (e.g., regressions) to process values.</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6. Draw Conclusions &amp; Publish:</a:t>
            </a:r>
            <a:pPr indent="0" marL="0">
              <a:buNone/>
            </a:pPr>
            <a:r>
              <a:rPr lang="en-US" sz="1350" dirty="0">
                <a:solidFill>
                  <a:srgbClr val="000000"/>
                </a:solidFill>
                <a:latin typeface="Arial" pitchFamily="34" charset="0"/>
                <a:ea typeface="Arial" pitchFamily="34" charset="-122"/>
                <a:cs typeface="Arial" pitchFamily="34" charset="-120"/>
              </a:rPr>
              <a:t> Determine if the hypotheses were validated. Document limitations and publish findings.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Problem Formulation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Formulating a precise research problem is critical in academic and corporate domains: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Research Grant Proposals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Funding bodies (e.g., DST, UGC, corporate foundations) reject proposals that have vague problem definitions. A clear, well-formulated problem statement is essential for securing research funding.</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Master's &amp; PhD Thesis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Students must defend their thesis topic choice before review committees. A clearly bounded, novel problem statement guarantees a clear direction for the research.</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Corporate R&amp;D Initiatives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Tech companies frame R&amp;D goals as precise problems (e.g., 'Reducing latency in distributed databases under 90% load'). Guides engineering teams towards clear performance targets.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Standardizing Patents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Patent offices require inventions to solve a specific 'technical problem' in a non-obvious way. A precise definition of the problem is key to getting a patent granted.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Research Methodology &amp; IPR</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2026-06-14T11:41:06Z</dcterms:created>
  <dcterms:modified xsi:type="dcterms:W3CDTF">2026-06-14T11:41:06Z</dcterms:modified>
</cp:coreProperties>
</file>