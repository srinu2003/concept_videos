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'Literature Review &amp; Research Ethics' as part of the Research Methodology and IPR course for my M.Tech in Computer Science and Engineering. In this presentation, we will discuss how to conduct effective literature reviews, examine the different forms of plagiarism and how to prevent them, outline research ethics and scientific misconduct, and discuss ethical standards in academic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by exploring effective literature studies. A literature review is a systematic search, analysis, and synthesis of published academic research. It provides background context, tracks prior studies, and identifies gaps for your project. The primary objectives are to map the domain, identify literature gaps, avoid duplication of work, and discover established research methodologies. A systematic review approach involves formulating keyword search queries for databases like IEEE Xplore, ACM Digital Library, and Google Scholar. Researchers must screen papers by title and abstract, select candidate papers for full reading, and synthesize the findings. It is crucial to focus on synthesis rather than summary: instead of simply listing papers, researchers should group them by themes, compare their approaches, and outline trends in a structured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 us discuss plagiarism, which is the appropriation of another person's ideas, processes, results, or words without giving appropriate credit. Plagiarism is a serious ethical violation and takes several forms. Direct plagiarism is a word-for-word copy of text from a source without quotation marks or citations. Paraphrased plagiarism involves copying ideas and rewriting sentences while keeping the original structure, without citation. Self-plagiarism is the re-use of one's own previously published code, text, or results in a new paper without citing the prior work. Mosaic plagiarism is patching together text from various sources, changing only a few words. To prevent plagiarism, researchers must always cite sources when referencing ideas, data, diagrams, or quotes, enclose exact copied phrases in quotation marks, and write original sentences. Additionally, manuscripts must be checked using tools like Turnitin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plagiarism, research ethics and scientific integrity require absolute honesty. Scientific misconduct includes data fabrication, which is making up fake experimental data, and data falsification, which is manipulating research equipment or omitting data points to support a desired conclusion. Selective reporting—reporting only successful runs while omitting failed attempts—is also unethical. Additionally, failing to disclose financial backing or relationships that could bias findings represents a conflict of interest. Publication standards also dictate authorship ethics, requiring that only individuals who made significant contributions to the design, execution, or writing be included. Duplicate submission—submitting the same paper to multiple journals simultaneously—is strictly prohibited, and peer reviewers must evaluate papers objectively, keep content confidential, and declare any conflicts of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guidelines and literature review standards are checked throughout the publishing cycle. In journal peer review, reviewers check the literature review section to ensure the researcher has cited the latest advances and mapped the field correctly. Graduate schools run thesis submissions through plagiarism checkers, and students must pass strict similarity thresholds to graduate. Journals retract published papers if fabrication, falsification, or plagiarism is exposed, which permanently damages the author's reputation and funding. Lastly, modern open-science telemetry requires uploading raw data and code alongside the manuscript, enabling public replication and verifying findings. Adhering to these standards ensures your research is valid and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conducting a systematic literature review and maintaining strict ethical standards are essential for the credibility of scientific research. By preventing plagiarism and avoiding scientific misconduct, we protect the integrity of the academic record. Thank you for your attention, and I am ready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 Literature Studies &amp; Ethics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Literature Review &amp; Research Ethics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Effective Literature Studies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Literature Review </a:t>
            </a:r>
            <a:pPr indent="0" marL="0">
              <a:buNone/>
            </a:pPr>
            <a:r>
              <a:rPr lang="en-US" sz="1400" dirty="0">
                <a:solidFill>
                  <a:srgbClr val="000000"/>
                </a:solidFill>
                <a:latin typeface="Arial" pitchFamily="34" charset="0"/>
                <a:ea typeface="Arial" pitchFamily="34" charset="-122"/>
                <a:cs typeface="Arial" pitchFamily="34" charset="-120"/>
              </a:rPr>
              <a:t>is a systematic search, analysis, and synthesis of published academic research. It provides background context, tracks prior studies, and identifies gaps for your project.</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Objectives of Literature Review</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Map the Domain:</a:t>
            </a:r>
            <a:pPr indent="0" marL="0">
              <a:buNone/>
            </a:pPr>
            <a:r>
              <a:rPr lang="en-US" sz="1300" dirty="0">
                <a:solidFill>
                  <a:srgbClr val="000000"/>
                </a:solidFill>
                <a:latin typeface="Arial" pitchFamily="34" charset="0"/>
                <a:ea typeface="Arial" pitchFamily="34" charset="-122"/>
                <a:cs typeface="Arial" pitchFamily="34" charset="-120"/>
              </a:rPr>
              <a:t> Understand the historical development and current state of research in the field.</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Identify Gaps:</a:t>
            </a:r>
            <a:pPr indent="0" marL="0">
              <a:buNone/>
            </a:pPr>
            <a:r>
              <a:rPr lang="en-US" sz="1300" dirty="0">
                <a:solidFill>
                  <a:srgbClr val="000000"/>
                </a:solidFill>
                <a:latin typeface="Arial" pitchFamily="34" charset="0"/>
                <a:ea typeface="Arial" pitchFamily="34" charset="-122"/>
                <a:cs typeface="Arial" pitchFamily="34" charset="-120"/>
              </a:rPr>
              <a:t> Locate contradictions, limitations, or unaddressed areas in prior studies.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Avoid Duplication:</a:t>
            </a:r>
            <a:pPr indent="0" marL="0">
              <a:buNone/>
            </a:pPr>
            <a:r>
              <a:rPr lang="en-US" sz="1300" dirty="0">
                <a:solidFill>
                  <a:srgbClr val="000000"/>
                </a:solidFill>
                <a:latin typeface="Arial" pitchFamily="34" charset="0"/>
                <a:ea typeface="Arial" pitchFamily="34" charset="-122"/>
                <a:cs typeface="Arial" pitchFamily="34" charset="-120"/>
              </a:rPr>
              <a:t> Verify that your proposed solution has not already been published.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Find Methodologies:</a:t>
            </a:r>
            <a:pPr indent="0" marL="0">
              <a:buNone/>
            </a:pPr>
            <a:r>
              <a:rPr lang="en-US" sz="1300" dirty="0">
                <a:solidFill>
                  <a:srgbClr val="000000"/>
                </a:solidFill>
                <a:latin typeface="Arial" pitchFamily="34" charset="0"/>
                <a:ea typeface="Arial" pitchFamily="34" charset="-122"/>
                <a:cs typeface="Arial" pitchFamily="34" charset="-120"/>
              </a:rPr>
              <a:t> Learn from experimental setups, database testbeds, and statistical techniques used by others.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8F5E9"/>
          </a:solidFill>
          <a:ln w="19050">
            <a:solidFill>
              <a:srgbClr val="0099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Systematic Review Approach</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Keyword Search:</a:t>
            </a:r>
            <a:pPr indent="0" marL="0">
              <a:buNone/>
            </a:pPr>
            <a:r>
              <a:rPr lang="en-US" sz="1300" dirty="0">
                <a:solidFill>
                  <a:srgbClr val="000000"/>
                </a:solidFill>
                <a:latin typeface="Arial" pitchFamily="34" charset="0"/>
                <a:ea typeface="Arial" pitchFamily="34" charset="-122"/>
                <a:cs typeface="Arial" pitchFamily="34" charset="-120"/>
              </a:rPr>
              <a:t> Formulate queries for databases like IEEE Xplore, ACM Digital Library, Google Scholar.</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Filtering &amp; Screening:</a:t>
            </a:r>
            <a:pPr indent="0" marL="0">
              <a:buNone/>
            </a:pPr>
            <a:r>
              <a:rPr lang="en-US" sz="1300" dirty="0">
                <a:solidFill>
                  <a:srgbClr val="000000"/>
                </a:solidFill>
                <a:latin typeface="Arial" pitchFamily="34" charset="0"/>
                <a:ea typeface="Arial" pitchFamily="34" charset="-122"/>
                <a:cs typeface="Arial" pitchFamily="34" charset="-120"/>
              </a:rPr>
              <a:t> Screen papers by title, abstract, and then select candidate papers for full reading.</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Synthesis vs. Summary:</a:t>
            </a:r>
            <a:pPr indent="0" marL="0">
              <a:buNone/>
            </a:pPr>
            <a:r>
              <a:rPr lang="en-US" sz="1300" dirty="0">
                <a:solidFill>
                  <a:srgbClr val="000000"/>
                </a:solidFill>
                <a:latin typeface="Arial" pitchFamily="34" charset="0"/>
                <a:ea typeface="Arial" pitchFamily="34" charset="-122"/>
                <a:cs typeface="Arial" pitchFamily="34" charset="-120"/>
              </a:rPr>
              <a:t> Avoid simply listing papers. Group them by themes, compare their approaches, and outline trends in a structured synthesis.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Plagiarism in Research</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Plagiarism is the appropriation of another person's ideas, processes, results, or words without giving appropriate credit:</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Forms of Plagiarism</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Direct Plagiarism:</a:t>
            </a:r>
            <a:pPr indent="0" marL="0">
              <a:buNone/>
            </a:pPr>
            <a:r>
              <a:rPr lang="en-US" sz="1300" dirty="0">
                <a:solidFill>
                  <a:srgbClr val="000000"/>
                </a:solidFill>
                <a:latin typeface="Arial" pitchFamily="34" charset="0"/>
                <a:ea typeface="Arial" pitchFamily="34" charset="-122"/>
                <a:cs typeface="Arial" pitchFamily="34" charset="-120"/>
              </a:rPr>
              <a:t> Word-for-word copy of text from a source without quotation marks or citations.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Paraphrased Plagiarism:</a:t>
            </a:r>
            <a:pPr indent="0" marL="0">
              <a:buNone/>
            </a:pPr>
            <a:r>
              <a:rPr lang="en-US" sz="1300" dirty="0">
                <a:solidFill>
                  <a:srgbClr val="000000"/>
                </a:solidFill>
                <a:latin typeface="Arial" pitchFamily="34" charset="0"/>
                <a:ea typeface="Arial" pitchFamily="34" charset="-122"/>
                <a:cs typeface="Arial" pitchFamily="34" charset="-120"/>
              </a:rPr>
              <a:t> Copying ideas and rewriting sentences while keeping the original structure, without citation.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Self-Plagiarism (Duplicate Publication):</a:t>
            </a:r>
            <a:pPr indent="0" marL="0">
              <a:buNone/>
            </a:pPr>
            <a:r>
              <a:rPr lang="en-US" sz="1300" dirty="0">
                <a:solidFill>
                  <a:srgbClr val="000000"/>
                </a:solidFill>
                <a:latin typeface="Arial" pitchFamily="34" charset="0"/>
                <a:ea typeface="Arial" pitchFamily="34" charset="-122"/>
                <a:cs typeface="Arial" pitchFamily="34" charset="-120"/>
              </a:rPr>
              <a:t> Re-using your own previously published code, text, or results in a new paper without citing the prior work.</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Mosaic Plagiarism:</a:t>
            </a:r>
            <a:pPr indent="0" marL="0">
              <a:buNone/>
            </a:pPr>
            <a:r>
              <a:rPr lang="en-US" sz="1300" dirty="0">
                <a:solidFill>
                  <a:srgbClr val="000000"/>
                </a:solidFill>
                <a:latin typeface="Arial" pitchFamily="34" charset="0"/>
                <a:ea typeface="Arial" pitchFamily="34" charset="-122"/>
                <a:cs typeface="Arial" pitchFamily="34" charset="-120"/>
              </a:rPr>
              <a:t> Patching together text from various sources, changing only a few words.</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Prevention &amp; Detection</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006400"/>
                </a:solidFill>
                <a:latin typeface="Arial" pitchFamily="34" charset="0"/>
                <a:ea typeface="Arial" pitchFamily="34" charset="-122"/>
                <a:cs typeface="Arial" pitchFamily="34" charset="-120"/>
              </a:rPr>
              <a:t>• Proper Citation:</a:t>
            </a:r>
            <a:pPr indent="0" marL="0">
              <a:buNone/>
            </a:pPr>
            <a:r>
              <a:rPr lang="en-US" sz="1250" dirty="0">
                <a:solidFill>
                  <a:srgbClr val="000000"/>
                </a:solidFill>
                <a:latin typeface="Arial" pitchFamily="34" charset="0"/>
                <a:ea typeface="Arial" pitchFamily="34" charset="-122"/>
                <a:cs typeface="Arial" pitchFamily="34" charset="-120"/>
              </a:rPr>
              <a:t> Always cite the source when referencing ideas, data, diagrams, or quotes.</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Use Quotation Marks:</a:t>
            </a:r>
            <a:pPr indent="0" marL="0">
              <a:buNone/>
            </a:pPr>
            <a:r>
              <a:rPr lang="en-US" sz="1250" dirty="0">
                <a:solidFill>
                  <a:srgbClr val="000000"/>
                </a:solidFill>
                <a:latin typeface="Arial" pitchFamily="34" charset="0"/>
                <a:ea typeface="Arial" pitchFamily="34" charset="-122"/>
                <a:cs typeface="Arial" pitchFamily="34" charset="-120"/>
              </a:rPr>
              <a:t> Enclose exact copied phrases in quotes.</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Paraphrase properly:</a:t>
            </a:r>
            <a:pPr indent="0" marL="0">
              <a:buNone/>
            </a:pPr>
            <a:r>
              <a:rPr lang="en-US" sz="1250" dirty="0">
                <a:solidFill>
                  <a:srgbClr val="000000"/>
                </a:solidFill>
                <a:latin typeface="Arial" pitchFamily="34" charset="0"/>
                <a:ea typeface="Arial" pitchFamily="34" charset="-122"/>
                <a:cs typeface="Arial" pitchFamily="34" charset="-120"/>
              </a:rPr>
              <a:t> Synthesize ideas in your own words and write original sentences.</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Checker Tools:</a:t>
            </a:r>
            <a:pPr indent="0" marL="0">
              <a:buNone/>
            </a:pPr>
            <a:r>
              <a:rPr lang="en-US" sz="1250" dirty="0">
                <a:solidFill>
                  <a:srgbClr val="000000"/>
                </a:solidFill>
                <a:latin typeface="Arial" pitchFamily="34" charset="0"/>
                <a:ea typeface="Arial" pitchFamily="34" charset="-122"/>
                <a:cs typeface="Arial" pitchFamily="34" charset="-120"/>
              </a:rPr>
              <a:t> Run manuscripts through checker tools (e.g. Turnitin, iThenticate) before submission. Academic journals reject papers exceeding strict similarity limits (typically 10-15%).</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Research Ethics &amp; Integrity</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Ethical guidelines protect the integrity of the scientific record and researchers:</a:t>
            </a:r>
            <a:endParaRPr lang="en-US" sz="1400" dirty="0"/>
          </a:p>
        </p:txBody>
      </p:sp>
      <p:sp>
        <p:nvSpPr>
          <p:cNvPr id="16" name="Shape 13"/>
          <p:cNvSpPr/>
          <p:nvPr/>
        </p:nvSpPr>
        <p:spPr>
          <a:xfrm>
            <a:off x="457200" y="2103120"/>
            <a:ext cx="5394960" cy="4114800"/>
          </a:xfrm>
          <a:prstGeom prst="roundRect">
            <a:avLst>
              <a:gd name="adj" fmla="val 2222"/>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Scientific Misconduct</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Data Fabrication:</a:t>
            </a:r>
            <a:pPr indent="0" marL="0">
              <a:buNone/>
            </a:pPr>
            <a:r>
              <a:rPr lang="en-US" sz="1300" dirty="0">
                <a:solidFill>
                  <a:srgbClr val="000000"/>
                </a:solidFill>
                <a:latin typeface="Arial" pitchFamily="34" charset="0"/>
                <a:ea typeface="Arial" pitchFamily="34" charset="-122"/>
                <a:cs typeface="Arial" pitchFamily="34" charset="-120"/>
              </a:rPr>
              <a:t> Making up fake experimental data or results and recording them as real.</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Data Falsification:</a:t>
            </a:r>
            <a:pPr indent="0" marL="0">
              <a:buNone/>
            </a:pPr>
            <a:r>
              <a:rPr lang="en-US" sz="1300" dirty="0">
                <a:solidFill>
                  <a:srgbClr val="000000"/>
                </a:solidFill>
                <a:latin typeface="Arial" pitchFamily="34" charset="0"/>
                <a:ea typeface="Arial" pitchFamily="34" charset="-122"/>
                <a:cs typeface="Arial" pitchFamily="34" charset="-120"/>
              </a:rPr>
              <a:t> Manipulating research equipment, omitting data points, or altering results to support a desired conclusion.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Selective Reporting:</a:t>
            </a:r>
            <a:pPr indent="0" marL="0">
              <a:buNone/>
            </a:pPr>
            <a:r>
              <a:rPr lang="en-US" sz="1300" dirty="0">
                <a:solidFill>
                  <a:srgbClr val="000000"/>
                </a:solidFill>
                <a:latin typeface="Arial" pitchFamily="34" charset="0"/>
                <a:ea typeface="Arial" pitchFamily="34" charset="-122"/>
                <a:cs typeface="Arial" pitchFamily="34" charset="-120"/>
              </a:rPr>
              <a:t> Reporting only successful runs while omitting failed attempts or outliers.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Conflict of Interest:</a:t>
            </a:r>
            <a:pPr indent="0" marL="0">
              <a:buNone/>
            </a:pPr>
            <a:r>
              <a:rPr lang="en-US" sz="1300" dirty="0">
                <a:solidFill>
                  <a:srgbClr val="000000"/>
                </a:solidFill>
                <a:latin typeface="Arial" pitchFamily="34" charset="0"/>
                <a:ea typeface="Arial" pitchFamily="34" charset="-122"/>
                <a:cs typeface="Arial" pitchFamily="34" charset="-120"/>
              </a:rPr>
              <a:t> Failing to disclose financial backing or relationships that could bias findings.</a:t>
            </a:r>
            <a:endParaRPr lang="en-US" sz="1300" dirty="0"/>
          </a:p>
        </p:txBody>
      </p:sp>
      <p:sp>
        <p:nvSpPr>
          <p:cNvPr id="19" name="Shape 16"/>
          <p:cNvSpPr/>
          <p:nvPr/>
        </p:nvSpPr>
        <p:spPr>
          <a:xfrm>
            <a:off x="6035040" y="2103120"/>
            <a:ext cx="5715000" cy="4114800"/>
          </a:xfrm>
          <a:prstGeom prst="roundRect">
            <a:avLst>
              <a:gd name="adj" fmla="val 2222"/>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Publication Standards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Authorship Ethics:</a:t>
            </a:r>
            <a:pPr indent="0" marL="0">
              <a:buNone/>
            </a:pPr>
            <a:r>
              <a:rPr lang="en-US" sz="1300" dirty="0">
                <a:solidFill>
                  <a:srgbClr val="000000"/>
                </a:solidFill>
                <a:latin typeface="Arial" pitchFamily="34" charset="0"/>
                <a:ea typeface="Arial" pitchFamily="34" charset="-122"/>
                <a:cs typeface="Arial" pitchFamily="34" charset="-120"/>
              </a:rPr>
              <a:t> Only include authors who made significant contributions to the design, execution, or writing. Avoid 'gift' or 'ghost' authors.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Duplicate Submission:</a:t>
            </a:r>
            <a:pPr indent="0" marL="0">
              <a:buNone/>
            </a:pPr>
            <a:r>
              <a:rPr lang="en-US" sz="1300" dirty="0">
                <a:solidFill>
                  <a:srgbClr val="000000"/>
                </a:solidFill>
                <a:latin typeface="Arial" pitchFamily="34" charset="0"/>
                <a:ea typeface="Arial" pitchFamily="34" charset="-122"/>
                <a:cs typeface="Arial" pitchFamily="34" charset="-120"/>
              </a:rPr>
              <a:t> Submitting the same paper to multiple journals simultaneously is strictly prohibited.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Peer Review Integrity:</a:t>
            </a:r>
            <a:pPr indent="0" marL="0">
              <a:buNone/>
            </a:pPr>
            <a:r>
              <a:rPr lang="en-US" sz="1300" dirty="0">
                <a:solidFill>
                  <a:srgbClr val="000000"/>
                </a:solidFill>
                <a:latin typeface="Arial" pitchFamily="34" charset="0"/>
                <a:ea typeface="Arial" pitchFamily="34" charset="-122"/>
                <a:cs typeface="Arial" pitchFamily="34" charset="-120"/>
              </a:rPr>
              <a:t> Reviewers must evaluate papers objectively, keep content confidential, and declare conflicts of interest.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in Academic Publishing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Ethical guidelines and literature review standards are checked throughout the publishing cycle:</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Journal Peer Reviewing</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Submitted papers undergo rigorous peer review. Reviewers check the literature review section to ensure the researcher has mapped the field correctly and cited the latest advances.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University Thesis Defense</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Graduate schools run thesis submissions through plagiarism checkers. Students must pass validation checks (similarity thresholds) to graduate.</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Retraction of Publications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Journals retract published papers if fabrication, falsification, or plagiarism is exposed, permanently damaging the author's reputation and funding.</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Open-Science Telemetry</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Modern research sites require uploading raw data and code alongside the manuscript, enabling public replication and verifying findings.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2026-06-14T11:41:06Z</dcterms:created>
  <dcterms:modified xsi:type="dcterms:W3CDTF">2026-06-14T11:41:06Z</dcterms:modified>
</cp:coreProperties>
</file>