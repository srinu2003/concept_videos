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today I will be presenting on the 'Digital Forensics Lifecycle' as part of the Cyber Security curriculum for my M.Tech in Computer Science and Engineering. In this presentation, we will explore the core concepts of cyber forensics, trace the five-phase lifecycle of digital evidence gathering, examine how email analysis is conducted to trace cybercrime, and discuss corporate and legal applications of digital forensics.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defining cyber forensics. Also known as digital forensics, it is a specialized branch of forensic science focused on identifying, recovering, analyzing, and presenting evidence from digital devices in a manner that is legally admissible in a court of law. Ensuring the legal admissibility of evidence is paramount. To achieve this, investigators must maintain a strict 'Chain of Custody', which is a detailed, unbroken paper log documenting exactly who collected, handled, stored, and analyzed the physical or digital evidence at every single step. A key rule in digital forensics is that investigators never perform analysis on the original storage media, as this could corrupt the evidence. Instead, they use hardware write-blockers to extract a bit-stream, block-by-block copy image of the storage drive, and perform all analysis on this duplicate. They run cryptographic hash algorithms like MD5 or SHA-256 before and after the process to verify that the image matches the original source perfectly. However, forensics faces challenges like anti-forensics—which includes encryption and metadata scrubbing—large volumes of data, and the volatile nature of RAM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digital forensics process is structured into five distinct, chronologically documented phases to ensure validity. First is Identification, where investigators identify potential evidence sources such as laptops, smartphones, server logs, or USB drives, and carefully document the physical and digital scene. Second is Preservation, where the devices are isolated from networks using tools like Faraday bags to prevent remote data wipes, and bit-stream copies are created using write-blockers. Third is Extraction, where specialized software is used to recover active files, log histories, and even hidden or deleted data from unallocated space. Fourth is Analysis, where the investigator reconstructs timelines, performs keyword searches, and analyzes registry entries to link a specific user identity to the digital crime, answering the critical questions of who, what, when, and how. Finally, the fifth phase is Reporting and Presentation, which involves writing a comprehensive technical report that translates complex binary structures into clear, understandable evidence for non-technical judges and juries.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Email is one of the most common vectors used in cybercrimes, including phishing, financial fraud, and business email compromise. Forensic email analysis requires parsing the raw, hidden headers of an email to verify its authenticity. We look closely at SMTP hops, which are the 'Received' fields in the headers. These fields record every mail server the email passed through, allowing investigators to trace the traffic back to the sender's actual IP address, bypassing spoofed names. We also examine the unique Message-ID and verify cryptographic authentication records. This includes checking Sender Policy Framework, or SPF, which lists authorized sending IPs for a domain, and DomainKeys Identified Mail, or DKIM, which uses digital signatures to confirm the email payload was not altered during transit. We also perform attachment analysis inside secure sandbox environments to isolate any hidden macro malware, and audit mail server log catalogs to confirm transactional handshakes.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forensics is applied across legal, corporate, and operational domains. In criminal cases, investigators extract call logs, geographical coordinates, and deleted chat messages from smartphones to present hard evidence to prosecutors. In the corporate sector, forensics is crucial during data breach audits, helping security teams identify the initial entry vector of hackers and determine exactly what sensitive files were exfiltrated. It is also used to investigate insider threats, such as employees suspected of leaking intellectual property, by auditing file copy records and registry logs for external USB inserts. Finally, digital forensics assists organizations in recovering critical files lost during accidental deletions or storage drive corruptions.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digital forensics lifecycle provides a standardized, scientifically sound methodology to recover and analyze digital evidence. By adhering to protocols like chain of custody and hash verification, forensics ensures that digital evidence remains untampered and legally admissible in court. Thank you for your time, and I welcome any questions or discussion on this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II: Cyber Forensics &amp; Digital Evidence</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Digital Forensics Lifecycle</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Cyber Forensics?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Cyber Forensics </a:t>
            </a:r>
            <a:pPr indent="0" marL="0">
              <a:buNone/>
            </a:pPr>
            <a:r>
              <a:rPr lang="en-US" sz="1400" dirty="0">
                <a:solidFill>
                  <a:srgbClr val="000000"/>
                </a:solidFill>
                <a:latin typeface="Arial" pitchFamily="34" charset="0"/>
                <a:ea typeface="Arial" pitchFamily="34" charset="-122"/>
                <a:cs typeface="Arial" pitchFamily="34" charset="-120"/>
              </a:rPr>
              <a:t>(also called Digital Forensics) is the branch of forensic science that deals with the recovery and investigation of material found in digital devices, preparing evidence that is legally admissible in court.</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Evidence Integrity &amp; Law</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Legal Admissibility:</a:t>
            </a:r>
            <a:pPr indent="0" marL="0">
              <a:buNone/>
            </a:pPr>
            <a:r>
              <a:rPr lang="en-US" sz="1300" dirty="0">
                <a:solidFill>
                  <a:srgbClr val="000000"/>
                </a:solidFill>
                <a:latin typeface="Arial" pitchFamily="34" charset="0"/>
                <a:ea typeface="Arial" pitchFamily="34" charset="-122"/>
                <a:cs typeface="Arial" pitchFamily="34" charset="-120"/>
              </a:rPr>
              <a:t> Forensic investigators must follow strict protocols so that digital evidence is accepted by judges and juries.</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Chain of Custody:</a:t>
            </a:r>
            <a:pPr indent="0" marL="0">
              <a:buNone/>
            </a:pPr>
            <a:r>
              <a:rPr lang="en-US" sz="1300" dirty="0">
                <a:solidFill>
                  <a:srgbClr val="000000"/>
                </a:solidFill>
                <a:latin typeface="Arial" pitchFamily="34" charset="0"/>
                <a:ea typeface="Arial" pitchFamily="34" charset="-122"/>
                <a:cs typeface="Arial" pitchFamily="34" charset="-120"/>
              </a:rPr>
              <a:t> A chronological paper log documenting who collected, handled, and analyzed the evidence, preventing tampering.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Copying Integrity:</a:t>
            </a:r>
            <a:pPr indent="0" marL="0">
              <a:buNone/>
            </a:pPr>
            <a:r>
              <a:rPr lang="en-US" sz="1300" dirty="0">
                <a:solidFill>
                  <a:srgbClr val="000000"/>
                </a:solidFill>
                <a:latin typeface="Arial" pitchFamily="34" charset="0"/>
                <a:ea typeface="Arial" pitchFamily="34" charset="-122"/>
                <a:cs typeface="Arial" pitchFamily="34" charset="-120"/>
              </a:rPr>
              <a:t> Investigators NEVER analyze the original hardware. They extract a bit-stream copy image and analyze the copy.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Hash Verification:</a:t>
            </a:r>
            <a:pPr indent="0" marL="0">
              <a:buNone/>
            </a:pPr>
            <a:r>
              <a:rPr lang="en-US" sz="1300" dirty="0">
                <a:solidFill>
                  <a:srgbClr val="000000"/>
                </a:solidFill>
                <a:latin typeface="Arial" pitchFamily="34" charset="0"/>
                <a:ea typeface="Arial" pitchFamily="34" charset="-122"/>
                <a:cs typeface="Arial" pitchFamily="34" charset="-120"/>
              </a:rPr>
              <a:t> Verification that copy matches original using hashing algorithms (MD5, SHA-256).</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Forensic Challenges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Anti-Forensics:</a:t>
            </a:r>
            <a:pPr indent="0" marL="0">
              <a:buNone/>
            </a:pPr>
            <a:r>
              <a:rPr lang="en-US" sz="1300" dirty="0">
                <a:solidFill>
                  <a:srgbClr val="000000"/>
                </a:solidFill>
                <a:latin typeface="Arial" pitchFamily="34" charset="0"/>
                <a:ea typeface="Arial" pitchFamily="34" charset="-122"/>
                <a:cs typeface="Arial" pitchFamily="34" charset="-120"/>
              </a:rPr>
              <a:t> Techniques used by criminals to hide evidence (encryption, secure file shredding, metadata scrubbing).</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Data Volume:</a:t>
            </a:r>
            <a:pPr indent="0" marL="0">
              <a:buNone/>
            </a:pPr>
            <a:r>
              <a:rPr lang="en-US" sz="1300" dirty="0">
                <a:solidFill>
                  <a:srgbClr val="000000"/>
                </a:solidFill>
                <a:latin typeface="Arial" pitchFamily="34" charset="0"/>
                <a:ea typeface="Arial" pitchFamily="34" charset="-122"/>
                <a:cs typeface="Arial" pitchFamily="34" charset="-120"/>
              </a:rPr>
              <a:t> Analyzing terabytes of storage on phones and hard drives efficiently.</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Volatile Memory:</a:t>
            </a:r>
            <a:pPr indent="0" marL="0">
              <a:buNone/>
            </a:pPr>
            <a:r>
              <a:rPr lang="en-US" sz="1300" dirty="0">
                <a:solidFill>
                  <a:srgbClr val="000000"/>
                </a:solidFill>
                <a:latin typeface="Arial" pitchFamily="34" charset="0"/>
                <a:ea typeface="Arial" pitchFamily="34" charset="-122"/>
                <a:cs typeface="Arial" pitchFamily="34" charset="-120"/>
              </a:rPr>
              <a:t> RAM data disappears when the system is powered down, requiring live extraction techniques.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Cloud Storage:</a:t>
            </a:r>
            <a:pPr indent="0" marL="0">
              <a:buNone/>
            </a:pPr>
            <a:r>
              <a:rPr lang="en-US" sz="1300" dirty="0">
                <a:solidFill>
                  <a:srgbClr val="000000"/>
                </a:solidFill>
                <a:latin typeface="Arial" pitchFamily="34" charset="0"/>
                <a:ea typeface="Arial" pitchFamily="34" charset="-122"/>
                <a:cs typeface="Arial" pitchFamily="34" charset="-120"/>
              </a:rPr>
              <a:t> Evidence scattered across overseas servers, creating jurisdictional issues.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The Digital Forensics Lifecycle</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The forensic process proceeds in five distinct, documented phases:</a:t>
            </a:r>
            <a:endParaRPr lang="en-US" sz="1400" dirty="0"/>
          </a:p>
        </p:txBody>
      </p:sp>
      <p:sp>
        <p:nvSpPr>
          <p:cNvPr id="16" name="Shape 13"/>
          <p:cNvSpPr/>
          <p:nvPr/>
        </p:nvSpPr>
        <p:spPr>
          <a:xfrm>
            <a:off x="457200" y="2103120"/>
            <a:ext cx="11292840" cy="4389120"/>
          </a:xfrm>
          <a:prstGeom prst="roundRect">
            <a:avLst>
              <a:gd name="adj" fmla="val 2083"/>
            </a:avLst>
          </a:prstGeom>
          <a:solidFill>
            <a:srgbClr val="FFF9C4"/>
          </a:solidFill>
          <a:ln w="19050">
            <a:solidFill>
              <a:srgbClr val="F57F17"/>
            </a:solidFill>
            <a:prstDash val="solid"/>
          </a:ln>
        </p:spPr>
      </p:sp>
      <p:sp>
        <p:nvSpPr>
          <p:cNvPr id="17" name="Text 14"/>
          <p:cNvSpPr/>
          <p:nvPr/>
        </p:nvSpPr>
        <p:spPr>
          <a:xfrm>
            <a:off x="566928" y="2176272"/>
            <a:ext cx="11073384" cy="347472"/>
          </a:xfrm>
          <a:prstGeom prst="rect">
            <a:avLst/>
          </a:prstGeom>
          <a:noFill/>
          <a:ln/>
        </p:spPr>
        <p:txBody>
          <a:bodyPr wrap="square" lIns="0" tIns="0" rIns="0" bIns="0" rtlCol="0" anchor="ctr"/>
          <a:lstStyle/>
          <a:p>
            <a:pPr indent="0" marL="0">
              <a:buNone/>
            </a:pPr>
            <a:r>
              <a:rPr lang="en-US" sz="1500" b="1" dirty="0">
                <a:solidFill>
                  <a:srgbClr val="F57F17"/>
                </a:solidFill>
                <a:latin typeface="Arial" pitchFamily="34" charset="0"/>
                <a:ea typeface="Arial" pitchFamily="34" charset="-122"/>
                <a:cs typeface="Arial" pitchFamily="34" charset="-120"/>
              </a:rPr>
              <a:t>The Five Forensic Phases</a:t>
            </a:r>
            <a:endParaRPr lang="en-US" sz="1500" dirty="0"/>
          </a:p>
        </p:txBody>
      </p:sp>
      <p:sp>
        <p:nvSpPr>
          <p:cNvPr id="18" name="Text 15"/>
          <p:cNvSpPr/>
          <p:nvPr/>
        </p:nvSpPr>
        <p:spPr>
          <a:xfrm>
            <a:off x="566928" y="2606040"/>
            <a:ext cx="11073384" cy="3657600"/>
          </a:xfrm>
          <a:prstGeom prst="rect">
            <a:avLst/>
          </a:prstGeom>
          <a:noFill/>
          <a:ln/>
        </p:spPr>
        <p:txBody>
          <a:bodyPr wrap="square" lIns="0" tIns="0" rIns="0" bIns="0" rtlCol="0" anchor="ctr"/>
          <a:lstStyle/>
          <a:p>
            <a:pPr indent="0" marL="0">
              <a:buNone/>
            </a:pPr>
            <a:r>
              <a:rPr lang="en-US" sz="1350" b="1" dirty="0">
                <a:solidFill>
                  <a:srgbClr val="000000"/>
                </a:solidFill>
                <a:latin typeface="Arial" pitchFamily="34" charset="0"/>
                <a:ea typeface="Arial" pitchFamily="34" charset="-122"/>
                <a:cs typeface="Arial" pitchFamily="34" charset="-120"/>
              </a:rPr>
              <a:t>1. Identification:</a:t>
            </a:r>
            <a:pPr indent="0" marL="0">
              <a:buNone/>
            </a:pPr>
            <a:r>
              <a:rPr lang="en-US" sz="1350" dirty="0">
                <a:solidFill>
                  <a:srgbClr val="000000"/>
                </a:solidFill>
                <a:latin typeface="Arial" pitchFamily="34" charset="0"/>
                <a:ea typeface="Arial" pitchFamily="34" charset="-122"/>
                <a:cs typeface="Arial" pitchFamily="34" charset="-120"/>
              </a:rPr>
              <a:t> Identify potential evidence sources (computers, phones, USB drives, cloud logs). Document the physical scene.</a:t>
            </a:r>
            <a:endParaRPr lang="en-US" sz="1350" dirty="0"/>
          </a:p>
          <a:p>
            <a:pPr indent="0" marL="0">
              <a:buNone/>
            </a:pPr>
            <a:r>
              <a:rPr lang="en-US" sz="1350" b="1" dirty="0">
                <a:solidFill>
                  <a:srgbClr val="990033"/>
                </a:solidFill>
                <a:latin typeface="Arial" pitchFamily="34" charset="0"/>
                <a:ea typeface="Arial" pitchFamily="34" charset="-122"/>
                <a:cs typeface="Arial" pitchFamily="34" charset="-120"/>
              </a:rPr>
              <a:t>2. Preservation:</a:t>
            </a:r>
            <a:pPr indent="0" marL="0">
              <a:buNone/>
            </a:pPr>
            <a:r>
              <a:rPr lang="en-US" sz="1350" dirty="0">
                <a:solidFill>
                  <a:srgbClr val="000000"/>
                </a:solidFill>
                <a:latin typeface="Arial" pitchFamily="34" charset="0"/>
                <a:ea typeface="Arial" pitchFamily="34" charset="-122"/>
                <a:cs typeface="Arial" pitchFamily="34" charset="-120"/>
              </a:rPr>
              <a:t> Isolate devices from networks to prevent remote wipes (e.g. place phones in Faraday bags). Use hardware write-blockers to copy storage bit-by-bit.</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3. Extraction:</a:t>
            </a:r>
            <a:pPr indent="0" marL="0">
              <a:buNone/>
            </a:pPr>
            <a:r>
              <a:rPr lang="en-US" sz="1350" dirty="0">
                <a:solidFill>
                  <a:srgbClr val="000000"/>
                </a:solidFill>
                <a:latin typeface="Arial" pitchFamily="34" charset="0"/>
                <a:ea typeface="Arial" pitchFamily="34" charset="-122"/>
                <a:cs typeface="Arial" pitchFamily="34" charset="-120"/>
              </a:rPr>
              <a:t> Recover files, including hidden or deleted data, database records, and browser histories, using forensic software.</a:t>
            </a:r>
            <a:endParaRPr lang="en-US" sz="1350" dirty="0"/>
          </a:p>
          <a:p>
            <a:pPr indent="0" marL="0">
              <a:buNone/>
            </a:pPr>
            <a:r>
              <a:rPr lang="en-US" sz="1350" b="1" dirty="0">
                <a:solidFill>
                  <a:srgbClr val="006400"/>
                </a:solidFill>
                <a:latin typeface="Arial" pitchFamily="34" charset="0"/>
                <a:ea typeface="Arial" pitchFamily="34" charset="-122"/>
                <a:cs typeface="Arial" pitchFamily="34" charset="-120"/>
              </a:rPr>
              <a:t>4. Analysis:</a:t>
            </a:r>
            <a:pPr indent="0" marL="0">
              <a:buNone/>
            </a:pPr>
            <a:r>
              <a:rPr lang="en-US" sz="1350" dirty="0">
                <a:solidFill>
                  <a:srgbClr val="000000"/>
                </a:solidFill>
                <a:latin typeface="Arial" pitchFamily="34" charset="0"/>
                <a:ea typeface="Arial" pitchFamily="34" charset="-122"/>
                <a:cs typeface="Arial" pitchFamily="34" charset="-120"/>
              </a:rPr>
              <a:t> Reconstruct timelines, locate keyword matches, trace emails, and link user actions to the crime. Answer: Who, What, When, and How.</a:t>
            </a:r>
            <a:endParaRPr lang="en-US" sz="1350" dirty="0"/>
          </a:p>
          <a:p>
            <a:pPr indent="0" marL="0">
              <a:buNone/>
            </a:pPr>
            <a:r>
              <a:rPr lang="en-US" sz="1350" b="1" dirty="0">
                <a:solidFill>
                  <a:srgbClr val="000000"/>
                </a:solidFill>
                <a:latin typeface="Arial" pitchFamily="34" charset="0"/>
                <a:ea typeface="Arial" pitchFamily="34" charset="-122"/>
                <a:cs typeface="Arial" pitchFamily="34" charset="-120"/>
              </a:rPr>
              <a:t>5. Reporting &amp; Presentation:</a:t>
            </a:r>
            <a:pPr indent="0" marL="0">
              <a:buNone/>
            </a:pPr>
            <a:r>
              <a:rPr lang="en-US" sz="1350" dirty="0">
                <a:solidFill>
                  <a:srgbClr val="000000"/>
                </a:solidFill>
                <a:latin typeface="Arial" pitchFamily="34" charset="0"/>
                <a:ea typeface="Arial" pitchFamily="34" charset="-122"/>
                <a:cs typeface="Arial" pitchFamily="34" charset="-120"/>
              </a:rPr>
              <a:t> Draft a detailed expert witness report explaining findings clearly for non-technical judges and juries.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Forensic Email Analysis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Email is a primary vector for cybercrime. Forensic analysis involves parsing headers and metadata:</a:t>
            </a:r>
            <a:endParaRPr lang="en-US" sz="1400" dirty="0"/>
          </a:p>
        </p:txBody>
      </p:sp>
      <p:sp>
        <p:nvSpPr>
          <p:cNvPr id="16" name="Shape 13"/>
          <p:cNvSpPr/>
          <p:nvPr/>
        </p:nvSpPr>
        <p:spPr>
          <a:xfrm>
            <a:off x="457200" y="2103120"/>
            <a:ext cx="5394960" cy="4114800"/>
          </a:xfrm>
          <a:prstGeom prst="roundRect">
            <a:avLst>
              <a:gd name="adj" fmla="val 2222"/>
            </a:avLst>
          </a:prstGeom>
          <a:solidFill>
            <a:srgbClr val="FCE4EC"/>
          </a:solidFill>
          <a:ln w="19050">
            <a:solidFill>
              <a:srgbClr val="990033"/>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990033"/>
                </a:solidFill>
                <a:latin typeface="Arial" pitchFamily="34" charset="0"/>
                <a:ea typeface="Arial" pitchFamily="34" charset="-122"/>
                <a:cs typeface="Arial" pitchFamily="34" charset="-120"/>
              </a:rPr>
              <a:t>Parsing Email Headers</a:t>
            </a:r>
            <a:endParaRPr lang="en-US" sz="1500" dirty="0"/>
          </a:p>
        </p:txBody>
      </p:sp>
      <p:sp>
        <p:nvSpPr>
          <p:cNvPr id="18" name="Text 15"/>
          <p:cNvSpPr/>
          <p:nvPr/>
        </p:nvSpPr>
        <p:spPr>
          <a:xfrm>
            <a:off x="566928" y="2606040"/>
            <a:ext cx="5212080" cy="3474720"/>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SMTP Hops (Received: fields):</a:t>
            </a:r>
            <a:pPr indent="0" marL="0">
              <a:buNone/>
            </a:pPr>
            <a:r>
              <a:rPr lang="en-US" sz="1300" dirty="0">
                <a:solidFill>
                  <a:srgbClr val="000000"/>
                </a:solidFill>
                <a:latin typeface="Arial" pitchFamily="34" charset="0"/>
                <a:ea typeface="Arial" pitchFamily="34" charset="-122"/>
                <a:cs typeface="Arial" pitchFamily="34" charset="-120"/>
              </a:rPr>
              <a:t> Traces the sequence of mail servers the email passed through, revealing the true sending IP address.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Message-ID:</a:t>
            </a:r>
            <a:pPr indent="0" marL="0">
              <a:buNone/>
            </a:pPr>
            <a:r>
              <a:rPr lang="en-US" sz="1300" dirty="0">
                <a:solidFill>
                  <a:srgbClr val="000000"/>
                </a:solidFill>
                <a:latin typeface="Arial" pitchFamily="34" charset="0"/>
                <a:ea typeface="Arial" pitchFamily="34" charset="-122"/>
                <a:cs typeface="Arial" pitchFamily="34" charset="-120"/>
              </a:rPr>
              <a:t> A unique identifier assigned by the sending mail server. Useful for database log auditing.</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Authentication Checks:</a:t>
            </a:r>
            <a:pPr indent="0" marL="0">
              <a:buNone/>
            </a:pPr>
            <a:r>
              <a:rPr lang="en-US" sz="1300" dirty="0">
                <a:solidFill>
                  <a:srgbClr val="000000"/>
                </a:solidFill>
                <a:latin typeface="Arial" pitchFamily="34" charset="0"/>
                <a:ea typeface="Arial" pitchFamily="34" charset="-122"/>
                <a:cs typeface="Arial" pitchFamily="34" charset="-120"/>
              </a:rPr>
              <a:t> We check: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 SPF (Sender Policy Framework):</a:t>
            </a:r>
            <a:pPr indent="0" marL="0">
              <a:buNone/>
            </a:pPr>
            <a:r>
              <a:rPr lang="en-US" sz="1300" dirty="0">
                <a:solidFill>
                  <a:srgbClr val="000000"/>
                </a:solidFill>
                <a:latin typeface="Arial" pitchFamily="34" charset="0"/>
                <a:ea typeface="Arial" pitchFamily="34" charset="-122"/>
                <a:cs typeface="Arial" pitchFamily="34" charset="-120"/>
              </a:rPr>
              <a:t> Checks if the sending IP is authorized to mail on behalf of the domain.
</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 DKIM (DomainKeys Identified Mail):</a:t>
            </a:r>
            <a:pPr indent="0" marL="0">
              <a:buNone/>
            </a:pPr>
            <a:r>
              <a:rPr lang="en-US" sz="1300" dirty="0">
                <a:solidFill>
                  <a:srgbClr val="000000"/>
                </a:solidFill>
                <a:latin typeface="Arial" pitchFamily="34" charset="0"/>
                <a:ea typeface="Arial" pitchFamily="34" charset="-122"/>
                <a:cs typeface="Arial" pitchFamily="34" charset="-120"/>
              </a:rPr>
              <a:t> Verifies cryptographic signatures to ensure the email was not tampered with in transit.</a:t>
            </a:r>
            <a:endParaRPr lang="en-US" sz="1300" dirty="0"/>
          </a:p>
        </p:txBody>
      </p:sp>
      <p:sp>
        <p:nvSpPr>
          <p:cNvPr id="19" name="Shape 16"/>
          <p:cNvSpPr/>
          <p:nvPr/>
        </p:nvSpPr>
        <p:spPr>
          <a:xfrm>
            <a:off x="6035040" y="2103120"/>
            <a:ext cx="5715000" cy="4114800"/>
          </a:xfrm>
          <a:prstGeom prst="roundRect">
            <a:avLst>
              <a:gd name="adj" fmla="val 2222"/>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Tracing Phishing &amp; Spoofing</a:t>
            </a:r>
            <a:endParaRPr lang="en-US" sz="1500" dirty="0"/>
          </a:p>
        </p:txBody>
      </p:sp>
      <p:sp>
        <p:nvSpPr>
          <p:cNvPr id="21" name="Text 18"/>
          <p:cNvSpPr/>
          <p:nvPr/>
        </p:nvSpPr>
        <p:spPr>
          <a:xfrm>
            <a:off x="6144768" y="2606040"/>
            <a:ext cx="5513832" cy="3474720"/>
          </a:xfrm>
          <a:prstGeom prst="rect">
            <a:avLst/>
          </a:prstGeom>
          <a:noFill/>
          <a:ln/>
        </p:spPr>
        <p:txBody>
          <a:bodyPr wrap="square" lIns="0" tIns="0" rIns="0" bIns="0" rtlCol="0" anchor="ctr"/>
          <a:lstStyle/>
          <a:p>
            <a:pPr indent="0" marL="0">
              <a:buNone/>
            </a:pPr>
            <a:r>
              <a:rPr lang="en-US" sz="1300" b="1" dirty="0">
                <a:solidFill>
                  <a:srgbClr val="990033"/>
                </a:solidFill>
                <a:latin typeface="Arial" pitchFamily="34" charset="0"/>
                <a:ea typeface="Arial" pitchFamily="34" charset="-122"/>
                <a:cs typeface="Arial" pitchFamily="34" charset="-120"/>
              </a:rPr>
              <a:t>• Spoofed Headers:</a:t>
            </a:r>
            <a:pPr indent="0" marL="0">
              <a:buNone/>
            </a:pPr>
            <a:r>
              <a:rPr lang="en-US" sz="1300" dirty="0">
                <a:solidFill>
                  <a:srgbClr val="000000"/>
                </a:solidFill>
                <a:latin typeface="Arial" pitchFamily="34" charset="0"/>
                <a:ea typeface="Arial" pitchFamily="34" charset="-122"/>
                <a:cs typeface="Arial" pitchFamily="34" charset="-120"/>
              </a:rPr>
              <a:t> Attackers modify the 'From:' field display name. However, parsing the raw headers reveals the actual sending email address.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Attachment Analysis:</a:t>
            </a:r>
            <a:pPr indent="0" marL="0">
              <a:buNone/>
            </a:pPr>
            <a:r>
              <a:rPr lang="en-US" sz="1300" dirty="0">
                <a:solidFill>
                  <a:srgbClr val="000000"/>
                </a:solidFill>
                <a:latin typeface="Arial" pitchFamily="34" charset="0"/>
                <a:ea typeface="Arial" pitchFamily="34" charset="-122"/>
                <a:cs typeface="Arial" pitchFamily="34" charset="-120"/>
              </a:rPr>
              <a:t> Extracting hidden macro code or malware binaries from PDF/Office attachments inside sandbox test environments.</a:t>
            </a:r>
            <a:endParaRPr lang="en-US" sz="1300" dirty="0"/>
          </a:p>
          <a:p>
            <a:pPr indent="0" marL="0">
              <a:buNone/>
            </a:pPr>
            <a:r>
              <a:rPr lang="en-US" sz="1300" b="1" dirty="0">
                <a:solidFill>
                  <a:srgbClr val="1565C0"/>
                </a:solidFill>
                <a:latin typeface="Arial" pitchFamily="34" charset="0"/>
                <a:ea typeface="Arial" pitchFamily="34" charset="-122"/>
                <a:cs typeface="Arial" pitchFamily="34" charset="-120"/>
              </a:rPr>
              <a:t>• Mail Server Logs:</a:t>
            </a:r>
            <a:pPr indent="0" marL="0">
              <a:buNone/>
            </a:pPr>
            <a:r>
              <a:rPr lang="en-US" sz="1300" dirty="0">
                <a:solidFill>
                  <a:srgbClr val="000000"/>
                </a:solidFill>
                <a:latin typeface="Arial" pitchFamily="34" charset="0"/>
                <a:ea typeface="Arial" pitchFamily="34" charset="-122"/>
                <a:cs typeface="Arial" pitchFamily="34" charset="-120"/>
              </a:rPr>
              <a:t> Auditing SMTP server transaction logs to confirm connections, authentications, and delivery timestamps.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Cyber Forensics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Where digital forensics is implemented in legal and corporate environments: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Criminal Law Case Evidence</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Extracts call logs, GPS locations, and deleted chat histories from suspects' smartphones, presenting key timelines to prosecutors.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Corporate Data Breach Audits</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Investigates corporate systems after data breaches. Identifies how hackers entered (the initial entry vector) and logs what data was stolen.</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Insider Threat Investigations</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Audits logs of employees suspected of leaking intellectual property. Reconstructs file copy actions and USB insert histories.</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Accidental Data Recovery</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Assists companies in recovering critical database files deleted by accident or deleted during drive corruptions.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Cyber Security</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2026-06-14T18:39:06Z</dcterms:created>
  <dcterms:modified xsi:type="dcterms:W3CDTF">2026-06-14T18:39:06Z</dcterms:modified>
</cp:coreProperties>
</file>