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a Relation?
A binary relation from set A to set B is a subset of the Cartesian product A×B. Recall that A×B is the set of all ordered pairs (a,b) where a comes from A and b comes from B. The relation R specifies which of those pairs are considered 'related'.
We write (a,b) ∈ R, or equivalently aRb, to say 'a is related to b'. The number of possible relations from A to B is 2 raised to the power |A|×|B|, since each ordered pair can either be in the relation or not.
When a relation is from a set A to itself — that is R ⊆ A×A — we call it a 'relation on A'. Most of the interesting properties we study (reflexive, symmetric, etc.) apply to relations on a set.
In our example, A = {1,2,3} and R is the 'divides' relation. We have (1,1) in R because 1 divides 1, (1,2) because 1 divides 2, and so on. The pair (2,3) is NOT in R because 2 does not divide 3 evenly.
A relation can be represented in three ways: as a set of ordered pairs (as we just did), as a Boolean matrix where entry (i,j) is 1 if (i,j)∈R and 0 otherwise, or as a directed graph (arrow diagram) where we draw an arrow from a to b whenever aRb.
All three representations are equivalent — they describe the same information in different visual forms. The matrix representation is especially useful in computing the transitive closure of a 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Five Key Properties of Relations
We study five fundamental properties that a relation on a set A may or may not satisfy.
REFLEXIVE: Every element is related to itself. Formally, for all a in A, the pair (a,a) must be in R. The relation 'less than or equal to' on integers is reflexive because every integer is ≤ itself. In contrast, 'strictly less than' is NOT reflexive because no integer is strictly less than itself.
IRREFLEXIVE: The opposite — NO element is related to itself. The pair (a,a) must NOT be in R for any a. 'Strictly less than' is irreflexive.
SYMMETRIC: If a is related to b, then b must also be related to a. The 'sibling of' relation is symmetric — if Alice is Bob's sibling, then Bob is Alice's sibling. 'Parent of' is NOT symmetric — if Alice is Bob's parent, Bob is not Alice's parent.
ANTISYMMETRIC: If both (a,b) and (b,a) are in R, then a and b must be the same element. This does NOT mean symmetric and antisymmetric are opposites — a relation can be both, neither, or one. 'Less than or equal to' is antisymmetric: if a≤b and b≤a, then a=b.
TRANSITIVE: If a is related to b and b is related to c, then a must be related to c. 'Less than' is transitive: if a&lt;b and b&lt;c, then a&lt;c. 'Parent of' is NOT transitive — Alice's parent's parent is Alice's grandparent, not another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Equivalence Relations
An equivalence relation is a relation that satisfies all three properties simultaneously: reflexive, symmetric, AND transitive. It is one of the most important structures in all of mathematics.
The most important example is congruence modulo n. We say a is congruent to b modulo n, written a ≡ b (mod n), if n divides the difference a−b. For n=3: 7 ≡ 1 (mod 3) because 3 divides 6. And 10 ≡ 4 (mod 3) because 3 divides 6 again.
Let us verify it is an equivalence relation:
- Reflexive: a ≡ a (mod n) because n divides a−a = 0. ✔
- Symmetric: if n divides (a−b), then n divides (b−a) = −(a−b). ✔
- Transitive: if n|(a−b) and n|(b−c), then n|((a−b)+(b−c)) = (a−c). ✔
The key theorem about equivalence relations: Every equivalence relation partitions the set into disjoint equivalence classes — groups of elements that are all related to each other. For congruence mod 3, the three classes are all multiples of 3, all numbers ≡ 1 mod 3, and all numbers ≡ 2 mod 3. These classes are disjoint (no overlap) and exhaustive (every integer belongs to exactly one class).
Other examples of equivalence relations: same nationality, same birthday (date, not year), having the same remainder when divided by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Partial Orderings
A partial ordering is a relation on a set A that satisfies reflexive, antisymmetric, AND transitive properties. Together with the set, it forms a partially ordered set or POSET.
The classic example is the divisibility relation on a set of positive integers. We say a divides b (written a|b) if there exists an integer k such that b = k×a. Let us verify: Reflexive — every number divides itself (a = 1×a). Antisymmetric — if a|b and b|a, both must be positive, so a=b. Transitive — if a|b and b|c, then c = kb×(ka×a), so a|c.
The Hasse diagram is a visual tool to represent a partial order. We draw it by removing the arrows that are implied by reflexivity (self-loops) and transitivity (skip-over arrows), keeping only the 'covering' relations. The result is a clean hierarchical diagram. In the divisibility example, 1 is at the bottom (minimal element — it divides everything), 12 is at the top (maximal), and intermediate elements connect by direct divisibility.
A key distinction: in a PARTIAL order, some pairs may be INCOMPARABLE — neither a≤b nor b≤a. For example, 4 and 6 in the divisibility order: 4 does not divide 6, and 6 does not divide 4. In a TOTAL (or linear) order, every pair is comparable — like ≤ on integers.
Partial orderings are used in task scheduling, version control systems (commit history), and type hierarchies in object-oriented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Relations in Computer Science
Relations are not just theoretical — they appear in every major area of computer science.
Relational Databases: Every table in a SQL database IS a mathematical relation — a set of tuples. The relational model, invented by E.F. Codd at IBM, directly applies set theory and relation theory. SQL operations like JOIN and SELECT correspond to relational algebra operations. Database normalization theory (1NF, 2NF, 3NF, BCNF) is entirely based on functional dependency — a special kind of relation between attributes.
Social Networks: All connections between users in social platforms are modeled as relations. Facebook's 'friend' relation is symmetric. Twitter's 'follows' relation is asymmetric. The concept of equivalence classes is used to identify communities or clusters of densely connected users.
Compiler Design: When a compiler analyzes your code, it builds a dependency relation between variables. Computing the transitive closure of this relation finds all indirect dependencies — crucial for optimization. The type hierarchy in object-oriented languages (int is a subtype of Number) forms a partial order used for type checking.
Task Scheduling: In project management, tasks have 'must be completed before' constraints. This forms a partial order — specifically a Directed Acyclic Graph. Topological sorting finds a valid execution order. Build systems like Make and Gradle use this to compile code in the correct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II: Basic Structures – Sets, Functions, Relations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Relations and Their Properties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a Relation?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binary relation R from set A to set B </a:t>
            </a:r>
            <a:pPr indent="0" marL="0">
              <a:buNone/>
            </a:pPr>
            <a:r>
              <a:rPr lang="en-US" sz="1350" dirty="0">
                <a:solidFill>
                  <a:srgbClr val="000000"/>
                </a:solidFill>
                <a:latin typeface="Arial" pitchFamily="34" charset="0"/>
                <a:ea typeface="Arial" pitchFamily="34" charset="-122"/>
                <a:cs typeface="Arial" pitchFamily="34" charset="-120"/>
              </a:rPr>
              <a:t>is a subset of the Cartesian product A × B. It specifies which elements of A are 'related to' which elements of B.</a:t>
            </a:r>
            <a:endParaRPr lang="en-US" sz="1350" dirty="0"/>
          </a:p>
        </p:txBody>
      </p:sp>
      <p:sp>
        <p:nvSpPr>
          <p:cNvPr id="16" name="Shape 13"/>
          <p:cNvSpPr/>
          <p:nvPr/>
        </p:nvSpPr>
        <p:spPr>
          <a:xfrm>
            <a:off x="457200" y="2139696"/>
            <a:ext cx="5394960" cy="3858768"/>
          </a:xfrm>
          <a:prstGeom prst="roundRect">
            <a:avLst>
              <a:gd name="adj" fmla="val 2370"/>
            </a:avLst>
          </a:prstGeom>
          <a:solidFill>
            <a:srgbClr val="E3F2FD"/>
          </a:solidFill>
          <a:ln w="19050">
            <a:solidFill>
              <a:srgbClr val="1565C0"/>
            </a:solidFill>
            <a:prstDash val="solid"/>
          </a:ln>
        </p:spPr>
      </p:sp>
      <p:sp>
        <p:nvSpPr>
          <p:cNvPr id="17" name="Text 14"/>
          <p:cNvSpPr/>
          <p:nvPr/>
        </p:nvSpPr>
        <p:spPr>
          <a:xfrm>
            <a:off x="566928" y="2212848"/>
            <a:ext cx="521208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Definition and Notation</a:t>
            </a:r>
            <a:endParaRPr lang="en-US" sz="1400" dirty="0"/>
          </a:p>
        </p:txBody>
      </p:sp>
      <p:sp>
        <p:nvSpPr>
          <p:cNvPr id="18" name="Text 15"/>
          <p:cNvSpPr/>
          <p:nvPr/>
        </p:nvSpPr>
        <p:spPr>
          <a:xfrm>
            <a:off x="566928" y="2596896"/>
            <a:ext cx="5212080" cy="3337560"/>
          </a:xfrm>
          <a:prstGeom prst="rect">
            <a:avLst/>
          </a:prstGeom>
          <a:noFill/>
          <a:ln/>
        </p:spPr>
        <p:txBody>
          <a:bodyPr wrap="square" lIns="0" tIns="0" rIns="0" bIns="0" rtlCol="0" anchor="ctr"/>
          <a:lstStyle/>
          <a:p>
            <a:pPr indent="0" marL="0">
              <a:buNone/>
            </a:pPr>
            <a:r>
              <a:rPr lang="en-US" sz="1250" b="1" dirty="0">
                <a:solidFill>
                  <a:srgbClr val="1565C0"/>
                </a:solidFill>
                <a:latin typeface="Arial" pitchFamily="34" charset="0"/>
                <a:ea typeface="Arial" pitchFamily="34" charset="-122"/>
                <a:cs typeface="Arial" pitchFamily="34" charset="-120"/>
              </a:rPr>
              <a:t>R ⊆ A × B</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 b) ∈ R  means  a is related to b</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Relation ON a set A:</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R ⊆ A × A  (both elements from same set)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 (on A = {1, 2, 3}):</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R = "less than" = {(1,2),(1,3),(2,3)}</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Representations: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Set of ordered pairs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Boolean matrix (1 if related, 0 if not)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Arrow (directed graph) diagram</a:t>
            </a:r>
            <a:endParaRPr lang="en-US" sz="1250" dirty="0"/>
          </a:p>
        </p:txBody>
      </p:sp>
      <p:sp>
        <p:nvSpPr>
          <p:cNvPr id="19" name="Shape 16"/>
          <p:cNvSpPr/>
          <p:nvPr/>
        </p:nvSpPr>
        <p:spPr>
          <a:xfrm>
            <a:off x="6035040" y="2139696"/>
            <a:ext cx="5715000" cy="3858768"/>
          </a:xfrm>
          <a:prstGeom prst="roundRect">
            <a:avLst>
              <a:gd name="adj" fmla="val 2370"/>
            </a:avLst>
          </a:prstGeom>
          <a:solidFill>
            <a:srgbClr val="FCE4EC"/>
          </a:solidFill>
          <a:ln w="19050">
            <a:solidFill>
              <a:srgbClr val="990033"/>
            </a:solidFill>
            <a:prstDash val="solid"/>
          </a:ln>
        </p:spPr>
      </p:sp>
      <p:sp>
        <p:nvSpPr>
          <p:cNvPr id="20" name="Text 17"/>
          <p:cNvSpPr/>
          <p:nvPr/>
        </p:nvSpPr>
        <p:spPr>
          <a:xfrm>
            <a:off x="6144768" y="2212848"/>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Concrete Example</a:t>
            </a:r>
            <a:endParaRPr lang="en-US" sz="1400" dirty="0"/>
          </a:p>
        </p:txBody>
      </p:sp>
      <p:sp>
        <p:nvSpPr>
          <p:cNvPr id="21" name="Text 18"/>
          <p:cNvSpPr/>
          <p:nvPr/>
        </p:nvSpPr>
        <p:spPr>
          <a:xfrm>
            <a:off x="6144768" y="2596896"/>
            <a:ext cx="5513832"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Let A = {1, 2, 3}  and  R = "divides"</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aRb  means  a divides b evenly</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Pairs in 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(1,1): 1 divides 1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(1,2): 1 divides 2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(1,3): 1 divides 3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(2,2): 2 divides 2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(3,3): 3 divides 3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(2,3): 2 divides 3  ✘  (not in R)</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 = {(1,1),(1,2),(1,3),(2,2),(3,3)}</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Five Key Properties of Relations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47472"/>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These properties are defined for a relation R on a set 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75104"/>
          <a:ext cx="11292840" cy="4590288"/>
        </p:xfrm>
        <a:graphic>
          <a:graphicData uri="http://schemas.openxmlformats.org/drawingml/2006/table">
            <a:tbl>
              <a:tblPr/>
              <a:tblGrid>
                <a:gridCol w="2011680"/>
                <a:gridCol w="2926080"/>
                <a:gridCol w="3383280"/>
                <a:gridCol w="2971800"/>
              </a:tblGrid>
              <a:tr h="765048">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Property</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Formal Definition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Real 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Counter-example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65048">
                <a:tc>
                  <a:txBody>
                    <a:bodyPr/>
                    <a:lstStyle/>
                    <a:p>
                      <a:pPr indent="0" marL="0">
                        <a:buNone/>
                      </a:pPr>
                      <a:r>
                        <a:rPr lang="en-US" sz="1250" b="1" dirty="0">
                          <a:solidFill>
                            <a:srgbClr val="006400"/>
                          </a:solidFill>
                          <a:latin typeface="Arial" pitchFamily="34" charset="0"/>
                          <a:ea typeface="Arial" pitchFamily="34" charset="-122"/>
                          <a:cs typeface="Arial" pitchFamily="34" charset="-120"/>
                        </a:rPr>
                        <a:t>Reflexive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 ∈ A: (a,a) ∈ 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on integers  (1≤1, 2≤2, …)</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(1&lt;1 is false)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65048">
                <a:tc>
                  <a:txBody>
                    <a:bodyPr/>
                    <a:lstStyle/>
                    <a:p>
                      <a:pPr indent="0" marL="0">
                        <a:buNone/>
                      </a:pPr>
                      <a:r>
                        <a:rPr lang="en-US" sz="1250" b="1" dirty="0">
                          <a:solidFill>
                            <a:srgbClr val="990033"/>
                          </a:solidFill>
                          <a:latin typeface="Arial" pitchFamily="34" charset="0"/>
                          <a:ea typeface="Arial" pitchFamily="34" charset="-122"/>
                          <a:cs typeface="Arial" pitchFamily="34" charset="-120"/>
                        </a:rPr>
                        <a:t>Irreflexive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 ∈ A: (a,a) ∉ 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(no a &lt; a)</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includes (a,a) pairs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65048">
                <a:tc>
                  <a:txBody>
                    <a:bodyPr/>
                    <a:lstStyle/>
                    <a:p>
                      <a:pPr indent="0" marL="0">
                        <a:buNone/>
                      </a:pPr>
                      <a:r>
                        <a:rPr lang="en-US" sz="1250" b="1" dirty="0">
                          <a:solidFill>
                            <a:srgbClr val="1565C0"/>
                          </a:solidFill>
                          <a:latin typeface="Arial" pitchFamily="34" charset="0"/>
                          <a:ea typeface="Arial" pitchFamily="34" charset="-122"/>
                          <a:cs typeface="Arial" pitchFamily="34" charset="-120"/>
                        </a:rPr>
                        <a:t>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(b,a)∈R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"sibling of" among people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"parent of" — not 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65048">
                <a:tc>
                  <a:txBody>
                    <a:bodyPr/>
                    <a:lstStyle/>
                    <a:p>
                      <a:pPr indent="0" marL="0">
                        <a:buNone/>
                      </a:pPr>
                      <a:r>
                        <a:rPr lang="en-US" sz="1250" b="1" dirty="0">
                          <a:solidFill>
                            <a:srgbClr val="F57F17"/>
                          </a:solidFill>
                          <a:latin typeface="Arial" pitchFamily="34" charset="0"/>
                          <a:ea typeface="Arial" pitchFamily="34" charset="-122"/>
                          <a:cs typeface="Arial" pitchFamily="34" charset="-120"/>
                        </a:rPr>
                        <a:t>Antisymmetric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(b,a)∈R ⟹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on integers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"sibling of" (both aRb and bRa,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r h="765048">
                <a:tc>
                  <a:txBody>
                    <a:bodyPr/>
                    <a:lstStyle/>
                    <a:p>
                      <a:pPr indent="0" marL="0">
                        <a:buNone/>
                      </a:pPr>
                      <a:r>
                        <a:rPr lang="en-US" sz="1250" b="1" dirty="0">
                          <a:solidFill>
                            <a:srgbClr val="555555"/>
                          </a:solidFill>
                          <a:latin typeface="Arial" pitchFamily="34" charset="0"/>
                          <a:ea typeface="Arial" pitchFamily="34" charset="-122"/>
                          <a:cs typeface="Arial" pitchFamily="34" charset="-120"/>
                        </a:rPr>
                        <a:t>Transitive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(b,c)∈R ⟹ (a,c)∈R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(if a&lt;b and b&lt;c then a&lt;c)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"parent of" — not transitive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Equivalence Relations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relation R on set A is an Equivalence Relation </a:t>
            </a:r>
            <a:pPr indent="0" marL="0">
              <a:buNone/>
            </a:pPr>
            <a:r>
              <a:rPr lang="en-US" sz="1350" dirty="0">
                <a:solidFill>
                  <a:srgbClr val="000000"/>
                </a:solidFill>
                <a:latin typeface="Arial" pitchFamily="34" charset="0"/>
                <a:ea typeface="Arial" pitchFamily="34" charset="-122"/>
                <a:cs typeface="Arial" pitchFamily="34" charset="-120"/>
              </a:rPr>
              <a:t>if and only if it is </a:t>
            </a:r>
            <a:pPr indent="0" marL="0">
              <a:buNone/>
            </a:pPr>
            <a:r>
              <a:rPr lang="en-US" sz="1350" b="1" dirty="0">
                <a:solidFill>
                  <a:srgbClr val="990033"/>
                </a:solidFill>
                <a:latin typeface="Arial" pitchFamily="34" charset="0"/>
                <a:ea typeface="Arial" pitchFamily="34" charset="-122"/>
                <a:cs typeface="Arial" pitchFamily="34" charset="-120"/>
              </a:rPr>
              <a:t>Reflexive, Symmetric, AND Transitive</a:t>
            </a:r>
            <a:pPr indent="0" marL="0">
              <a:buNone/>
            </a:pPr>
            <a:r>
              <a:rPr lang="en-US" sz="1350" dirty="0">
                <a:solidFill>
                  <a:srgbClr val="000000"/>
                </a:solidFill>
                <a:latin typeface="Arial" pitchFamily="34" charset="0"/>
                <a:ea typeface="Arial" pitchFamily="34" charset="-122"/>
                <a:cs typeface="Arial" pitchFamily="34" charset="-120"/>
              </a:rPr>
              <a:t> — all three together.</a:t>
            </a:r>
            <a:endParaRPr lang="en-US" sz="1350" dirty="0"/>
          </a:p>
        </p:txBody>
      </p:sp>
      <p:sp>
        <p:nvSpPr>
          <p:cNvPr id="16" name="Shape 13"/>
          <p:cNvSpPr/>
          <p:nvPr/>
        </p:nvSpPr>
        <p:spPr>
          <a:xfrm>
            <a:off x="457200" y="2139696"/>
            <a:ext cx="3657600" cy="960120"/>
          </a:xfrm>
          <a:prstGeom prst="roundRect">
            <a:avLst>
              <a:gd name="adj" fmla="val 9524"/>
            </a:avLst>
          </a:prstGeom>
          <a:solidFill>
            <a:srgbClr val="E8F5E9"/>
          </a:solidFill>
          <a:ln w="19050">
            <a:solidFill>
              <a:srgbClr val="009900"/>
            </a:solidFill>
            <a:prstDash val="solid"/>
          </a:ln>
        </p:spPr>
      </p:sp>
      <p:sp>
        <p:nvSpPr>
          <p:cNvPr id="17" name="Text 14"/>
          <p:cNvSpPr/>
          <p:nvPr/>
        </p:nvSpPr>
        <p:spPr>
          <a:xfrm>
            <a:off x="548640" y="2176272"/>
            <a:ext cx="347472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1.  Reflexive</a:t>
            </a:r>
            <a:endParaRPr lang="en-US" sz="1400" dirty="0"/>
          </a:p>
        </p:txBody>
      </p:sp>
      <p:sp>
        <p:nvSpPr>
          <p:cNvPr id="18" name="Text 15"/>
          <p:cNvSpPr/>
          <p:nvPr/>
        </p:nvSpPr>
        <p:spPr>
          <a:xfrm>
            <a:off x="54864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 A: (a,a) ∈ R</a:t>
            </a:r>
            <a:endParaRPr lang="en-US" sz="1300" dirty="0"/>
          </a:p>
        </p:txBody>
      </p:sp>
      <p:sp>
        <p:nvSpPr>
          <p:cNvPr id="19" name="Shape 16"/>
          <p:cNvSpPr/>
          <p:nvPr/>
        </p:nvSpPr>
        <p:spPr>
          <a:xfrm>
            <a:off x="4251960" y="2139696"/>
            <a:ext cx="3657600" cy="960120"/>
          </a:xfrm>
          <a:prstGeom prst="roundRect">
            <a:avLst>
              <a:gd name="adj" fmla="val 9524"/>
            </a:avLst>
          </a:prstGeom>
          <a:solidFill>
            <a:srgbClr val="E3F2FD"/>
          </a:solidFill>
          <a:ln w="19050">
            <a:solidFill>
              <a:srgbClr val="1565C0"/>
            </a:solidFill>
            <a:prstDash val="solid"/>
          </a:ln>
        </p:spPr>
      </p:sp>
      <p:sp>
        <p:nvSpPr>
          <p:cNvPr id="20" name="Text 17"/>
          <p:cNvSpPr/>
          <p:nvPr/>
        </p:nvSpPr>
        <p:spPr>
          <a:xfrm>
            <a:off x="4343400" y="2176272"/>
            <a:ext cx="347472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2.  Symmetric</a:t>
            </a:r>
            <a:endParaRPr lang="en-US" sz="1400" dirty="0"/>
          </a:p>
        </p:txBody>
      </p:sp>
      <p:sp>
        <p:nvSpPr>
          <p:cNvPr id="21" name="Text 18"/>
          <p:cNvSpPr/>
          <p:nvPr/>
        </p:nvSpPr>
        <p:spPr>
          <a:xfrm>
            <a:off x="434340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(a,b)∈R ⟹ (b,a)∈R</a:t>
            </a:r>
            <a:endParaRPr lang="en-US" sz="1300" dirty="0"/>
          </a:p>
        </p:txBody>
      </p:sp>
      <p:sp>
        <p:nvSpPr>
          <p:cNvPr id="22" name="Shape 19"/>
          <p:cNvSpPr/>
          <p:nvPr/>
        </p:nvSpPr>
        <p:spPr>
          <a:xfrm>
            <a:off x="8046720" y="2139696"/>
            <a:ext cx="3657600" cy="960120"/>
          </a:xfrm>
          <a:prstGeom prst="roundRect">
            <a:avLst>
              <a:gd name="adj" fmla="val 9524"/>
            </a:avLst>
          </a:prstGeom>
          <a:solidFill>
            <a:srgbClr val="FCE4EC"/>
          </a:solidFill>
          <a:ln w="19050">
            <a:solidFill>
              <a:srgbClr val="990033"/>
            </a:solidFill>
            <a:prstDash val="solid"/>
          </a:ln>
        </p:spPr>
      </p:sp>
      <p:sp>
        <p:nvSpPr>
          <p:cNvPr id="23" name="Text 20"/>
          <p:cNvSpPr/>
          <p:nvPr/>
        </p:nvSpPr>
        <p:spPr>
          <a:xfrm>
            <a:off x="8138160" y="2176272"/>
            <a:ext cx="3474720"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3.  Transitive</a:t>
            </a:r>
            <a:endParaRPr lang="en-US" sz="1400" dirty="0"/>
          </a:p>
        </p:txBody>
      </p:sp>
      <p:sp>
        <p:nvSpPr>
          <p:cNvPr id="24" name="Text 21"/>
          <p:cNvSpPr/>
          <p:nvPr/>
        </p:nvSpPr>
        <p:spPr>
          <a:xfrm>
            <a:off x="813816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(a,b),(b,c)∈R ⟹ (a,c)∈R</a:t>
            </a:r>
            <a:endParaRPr lang="en-US" sz="1300" dirty="0"/>
          </a:p>
        </p:txBody>
      </p:sp>
      <p:sp>
        <p:nvSpPr>
          <p:cNvPr id="25" name="Shape 22"/>
          <p:cNvSpPr/>
          <p:nvPr/>
        </p:nvSpPr>
        <p:spPr>
          <a:xfrm>
            <a:off x="457200" y="3218688"/>
            <a:ext cx="11292840" cy="2779776"/>
          </a:xfrm>
          <a:prstGeom prst="roundRect">
            <a:avLst>
              <a:gd name="adj" fmla="val 3289"/>
            </a:avLst>
          </a:prstGeom>
          <a:solidFill>
            <a:srgbClr val="FFF9C4"/>
          </a:solidFill>
          <a:ln w="19050">
            <a:solidFill>
              <a:srgbClr val="F57F17"/>
            </a:solidFill>
            <a:prstDash val="solid"/>
          </a:ln>
        </p:spPr>
      </p:sp>
      <p:sp>
        <p:nvSpPr>
          <p:cNvPr id="26" name="Text 23"/>
          <p:cNvSpPr/>
          <p:nvPr/>
        </p:nvSpPr>
        <p:spPr>
          <a:xfrm>
            <a:off x="566928" y="3291840"/>
            <a:ext cx="11073384" cy="365760"/>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Classic Example: Congruence Modulo n</a:t>
            </a:r>
            <a:endParaRPr lang="en-US" sz="1500" dirty="0"/>
          </a:p>
        </p:txBody>
      </p:sp>
      <p:sp>
        <p:nvSpPr>
          <p:cNvPr id="27" name="Text 24"/>
          <p:cNvSpPr/>
          <p:nvPr/>
        </p:nvSpPr>
        <p:spPr>
          <a:xfrm>
            <a:off x="566928" y="3694176"/>
            <a:ext cx="11073384" cy="2267712"/>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Define:  a ≡ b (mod n)  iff  n divides (a − b)</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 with n = 3:</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7 ≡ 1 (mod 3)  because  3 divides (7−1) = 6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10 ≡ 4 (mod 3)  because  3 divides (10−4) = 6  ✔</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Equivalence Classes: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[0] = {…, −6, −3, 0, 3, 6, 9, …}     [1] = {…, −5, −2, 1, 4, 7, 10, …}     [2] = {…, −4, −1, 2, 5, 8, 11, …}</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Key Theorem: An equivalence relation partitions the set into disjoint equivalence classes.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Partial Orderings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Partial Ordering </a:t>
            </a:r>
            <a:pPr indent="0" marL="0">
              <a:buNone/>
            </a:pPr>
            <a:r>
              <a:rPr lang="en-US" sz="1350" dirty="0">
                <a:solidFill>
                  <a:srgbClr val="000000"/>
                </a:solidFill>
                <a:latin typeface="Arial" pitchFamily="34" charset="0"/>
                <a:ea typeface="Arial" pitchFamily="34" charset="-122"/>
                <a:cs typeface="Arial" pitchFamily="34" charset="-120"/>
              </a:rPr>
              <a:t>is a relation R on set A that is </a:t>
            </a:r>
            <a:pPr indent="0" marL="0">
              <a:buNone/>
            </a:pPr>
            <a:r>
              <a:rPr lang="en-US" sz="1350" b="1" dirty="0">
                <a:solidFill>
                  <a:srgbClr val="990033"/>
                </a:solidFill>
                <a:latin typeface="Arial" pitchFamily="34" charset="0"/>
                <a:ea typeface="Arial" pitchFamily="34" charset="-122"/>
                <a:cs typeface="Arial" pitchFamily="34" charset="-120"/>
              </a:rPr>
              <a:t>Reflexive, Antisymmetric, AND Transitive</a:t>
            </a:r>
            <a:pPr indent="0" marL="0">
              <a:buNone/>
            </a:pPr>
            <a:r>
              <a:rPr lang="en-US" sz="1350" dirty="0">
                <a:solidFill>
                  <a:srgbClr val="000000"/>
                </a:solidFill>
                <a:latin typeface="Arial" pitchFamily="34" charset="0"/>
                <a:ea typeface="Arial" pitchFamily="34" charset="-122"/>
                <a:cs typeface="Arial" pitchFamily="34" charset="-120"/>
              </a:rPr>
              <a:t>. The pair (A, R) is called a partially ordered set (POSET).</a:t>
            </a:r>
            <a:endParaRPr lang="en-US" sz="1350" dirty="0"/>
          </a:p>
        </p:txBody>
      </p:sp>
      <p:sp>
        <p:nvSpPr>
          <p:cNvPr id="16" name="Shape 13"/>
          <p:cNvSpPr/>
          <p:nvPr/>
        </p:nvSpPr>
        <p:spPr>
          <a:xfrm>
            <a:off x="457200" y="2148840"/>
            <a:ext cx="5394960" cy="3858768"/>
          </a:xfrm>
          <a:prstGeom prst="roundRect">
            <a:avLst>
              <a:gd name="adj" fmla="val 2370"/>
            </a:avLst>
          </a:prstGeom>
          <a:solidFill>
            <a:srgbClr val="E8F5E9"/>
          </a:solidFill>
          <a:ln w="19050">
            <a:solidFill>
              <a:srgbClr val="009900"/>
            </a:solidFill>
            <a:prstDash val="solid"/>
          </a:ln>
        </p:spPr>
      </p:sp>
      <p:sp>
        <p:nvSpPr>
          <p:cNvPr id="17" name="Text 14"/>
          <p:cNvSpPr/>
          <p:nvPr/>
        </p:nvSpPr>
        <p:spPr>
          <a:xfrm>
            <a:off x="566928" y="2221992"/>
            <a:ext cx="5212080" cy="347472"/>
          </a:xfrm>
          <a:prstGeom prst="rect">
            <a:avLst/>
          </a:prstGeom>
          <a:noFill/>
          <a:ln/>
        </p:spPr>
        <p:txBody>
          <a:bodyPr wrap="square" lIns="0" tIns="0" rIns="0" bIns="0" rtlCol="0" anchor="ctr"/>
          <a:lstStyle/>
          <a:p>
            <a:pPr indent="0" marL="0">
              <a:buNone/>
            </a:pPr>
            <a:r>
              <a:rPr lang="en-US" sz="1350" b="1" dirty="0">
                <a:solidFill>
                  <a:srgbClr val="009900"/>
                </a:solidFill>
                <a:latin typeface="Arial" pitchFamily="34" charset="0"/>
                <a:ea typeface="Arial" pitchFamily="34" charset="-122"/>
                <a:cs typeface="Arial" pitchFamily="34" charset="-120"/>
              </a:rPr>
              <a:t>Example: Divisibility on {1,2,3,4,6,12}</a:t>
            </a:r>
            <a:endParaRPr lang="en-US" sz="1350" dirty="0"/>
          </a:p>
        </p:txBody>
      </p:sp>
      <p:sp>
        <p:nvSpPr>
          <p:cNvPr id="18" name="Text 15"/>
          <p:cNvSpPr/>
          <p:nvPr/>
        </p:nvSpPr>
        <p:spPr>
          <a:xfrm>
            <a:off x="566928" y="2606040"/>
            <a:ext cx="5212080" cy="3337560"/>
          </a:xfrm>
          <a:prstGeom prst="rect">
            <a:avLst/>
          </a:prstGeom>
          <a:noFill/>
          <a:ln/>
        </p:spPr>
        <p:txBody>
          <a:bodyPr wrap="square" lIns="0" tIns="0" rIns="0" bIns="0" rtlCol="0" anchor="ctr"/>
          <a:lstStyle/>
          <a:p>
            <a:pPr indent="0" marL="0">
              <a:buNone/>
            </a:pPr>
            <a:r>
              <a:rPr lang="en-US" sz="1200" b="1" dirty="0">
                <a:solidFill>
                  <a:srgbClr val="000000"/>
                </a:solidFill>
                <a:latin typeface="Courier New" pitchFamily="34" charset="0"/>
                <a:ea typeface="Courier New" pitchFamily="34" charset="-122"/>
                <a:cs typeface="Courier New" pitchFamily="34" charset="-120"/>
              </a:rPr>
              <a:t>a | b  means  a divides b</a:t>
            </a:r>
            <a:endParaRPr lang="en-US" sz="1200" dirty="0"/>
          </a:p>
          <a:p>
            <a:pPr indent="0" marL="0">
              <a:buNone/>
            </a:pPr>
            <a:r>
              <a:rPr lang="en-US" sz="5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rgbClr val="000000"/>
                </a:solidFill>
                <a:latin typeface="Courier New" pitchFamily="34" charset="0"/>
                <a:ea typeface="Courier New" pitchFamily="34" charset="-122"/>
                <a:cs typeface="Courier New" pitchFamily="34" charset="-120"/>
              </a:rPr>
              <a:t>Verify:</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Reflexive:    a | a  (every number divides itself)</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Antisymmetric: if a|b and b|a, then a=b</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Transitive:    if a|b and b|c, then a|c</a:t>
            </a:r>
            <a:endParaRPr lang="en-US" sz="1200" dirty="0"/>
          </a:p>
          <a:p>
            <a:pPr indent="0" marL="0">
              <a:buNone/>
            </a:pPr>
            <a:r>
              <a:rPr lang="en-US" sz="5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rgbClr val="000000"/>
                </a:solidFill>
                <a:latin typeface="Courier New" pitchFamily="34" charset="0"/>
                <a:ea typeface="Courier New" pitchFamily="34" charset="-122"/>
                <a:cs typeface="Courier New" pitchFamily="34" charset="-120"/>
              </a:rPr>
              <a:t>Hasse Diagram (removes reflexive &amp; transitive edges):</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12</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4    6</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2  3   2</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1  ← minimal element</a:t>
            </a:r>
            <a:endParaRPr lang="en-US" sz="1200" dirty="0"/>
          </a:p>
        </p:txBody>
      </p:sp>
      <p:sp>
        <p:nvSpPr>
          <p:cNvPr id="19" name="Shape 16"/>
          <p:cNvSpPr/>
          <p:nvPr/>
        </p:nvSpPr>
        <p:spPr>
          <a:xfrm>
            <a:off x="6035040" y="2148840"/>
            <a:ext cx="5715000" cy="3858768"/>
          </a:xfrm>
          <a:prstGeom prst="roundRect">
            <a:avLst>
              <a:gd name="adj" fmla="val 2370"/>
            </a:avLst>
          </a:prstGeom>
          <a:solidFill>
            <a:srgbClr val="FCE4EC"/>
          </a:solidFill>
          <a:ln w="19050">
            <a:solidFill>
              <a:srgbClr val="990033"/>
            </a:solidFill>
            <a:prstDash val="solid"/>
          </a:ln>
        </p:spPr>
      </p:sp>
      <p:sp>
        <p:nvSpPr>
          <p:cNvPr id="20" name="Text 17"/>
          <p:cNvSpPr/>
          <p:nvPr/>
        </p:nvSpPr>
        <p:spPr>
          <a:xfrm>
            <a:off x="6144768" y="2221992"/>
            <a:ext cx="5513832" cy="34747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Key Terminology</a:t>
            </a:r>
            <a:endParaRPr lang="en-US" sz="1350" dirty="0"/>
          </a:p>
        </p:txBody>
      </p:sp>
      <p:sp>
        <p:nvSpPr>
          <p:cNvPr id="21" name="Text 18"/>
          <p:cNvSpPr/>
          <p:nvPr/>
        </p:nvSpPr>
        <p:spPr>
          <a:xfrm>
            <a:off x="6144768" y="2606040"/>
            <a:ext cx="5513832"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Minimal Element: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 element precedes it.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In divisibility: 1 (nothing divides 1 except 1 itself)</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Maximal Element: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 element comes after it.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In divisibility on {1..12}: 12</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Total Order (Linear Order):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Every pair is comparable.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Example: ≤ on integers</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Partial Order: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Some pairs may be incomparable.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e.g., 4 and 6 in divisibility: neither 4|6 nor 6|4.</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Relations are fundamental data structures underlying many CS systems:</a:t>
            </a:r>
            <a:endParaRPr lang="en-US" sz="1400" dirty="0"/>
          </a:p>
        </p:txBody>
      </p:sp>
      <p:sp>
        <p:nvSpPr>
          <p:cNvPr id="16" name="Shape 13"/>
          <p:cNvSpPr/>
          <p:nvPr/>
        </p:nvSpPr>
        <p:spPr>
          <a:xfrm>
            <a:off x="457200" y="2011680"/>
            <a:ext cx="5532120" cy="1956816"/>
          </a:xfrm>
          <a:prstGeom prst="roundRect">
            <a:avLst>
              <a:gd name="adj" fmla="val 4673"/>
            </a:avLst>
          </a:prstGeom>
          <a:solidFill>
            <a:srgbClr val="E3F2FD"/>
          </a:solidFill>
          <a:ln w="19050">
            <a:solidFill>
              <a:srgbClr val="1565C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Relational Databases</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Every table in a relational database IS a relation (set of tuples). SQL joins combine relations using Cartesian product and selection. Database normalization is based on functional dependencies — a special type of relation.</a:t>
            </a:r>
            <a:endParaRPr lang="en-US" sz="1150" dirty="0"/>
          </a:p>
        </p:txBody>
      </p:sp>
      <p:sp>
        <p:nvSpPr>
          <p:cNvPr id="19" name="Shape 16"/>
          <p:cNvSpPr/>
          <p:nvPr/>
        </p:nvSpPr>
        <p:spPr>
          <a:xfrm>
            <a:off x="6144768" y="2011680"/>
            <a:ext cx="5532120" cy="1956816"/>
          </a:xfrm>
          <a:prstGeom prst="roundRect">
            <a:avLst>
              <a:gd name="adj" fmla="val 4673"/>
            </a:avLst>
          </a:prstGeom>
          <a:solidFill>
            <a:srgbClr val="E8F5E9"/>
          </a:solidFill>
          <a:ln w="19050">
            <a:solidFill>
              <a:srgbClr val="00990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Social Networks</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'Friend', 'follows', and 'blocks' are all relations on a set of users. Symmetric relations (friend) vs. asymmetric (follow). Transitivity of 'knows' gives 'Six degrees of separation'. Equivalence classes group users in communities.</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Compiler Design</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Variable dependencies in code form a relation. Computing the transitive closure finds all indirect dependencies. Type compatibility (subtype relation) is a partial order. Operator precedence is a partial ordering of operators.</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Task Scheduling</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Project tasks have 'must complete before' constraints — a partial order (DAG). Topological sort of the Hasse diagram gives a valid execution order. Critical path analysis uses this POSET structure to minimize project duration.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2026-06-14T18:38:25Z</dcterms:created>
  <dcterms:modified xsi:type="dcterms:W3CDTF">2026-06-14T18:38:25Z</dcterms:modified>
</cp:coreProperties>
</file>