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The Pattern Matching Problem
In string processing, pattern matching is a fundamental task. The naive algorithm aligns the pattern with the text and compares characters. If a mismatch occurs, the pattern is shifted by one slot, and the text pointer backtracks.
In the worst case, this leads to O(n·m) time complexity, which is highly inefficient. The Knuth-Morris-Pratt (KMP) algorithm, published in 1977, solves this problem. It achieves O(n+m) linear time complexity.
The core breakthrough of KMP is that the text pointer never backtracks. It only moves forward. When a mismatch occurs, KMP uses a precomputed table to slide the pattern past positions that are guaranteed to fail.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The Prefix Function
The secret to KMP is the prefix function, represented as the pi-table. It tracks repeating patterns within the pattern itself.
For each index i, we calculate the longest proper prefix of the subpattern P[0..i] that is also a suffix of P[0..i].
Let us trace P = 'ABABC':
- At i=0 ('A'), pi[0] is 0.
- At i=1 ('AB'), no prefix matches suffix, so pi[1] is 0.
- At i=2 ('ABA'), the prefix 'A' matches the suffix 'A', so pi[2] is 1.
- At i=3 ('ABAB'), the prefix 'AB' matches the suffix 'AB', so pi[3] is 2.
- At i=4 ('ABABC'), no prefix matches suffix, so pi[4] is 0.
If we mismatch after matching 'ABAB', we do not go back to the start. The pi-value of 2 tells us that 'AB' is already matched at the start of our pattern, so we align the third character ('A') with the current text position and keep going.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KMP Search Loop
This slide displays the core loop logic of the KMP search phase. We maintain index i in the text and index j in the pattern.
On character match, we increment both indices. If the pattern is fully matched (j == m), we report a match and slide the pattern using the pi-table value.
On mismatch: if j is greater than 0, we update j to pi[j-1]. This shifts the pattern to align the next best prefix. If j is 0, we cannot shift the pattern, so we simply increment the text pointer i.
Notice that there is no statement decrementing i. This guarantees that the text is scanned in a single forward pass, which is ideal for streaming large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Complexity &amp; Correctness
How do we prove KMP is O(n+m)? We use aggregate analysis. The preprocessing takes O(m) steps. For the search phase, we track the values of i and j.
In each iteration, either i increases (which can happen at most n times), or j decreases (via the pi table). Since j is only incremented when i is incremented, the total number of decrements to j is bounded by the total number of increments, which is at most n.
Therefore, the total number of steps in the search loop is at most 2n, proving the O(n) complexity.
We also prove correctness: why is KMP safe? Because by shifting by the longest proper prefix-suffix match, we guarantee that we do not skip any possible alignment that could match, while skipping all alignments that are mathematically guaranteed to fail.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Applications
KMP is the algorithm of choice for streaming data. In Network Intrusion Detection Systems (IDS), we cannot afford to buffer entire packet streams to backtrack. KMP's forward-only text scanning is perfect here.
It is also used in IDE search-and-replace, DNA sequence matching, and command-line search utilities like grep. This wraps up our presentations on Advanced Data Structures.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Advanced Data Structures</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78992"/>
            <a:ext cx="11292840" cy="384048"/>
          </a:xfrm>
          <a:prstGeom prst="rect">
            <a:avLst/>
          </a:prstGeom>
          <a:noFill/>
          <a:ln/>
        </p:spPr>
        <p:txBody>
          <a:bodyPr wrap="square" rtlCol="0" anchor="ctr"/>
          <a:lstStyle/>
          <a:p>
            <a:pPr algn="ctr" indent="0" marL="0">
              <a:buNone/>
            </a:pPr>
            <a:r>
              <a:rPr lang="en-US" sz="1400" i="1" dirty="0">
                <a:solidFill>
                  <a:srgbClr val="990033"/>
                </a:solidFill>
                <a:latin typeface="Arial" pitchFamily="34" charset="0"/>
                <a:ea typeface="Arial" pitchFamily="34" charset="-122"/>
                <a:cs typeface="Arial" pitchFamily="34" charset="-120"/>
              </a:rPr>
              <a:t>Unit V: Pattern Matching</a:t>
            </a:r>
            <a:endParaRPr lang="en-US" sz="1400" dirty="0"/>
          </a:p>
        </p:txBody>
      </p:sp>
      <p:sp>
        <p:nvSpPr>
          <p:cNvPr id="14" name="Shape 11"/>
          <p:cNvSpPr/>
          <p:nvPr/>
        </p:nvSpPr>
        <p:spPr>
          <a:xfrm>
            <a:off x="1645920" y="1572768"/>
            <a:ext cx="8897112" cy="1280160"/>
          </a:xfrm>
          <a:prstGeom prst="rect">
            <a:avLst/>
          </a:prstGeom>
          <a:solidFill>
            <a:srgbClr val="990033"/>
          </a:solidFill>
          <a:ln w="12700">
            <a:solidFill>
              <a:srgbClr val="990033"/>
            </a:solidFill>
            <a:prstDash val="solid"/>
          </a:ln>
        </p:spPr>
      </p:sp>
      <p:sp>
        <p:nvSpPr>
          <p:cNvPr id="15" name="Text 12"/>
          <p:cNvSpPr/>
          <p:nvPr/>
        </p:nvSpPr>
        <p:spPr>
          <a:xfrm>
            <a:off x="1645920" y="1572768"/>
            <a:ext cx="8897112" cy="1280160"/>
          </a:xfrm>
          <a:prstGeom prst="rect">
            <a:avLst/>
          </a:prstGeom>
          <a:noFill/>
          <a:ln/>
        </p:spPr>
        <p:txBody>
          <a:bodyPr wrap="square" lIns="0" tIns="0" rIns="0" bIns="0"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The Knuth-Morris-Pratt (KMP) Algorithm</a:t>
            </a:r>
            <a:endParaRPr lang="en-US" sz="2800" dirty="0"/>
          </a:p>
        </p:txBody>
      </p:sp>
      <p:sp>
        <p:nvSpPr>
          <p:cNvPr id="16" name="Text 13"/>
          <p:cNvSpPr/>
          <p:nvPr/>
        </p:nvSpPr>
        <p:spPr>
          <a:xfrm>
            <a:off x="457200" y="2999232"/>
            <a:ext cx="11292840" cy="365760"/>
          </a:xfrm>
          <a:prstGeom prst="rect">
            <a:avLst/>
          </a:prstGeom>
          <a:noFill/>
          <a:ln/>
        </p:spPr>
        <p:txBody>
          <a:bodyPr wrap="square" rtlCol="0" anchor="ctr"/>
          <a:lstStyle/>
          <a:p>
            <a:pPr algn="ctr" indent="0" marL="0">
              <a:buNone/>
            </a:pPr>
            <a:r>
              <a:rPr lang="en-US" sz="1500" b="1" dirty="0">
                <a:solidFill>
                  <a:srgbClr val="990033"/>
                </a:solidFill>
                <a:latin typeface="Arial" pitchFamily="34" charset="0"/>
                <a:ea typeface="Arial" pitchFamily="34" charset="-122"/>
                <a:cs typeface="Arial" pitchFamily="34" charset="-120"/>
              </a:rPr>
              <a:t>PPT PRESENTED BY</a:t>
            </a:r>
            <a:endParaRPr lang="en-US" sz="1500" dirty="0"/>
          </a:p>
        </p:txBody>
      </p:sp>
      <p:sp>
        <p:nvSpPr>
          <p:cNvPr id="17" name="Text 14"/>
          <p:cNvSpPr/>
          <p:nvPr/>
        </p:nvSpPr>
        <p:spPr>
          <a:xfrm>
            <a:off x="2926080" y="3438144"/>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NAME :   Srinivas Rao Tammireddy</a:t>
            </a:r>
            <a:endParaRPr lang="en-US" sz="1300" dirty="0"/>
          </a:p>
        </p:txBody>
      </p:sp>
      <p:sp>
        <p:nvSpPr>
          <p:cNvPr id="18" name="Text 15"/>
          <p:cNvSpPr/>
          <p:nvPr/>
        </p:nvSpPr>
        <p:spPr>
          <a:xfrm>
            <a:off x="2926080" y="3840480"/>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ROLL NO :   257Y1D5805</a:t>
            </a:r>
            <a:endParaRPr lang="en-US" sz="1300" dirty="0"/>
          </a:p>
        </p:txBody>
      </p:sp>
      <p:sp>
        <p:nvSpPr>
          <p:cNvPr id="19" name="Text 16"/>
          <p:cNvSpPr/>
          <p:nvPr/>
        </p:nvSpPr>
        <p:spPr>
          <a:xfrm>
            <a:off x="2926080" y="4242816"/>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YEAR :   I Year  I Semester</a:t>
            </a:r>
            <a:endParaRPr lang="en-US" sz="1300" dirty="0"/>
          </a:p>
        </p:txBody>
      </p:sp>
      <p:sp>
        <p:nvSpPr>
          <p:cNvPr id="20" name="Text 17"/>
          <p:cNvSpPr/>
          <p:nvPr/>
        </p:nvSpPr>
        <p:spPr>
          <a:xfrm>
            <a:off x="2926080" y="4645152"/>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ACADEMIC YEAR :   2025 - 2026</a:t>
            </a:r>
            <a:endParaRPr lang="en-US" sz="1300" dirty="0"/>
          </a:p>
        </p:txBody>
      </p:sp>
      <p:sp>
        <p:nvSpPr>
          <p:cNvPr id="21" name="Text 18"/>
          <p:cNvSpPr/>
          <p:nvPr/>
        </p:nvSpPr>
        <p:spPr>
          <a:xfrm>
            <a:off x="457200" y="6080760"/>
            <a:ext cx="11292840" cy="411480"/>
          </a:xfrm>
          <a:prstGeom prst="rect">
            <a:avLst/>
          </a:prstGeom>
          <a:noFill/>
          <a:ln/>
        </p:spPr>
        <p:txBody>
          <a:bodyPr wrap="square" rtlCol="0" anchor="ctr"/>
          <a:lstStyle/>
          <a:p>
            <a:pPr algn="ctr" indent="0" marL="0">
              <a:buNone/>
            </a:pPr>
            <a:r>
              <a:rPr lang="en-US" sz="1400" b="1" dirty="0">
                <a:solidFill>
                  <a:srgbClr val="990033"/>
                </a:solidFill>
                <a:latin typeface="Arial" pitchFamily="34" charset="0"/>
                <a:ea typeface="Arial" pitchFamily="34" charset="-122"/>
                <a:cs typeface="Arial" pitchFamily="34" charset="-120"/>
              </a:rPr>
              <a:t>DEPARTMENT OF COMPUTER SCIENCE AND ENGINEERING</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Advanced Data Structures</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The Pattern Matching Problem</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502920"/>
          </a:xfrm>
          <a:prstGeom prst="rect">
            <a:avLst/>
          </a:prstGeom>
          <a:noFill/>
          <a:ln/>
        </p:spPr>
        <p:txBody>
          <a:bodyPr wrap="square" rtlCol="0" anchor="ctr"/>
          <a:lstStyle/>
          <a:p>
            <a:pPr indent="0" marL="0">
              <a:buNone/>
            </a:pPr>
            <a:r>
              <a:rPr lang="en-US" sz="1400" b="1" dirty="0">
                <a:solidFill>
                  <a:srgbClr val="000000"/>
                </a:solidFill>
                <a:latin typeface="Arial" pitchFamily="34" charset="0"/>
                <a:ea typeface="Arial" pitchFamily="34" charset="-122"/>
                <a:cs typeface="Arial" pitchFamily="34" charset="-120"/>
              </a:rPr>
              <a:t>Pattern Matching </a:t>
            </a:r>
            <a:pPr indent="0" marL="0">
              <a:buNone/>
            </a:pPr>
            <a:r>
              <a:rPr lang="en-US" sz="1400" dirty="0">
                <a:solidFill>
                  <a:srgbClr val="000000"/>
                </a:solidFill>
                <a:latin typeface="Arial" pitchFamily="34" charset="0"/>
                <a:ea typeface="Arial" pitchFamily="34" charset="-122"/>
                <a:cs typeface="Arial" pitchFamily="34" charset="-120"/>
              </a:rPr>
              <a:t>seeks all occurrences of a pattern string P of length m within a text T of length n.</a:t>
            </a:r>
            <a:endParaRPr lang="en-US" sz="1400" dirty="0"/>
          </a:p>
        </p:txBody>
      </p:sp>
      <p:sp>
        <p:nvSpPr>
          <p:cNvPr id="16" name="Shape 13"/>
          <p:cNvSpPr/>
          <p:nvPr/>
        </p:nvSpPr>
        <p:spPr>
          <a:xfrm>
            <a:off x="457200" y="2103120"/>
            <a:ext cx="5394960" cy="3895344"/>
          </a:xfrm>
          <a:prstGeom prst="roundRect">
            <a:avLst>
              <a:gd name="adj" fmla="val 2347"/>
            </a:avLst>
          </a:prstGeom>
          <a:solidFill>
            <a:srgbClr val="E8F5E9"/>
          </a:solidFill>
          <a:ln w="19050">
            <a:solidFill>
              <a:srgbClr val="009900"/>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500" b="1" dirty="0">
                <a:solidFill>
                  <a:srgbClr val="009900"/>
                </a:solidFill>
                <a:latin typeface="Arial" pitchFamily="34" charset="0"/>
                <a:ea typeface="Arial" pitchFamily="34" charset="-122"/>
                <a:cs typeface="Arial" pitchFamily="34" charset="-120"/>
              </a:rPr>
              <a:t>The Naive Search Algorithm</a:t>
            </a:r>
            <a:endParaRPr lang="en-US" sz="1500" dirty="0"/>
          </a:p>
        </p:txBody>
      </p:sp>
      <p:sp>
        <p:nvSpPr>
          <p:cNvPr id="18" name="Text 15"/>
          <p:cNvSpPr/>
          <p:nvPr/>
        </p:nvSpPr>
        <p:spPr>
          <a:xfrm>
            <a:off x="566928" y="2560320"/>
            <a:ext cx="5212080" cy="3364992"/>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How it works:</a:t>
            </a:r>
            <a:pPr indent="0" marL="0">
              <a:buNone/>
            </a:pPr>
            <a:r>
              <a:rPr lang="en-US" sz="1300" dirty="0">
                <a:solidFill>
                  <a:srgbClr val="000000"/>
                </a:solidFill>
                <a:latin typeface="Arial" pitchFamily="34" charset="0"/>
                <a:ea typeface="Arial" pitchFamily="34" charset="-122"/>
                <a:cs typeface="Arial" pitchFamily="34" charset="-120"/>
              </a:rPr>
              <a:t> Aligns the pattern P at the start of text T. Compares character by character.</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Mismatch action:</a:t>
            </a:r>
            <a:pPr indent="0" marL="0">
              <a:buNone/>
            </a:pPr>
            <a:r>
              <a:rPr lang="en-US" sz="1300" dirty="0">
                <a:solidFill>
                  <a:srgbClr val="000000"/>
                </a:solidFill>
                <a:latin typeface="Arial" pitchFamily="34" charset="0"/>
                <a:ea typeface="Arial" pitchFamily="34" charset="-122"/>
                <a:cs typeface="Arial" pitchFamily="34" charset="-120"/>
              </a:rPr>
              <a:t> Shift the pattern by exactly ONE position. Reset comparison index and start over.</a:t>
            </a:r>
            <a:endParaRPr lang="en-US" sz="1300" dirty="0"/>
          </a:p>
          <a:p>
            <a:pPr indent="0" marL="0">
              <a:buNone/>
            </a:pPr>
            <a:r>
              <a:rPr lang="en-US" sz="1300" b="1" dirty="0">
                <a:solidFill>
                  <a:srgbClr val="990033"/>
                </a:solidFill>
                <a:latin typeface="Arial" pitchFamily="34" charset="0"/>
                <a:ea typeface="Arial" pitchFamily="34" charset="-122"/>
                <a:cs typeface="Arial" pitchFamily="34" charset="-120"/>
              </a:rPr>
              <a:t>• Worst-case Complexity:</a:t>
            </a:r>
            <a:pPr indent="0" marL="0">
              <a:buNone/>
            </a:pPr>
            <a:r>
              <a:rPr lang="en-US" sz="1300" dirty="0">
                <a:solidFill>
                  <a:srgbClr val="000000"/>
                </a:solidFill>
                <a:latin typeface="Arial" pitchFamily="34" charset="0"/>
                <a:ea typeface="Arial" pitchFamily="34" charset="-122"/>
                <a:cs typeface="Arial" pitchFamily="34" charset="-120"/>
              </a:rPr>
              <a:t> O(n · m). Occurs when text and pattern have highly repetitive prefixes (e.g. T = 'AAAAAAAB', P = 'AAAB').</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Limitation:</a:t>
            </a:r>
            <a:pPr indent="0" marL="0">
              <a:buNone/>
            </a:pPr>
            <a:r>
              <a:rPr lang="en-US" sz="1300" dirty="0">
                <a:solidFill>
                  <a:srgbClr val="000000"/>
                </a:solidFill>
                <a:latin typeface="Arial" pitchFamily="34" charset="0"/>
                <a:ea typeface="Arial" pitchFamily="34" charset="-122"/>
                <a:cs typeface="Arial" pitchFamily="34" charset="-120"/>
              </a:rPr>
              <a:t> Wastes information. It forgets character matches that have already occurred, resetting the text pointer backwards.</a:t>
            </a:r>
            <a:endParaRPr lang="en-US" sz="1300" dirty="0"/>
          </a:p>
        </p:txBody>
      </p:sp>
      <p:sp>
        <p:nvSpPr>
          <p:cNvPr id="19" name="Shape 16"/>
          <p:cNvSpPr/>
          <p:nvPr/>
        </p:nvSpPr>
        <p:spPr>
          <a:xfrm>
            <a:off x="6035040" y="2103120"/>
            <a:ext cx="5715000" cy="3895344"/>
          </a:xfrm>
          <a:prstGeom prst="roundRect">
            <a:avLst>
              <a:gd name="adj" fmla="val 2347"/>
            </a:avLst>
          </a:prstGeom>
          <a:solidFill>
            <a:srgbClr val="E3F2FD"/>
          </a:solidFill>
          <a:ln w="19050">
            <a:solidFill>
              <a:srgbClr val="1565C0"/>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500" b="1" dirty="0">
                <a:solidFill>
                  <a:srgbClr val="1565C0"/>
                </a:solidFill>
                <a:latin typeface="Arial" pitchFamily="34" charset="0"/>
                <a:ea typeface="Arial" pitchFamily="34" charset="-122"/>
                <a:cs typeface="Arial" pitchFamily="34" charset="-120"/>
              </a:rPr>
              <a:t>The KMP Innovation</a:t>
            </a:r>
            <a:endParaRPr lang="en-US" sz="1500" dirty="0"/>
          </a:p>
        </p:txBody>
      </p:sp>
      <p:sp>
        <p:nvSpPr>
          <p:cNvPr id="21" name="Text 18"/>
          <p:cNvSpPr/>
          <p:nvPr/>
        </p:nvSpPr>
        <p:spPr>
          <a:xfrm>
            <a:off x="6144768" y="2560320"/>
            <a:ext cx="5513832" cy="3364992"/>
          </a:xfrm>
          <a:prstGeom prst="rect">
            <a:avLst/>
          </a:prstGeom>
          <a:noFill/>
          <a:ln/>
        </p:spPr>
        <p:txBody>
          <a:bodyPr wrap="square" lIns="0" tIns="0" rIns="0" bIns="0" rtlCol="0" anchor="ctr"/>
          <a:lstStyle/>
          <a:p>
            <a:pPr indent="0" marL="0">
              <a:buNone/>
            </a:pPr>
            <a:r>
              <a:rPr lang="en-US" sz="1300" b="1" dirty="0">
                <a:solidFill>
                  <a:srgbClr val="006400"/>
                </a:solidFill>
                <a:latin typeface="Arial" pitchFamily="34" charset="0"/>
                <a:ea typeface="Arial" pitchFamily="34" charset="-122"/>
                <a:cs typeface="Arial" pitchFamily="34" charset="-120"/>
              </a:rPr>
              <a:t>• Linear Complexity:</a:t>
            </a:r>
            <a:pPr indent="0" marL="0">
              <a:buNone/>
            </a:pPr>
            <a:r>
              <a:rPr lang="en-US" sz="1300" dirty="0">
                <a:solidFill>
                  <a:srgbClr val="000000"/>
                </a:solidFill>
                <a:latin typeface="Arial" pitchFamily="34" charset="0"/>
                <a:ea typeface="Arial" pitchFamily="34" charset="-122"/>
                <a:cs typeface="Arial" pitchFamily="34" charset="-120"/>
              </a:rPr>
              <a:t> O(n + m) worst-case running time. Preprocesses the pattern in O(m) time and searches in O(n) time.</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No Text Backtracking:</a:t>
            </a:r>
            <a:pPr indent="0" marL="0">
              <a:buNone/>
            </a:pPr>
            <a:r>
              <a:rPr lang="en-US" sz="1300" dirty="0">
                <a:solidFill>
                  <a:srgbClr val="000000"/>
                </a:solidFill>
                <a:latin typeface="Arial" pitchFamily="34" charset="0"/>
                <a:ea typeface="Arial" pitchFamily="34" charset="-122"/>
                <a:cs typeface="Arial" pitchFamily="34" charset="-120"/>
              </a:rPr>
              <a:t> The index scanning the text T NEVER goes backward. We only move the pattern index forward using prior match data.</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Key Idea:</a:t>
            </a:r>
            <a:pPr indent="0" marL="0">
              <a:buNone/>
            </a:pPr>
            <a:r>
              <a:rPr lang="en-US" sz="1300" dirty="0">
                <a:solidFill>
                  <a:srgbClr val="000000"/>
                </a:solidFill>
                <a:latin typeface="Arial" pitchFamily="34" charset="0"/>
                <a:ea typeface="Arial" pitchFamily="34" charset="-122"/>
                <a:cs typeface="Arial" pitchFamily="34" charset="-120"/>
              </a:rPr>
              <a:t> When a mismatch occurs, we know the prefix of the pattern matched up to that point. We look at the pattern itself to determine where to shift, skipping useless alignments.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Advanced Data Structures</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The Prefix Function (π-table / Failure Function)</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45720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The π-table stores the lengths of the longest proper prefix that is also a suffix of the pattern:</a:t>
            </a:r>
            <a:endParaRPr lang="en-US" sz="1400" dirty="0"/>
          </a:p>
        </p:txBody>
      </p:sp>
      <p:sp>
        <p:nvSpPr>
          <p:cNvPr id="16" name="Shape 13"/>
          <p:cNvSpPr/>
          <p:nvPr/>
        </p:nvSpPr>
        <p:spPr>
          <a:xfrm>
            <a:off x="457200" y="2103120"/>
            <a:ext cx="5394960" cy="4114800"/>
          </a:xfrm>
          <a:prstGeom prst="roundRect">
            <a:avLst>
              <a:gd name="adj" fmla="val 2222"/>
            </a:avLst>
          </a:prstGeom>
          <a:solidFill>
            <a:srgbClr val="FCE4EC"/>
          </a:solidFill>
          <a:ln w="19050">
            <a:solidFill>
              <a:srgbClr val="990033"/>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500" b="1" dirty="0">
                <a:solidFill>
                  <a:srgbClr val="990033"/>
                </a:solidFill>
                <a:latin typeface="Arial" pitchFamily="34" charset="0"/>
                <a:ea typeface="Arial" pitchFamily="34" charset="-122"/>
                <a:cs typeface="Arial" pitchFamily="34" charset="-120"/>
              </a:rPr>
              <a:t>Mathematical Definition</a:t>
            </a:r>
            <a:endParaRPr lang="en-US" sz="1500" dirty="0"/>
          </a:p>
        </p:txBody>
      </p:sp>
      <p:sp>
        <p:nvSpPr>
          <p:cNvPr id="18" name="Text 15"/>
          <p:cNvSpPr/>
          <p:nvPr/>
        </p:nvSpPr>
        <p:spPr>
          <a:xfrm>
            <a:off x="566928" y="2606040"/>
            <a:ext cx="5212080" cy="3474720"/>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π[q]:</a:t>
            </a:r>
            <a:pPr indent="0" marL="0">
              <a:buNone/>
            </a:pPr>
            <a:r>
              <a:rPr lang="en-US" sz="1300" dirty="0">
                <a:solidFill>
                  <a:srgbClr val="000000"/>
                </a:solidFill>
                <a:latin typeface="Arial" pitchFamily="34" charset="0"/>
                <a:ea typeface="Arial" pitchFamily="34" charset="-122"/>
                <a:cs typeface="Arial" pitchFamily="34" charset="-120"/>
              </a:rPr>
              <a:t> The length of the longest proper prefix of pattern P[0..q] that is also a suffix of P[0..q].</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Proper Prefix:</a:t>
            </a:r>
            <a:pPr indent="0" marL="0">
              <a:buNone/>
            </a:pPr>
            <a:r>
              <a:rPr lang="en-US" sz="1300" dirty="0">
                <a:solidFill>
                  <a:srgbClr val="000000"/>
                </a:solidFill>
                <a:latin typeface="Arial" pitchFamily="34" charset="0"/>
                <a:ea typeface="Arial" pitchFamily="34" charset="-122"/>
                <a:cs typeface="Arial" pitchFamily="34" charset="-120"/>
              </a:rPr>
              <a:t> A prefix of string S that is not equal to S itself.</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Purpose:</a:t>
            </a:r>
            <a:pPr indent="0" marL="0">
              <a:buNone/>
            </a:pPr>
            <a:r>
              <a:rPr lang="en-US" sz="1300" dirty="0">
                <a:solidFill>
                  <a:srgbClr val="000000"/>
                </a:solidFill>
                <a:latin typeface="Arial" pitchFamily="34" charset="0"/>
                <a:ea typeface="Arial" pitchFamily="34" charset="-122"/>
                <a:cs typeface="Arial" pitchFamily="34" charset="-120"/>
              </a:rPr>
              <a:t> If a mismatch occurs at P[q+1], we do not start over. The value π[q] tells us the length of the matching prefix that is already aligned, allowing us to resume search at index P[π[q]].</a:t>
            </a:r>
            <a:endParaRPr lang="en-US" sz="1300" dirty="0"/>
          </a:p>
          <a:p>
            <a:pPr indent="0" marL="0">
              <a:buNone/>
            </a:pPr>
            <a:r>
              <a:rPr lang="en-US" sz="1300" b="1" dirty="0">
                <a:solidFill>
                  <a:srgbClr val="006400"/>
                </a:solidFill>
                <a:latin typeface="Arial" pitchFamily="34" charset="0"/>
                <a:ea typeface="Arial" pitchFamily="34" charset="-122"/>
                <a:cs typeface="Arial" pitchFamily="34" charset="-120"/>
              </a:rPr>
              <a:t>• Preprocessing time:</a:t>
            </a:r>
            <a:pPr indent="0" marL="0">
              <a:buNone/>
            </a:pPr>
            <a:r>
              <a:rPr lang="en-US" sz="1300" dirty="0">
                <a:solidFill>
                  <a:srgbClr val="000000"/>
                </a:solidFill>
                <a:latin typeface="Arial" pitchFamily="34" charset="0"/>
                <a:ea typeface="Arial" pitchFamily="34" charset="-122"/>
                <a:cs typeface="Arial" pitchFamily="34" charset="-120"/>
              </a:rPr>
              <a:t> Computed in O(m) time using dynamic programming.</a:t>
            </a:r>
            <a:endParaRPr lang="en-US" sz="1300" dirty="0"/>
          </a:p>
        </p:txBody>
      </p:sp>
      <p:sp>
        <p:nvSpPr>
          <p:cNvPr id="19" name="Shape 16"/>
          <p:cNvSpPr/>
          <p:nvPr/>
        </p:nvSpPr>
        <p:spPr>
          <a:xfrm>
            <a:off x="6035040" y="2103120"/>
            <a:ext cx="5715000" cy="4114800"/>
          </a:xfrm>
          <a:prstGeom prst="roundRect">
            <a:avLst>
              <a:gd name="adj" fmla="val 2222"/>
            </a:avLst>
          </a:prstGeom>
          <a:solidFill>
            <a:srgbClr val="FFF9C4"/>
          </a:solidFill>
          <a:ln w="19050">
            <a:solidFill>
              <a:srgbClr val="F57F17"/>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500" b="1" dirty="0">
                <a:solidFill>
                  <a:srgbClr val="F57F17"/>
                </a:solidFill>
                <a:latin typeface="Arial" pitchFamily="34" charset="0"/>
                <a:ea typeface="Arial" pitchFamily="34" charset="-122"/>
                <a:cs typeface="Arial" pitchFamily="34" charset="-120"/>
              </a:rPr>
              <a:t>Example: P = 'ABABC'</a:t>
            </a:r>
            <a:endParaRPr lang="en-US" sz="15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144768" y="2578608"/>
          <a:ext cx="5513832" cy="3474720"/>
        </p:xfrm>
        <a:graphic>
          <a:graphicData uri="http://schemas.openxmlformats.org/drawingml/2006/table">
            <a:tbl>
              <a:tblPr/>
              <a:tblGrid>
                <a:gridCol w="548640"/>
                <a:gridCol w="731520"/>
                <a:gridCol w="731520"/>
                <a:gridCol w="3502152"/>
              </a:tblGrid>
              <a:tr h="579120">
                <a:tc>
                  <a:txBody>
                    <a:bodyPr/>
                    <a:lstStyle/>
                    <a:p>
                      <a:pPr algn="ctr" indent="0" marL="0">
                        <a:buNone/>
                      </a:pPr>
                      <a:r>
                        <a:rPr lang="en-US" sz="1250" b="1" dirty="0">
                          <a:solidFill>
                            <a:srgbClr val="FFFFFF"/>
                          </a:solidFill>
                          <a:latin typeface="Arial" pitchFamily="34" charset="0"/>
                          <a:ea typeface="Arial" pitchFamily="34" charset="-122"/>
                          <a:cs typeface="Arial" pitchFamily="34" charset="-120"/>
                        </a:rPr>
                        <a:t>i</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57F17"/>
                    </a:solidFill>
                  </a:tcPr>
                </a:tc>
                <a:tc>
                  <a:txBody>
                    <a:bodyPr/>
                    <a:lstStyle/>
                    <a:p>
                      <a:pPr algn="ctr" indent="0" marL="0">
                        <a:buNone/>
                      </a:pPr>
                      <a:r>
                        <a:rPr lang="en-US" sz="1250" b="1" dirty="0">
                          <a:solidFill>
                            <a:srgbClr val="FFFFFF"/>
                          </a:solidFill>
                          <a:latin typeface="Arial" pitchFamily="34" charset="0"/>
                          <a:ea typeface="Arial" pitchFamily="34" charset="-122"/>
                          <a:cs typeface="Arial" pitchFamily="34" charset="-120"/>
                        </a:rPr>
                        <a:t>P[i]</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57F17"/>
                    </a:solidFill>
                  </a:tcPr>
                </a:tc>
                <a:tc>
                  <a:txBody>
                    <a:bodyPr/>
                    <a:lstStyle/>
                    <a:p>
                      <a:pPr algn="ctr" indent="0" marL="0">
                        <a:buNone/>
                      </a:pPr>
                      <a:r>
                        <a:rPr lang="en-US" sz="1250" b="1" dirty="0">
                          <a:solidFill>
                            <a:srgbClr val="FFFFFF"/>
                          </a:solidFill>
                          <a:latin typeface="Arial" pitchFamily="34" charset="0"/>
                          <a:ea typeface="Arial" pitchFamily="34" charset="-122"/>
                          <a:cs typeface="Arial" pitchFamily="34" charset="-120"/>
                        </a:rPr>
                        <a:t>π[i]</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57F17"/>
                    </a:solidFill>
                  </a:tcPr>
                </a:tc>
                <a:tc>
                  <a:txBody>
                    <a:bodyPr/>
                    <a:lstStyle/>
                    <a:p>
                      <a:pPr indent="0" marL="0">
                        <a:buNone/>
                      </a:pPr>
                      <a:r>
                        <a:rPr lang="en-US" sz="1250" b="1" dirty="0">
                          <a:solidFill>
                            <a:srgbClr val="FFFFFF"/>
                          </a:solidFill>
                          <a:latin typeface="Arial" pitchFamily="34" charset="0"/>
                          <a:ea typeface="Arial" pitchFamily="34" charset="-122"/>
                          <a:cs typeface="Arial" pitchFamily="34" charset="-120"/>
                        </a:rPr>
                        <a:t>Longest Prefix/Suffix Match</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57F17"/>
                    </a:solidFill>
                  </a:tcPr>
                </a:tc>
              </a:tr>
              <a:tr h="579120">
                <a:tc>
                  <a:txBody>
                    <a:bodyPr/>
                    <a:lstStyle/>
                    <a:p>
                      <a:pPr algn="ctr" indent="0" marL="0">
                        <a:buNone/>
                      </a:pPr>
                      <a:r>
                        <a:rPr lang="en-US" sz="1250" b="1" dirty="0">
                          <a:solidFill>
                            <a:srgbClr val="000000"/>
                          </a:solidFill>
                          <a:latin typeface="Arial" pitchFamily="34" charset="0"/>
                          <a:ea typeface="Arial" pitchFamily="34" charset="-122"/>
                          <a:cs typeface="Arial" pitchFamily="34" charset="-120"/>
                        </a:rPr>
                        <a:t>0</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algn="ctr" indent="0" marL="0">
                        <a:buNone/>
                      </a:pPr>
                      <a:r>
                        <a:rPr lang="en-US" sz="1250" dirty="0">
                          <a:solidFill>
                            <a:srgbClr val="000000"/>
                          </a:solidFill>
                          <a:latin typeface="Arial" pitchFamily="34" charset="0"/>
                          <a:ea typeface="Arial" pitchFamily="34" charset="-122"/>
                          <a:cs typeface="Arial" pitchFamily="34" charset="-120"/>
                        </a:rPr>
                        <a:t>A</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algn="ctr" indent="0" marL="0">
                        <a:buNone/>
                      </a:pPr>
                      <a:r>
                        <a:rPr lang="en-US" sz="1250" b="1" dirty="0">
                          <a:solidFill>
                            <a:srgbClr val="990033"/>
                          </a:solidFill>
                          <a:latin typeface="Arial" pitchFamily="34" charset="0"/>
                          <a:ea typeface="Arial" pitchFamily="34" charset="-122"/>
                          <a:cs typeface="Arial" pitchFamily="34" charset="-120"/>
                        </a:rPr>
                        <a:t>0</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250" i="1" dirty="0">
                          <a:solidFill>
                            <a:srgbClr val="000000"/>
                          </a:solidFill>
                          <a:latin typeface="Arial" pitchFamily="34" charset="0"/>
                          <a:ea typeface="Arial" pitchFamily="34" charset="-122"/>
                          <a:cs typeface="Arial" pitchFamily="34" charset="-120"/>
                        </a:rPr>
                        <a:t>No proper prefix exists</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r>
              <a:tr h="579120">
                <a:tc>
                  <a:txBody>
                    <a:bodyPr/>
                    <a:lstStyle/>
                    <a:p>
                      <a:pPr algn="ctr" indent="0" marL="0">
                        <a:buNone/>
                      </a:pPr>
                      <a:r>
                        <a:rPr lang="en-US" sz="1250" b="1" dirty="0">
                          <a:solidFill>
                            <a:srgbClr val="000000"/>
                          </a:solidFill>
                          <a:latin typeface="Arial" pitchFamily="34" charset="0"/>
                          <a:ea typeface="Arial" pitchFamily="34" charset="-122"/>
                          <a:cs typeface="Arial" pitchFamily="34" charset="-120"/>
                        </a:rPr>
                        <a:t>1</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algn="ctr" indent="0" marL="0">
                        <a:buNone/>
                      </a:pPr>
                      <a:r>
                        <a:rPr lang="en-US" sz="1250" dirty="0">
                          <a:solidFill>
                            <a:srgbClr val="000000"/>
                          </a:solidFill>
                          <a:latin typeface="Arial" pitchFamily="34" charset="0"/>
                          <a:ea typeface="Arial" pitchFamily="34" charset="-122"/>
                          <a:cs typeface="Arial" pitchFamily="34" charset="-120"/>
                        </a:rPr>
                        <a:t>B</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algn="ctr" indent="0" marL="0">
                        <a:buNone/>
                      </a:pPr>
                      <a:r>
                        <a:rPr lang="en-US" sz="1250" b="1" dirty="0">
                          <a:solidFill>
                            <a:srgbClr val="990033"/>
                          </a:solidFill>
                          <a:latin typeface="Arial" pitchFamily="34" charset="0"/>
                          <a:ea typeface="Arial" pitchFamily="34" charset="-122"/>
                          <a:cs typeface="Arial" pitchFamily="34" charset="-120"/>
                        </a:rPr>
                        <a:t>0</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250" i="1" dirty="0">
                          <a:solidFill>
                            <a:srgbClr val="000000"/>
                          </a:solidFill>
                          <a:latin typeface="Arial" pitchFamily="34" charset="0"/>
                          <a:ea typeface="Arial" pitchFamily="34" charset="-122"/>
                          <a:cs typeface="Arial" pitchFamily="34" charset="-120"/>
                        </a:rPr>
                        <a:t>No prefix-suffix match for 'AB'</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r>
              <a:tr h="579120">
                <a:tc>
                  <a:txBody>
                    <a:bodyPr/>
                    <a:lstStyle/>
                    <a:p>
                      <a:pPr algn="ctr" indent="0" marL="0">
                        <a:buNone/>
                      </a:pPr>
                      <a:r>
                        <a:rPr lang="en-US" sz="1250" b="1" dirty="0">
                          <a:solidFill>
                            <a:srgbClr val="000000"/>
                          </a:solidFill>
                          <a:latin typeface="Arial" pitchFamily="34" charset="0"/>
                          <a:ea typeface="Arial" pitchFamily="34" charset="-122"/>
                          <a:cs typeface="Arial" pitchFamily="34" charset="-120"/>
                        </a:rPr>
                        <a:t>2</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algn="ctr" indent="0" marL="0">
                        <a:buNone/>
                      </a:pPr>
                      <a:r>
                        <a:rPr lang="en-US" sz="1250" dirty="0">
                          <a:solidFill>
                            <a:srgbClr val="000000"/>
                          </a:solidFill>
                          <a:latin typeface="Arial" pitchFamily="34" charset="0"/>
                          <a:ea typeface="Arial" pitchFamily="34" charset="-122"/>
                          <a:cs typeface="Arial" pitchFamily="34" charset="-120"/>
                        </a:rPr>
                        <a:t>A</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algn="ctr" indent="0" marL="0">
                        <a:buNone/>
                      </a:pPr>
                      <a:r>
                        <a:rPr lang="en-US" sz="1250" b="1" dirty="0">
                          <a:solidFill>
                            <a:srgbClr val="006400"/>
                          </a:solidFill>
                          <a:latin typeface="Arial" pitchFamily="34" charset="0"/>
                          <a:ea typeface="Arial" pitchFamily="34" charset="-122"/>
                          <a:cs typeface="Arial" pitchFamily="34" charset="-120"/>
                        </a:rPr>
                        <a:t>1</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250" dirty="0">
                          <a:solidFill>
                            <a:srgbClr val="000000"/>
                          </a:solidFill>
                          <a:latin typeface="Arial" pitchFamily="34" charset="0"/>
                          <a:ea typeface="Arial" pitchFamily="34" charset="-122"/>
                          <a:cs typeface="Arial" pitchFamily="34" charset="-120"/>
                        </a:rPr>
                        <a:t>Prefix 'A' matches suffix 'A'</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r>
              <a:tr h="579120">
                <a:tc>
                  <a:txBody>
                    <a:bodyPr/>
                    <a:lstStyle/>
                    <a:p>
                      <a:pPr algn="ctr" indent="0" marL="0">
                        <a:buNone/>
                      </a:pPr>
                      <a:r>
                        <a:rPr lang="en-US" sz="1250" b="1" dirty="0">
                          <a:solidFill>
                            <a:srgbClr val="000000"/>
                          </a:solidFill>
                          <a:latin typeface="Arial" pitchFamily="34" charset="0"/>
                          <a:ea typeface="Arial" pitchFamily="34" charset="-122"/>
                          <a:cs typeface="Arial" pitchFamily="34" charset="-120"/>
                        </a:rPr>
                        <a:t>3</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algn="ctr" indent="0" marL="0">
                        <a:buNone/>
                      </a:pPr>
                      <a:r>
                        <a:rPr lang="en-US" sz="1250" dirty="0">
                          <a:solidFill>
                            <a:srgbClr val="000000"/>
                          </a:solidFill>
                          <a:latin typeface="Arial" pitchFamily="34" charset="0"/>
                          <a:ea typeface="Arial" pitchFamily="34" charset="-122"/>
                          <a:cs typeface="Arial" pitchFamily="34" charset="-120"/>
                        </a:rPr>
                        <a:t>B</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algn="ctr" indent="0" marL="0">
                        <a:buNone/>
                      </a:pPr>
                      <a:r>
                        <a:rPr lang="en-US" sz="1250" b="1" dirty="0">
                          <a:solidFill>
                            <a:srgbClr val="006400"/>
                          </a:solidFill>
                          <a:latin typeface="Arial" pitchFamily="34" charset="0"/>
                          <a:ea typeface="Arial" pitchFamily="34" charset="-122"/>
                          <a:cs typeface="Arial" pitchFamily="34" charset="-120"/>
                        </a:rPr>
                        <a:t>2</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250" dirty="0">
                          <a:solidFill>
                            <a:srgbClr val="000000"/>
                          </a:solidFill>
                          <a:latin typeface="Arial" pitchFamily="34" charset="0"/>
                          <a:ea typeface="Arial" pitchFamily="34" charset="-122"/>
                          <a:cs typeface="Arial" pitchFamily="34" charset="-120"/>
                        </a:rPr>
                        <a:t>Prefix 'AB' matches suffix 'AB'</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r>
              <a:tr h="579120">
                <a:tc>
                  <a:txBody>
                    <a:bodyPr/>
                    <a:lstStyle/>
                    <a:p>
                      <a:pPr algn="ctr" indent="0" marL="0">
                        <a:buNone/>
                      </a:pPr>
                      <a:r>
                        <a:rPr lang="en-US" sz="1250" b="1" dirty="0">
                          <a:solidFill>
                            <a:srgbClr val="000000"/>
                          </a:solidFill>
                          <a:latin typeface="Arial" pitchFamily="34" charset="0"/>
                          <a:ea typeface="Arial" pitchFamily="34" charset="-122"/>
                          <a:cs typeface="Arial" pitchFamily="34" charset="-120"/>
                        </a:rPr>
                        <a:t>4</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algn="ctr" indent="0" marL="0">
                        <a:buNone/>
                      </a:pPr>
                      <a:r>
                        <a:rPr lang="en-US" sz="1250" dirty="0">
                          <a:solidFill>
                            <a:srgbClr val="000000"/>
                          </a:solidFill>
                          <a:latin typeface="Arial" pitchFamily="34" charset="0"/>
                          <a:ea typeface="Arial" pitchFamily="34" charset="-122"/>
                          <a:cs typeface="Arial" pitchFamily="34" charset="-120"/>
                        </a:rPr>
                        <a:t>C</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algn="ctr" indent="0" marL="0">
                        <a:buNone/>
                      </a:pPr>
                      <a:r>
                        <a:rPr lang="en-US" sz="1250" b="1" dirty="0">
                          <a:solidFill>
                            <a:srgbClr val="990033"/>
                          </a:solidFill>
                          <a:latin typeface="Arial" pitchFamily="34" charset="0"/>
                          <a:ea typeface="Arial" pitchFamily="34" charset="-122"/>
                          <a:cs typeface="Arial" pitchFamily="34" charset="-120"/>
                        </a:rPr>
                        <a:t>0</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indent="0" marL="0">
                        <a:buNone/>
                      </a:pPr>
                      <a:r>
                        <a:rPr lang="en-US" sz="1250" i="1" dirty="0">
                          <a:solidFill>
                            <a:srgbClr val="000000"/>
                          </a:solidFill>
                          <a:latin typeface="Arial" pitchFamily="34" charset="0"/>
                          <a:ea typeface="Arial" pitchFamily="34" charset="-122"/>
                          <a:cs typeface="Arial" pitchFamily="34" charset="-120"/>
                        </a:rPr>
                        <a:t>No match for 'ABABC'</a:t>
                      </a:r>
                      <a:endParaRPr lang="en-US" sz="1250" dirty="0">
                        <a:latin typeface="Arial" charset="0"/>
                        <a:ea typeface="Arial" charset="0"/>
                        <a:cs typeface="Arial" charset="0"/>
                      </a:endParaRPr>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Advanced Data Structures</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KMP Matcher Algorithm</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45720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How the KMP algorithm matches patterns in linear time:</a:t>
            </a:r>
            <a:endParaRPr lang="en-US" sz="1400" dirty="0"/>
          </a:p>
        </p:txBody>
      </p:sp>
      <p:sp>
        <p:nvSpPr>
          <p:cNvPr id="16" name="Shape 13"/>
          <p:cNvSpPr/>
          <p:nvPr/>
        </p:nvSpPr>
        <p:spPr>
          <a:xfrm>
            <a:off x="457200" y="2103120"/>
            <a:ext cx="11292840" cy="4389120"/>
          </a:xfrm>
          <a:prstGeom prst="roundRect">
            <a:avLst>
              <a:gd name="adj" fmla="val 2083"/>
            </a:avLst>
          </a:prstGeom>
          <a:solidFill>
            <a:srgbClr val="E8F5E9"/>
          </a:solidFill>
          <a:ln w="19050">
            <a:solidFill>
              <a:srgbClr val="009900"/>
            </a:solidFill>
            <a:prstDash val="solid"/>
          </a:ln>
        </p:spPr>
      </p:sp>
      <p:sp>
        <p:nvSpPr>
          <p:cNvPr id="17" name="Text 14"/>
          <p:cNvSpPr/>
          <p:nvPr/>
        </p:nvSpPr>
        <p:spPr>
          <a:xfrm>
            <a:off x="566928" y="2176272"/>
            <a:ext cx="11073384" cy="347472"/>
          </a:xfrm>
          <a:prstGeom prst="rect">
            <a:avLst/>
          </a:prstGeom>
          <a:noFill/>
          <a:ln/>
        </p:spPr>
        <p:txBody>
          <a:bodyPr wrap="square" lIns="0" tIns="0" rIns="0" bIns="0" rtlCol="0" anchor="ctr"/>
          <a:lstStyle/>
          <a:p>
            <a:pPr indent="0" marL="0">
              <a:buNone/>
            </a:pPr>
            <a:r>
              <a:rPr lang="en-US" sz="1500" b="1" dirty="0">
                <a:solidFill>
                  <a:srgbClr val="009900"/>
                </a:solidFill>
                <a:latin typeface="Arial" pitchFamily="34" charset="0"/>
                <a:ea typeface="Arial" pitchFamily="34" charset="-122"/>
                <a:cs typeface="Arial" pitchFamily="34" charset="-120"/>
              </a:rPr>
              <a:t>KMP Search Loop Logic</a:t>
            </a:r>
            <a:endParaRPr lang="en-US" sz="1500" dirty="0"/>
          </a:p>
        </p:txBody>
      </p:sp>
      <p:sp>
        <p:nvSpPr>
          <p:cNvPr id="18" name="Text 15"/>
          <p:cNvSpPr/>
          <p:nvPr/>
        </p:nvSpPr>
        <p:spPr>
          <a:xfrm>
            <a:off x="566928" y="2606040"/>
            <a:ext cx="11073384" cy="3657600"/>
          </a:xfrm>
          <a:prstGeom prst="rect">
            <a:avLst/>
          </a:prstGeom>
          <a:noFill/>
          <a:ln/>
        </p:spPr>
        <p:txBody>
          <a:bodyPr wrap="square" lIns="0" tIns="0" rIns="0" bIns="0" rtlCol="0" anchor="ctr"/>
          <a:lstStyle/>
          <a:p>
            <a:pPr indent="0" marL="0">
              <a:buNone/>
            </a:pPr>
            <a:r>
              <a:rPr lang="en-US" sz="1350" dirty="0">
                <a:solidFill>
                  <a:srgbClr val="000000"/>
                </a:solidFill>
                <a:latin typeface="Arial" pitchFamily="34" charset="0"/>
                <a:ea typeface="Arial" pitchFamily="34" charset="-122"/>
                <a:cs typeface="Arial" pitchFamily="34" charset="-120"/>
              </a:rPr>
              <a:t>Let text be T of length n, pattern be P of length m. Maintain indices i for T and j for P:</a:t>
            </a:r>
            <a:endParaRPr lang="en-US" sz="1350" dirty="0"/>
          </a:p>
          <a:p>
            <a:pPr indent="0" marL="0">
              <a:buNone/>
            </a:pPr>
            <a:r>
              <a:rPr lang="en-US" sz="1350" b="1" dirty="0">
                <a:solidFill>
                  <a:srgbClr val="000000"/>
                </a:solidFill>
                <a:latin typeface="Arial" pitchFamily="34" charset="0"/>
                <a:ea typeface="Arial" pitchFamily="34" charset="-122"/>
                <a:cs typeface="Arial" pitchFamily="34" charset="-120"/>
              </a:rPr>
              <a:t>1. Initialize:</a:t>
            </a:r>
            <a:pPr indent="0" marL="0">
              <a:buNone/>
            </a:pPr>
            <a:r>
              <a:rPr lang="en-US" sz="1350" dirty="0">
                <a:solidFill>
                  <a:srgbClr val="000000"/>
                </a:solidFill>
                <a:latin typeface="Arial" pitchFamily="34" charset="0"/>
                <a:ea typeface="Arial" pitchFamily="34" charset="-122"/>
                <a:cs typeface="Arial" pitchFamily="34" charset="-120"/>
              </a:rPr>
              <a:t> i = 0 (text scan pointer), j = 0 (pattern match pointer). Compute π-table for P.</a:t>
            </a:r>
            <a:endParaRPr lang="en-US" sz="1350" dirty="0"/>
          </a:p>
          <a:p>
            <a:pPr indent="0" marL="0">
              <a:buNone/>
            </a:pPr>
            <a:r>
              <a:rPr lang="en-US" sz="1350" b="1" dirty="0">
                <a:solidFill>
                  <a:srgbClr val="000000"/>
                </a:solidFill>
                <a:latin typeface="Arial" pitchFamily="34" charset="0"/>
                <a:ea typeface="Arial" pitchFamily="34" charset="-122"/>
                <a:cs typeface="Arial" pitchFamily="34" charset="-120"/>
              </a:rPr>
              <a:t>2. Search Loop:</a:t>
            </a:r>
            <a:pPr indent="0" marL="0">
              <a:buNone/>
            </a:pPr>
            <a:r>
              <a:rPr lang="en-US" sz="1350" dirty="0">
                <a:solidFill>
                  <a:srgbClr val="000000"/>
                </a:solidFill>
                <a:latin typeface="Arial" pitchFamily="34" charset="0"/>
                <a:ea typeface="Arial" pitchFamily="34" charset="-122"/>
                <a:cs typeface="Arial" pitchFamily="34" charset="-120"/>
              </a:rPr>
              <a:t> While i &lt; n:</a:t>
            </a:r>
            <a:endParaRPr lang="en-US" sz="1350" dirty="0"/>
          </a:p>
          <a:p>
            <a:pPr indent="0" marL="0">
              <a:buNone/>
            </a:pPr>
            <a:r>
              <a:rPr lang="en-US" sz="1350" b="1" dirty="0">
                <a:solidFill>
                  <a:srgbClr val="006400"/>
                </a:solidFill>
                <a:latin typeface="Arial" pitchFamily="34" charset="0"/>
                <a:ea typeface="Arial" pitchFamily="34" charset="-122"/>
                <a:cs typeface="Arial" pitchFamily="34" charset="-120"/>
              </a:rPr>
              <a:t>   • If T[i] == P[j]:</a:t>
            </a:r>
            <a:pPr indent="0" marL="0">
              <a:buNone/>
            </a:pPr>
            <a:r>
              <a:rPr lang="en-US" sz="1350" dirty="0">
                <a:solidFill>
                  <a:srgbClr val="000000"/>
                </a:solidFill>
                <a:latin typeface="Arial" pitchFamily="34" charset="0"/>
                <a:ea typeface="Arial" pitchFamily="34" charset="-122"/>
                <a:cs typeface="Arial" pitchFamily="34" charset="-120"/>
              </a:rPr>
              <a:t> Characters match! Increment both: i++ and j++.</a:t>
            </a:r>
            <a:endParaRPr lang="en-US" sz="1350" dirty="0"/>
          </a:p>
          <a:p>
            <a:pPr indent="0" marL="0">
              <a:buNone/>
            </a:pPr>
            <a:r>
              <a:rPr lang="en-US" sz="1350" b="1" dirty="0">
                <a:solidFill>
                  <a:srgbClr val="006400"/>
                </a:solidFill>
                <a:latin typeface="Arial" pitchFamily="34" charset="0"/>
                <a:ea typeface="Arial" pitchFamily="34" charset="-122"/>
                <a:cs typeface="Arial" pitchFamily="34" charset="-120"/>
              </a:rPr>
              <a:t>   • If j == m:</a:t>
            </a:r>
            <a:pPr indent="0" marL="0">
              <a:buNone/>
            </a:pPr>
            <a:r>
              <a:rPr lang="en-US" sz="1350" dirty="0">
                <a:solidFill>
                  <a:srgbClr val="000000"/>
                </a:solidFill>
                <a:latin typeface="Arial" pitchFamily="34" charset="0"/>
                <a:ea typeface="Arial" pitchFamily="34" charset="-122"/>
                <a:cs typeface="Arial" pitchFamily="34" charset="-120"/>
              </a:rPr>
              <a:t> Pattern found! Report occurrence at index i - m. Slide pattern: set j = π[j - 1].</a:t>
            </a:r>
            <a:endParaRPr lang="en-US" sz="1350" dirty="0"/>
          </a:p>
          <a:p>
            <a:pPr indent="0" marL="0">
              <a:buNone/>
            </a:pPr>
            <a:r>
              <a:rPr lang="en-US" sz="1350" b="1" dirty="0">
                <a:solidFill>
                  <a:srgbClr val="990033"/>
                </a:solidFill>
                <a:latin typeface="Arial" pitchFamily="34" charset="0"/>
                <a:ea typeface="Arial" pitchFamily="34" charset="-122"/>
                <a:cs typeface="Arial" pitchFamily="34" charset="-120"/>
              </a:rPr>
              <a:t>   • If T[i] != P[j] (Mismatch):</a:t>
            </a:r>
            <a:pPr indent="0" marL="0">
              <a:buNone/>
            </a:pPr>
            <a:r>
              <a:rPr lang="en-US" sz="1350" dirty="0">
                <a:solidFill>
                  <a:srgbClr val="000000"/>
                </a:solidFill>
                <a:latin typeface="Arial" pitchFamily="34" charset="0"/>
                <a:ea typeface="Arial" pitchFamily="34" charset="-122"/>
                <a:cs typeface="Arial" pitchFamily="34" charset="-120"/>
              </a:rPr>
              <a:t> Slide pattern without backtracking i:</a:t>
            </a:r>
            <a:endParaRPr lang="en-US" sz="1350" dirty="0"/>
          </a:p>
          <a:p>
            <a:pPr indent="0" marL="0">
              <a:buNone/>
            </a:pPr>
            <a:r>
              <a:rPr lang="en-US" sz="1350" dirty="0">
                <a:solidFill>
                  <a:srgbClr val="000000"/>
                </a:solidFill>
                <a:latin typeface="Arial" pitchFamily="34" charset="0"/>
                <a:ea typeface="Arial" pitchFamily="34" charset="-122"/>
                <a:cs typeface="Arial" pitchFamily="34" charset="-120"/>
              </a:rPr>
              <a:t>       - If j &gt; 0: set j = π[j - 1] (shift pattern to align the longest matching prefix).</a:t>
            </a:r>
            <a:endParaRPr lang="en-US" sz="1350" dirty="0"/>
          </a:p>
          <a:p>
            <a:pPr indent="0" marL="0">
              <a:buNone/>
            </a:pPr>
            <a:r>
              <a:rPr lang="en-US" sz="1350" dirty="0">
                <a:solidFill>
                  <a:srgbClr val="000000"/>
                </a:solidFill>
                <a:latin typeface="Arial" pitchFamily="34" charset="0"/>
                <a:ea typeface="Arial" pitchFamily="34" charset="-122"/>
                <a:cs typeface="Arial" pitchFamily="34" charset="-120"/>
              </a:rPr>
              <a:t>       - If j == 0: cannot shift. Simply move text pointer forward: i++.</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Advanced Data Structures</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Complexity &amp; Correctness Proof</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45720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Mathematical analysis of KMP's performance bounds:</a:t>
            </a:r>
            <a:endParaRPr lang="en-US" sz="1400" dirty="0"/>
          </a:p>
        </p:txBody>
      </p:sp>
      <p:sp>
        <p:nvSpPr>
          <p:cNvPr id="16" name="Shape 13"/>
          <p:cNvSpPr/>
          <p:nvPr/>
        </p:nvSpPr>
        <p:spPr>
          <a:xfrm>
            <a:off x="457200" y="2103120"/>
            <a:ext cx="5394960" cy="4114800"/>
          </a:xfrm>
          <a:prstGeom prst="roundRect">
            <a:avLst>
              <a:gd name="adj" fmla="val 2222"/>
            </a:avLst>
          </a:prstGeom>
          <a:solidFill>
            <a:srgbClr val="E3F2FD"/>
          </a:solidFill>
          <a:ln w="19050">
            <a:solidFill>
              <a:srgbClr val="1565C0"/>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500" b="1" dirty="0">
                <a:solidFill>
                  <a:srgbClr val="1565C0"/>
                </a:solidFill>
                <a:latin typeface="Arial" pitchFamily="34" charset="0"/>
                <a:ea typeface="Arial" pitchFamily="34" charset="-122"/>
                <a:cs typeface="Arial" pitchFamily="34" charset="-120"/>
              </a:rPr>
              <a:t>Time Complexity Proof</a:t>
            </a:r>
            <a:endParaRPr lang="en-US" sz="1500" dirty="0"/>
          </a:p>
        </p:txBody>
      </p:sp>
      <p:sp>
        <p:nvSpPr>
          <p:cNvPr id="18" name="Text 15"/>
          <p:cNvSpPr/>
          <p:nvPr/>
        </p:nvSpPr>
        <p:spPr>
          <a:xfrm>
            <a:off x="566928" y="2606040"/>
            <a:ext cx="5212080" cy="3474720"/>
          </a:xfrm>
          <a:prstGeom prst="rect">
            <a:avLst/>
          </a:prstGeom>
          <a:noFill/>
          <a:ln/>
        </p:spPr>
        <p:txBody>
          <a:bodyPr wrap="square" lIns="0" tIns="0" rIns="0" bIns="0" rtlCol="0" anchor="ctr"/>
          <a:lstStyle/>
          <a:p>
            <a:pPr indent="0" marL="0">
              <a:buNone/>
            </a:pPr>
            <a:r>
              <a:rPr lang="en-US" sz="1250" b="1" dirty="0">
                <a:solidFill>
                  <a:srgbClr val="000000"/>
                </a:solidFill>
                <a:latin typeface="Arial" pitchFamily="34" charset="0"/>
                <a:ea typeface="Arial" pitchFamily="34" charset="-122"/>
                <a:cs typeface="Arial" pitchFamily="34" charset="-120"/>
              </a:rPr>
              <a:t>• Split phase costs:</a:t>
            </a:r>
            <a:pPr indent="0" marL="0">
              <a:buNone/>
            </a:pPr>
            <a:r>
              <a:rPr lang="en-US" sz="1250" dirty="0">
                <a:solidFill>
                  <a:srgbClr val="000000"/>
                </a:solidFill>
                <a:latin typeface="Arial" pitchFamily="34" charset="0"/>
                <a:ea typeface="Arial" pitchFamily="34" charset="-122"/>
                <a:cs typeface="Arial" pitchFamily="34" charset="-120"/>
              </a:rPr>
              <a:t> Preprocessing takes O(m) steps. Searching takes O(n) steps. Total time is O(n + m).</a:t>
            </a:r>
            <a:endParaRPr lang="en-US" sz="1250" dirty="0"/>
          </a:p>
          <a:p>
            <a:pPr indent="0" marL="0">
              <a:buNone/>
            </a:pPr>
            <a:r>
              <a:rPr lang="en-US" sz="1250" b="1" dirty="0">
                <a:solidFill>
                  <a:srgbClr val="1565C0"/>
                </a:solidFill>
                <a:latin typeface="Arial" pitchFamily="34" charset="0"/>
                <a:ea typeface="Arial" pitchFamily="34" charset="-122"/>
                <a:cs typeface="Arial" pitchFamily="34" charset="-120"/>
              </a:rPr>
              <a:t>• Search Cost Analysis (Amortized):</a:t>
            </a:r>
            <a:pPr indent="0" marL="0">
              <a:buNone/>
            </a:pPr>
            <a:r>
              <a:rPr lang="en-US" sz="1250" dirty="0">
                <a:solidFill>
                  <a:srgbClr val="000000"/>
                </a:solidFill>
                <a:latin typeface="Arial" pitchFamily="34" charset="0"/>
                <a:ea typeface="Arial" pitchFamily="34" charset="-122"/>
                <a:cs typeface="Arial" pitchFamily="34" charset="-120"/>
              </a:rPr>
              <a:t> Let's count the number of comparisons. The loop runs at most 2n times because:</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 The index i increases in every step (either by matching or by j == 0 mismatch). It never decreases. Hence, at most n increments.</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 The index j changes. We increment j when characters match (at most n times). When we reset j = π[j-1] on mismatch, j decreases.</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 Since j starts at 0, is incremented at most n times, and can never drop below 0, it can decrease at most n times. Hence, j = π[j-1] can be executed at most n times.</a:t>
            </a:r>
            <a:endParaRPr lang="en-US" sz="1250" dirty="0"/>
          </a:p>
          <a:p>
            <a:pPr indent="0" marL="0">
              <a:buNone/>
            </a:pPr>
            <a:r>
              <a:rPr lang="en-US" sz="1250" b="1" dirty="0">
                <a:solidFill>
                  <a:srgbClr val="000000"/>
                </a:solidFill>
                <a:latin typeface="Arial" pitchFamily="34" charset="0"/>
                <a:ea typeface="Arial" pitchFamily="34" charset="-122"/>
                <a:cs typeface="Arial" pitchFamily="34" charset="-120"/>
              </a:rPr>
              <a:t>• Total operations ≤ 2n.</a:t>
            </a:r>
            <a:endParaRPr lang="en-US" sz="1250" dirty="0"/>
          </a:p>
        </p:txBody>
      </p:sp>
      <p:sp>
        <p:nvSpPr>
          <p:cNvPr id="19" name="Shape 16"/>
          <p:cNvSpPr/>
          <p:nvPr/>
        </p:nvSpPr>
        <p:spPr>
          <a:xfrm>
            <a:off x="6035040" y="2103120"/>
            <a:ext cx="5715000" cy="4114800"/>
          </a:xfrm>
          <a:prstGeom prst="roundRect">
            <a:avLst>
              <a:gd name="adj" fmla="val 2222"/>
            </a:avLst>
          </a:prstGeom>
          <a:solidFill>
            <a:srgbClr val="FCE4EC"/>
          </a:solidFill>
          <a:ln w="19050">
            <a:solidFill>
              <a:srgbClr val="990033"/>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500" b="1" dirty="0">
                <a:solidFill>
                  <a:srgbClr val="990033"/>
                </a:solidFill>
                <a:latin typeface="Arial" pitchFamily="34" charset="0"/>
                <a:ea typeface="Arial" pitchFamily="34" charset="-122"/>
                <a:cs typeface="Arial" pitchFamily="34" charset="-120"/>
              </a:rPr>
              <a:t>Correctness and Safety</a:t>
            </a:r>
            <a:endParaRPr lang="en-US" sz="1500" dirty="0"/>
          </a:p>
        </p:txBody>
      </p:sp>
      <p:sp>
        <p:nvSpPr>
          <p:cNvPr id="21" name="Text 18"/>
          <p:cNvSpPr/>
          <p:nvPr/>
        </p:nvSpPr>
        <p:spPr>
          <a:xfrm>
            <a:off x="6144768" y="2606040"/>
            <a:ext cx="5513832" cy="3474720"/>
          </a:xfrm>
          <a:prstGeom prst="rect">
            <a:avLst/>
          </a:prstGeom>
          <a:noFill/>
          <a:ln/>
        </p:spPr>
        <p:txBody>
          <a:bodyPr wrap="square" lIns="0" tIns="0" rIns="0" bIns="0" rtlCol="0" anchor="ctr"/>
          <a:lstStyle/>
          <a:p>
            <a:pPr indent="0" marL="0">
              <a:buNone/>
            </a:pPr>
            <a:r>
              <a:rPr lang="en-US" sz="1250" b="1" dirty="0">
                <a:solidFill>
                  <a:srgbClr val="000000"/>
                </a:solidFill>
                <a:latin typeface="Arial" pitchFamily="34" charset="0"/>
                <a:ea typeface="Arial" pitchFamily="34" charset="-122"/>
                <a:cs typeface="Arial" pitchFamily="34" charset="-120"/>
              </a:rPr>
              <a:t>• No Missed Matches:</a:t>
            </a:r>
            <a:pPr indent="0" marL="0">
              <a:buNone/>
            </a:pPr>
            <a:r>
              <a:rPr lang="en-US" sz="1250" dirty="0">
                <a:solidFill>
                  <a:srgbClr val="000000"/>
                </a:solidFill>
                <a:latin typeface="Arial" pitchFamily="34" charset="0"/>
                <a:ea typeface="Arial" pitchFamily="34" charset="-122"/>
                <a:cs typeface="Arial" pitchFamily="34" charset="-120"/>
              </a:rPr>
              <a:t> We must prove that KMP never skips a valid alignment of the pattern.</a:t>
            </a:r>
            <a:endParaRPr lang="en-US" sz="1250" dirty="0"/>
          </a:p>
          <a:p>
            <a:pPr indent="0" marL="0">
              <a:buNone/>
            </a:pPr>
            <a:r>
              <a:rPr lang="en-US" sz="1250" b="1" dirty="0">
                <a:solidFill>
                  <a:srgbClr val="990033"/>
                </a:solidFill>
                <a:latin typeface="Arial" pitchFamily="34" charset="0"/>
                <a:ea typeface="Arial" pitchFamily="34" charset="-122"/>
                <a:cs typeface="Arial" pitchFamily="34" charset="-120"/>
              </a:rPr>
              <a:t>• Shift Safety Proof:</a:t>
            </a:r>
            <a:pPr indent="0" marL="0">
              <a:buNone/>
            </a:pPr>
            <a:r>
              <a:rPr lang="en-US" sz="1250" dirty="0">
                <a:solidFill>
                  <a:srgbClr val="000000"/>
                </a:solidFill>
                <a:latin typeface="Arial" pitchFamily="34" charset="0"/>
                <a:ea typeface="Arial" pitchFamily="34" charset="-122"/>
                <a:cs typeface="Arial" pitchFamily="34" charset="-120"/>
              </a:rPr>
              <a:t> Suppose we mismatch at P[j]. We know P[0..j-1] matches T[i-j..i-1]. We shift P by setting j = π[j-1].</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 This is the largest shift size where the new alignment could possibly match.</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 Any smaller shift (which corresponds to a longer prefix matching a suffix of P[0..j-1]) is checked because π[j-1] is defined as the MAXIMUM prefix-suffix overlap.</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 Any intermediate shift cannot match because it would require a suffix of P[0..j-1] to match a prefix of P, which is mathematically impossible since π[j-1] is the longest such match.</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Advanced Data Structures</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Applications of KMP in Computer Science</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36576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KMP is widely used in systems requiring fast, streaming pattern searching:</a:t>
            </a:r>
            <a:endParaRPr lang="en-US" sz="1400" dirty="0"/>
          </a:p>
        </p:txBody>
      </p:sp>
      <p:sp>
        <p:nvSpPr>
          <p:cNvPr id="16" name="Shape 13"/>
          <p:cNvSpPr/>
          <p:nvPr/>
        </p:nvSpPr>
        <p:spPr>
          <a:xfrm>
            <a:off x="457200" y="2011680"/>
            <a:ext cx="5532120" cy="1956816"/>
          </a:xfrm>
          <a:prstGeom prst="roundRect">
            <a:avLst>
              <a:gd name="adj" fmla="val 4673"/>
            </a:avLst>
          </a:prstGeom>
          <a:solidFill>
            <a:srgbClr val="E8F5E9"/>
          </a:solidFill>
          <a:ln w="19050">
            <a:solidFill>
              <a:srgbClr val="009900"/>
            </a:solidFill>
            <a:prstDash val="solid"/>
          </a:ln>
        </p:spPr>
      </p:sp>
      <p:sp>
        <p:nvSpPr>
          <p:cNvPr id="17" name="Text 14"/>
          <p:cNvSpPr/>
          <p:nvPr/>
        </p:nvSpPr>
        <p:spPr>
          <a:xfrm>
            <a:off x="566928" y="2103120"/>
            <a:ext cx="5312664" cy="347472"/>
          </a:xfrm>
          <a:prstGeom prst="rect">
            <a:avLst/>
          </a:prstGeom>
          <a:noFill/>
          <a:ln/>
        </p:spPr>
        <p:txBody>
          <a:bodyPr wrap="square" lIns="0" tIns="0" rIns="0" bIns="0" rtlCol="0" anchor="ctr"/>
          <a:lstStyle/>
          <a:p>
            <a:pPr indent="0" marL="0">
              <a:buNone/>
            </a:pPr>
            <a:r>
              <a:rPr lang="en-US" sz="1450" b="1" dirty="0">
                <a:solidFill>
                  <a:srgbClr val="009900"/>
                </a:solidFill>
                <a:latin typeface="Arial" pitchFamily="34" charset="0"/>
                <a:ea typeface="Arial" pitchFamily="34" charset="-122"/>
                <a:cs typeface="Arial" pitchFamily="34" charset="-120"/>
              </a:rPr>
              <a:t>🔍  Text Editors &amp; IDE Search</a:t>
            </a:r>
            <a:endParaRPr lang="en-US" sz="1450" dirty="0"/>
          </a:p>
        </p:txBody>
      </p:sp>
      <p:sp>
        <p:nvSpPr>
          <p:cNvPr id="18" name="Text 15"/>
          <p:cNvSpPr/>
          <p:nvPr/>
        </p:nvSpPr>
        <p:spPr>
          <a:xfrm>
            <a:off x="566928" y="248716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Modern editors (like VS Code, Notepad++) use KMP or Boyer-Moore algorithms to implement 'Find' operations, ensuring instantaneous search and replace in large text files.</a:t>
            </a:r>
            <a:endParaRPr lang="en-US" sz="1300" dirty="0"/>
          </a:p>
        </p:txBody>
      </p:sp>
      <p:sp>
        <p:nvSpPr>
          <p:cNvPr id="19" name="Shape 16"/>
          <p:cNvSpPr/>
          <p:nvPr/>
        </p:nvSpPr>
        <p:spPr>
          <a:xfrm>
            <a:off x="6144768" y="2011680"/>
            <a:ext cx="5532120" cy="1956816"/>
          </a:xfrm>
          <a:prstGeom prst="roundRect">
            <a:avLst>
              <a:gd name="adj" fmla="val 4673"/>
            </a:avLst>
          </a:prstGeom>
          <a:solidFill>
            <a:srgbClr val="E3F2FD"/>
          </a:solidFill>
          <a:ln w="19050">
            <a:solidFill>
              <a:srgbClr val="1565C0"/>
            </a:solidFill>
            <a:prstDash val="solid"/>
          </a:ln>
        </p:spPr>
      </p:sp>
      <p:sp>
        <p:nvSpPr>
          <p:cNvPr id="20" name="Text 17"/>
          <p:cNvSpPr/>
          <p:nvPr/>
        </p:nvSpPr>
        <p:spPr>
          <a:xfrm>
            <a:off x="6254496" y="2103120"/>
            <a:ext cx="5312664" cy="347472"/>
          </a:xfrm>
          <a:prstGeom prst="rect">
            <a:avLst/>
          </a:prstGeom>
          <a:noFill/>
          <a:ln/>
        </p:spPr>
        <p:txBody>
          <a:bodyPr wrap="square" lIns="0" tIns="0" rIns="0" bIns="0" rtlCol="0" anchor="ctr"/>
          <a:lstStyle/>
          <a:p>
            <a:pPr indent="0" marL="0">
              <a:buNone/>
            </a:pPr>
            <a:r>
              <a:rPr lang="en-US" sz="1450" b="1" dirty="0">
                <a:solidFill>
                  <a:srgbClr val="1565C0"/>
                </a:solidFill>
                <a:latin typeface="Arial" pitchFamily="34" charset="0"/>
                <a:ea typeface="Arial" pitchFamily="34" charset="-122"/>
                <a:cs typeface="Arial" pitchFamily="34" charset="-120"/>
              </a:rPr>
              <a:t>🛡️  Intrusion Detection Systems (IDS)</a:t>
            </a:r>
            <a:endParaRPr lang="en-US" sz="1450" dirty="0"/>
          </a:p>
        </p:txBody>
      </p:sp>
      <p:sp>
        <p:nvSpPr>
          <p:cNvPr id="21" name="Text 18"/>
          <p:cNvSpPr/>
          <p:nvPr/>
        </p:nvSpPr>
        <p:spPr>
          <a:xfrm>
            <a:off x="6254496" y="248716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Network packet scanners (like Snort) use KMP to scan live packets against database signatures of malware and cyber threats. Since KMP does not backtrack, it works on streaming network traffic.</a:t>
            </a:r>
            <a:endParaRPr lang="en-US" sz="1300" dirty="0"/>
          </a:p>
        </p:txBody>
      </p:sp>
      <p:sp>
        <p:nvSpPr>
          <p:cNvPr id="22" name="Shape 19"/>
          <p:cNvSpPr/>
          <p:nvPr/>
        </p:nvSpPr>
        <p:spPr>
          <a:xfrm>
            <a:off x="457200" y="4114800"/>
            <a:ext cx="5532120" cy="1956816"/>
          </a:xfrm>
          <a:prstGeom prst="roundRect">
            <a:avLst>
              <a:gd name="adj" fmla="val 4673"/>
            </a:avLst>
          </a:prstGeom>
          <a:solidFill>
            <a:srgbClr val="FCE4EC"/>
          </a:solidFill>
          <a:ln w="19050">
            <a:solidFill>
              <a:srgbClr val="990033"/>
            </a:solidFill>
            <a:prstDash val="solid"/>
          </a:ln>
        </p:spPr>
      </p:sp>
      <p:sp>
        <p:nvSpPr>
          <p:cNvPr id="23" name="Text 20"/>
          <p:cNvSpPr/>
          <p:nvPr/>
        </p:nvSpPr>
        <p:spPr>
          <a:xfrm>
            <a:off x="566928" y="4206240"/>
            <a:ext cx="5312664" cy="347472"/>
          </a:xfrm>
          <a:prstGeom prst="rect">
            <a:avLst/>
          </a:prstGeom>
          <a:noFill/>
          <a:ln/>
        </p:spPr>
        <p:txBody>
          <a:bodyPr wrap="square" lIns="0" tIns="0" rIns="0" bIns="0" rtlCol="0" anchor="ctr"/>
          <a:lstStyle/>
          <a:p>
            <a:pPr indent="0" marL="0">
              <a:buNone/>
            </a:pPr>
            <a:r>
              <a:rPr lang="en-US" sz="1450" b="1" dirty="0">
                <a:solidFill>
                  <a:srgbClr val="990033"/>
                </a:solidFill>
                <a:latin typeface="Arial" pitchFamily="34" charset="0"/>
                <a:ea typeface="Arial" pitchFamily="34" charset="-122"/>
                <a:cs typeface="Arial" pitchFamily="34" charset="-120"/>
              </a:rPr>
              <a:t>🧬  Bioinformatics &amp; DNA Alignments</a:t>
            </a:r>
            <a:endParaRPr lang="en-US" sz="1450" dirty="0"/>
          </a:p>
        </p:txBody>
      </p:sp>
      <p:sp>
        <p:nvSpPr>
          <p:cNvPr id="24" name="Text 21"/>
          <p:cNvSpPr/>
          <p:nvPr/>
        </p:nvSpPr>
        <p:spPr>
          <a:xfrm>
            <a:off x="566928" y="459028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Genomics software uses KMP to search for specific gene signatures and mutations inside massive DNA sequences containing billions of base pairs.</a:t>
            </a:r>
            <a:endParaRPr lang="en-US" sz="1300" dirty="0"/>
          </a:p>
        </p:txBody>
      </p:sp>
      <p:sp>
        <p:nvSpPr>
          <p:cNvPr id="25" name="Shape 22"/>
          <p:cNvSpPr/>
          <p:nvPr/>
        </p:nvSpPr>
        <p:spPr>
          <a:xfrm>
            <a:off x="6144768" y="4114800"/>
            <a:ext cx="5532120" cy="1956816"/>
          </a:xfrm>
          <a:prstGeom prst="roundRect">
            <a:avLst>
              <a:gd name="adj" fmla="val 4673"/>
            </a:avLst>
          </a:prstGeom>
          <a:solidFill>
            <a:srgbClr val="FFF9C4"/>
          </a:solidFill>
          <a:ln w="19050">
            <a:solidFill>
              <a:srgbClr val="F57F17"/>
            </a:solidFill>
            <a:prstDash val="solid"/>
          </a:ln>
        </p:spPr>
      </p:sp>
      <p:sp>
        <p:nvSpPr>
          <p:cNvPr id="26" name="Text 23"/>
          <p:cNvSpPr/>
          <p:nvPr/>
        </p:nvSpPr>
        <p:spPr>
          <a:xfrm>
            <a:off x="6254496" y="4206240"/>
            <a:ext cx="5312664" cy="347472"/>
          </a:xfrm>
          <a:prstGeom prst="rect">
            <a:avLst/>
          </a:prstGeom>
          <a:noFill/>
          <a:ln/>
        </p:spPr>
        <p:txBody>
          <a:bodyPr wrap="square" lIns="0" tIns="0" rIns="0" bIns="0" rtlCol="0" anchor="ctr"/>
          <a:lstStyle/>
          <a:p>
            <a:pPr indent="0" marL="0">
              <a:buNone/>
            </a:pPr>
            <a:r>
              <a:rPr lang="en-US" sz="1450" b="1" dirty="0">
                <a:solidFill>
                  <a:srgbClr val="F57F17"/>
                </a:solidFill>
                <a:latin typeface="Arial" pitchFamily="34" charset="0"/>
                <a:ea typeface="Arial" pitchFamily="34" charset="-122"/>
                <a:cs typeface="Arial" pitchFamily="34" charset="-120"/>
              </a:rPr>
              <a:t>🌐  Log Analysis Tools</a:t>
            </a:r>
            <a:endParaRPr lang="en-US" sz="1450" dirty="0"/>
          </a:p>
        </p:txBody>
      </p:sp>
      <p:sp>
        <p:nvSpPr>
          <p:cNvPr id="27" name="Text 24"/>
          <p:cNvSpPr/>
          <p:nvPr/>
        </p:nvSpPr>
        <p:spPr>
          <a:xfrm>
            <a:off x="6254496" y="459028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Tools like grep or log parsers apply KMP to filter out error logs or extract warnings from massive server log files in a single pass.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Advanced Data Structures</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2377440"/>
            <a:ext cx="11292840" cy="1371600"/>
          </a:xfrm>
          <a:prstGeom prst="rect">
            <a:avLst/>
          </a:prstGeom>
          <a:noFill/>
          <a:ln/>
        </p:spPr>
        <p:txBody>
          <a:bodyPr wrap="square" rtlCol="0" anchor="ctr"/>
          <a:lstStyle/>
          <a:p>
            <a:pPr algn="ctr" indent="0" marL="0">
              <a:buNone/>
            </a:pPr>
            <a:r>
              <a:rPr lang="en-US" sz="4800" b="1" dirty="0">
                <a:solidFill>
                  <a:srgbClr val="990033"/>
                </a:solidFill>
                <a:latin typeface="Arial" pitchFamily="34" charset="0"/>
                <a:ea typeface="Arial" pitchFamily="34" charset="-122"/>
                <a:cs typeface="Arial" pitchFamily="34" charset="-120"/>
              </a:rPr>
              <a:t>THANK YOU</a:t>
            </a:r>
            <a:endParaRPr lang="en-US" sz="4800" dirty="0"/>
          </a:p>
        </p:txBody>
      </p:sp>
      <p:sp>
        <p:nvSpPr>
          <p:cNvPr id="14" name="Text 11"/>
          <p:cNvSpPr/>
          <p:nvPr/>
        </p:nvSpPr>
        <p:spPr>
          <a:xfrm>
            <a:off x="457200" y="5029200"/>
            <a:ext cx="11292840" cy="822960"/>
          </a:xfrm>
          <a:prstGeom prst="rect">
            <a:avLst/>
          </a:prstGeom>
          <a:noFill/>
          <a:ln/>
        </p:spPr>
        <p:txBody>
          <a:bodyPr wrap="square" rtlCol="0" anchor="ctr"/>
          <a:lstStyle/>
          <a:p>
            <a:pPr algn="ctr" indent="0" marL="0">
              <a:buNone/>
            </a:pPr>
            <a:r>
              <a:rPr lang="en-US" sz="1300" dirty="0">
                <a:solidFill>
                  <a:srgbClr val="555555"/>
                </a:solidFill>
                <a:latin typeface="Arial" pitchFamily="34" charset="0"/>
                <a:ea typeface="Arial" pitchFamily="34" charset="-122"/>
                <a:cs typeface="Arial" pitchFamily="34" charset="-120"/>
              </a:rPr>
              <a:t>Department of Computer Science and Engineering</a:t>
            </a:r>
            <a:endParaRPr lang="en-US" sz="1300" dirty="0"/>
          </a:p>
          <a:p>
            <a:pPr algn="ctr" indent="0" marL="0">
              <a:buNone/>
            </a:pPr>
            <a:r>
              <a:rPr lang="en-US" sz="1300" dirty="0">
                <a:solidFill>
                  <a:srgbClr val="555555"/>
                </a:solidFill>
                <a:latin typeface="Arial" pitchFamily="34" charset="0"/>
                <a:ea typeface="Arial" pitchFamily="34" charset="-122"/>
                <a:cs typeface="Arial" pitchFamily="34" charset="-120"/>
              </a:rPr>
              <a:t>Marri Laxman Reddy Institute of Technology and Management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2026-06-14T11:41:04Z</dcterms:created>
  <dcterms:modified xsi:type="dcterms:W3CDTF">2026-06-14T11:41:04Z</dcterms:modified>
</cp:coreProperties>
</file>