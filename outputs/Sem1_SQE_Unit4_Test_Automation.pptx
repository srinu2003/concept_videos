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my roll number is 257Y1D5805. In this presentation, I am going to talk about Software Test Automation under Software Quality Engineering. We will go through the core testing activities and how they are managed, discuss what test automation is and establish clear guidelines on when to automate versus when to keep tests manual, analyze modular test framework architecture and common challenges, and review practical applications of test automation in modern CI/CD pipelines, browser UI testing, load testing, and API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first look at core testing activities and how they are managed. Software testing is a structured process to verify code correctness, involving five sequential activities: Test Planning to define scope and strategies; Test Preparation to design test cases and set up mock data; Test Execution to run cases on build deployments; Result Checking to compare actual outputs with expected results; and Analysis and Follow-up to log bugs and verify fixes. Managing this process requires clear role assignments, using a Traceability Matrix to map test cases directly to requirements, provisioning staging environments that mirror production, and defining strict release exit criteria like zero blocker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Test Automation? It is the use of specialized software tools to execute tests, compare actual outcomes against expected results, and report findings automatically. However, we should only automate when it yields a high return on investment. The best candidates are regression testing to check for bugs in new builds, high-volume repetitive data-driven tests, performance and load tests, and smoke tests run on every commit. We should keep tests manual for exploratory testing based on tester intuition, unstable evolving features undergoing frequent changes, one-off test runs where setup cost exceeds manual execution time, and user experience and visual design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Automated test frameworks are structured modularly. They include a Test Runner to execute sequences, Assertion Libraries to evaluate pass or fail states, a Page Object Model to represent UI pages as classes and isolate UI changes, and API Mocking to keep test runs independent of live databases. However, teams face significant challenges. These include brittle test scripts that break on minor UI changes, managing stale database states across runs, high initial setup and development costs, and flaky tests that fail due to network lag rather than actual software defects. Resolving these requires choosing robust locators and designing clean, isolated data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test automation is applied across four primary domains. First, in CI/CD pipelines, automated tests run automatically on every pull request before merging. Second, in UI testing, tools like Selenium or Playwright simulate browser actions to verify user flows. Third, in Load and Stress testing, tools like JMeter or k6 simulate thousands of concurrent requests to measure server latency and database throughput. Fourth, in API testing, automated scripts send JSON payloads to REST endpoints, validating responses and database states. Automating these areas allows software teams to test builds continuously and deliver reliable updates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me to the end of my presentation on Software Test Automation. We have seen how structuring test activities and selectively automating them helps teams deliver reliable, high-performance software at scale. I want to thank the Department of Computer Science and Engineering at the Marri Laxman Reddy Institute of Technology and Management. Thank you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IV: Test Activities &amp; Automation</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Software Test Automation</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Test Activities &amp; Management</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Testing </a:t>
            </a:r>
            <a:pPr indent="0" marL="0">
              <a:buNone/>
            </a:pPr>
            <a:r>
              <a:rPr lang="en-US" sz="1400" dirty="0">
                <a:solidFill>
                  <a:srgbClr val="000000"/>
                </a:solidFill>
                <a:latin typeface="Arial" pitchFamily="34" charset="0"/>
                <a:ea typeface="Arial" pitchFamily="34" charset="-122"/>
                <a:cs typeface="Arial" pitchFamily="34" charset="-120"/>
              </a:rPr>
              <a:t>is a structured process to verify code correctness. It contains multiple sequential activities that must be managed, tracked, and reported systematically.</a:t>
            </a:r>
            <a:endParaRPr lang="en-US" sz="1400" dirty="0"/>
          </a:p>
        </p:txBody>
      </p:sp>
      <p:sp>
        <p:nvSpPr>
          <p:cNvPr id="16" name="Shape 13"/>
          <p:cNvSpPr/>
          <p:nvPr/>
        </p:nvSpPr>
        <p:spPr>
          <a:xfrm>
            <a:off x="457200" y="2103120"/>
            <a:ext cx="5394960" cy="3895344"/>
          </a:xfrm>
          <a:prstGeom prst="roundRect">
            <a:avLst>
              <a:gd name="adj" fmla="val 2347"/>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Core Testing Activities</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1565C0"/>
                </a:solidFill>
                <a:latin typeface="Arial" pitchFamily="34" charset="0"/>
                <a:ea typeface="Arial" pitchFamily="34" charset="-122"/>
                <a:cs typeface="Arial" pitchFamily="34" charset="-120"/>
              </a:rPr>
              <a:t>1. Test Planning:</a:t>
            </a:r>
            <a:pPr indent="0" marL="0">
              <a:buNone/>
            </a:pPr>
            <a:r>
              <a:rPr lang="en-US" sz="1300" dirty="0">
                <a:solidFill>
                  <a:srgbClr val="000000"/>
                </a:solidFill>
                <a:latin typeface="Arial" pitchFamily="34" charset="0"/>
                <a:ea typeface="Arial" pitchFamily="34" charset="-122"/>
                <a:cs typeface="Arial" pitchFamily="34" charset="-120"/>
              </a:rPr>
              <a:t> Formulating the test strategy, boundaries, environments, and goals.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2. Test Preparation:</a:t>
            </a:r>
            <a:pPr indent="0" marL="0">
              <a:buNone/>
            </a:pPr>
            <a:r>
              <a:rPr lang="en-US" sz="1300" dirty="0">
                <a:solidFill>
                  <a:srgbClr val="000000"/>
                </a:solidFill>
                <a:latin typeface="Arial" pitchFamily="34" charset="0"/>
                <a:ea typeface="Arial" pitchFamily="34" charset="-122"/>
                <a:cs typeface="Arial" pitchFamily="34" charset="-120"/>
              </a:rPr>
              <a:t> Designing specific test cases, mapping parameters, and setting up test data.</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3. Test Execution:</a:t>
            </a:r>
            <a:pPr indent="0" marL="0">
              <a:buNone/>
            </a:pPr>
            <a:r>
              <a:rPr lang="en-US" sz="1300" dirty="0">
                <a:solidFill>
                  <a:srgbClr val="000000"/>
                </a:solidFill>
                <a:latin typeface="Arial" pitchFamily="34" charset="0"/>
                <a:ea typeface="Arial" pitchFamily="34" charset="-122"/>
                <a:cs typeface="Arial" pitchFamily="34" charset="-120"/>
              </a:rPr>
              <a:t> Executing the test cases on build deployments.</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4. Result Checking:</a:t>
            </a:r>
            <a:pPr indent="0" marL="0">
              <a:buNone/>
            </a:pPr>
            <a:r>
              <a:rPr lang="en-US" sz="1300" dirty="0">
                <a:solidFill>
                  <a:srgbClr val="000000"/>
                </a:solidFill>
                <a:latin typeface="Arial" pitchFamily="34" charset="0"/>
                <a:ea typeface="Arial" pitchFamily="34" charset="-122"/>
                <a:cs typeface="Arial" pitchFamily="34" charset="-120"/>
              </a:rPr>
              <a:t> Comparing actual execution outputs against expected results to detect mismatches.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5. Analysis &amp; Follow-up:</a:t>
            </a:r>
            <a:pPr indent="0" marL="0">
              <a:buNone/>
            </a:pPr>
            <a:r>
              <a:rPr lang="en-US" sz="1300" dirty="0">
                <a:solidFill>
                  <a:srgbClr val="000000"/>
                </a:solidFill>
                <a:latin typeface="Arial" pitchFamily="34" charset="0"/>
                <a:ea typeface="Arial" pitchFamily="34" charset="-122"/>
                <a:cs typeface="Arial" pitchFamily="34" charset="-120"/>
              </a:rPr>
              <a:t> Logging bugs in trackers, debugging code, and re-testing fixes.</a:t>
            </a:r>
            <a:endParaRPr lang="en-US" sz="1300" dirty="0"/>
          </a:p>
        </p:txBody>
      </p:sp>
      <p:sp>
        <p:nvSpPr>
          <p:cNvPr id="19" name="Shape 16"/>
          <p:cNvSpPr/>
          <p:nvPr/>
        </p:nvSpPr>
        <p:spPr>
          <a:xfrm>
            <a:off x="6035040" y="2103120"/>
            <a:ext cx="5715000" cy="3895344"/>
          </a:xfrm>
          <a:prstGeom prst="roundRect">
            <a:avLst>
              <a:gd name="adj" fmla="val 2347"/>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Managing the Testing Process</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Role Assignments:</a:t>
            </a:r>
            <a:pPr indent="0" marL="0">
              <a:buNone/>
            </a:pPr>
            <a:r>
              <a:rPr lang="en-US" sz="1300" dirty="0">
                <a:solidFill>
                  <a:srgbClr val="000000"/>
                </a:solidFill>
                <a:latin typeface="Arial" pitchFamily="34" charset="0"/>
                <a:ea typeface="Arial" pitchFamily="34" charset="-122"/>
                <a:cs typeface="Arial" pitchFamily="34" charset="-120"/>
              </a:rPr>
              <a:t> Defining clear responsibilities for test leads, test engineers, and developers.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Traceability Matrix:</a:t>
            </a:r>
            <a:pPr indent="0" marL="0">
              <a:buNone/>
            </a:pPr>
            <a:r>
              <a:rPr lang="en-US" sz="1300" dirty="0">
                <a:solidFill>
                  <a:srgbClr val="000000"/>
                </a:solidFill>
                <a:latin typeface="Arial" pitchFamily="34" charset="0"/>
                <a:ea typeface="Arial" pitchFamily="34" charset="-122"/>
                <a:cs typeface="Arial" pitchFamily="34" charset="-120"/>
              </a:rPr>
              <a:t> Mapping test cases to requirement IDs to ensure all features are fully verified.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Environment Management:</a:t>
            </a:r>
            <a:pPr indent="0" marL="0">
              <a:buNone/>
            </a:pPr>
            <a:r>
              <a:rPr lang="en-US" sz="1300" dirty="0">
                <a:solidFill>
                  <a:srgbClr val="000000"/>
                </a:solidFill>
                <a:latin typeface="Arial" pitchFamily="34" charset="0"/>
                <a:ea typeface="Arial" pitchFamily="34" charset="-122"/>
                <a:cs typeface="Arial" pitchFamily="34" charset="-120"/>
              </a:rPr>
              <a:t> Provisioning staging environments that match production configurations.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Exit Criteria:</a:t>
            </a:r>
            <a:pPr indent="0" marL="0">
              <a:buNone/>
            </a:pPr>
            <a:r>
              <a:rPr lang="en-US" sz="1300" dirty="0">
                <a:solidFill>
                  <a:srgbClr val="000000"/>
                </a:solidFill>
                <a:latin typeface="Arial" pitchFamily="34" charset="0"/>
                <a:ea typeface="Arial" pitchFamily="34" charset="-122"/>
                <a:cs typeface="Arial" pitchFamily="34" charset="-120"/>
              </a:rPr>
              <a:t> Defining clear thresholds (e.g. zero blocker bugs, 90% test pass rate) to release software.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is Test Automation?</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Test Automation </a:t>
            </a:r>
            <a:pPr indent="0" marL="0">
              <a:buNone/>
            </a:pPr>
            <a:r>
              <a:rPr lang="en-US" sz="1400" dirty="0">
                <a:solidFill>
                  <a:srgbClr val="000000"/>
                </a:solidFill>
                <a:latin typeface="Arial" pitchFamily="34" charset="0"/>
                <a:ea typeface="Arial" pitchFamily="34" charset="-122"/>
                <a:cs typeface="Arial" pitchFamily="34" charset="-120"/>
              </a:rPr>
              <a:t>uses specialized software tools to execute tests, compare actual outcomes against expected results, and report findings automatically, replacing manual test tasks.</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When to Automate (Best ROI)</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6400"/>
                </a:solidFill>
                <a:latin typeface="Arial" pitchFamily="34" charset="0"/>
                <a:ea typeface="Arial" pitchFamily="34" charset="-122"/>
                <a:cs typeface="Arial" pitchFamily="34" charset="-120"/>
              </a:rPr>
              <a:t>• Regression Testing:</a:t>
            </a:r>
            <a:pPr indent="0" marL="0">
              <a:buNone/>
            </a:pPr>
            <a:r>
              <a:rPr lang="en-US" sz="1300" dirty="0">
                <a:solidFill>
                  <a:srgbClr val="000000"/>
                </a:solidFill>
                <a:latin typeface="Arial" pitchFamily="34" charset="0"/>
                <a:ea typeface="Arial" pitchFamily="34" charset="-122"/>
                <a:cs typeface="Arial" pitchFamily="34" charset="-120"/>
              </a:rPr>
              <a:t> Running past tests repeatedly on new builds to check for regression bugs.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Repetitive &amp; High-Volume Tests:</a:t>
            </a:r>
            <a:pPr indent="0" marL="0">
              <a:buNone/>
            </a:pPr>
            <a:r>
              <a:rPr lang="en-US" sz="1300" dirty="0">
                <a:solidFill>
                  <a:srgbClr val="000000"/>
                </a:solidFill>
                <a:latin typeface="Arial" pitchFamily="34" charset="0"/>
                <a:ea typeface="Arial" pitchFamily="34" charset="-122"/>
                <a:cs typeface="Arial" pitchFamily="34" charset="-120"/>
              </a:rPr>
              <a:t> Tests running frequently with multiple data variations (data-driven tests).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Performance &amp; Load Tests:</a:t>
            </a:r>
            <a:pPr indent="0" marL="0">
              <a:buNone/>
            </a:pPr>
            <a:r>
              <a:rPr lang="en-US" sz="1300" dirty="0">
                <a:solidFill>
                  <a:srgbClr val="000000"/>
                </a:solidFill>
                <a:latin typeface="Arial" pitchFamily="34" charset="0"/>
                <a:ea typeface="Arial" pitchFamily="34" charset="-122"/>
                <a:cs typeface="Arial" pitchFamily="34" charset="-120"/>
              </a:rPr>
              <a:t> Simulating thousands of simultaneous users accessing database connections.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Smoke Tests:</a:t>
            </a:r>
            <a:pPr indent="0" marL="0">
              <a:buNone/>
            </a:pPr>
            <a:r>
              <a:rPr lang="en-US" sz="1300" dirty="0">
                <a:solidFill>
                  <a:srgbClr val="000000"/>
                </a:solidFill>
                <a:latin typeface="Arial" pitchFamily="34" charset="0"/>
                <a:ea typeface="Arial" pitchFamily="34" charset="-122"/>
                <a:cs typeface="Arial" pitchFamily="34" charset="-120"/>
              </a:rPr>
              <a:t> Basic validation checks run immediately on every build commit.</a:t>
            </a:r>
            <a:endParaRPr lang="en-US" sz="1300" dirty="0"/>
          </a:p>
        </p:txBody>
      </p:sp>
      <p:sp>
        <p:nvSpPr>
          <p:cNvPr id="19" name="Shape 16"/>
          <p:cNvSpPr/>
          <p:nvPr/>
        </p:nvSpPr>
        <p:spPr>
          <a:xfrm>
            <a:off x="6035040" y="2103120"/>
            <a:ext cx="5715000" cy="3895344"/>
          </a:xfrm>
          <a:prstGeom prst="roundRect">
            <a:avLst>
              <a:gd name="adj" fmla="val 2347"/>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When NOT to Automate (Keep Manual)</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Ad-Hoc / Exploratory Tests:</a:t>
            </a:r>
            <a:pPr indent="0" marL="0">
              <a:buNone/>
            </a:pPr>
            <a:r>
              <a:rPr lang="en-US" sz="1300" dirty="0">
                <a:solidFill>
                  <a:srgbClr val="000000"/>
                </a:solidFill>
                <a:latin typeface="Arial" pitchFamily="34" charset="0"/>
                <a:ea typeface="Arial" pitchFamily="34" charset="-122"/>
                <a:cs typeface="Arial" pitchFamily="34" charset="-120"/>
              </a:rPr>
              <a:t> Dynamic, non-scripted tests looking for edge cases based on tester intuition.</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Unstable / Evolving Features:</a:t>
            </a:r>
            <a:pPr indent="0" marL="0">
              <a:buNone/>
            </a:pPr>
            <a:r>
              <a:rPr lang="en-US" sz="1300" dirty="0">
                <a:solidFill>
                  <a:srgbClr val="000000"/>
                </a:solidFill>
                <a:latin typeface="Arial" pitchFamily="34" charset="0"/>
                <a:ea typeface="Arial" pitchFamily="34" charset="-122"/>
                <a:cs typeface="Arial" pitchFamily="34" charset="-120"/>
              </a:rPr>
              <a:t> Features undergoing frequent design edits. Constant test script adjustments waste time.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One-Off Tests:</a:t>
            </a:r>
            <a:pPr indent="0" marL="0">
              <a:buNone/>
            </a:pPr>
            <a:r>
              <a:rPr lang="en-US" sz="1300" dirty="0">
                <a:solidFill>
                  <a:srgbClr val="000000"/>
                </a:solidFill>
                <a:latin typeface="Arial" pitchFamily="34" charset="0"/>
                <a:ea typeface="Arial" pitchFamily="34" charset="-122"/>
                <a:cs typeface="Arial" pitchFamily="34" charset="-120"/>
              </a:rPr>
              <a:t> Tests run only once or twice. Script development cost exceeds manual execution time.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UX &amp; Visual Design Checks:</a:t>
            </a:r>
            <a:pPr indent="0" marL="0">
              <a:buNone/>
            </a:pPr>
            <a:r>
              <a:rPr lang="en-US" sz="1300" dirty="0">
                <a:solidFill>
                  <a:srgbClr val="000000"/>
                </a:solidFill>
                <a:latin typeface="Arial" pitchFamily="34" charset="0"/>
                <a:ea typeface="Arial" pitchFamily="34" charset="-122"/>
                <a:cs typeface="Arial" pitchFamily="34" charset="-120"/>
              </a:rPr>
              <a:t> Assessing visual aesthetics, layout alignment, and user friendliness.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Automation Architecture &amp; Challenges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How automated test frameworks are structured, and their common implementation challenges:</a:t>
            </a:r>
            <a:endParaRPr lang="en-US" sz="1400" dirty="0"/>
          </a:p>
        </p:txBody>
      </p:sp>
      <p:sp>
        <p:nvSpPr>
          <p:cNvPr id="16" name="Shape 13"/>
          <p:cNvSpPr/>
          <p:nvPr/>
        </p:nvSpPr>
        <p:spPr>
          <a:xfrm>
            <a:off x="457200" y="2103120"/>
            <a:ext cx="5394960" cy="4114800"/>
          </a:xfrm>
          <a:prstGeom prst="roundRect">
            <a:avLst>
              <a:gd name="adj" fmla="val 2222"/>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Modular Test Framework Architecture</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Test Runner:</a:t>
            </a:r>
            <a:pPr indent="0" marL="0">
              <a:buNone/>
            </a:pPr>
            <a:r>
              <a:rPr lang="en-US" sz="1300" dirty="0">
                <a:solidFill>
                  <a:srgbClr val="000000"/>
                </a:solidFill>
                <a:latin typeface="Arial" pitchFamily="34" charset="0"/>
                <a:ea typeface="Arial" pitchFamily="34" charset="-122"/>
                <a:cs typeface="Arial" pitchFamily="34" charset="-120"/>
              </a:rPr>
              <a:t> Orchestrates test runs, maps files, and handles execution sequences.</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 Assertion Library:</a:t>
            </a:r>
            <a:pPr indent="0" marL="0">
              <a:buNone/>
            </a:pPr>
            <a:r>
              <a:rPr lang="en-US" sz="1300" dirty="0">
                <a:solidFill>
                  <a:srgbClr val="000000"/>
                </a:solidFill>
                <a:latin typeface="Arial" pitchFamily="34" charset="0"/>
                <a:ea typeface="Arial" pitchFamily="34" charset="-122"/>
                <a:cs typeface="Arial" pitchFamily="34" charset="-120"/>
              </a:rPr>
              <a:t> Compares actual variables against expected states, reporting passes or failures (e.g. expect(val).toBe(true)).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Page Object Model (POM):</a:t>
            </a:r>
            <a:pPr indent="0" marL="0">
              <a:buNone/>
            </a:pPr>
            <a:r>
              <a:rPr lang="en-US" sz="1300" dirty="0">
                <a:solidFill>
                  <a:srgbClr val="000000"/>
                </a:solidFill>
                <a:latin typeface="Arial" pitchFamily="34" charset="0"/>
                <a:ea typeface="Arial" pitchFamily="34" charset="-122"/>
                <a:cs typeface="Arial" pitchFamily="34" charset="-120"/>
              </a:rPr>
              <a:t> Design pattern representing web pages as classes. Isolates UI change impacts.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Test Data Mocking:</a:t>
            </a:r>
            <a:pPr indent="0" marL="0">
              <a:buNone/>
            </a:pPr>
            <a:r>
              <a:rPr lang="en-US" sz="1300" dirty="0">
                <a:solidFill>
                  <a:srgbClr val="000000"/>
                </a:solidFill>
                <a:latin typeface="Arial" pitchFamily="34" charset="0"/>
                <a:ea typeface="Arial" pitchFamily="34" charset="-122"/>
                <a:cs typeface="Arial" pitchFamily="34" charset="-120"/>
              </a:rPr>
              <a:t> Simulates databases or external APIs using mock services, keeping tests isolated.</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Common Automation Challenges</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250" b="1" dirty="0">
                <a:solidFill>
                  <a:srgbClr val="990033"/>
                </a:solidFill>
                <a:latin typeface="Arial" pitchFamily="34" charset="0"/>
                <a:ea typeface="Arial" pitchFamily="34" charset="-122"/>
                <a:cs typeface="Arial" pitchFamily="34" charset="-120"/>
              </a:rPr>
              <a:t>• Brittle Test Scripts:</a:t>
            </a:r>
            <a:pPr indent="0" marL="0">
              <a:buNone/>
            </a:pPr>
            <a:r>
              <a:rPr lang="en-US" sz="1250" dirty="0">
                <a:solidFill>
                  <a:srgbClr val="000000"/>
                </a:solidFill>
                <a:latin typeface="Arial" pitchFamily="34" charset="0"/>
                <a:ea typeface="Arial" pitchFamily="34" charset="-122"/>
                <a:cs typeface="Arial" pitchFamily="34" charset="-120"/>
              </a:rPr>
              <a:t> Minor UI changes (like changing a button ID) break automated tests, causing high maintenance overhead.</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Test Data Staleness:</a:t>
            </a:r>
            <a:pPr indent="0" marL="0">
              <a:buNone/>
            </a:pPr>
            <a:r>
              <a:rPr lang="en-US" sz="1250" dirty="0">
                <a:solidFill>
                  <a:srgbClr val="000000"/>
                </a:solidFill>
                <a:latin typeface="Arial" pitchFamily="34" charset="0"/>
                <a:ea typeface="Arial" pitchFamily="34" charset="-122"/>
                <a:cs typeface="Arial" pitchFamily="34" charset="-120"/>
              </a:rPr>
              <a:t> Managing database states so tests run with clean, predictable data consistently.</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High Initial Setup Cost:</a:t>
            </a:r>
            <a:pPr indent="0" marL="0">
              <a:buNone/>
            </a:pPr>
            <a:r>
              <a:rPr lang="en-US" sz="1250" dirty="0">
                <a:solidFill>
                  <a:srgbClr val="000000"/>
                </a:solidFill>
                <a:latin typeface="Arial" pitchFamily="34" charset="0"/>
                <a:ea typeface="Arial" pitchFamily="34" charset="-122"/>
                <a:cs typeface="Arial" pitchFamily="34" charset="-120"/>
              </a:rPr>
              <a:t> Initial framework setup and script development take substantial developer hours.</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False Positives / Flakiness:</a:t>
            </a:r>
            <a:pPr indent="0" marL="0">
              <a:buNone/>
            </a:pPr>
            <a:r>
              <a:rPr lang="en-US" sz="1250" dirty="0">
                <a:solidFill>
                  <a:srgbClr val="000000"/>
                </a:solidFill>
                <a:latin typeface="Arial" pitchFamily="34" charset="0"/>
                <a:ea typeface="Arial" pitchFamily="34" charset="-122"/>
                <a:cs typeface="Arial" pitchFamily="34" charset="-120"/>
              </a:rPr>
              <a:t> Tests failing due to network latency, timing issues, or environment glitches rather than actual bugs.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Test Automation</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Where test automation is implemented in professional software delivery pipelines: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CI/CD Integration</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Integrates automated test suites into code pipelines. Every pull request automatically runs unit and regression tests before it can be merged.</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Automated UI Testing</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Uses tools like Selenium or Playwright to simulate user clicks, form submissions, and check page flows across multiple web browsers.</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Load &amp; Stress Testing</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Uses tools like JMeter or k6 to simulate thousands of concurrent requests, measuring server latency, memory usage, and throughput limits.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API Verification Testing</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Automates REST/SOAP endpoint verification. Sends JSON payloads, validates status codes, and checks database state changes.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2026-06-14T11:41:05Z</dcterms:created>
  <dcterms:modified xsi:type="dcterms:W3CDTF">2026-06-14T11:41:05Z</dcterms:modified>
</cp:coreProperties>
</file>