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'Technology Transfer &amp; Patent Rights' as part of the Research Methodology and IPR course for my M.Tech in Computer Science and Engineering. In this presentation, we will discuss the scope of patent rights, explain the mechanics of technology transfer and licensing models, define geographical indications, outline new developments in biotech and software IP, and examine traditional knowledge protections.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examine the scope of patent rights and the process of technology transfer. A patent grants the owner exclusionary rights to prevent others from making, using, selling, or importing the invention. It represents a legal monopoly with distinct boundaries. Crucially, it does not grant the owner the positive right to make the invention, but only the negative right to stop others from doing so, subject to regulatory approvals. Patent rights are territorial, valid only in the granting nation, and have a standard term limit of 20 years from the filing date, requiring annual maintenance fees. Technology transfer is the process of sharing and commercializing innovations from university research labs to industrial partners. This is done using licensing contracts, which can be exclusive, non-exclusive, or cross-licensing deals where competitors trade portfolios to avoid litigation.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 us discuss Geographical Indications, or GIs. A geographical indication is a label used on agricultural, natural, or manufactured goods that have a specific geographic origin. The product's quality, reputation, or characteristics must be due to the soil, climate, or traditional methods of that origin. Unlike private patents, a GI tag is a collective right belonging to a community of local producers, not a single private company. It prevents misuse of the name by foreign competitors and is typically granted for 10 years, renewable indefinitely. India enacted the GIs of Goods Act in 1999 to protect local specialties. Examples include Darjeeling Tea, which was the first GI tag registered in India, Basmati Rice, Kashmir Pashmina Shawls, and Pochampally Ikat sarees from Telangana.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 systems are evolving to handle genetic engineering, AI generation, and traditional knowledge. In biotechnology, patenting genetically modified organisms, gene editing protocols like CRISPR, and vaccine formulas has expanded rapidly, raising ethical debates. In software, while raw AI algorithms are abstract math and non-patentable, AI systems that control physical robots can be patented. Generative AI also raises debates on copyright ownership of machine-generated code. A major challenge is bio-piracy, where foreign companies attempt to patent ancient remedies, such as turmeric or neem. To combat this, India fought and revoked US patents by presenting ancient texts as prior art. India also established the Traditional Knowledge Digital Library (TKDL) database to translate ancient texts, allowing patent offices to find prior art immediately and block invalid patents.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transfer mechanics bridge the gap between academic labs and market sales. First, universities establish Technology Transfer Offices to license student and professor patents to startup spin-offs, commercializing academic research. Second, research institutes patent vaccine formulas and license manufacturing rights to global pharmaceutical firms for mass production. Third, agricultural universities license disease-resistant crop strains to farming cooperatives, increasing food yields. Finally, tech companies make open-source patent pledges to consortia, allowing startups to build services without litigation risks. These applications demonstrate how technology transfer translates theoretical research into real-world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technology transfer and patent rights are vital for moving research from labs into the real world. By understanding geographical indications and defending traditional knowledge, we protect local and historical innovations in a globalized economy. Thank you for your time, and I am ready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V: Patent Rights &amp; New Developments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Technology Transfer &amp; Patent Rights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Scope of Patent Rights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Patent </a:t>
            </a:r>
            <a:pPr indent="0" marL="0">
              <a:buNone/>
            </a:pPr>
            <a:r>
              <a:rPr lang="en-US" sz="1400" dirty="0">
                <a:solidFill>
                  <a:srgbClr val="000000"/>
                </a:solidFill>
                <a:latin typeface="Arial" pitchFamily="34" charset="0"/>
                <a:ea typeface="Arial" pitchFamily="34" charset="-122"/>
                <a:cs typeface="Arial" pitchFamily="34" charset="-120"/>
              </a:rPr>
              <a:t>grants the owner exclusionary rights to prevent others from making, using, selling, or importing the invention. It represents a legal monopoly with distinct boundaries.</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Legal Boundaries of Patents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6400"/>
                </a:solidFill>
                <a:latin typeface="Arial" pitchFamily="34" charset="0"/>
                <a:ea typeface="Arial" pitchFamily="34" charset="-122"/>
                <a:cs typeface="Arial" pitchFamily="34" charset="-120"/>
              </a:rPr>
              <a:t>• Exclusionary Right:</a:t>
            </a:r>
            <a:pPr indent="0" marL="0">
              <a:buNone/>
            </a:pPr>
            <a:r>
              <a:rPr lang="en-US" sz="1300" dirty="0">
                <a:solidFill>
                  <a:srgbClr val="000000"/>
                </a:solidFill>
                <a:latin typeface="Arial" pitchFamily="34" charset="0"/>
                <a:ea typeface="Arial" pitchFamily="34" charset="-122"/>
                <a:cs typeface="Arial" pitchFamily="34" charset="-120"/>
              </a:rPr>
              <a:t> Does not grant the owner the right to make the invention — it only grants the right to stop OTHERS from doing so. (Subject to regulatory and prior patent locks).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Territorial Scope:</a:t>
            </a:r>
            <a:pPr indent="0" marL="0">
              <a:buNone/>
            </a:pPr>
            <a:r>
              <a:rPr lang="en-US" sz="1300" dirty="0">
                <a:solidFill>
                  <a:srgbClr val="000000"/>
                </a:solidFill>
                <a:latin typeface="Arial" pitchFamily="34" charset="0"/>
                <a:ea typeface="Arial" pitchFamily="34" charset="-122"/>
                <a:cs typeface="Arial" pitchFamily="34" charset="-120"/>
              </a:rPr>
              <a:t> Rights are valid only within the boundaries of the granting nation.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Term Limit:</a:t>
            </a:r>
            <a:pPr indent="0" marL="0">
              <a:buNone/>
            </a:pPr>
            <a:r>
              <a:rPr lang="en-US" sz="1300" dirty="0">
                <a:solidFill>
                  <a:srgbClr val="000000"/>
                </a:solidFill>
                <a:latin typeface="Arial" pitchFamily="34" charset="0"/>
                <a:ea typeface="Arial" pitchFamily="34" charset="-122"/>
                <a:cs typeface="Arial" pitchFamily="34" charset="-120"/>
              </a:rPr>
              <a:t> Standard term is 20 years from the filing date, after which it enters the public domain.</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Maintenance Fees:</a:t>
            </a:r>
            <a:pPr indent="0" marL="0">
              <a:buNone/>
            </a:pPr>
            <a:r>
              <a:rPr lang="en-US" sz="1300" dirty="0">
                <a:solidFill>
                  <a:srgbClr val="000000"/>
                </a:solidFill>
                <a:latin typeface="Arial" pitchFamily="34" charset="0"/>
                <a:ea typeface="Arial" pitchFamily="34" charset="-122"/>
                <a:cs typeface="Arial" pitchFamily="34" charset="-120"/>
              </a:rPr>
              <a:t> Requires paying annual maintenance fees to keep the patent valid.</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Licensing &amp; Technology Transfer</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 Technology Transfer:</a:t>
            </a:r>
            <a:pPr indent="0" marL="0">
              <a:buNone/>
            </a:pPr>
            <a:r>
              <a:rPr lang="en-US" sz="1250" dirty="0">
                <a:solidFill>
                  <a:srgbClr val="000000"/>
                </a:solidFill>
                <a:latin typeface="Arial" pitchFamily="34" charset="0"/>
                <a:ea typeface="Arial" pitchFamily="34" charset="-122"/>
                <a:cs typeface="Arial" pitchFamily="34" charset="-120"/>
              </a:rPr>
              <a:t> Sharing and commercializing innovations from research labs (universities) to industrial partners.</a:t>
            </a:r>
            <a:endParaRPr lang="en-US" sz="1250" dirty="0"/>
          </a:p>
          <a:p>
            <a:pPr indent="0" marL="0">
              <a:buNone/>
            </a:pPr>
            <a:r>
              <a:rPr lang="en-US" sz="1250" b="1" dirty="0">
                <a:solidFill>
                  <a:srgbClr val="1565C0"/>
                </a:solidFill>
                <a:latin typeface="Arial" pitchFamily="34" charset="0"/>
                <a:ea typeface="Arial" pitchFamily="34" charset="-122"/>
                <a:cs typeface="Arial" pitchFamily="34" charset="-120"/>
              </a:rPr>
              <a:t>• Licensing Models:</a:t>
            </a:r>
            <a:pPr indent="0" marL="0">
              <a:buNone/>
            </a:pPr>
            <a:r>
              <a:rPr lang="en-US" sz="1250" dirty="0">
                <a:solidFill>
                  <a:srgbClr val="000000"/>
                </a:solidFill>
                <a:latin typeface="Arial" pitchFamily="34" charset="0"/>
                <a:ea typeface="Arial" pitchFamily="34" charset="-122"/>
                <a:cs typeface="Arial" pitchFamily="34" charset="-120"/>
              </a:rPr>
              <a:t> Legal contracts granting third parties rights to use the IP in exchange for royalties: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 Exclusive License:</a:t>
            </a:r>
            <a:pPr indent="0" marL="0">
              <a:buNone/>
            </a:pPr>
            <a:r>
              <a:rPr lang="en-US" sz="1250" dirty="0">
                <a:solidFill>
                  <a:srgbClr val="000000"/>
                </a:solidFill>
                <a:latin typeface="Arial" pitchFamily="34" charset="0"/>
                <a:ea typeface="Arial" pitchFamily="34" charset="-122"/>
                <a:cs typeface="Arial" pitchFamily="34" charset="-120"/>
              </a:rPr>
              <a:t> Only one licensee has the rights.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 Non-Exclusive:</a:t>
            </a:r>
            <a:pPr indent="0" marL="0">
              <a:buNone/>
            </a:pPr>
            <a:r>
              <a:rPr lang="en-US" sz="1250" dirty="0">
                <a:solidFill>
                  <a:srgbClr val="000000"/>
                </a:solidFill>
                <a:latin typeface="Arial" pitchFamily="34" charset="0"/>
                <a:ea typeface="Arial" pitchFamily="34" charset="-122"/>
                <a:cs typeface="Arial" pitchFamily="34" charset="-120"/>
              </a:rPr>
              <a:t> Multiple competitors can buy rights (e.g. video codecs).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Cross-Licensing:</a:t>
            </a:r>
            <a:pPr indent="0" marL="0">
              <a:buNone/>
            </a:pPr>
            <a:r>
              <a:rPr lang="en-US" sz="1250" dirty="0">
                <a:solidFill>
                  <a:srgbClr val="000000"/>
                </a:solidFill>
                <a:latin typeface="Arial" pitchFamily="34" charset="0"/>
                <a:ea typeface="Arial" pitchFamily="34" charset="-122"/>
                <a:cs typeface="Arial" pitchFamily="34" charset="-120"/>
              </a:rPr>
              <a:t> Competitors trade patent portfolios to prevent mutual litigation.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Geographical Indications (GIs)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Geographical Indications protect products whose quality, characteristics, or reputation are due to their origin:</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What is a GI?</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Geographical Origin:</a:t>
            </a:r>
            <a:pPr indent="0" marL="0">
              <a:buNone/>
            </a:pPr>
            <a:r>
              <a:rPr lang="en-US" sz="1300" dirty="0">
                <a:solidFill>
                  <a:srgbClr val="000000"/>
                </a:solidFill>
                <a:latin typeface="Arial" pitchFamily="34" charset="0"/>
                <a:ea typeface="Arial" pitchFamily="34" charset="-122"/>
                <a:cs typeface="Arial" pitchFamily="34" charset="-120"/>
              </a:rPr>
              <a:t> A label used on agricultural, natural, or manufactured goods that have a specific geographic origin.</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Inherent Quality Link:</a:t>
            </a:r>
            <a:pPr indent="0" marL="0">
              <a:buNone/>
            </a:pPr>
            <a:r>
              <a:rPr lang="en-US" sz="1300" dirty="0">
                <a:solidFill>
                  <a:srgbClr val="000000"/>
                </a:solidFill>
                <a:latin typeface="Arial" pitchFamily="34" charset="0"/>
                <a:ea typeface="Arial" pitchFamily="34" charset="-122"/>
                <a:cs typeface="Arial" pitchFamily="34" charset="-120"/>
              </a:rPr>
              <a:t> The product's characteristics must be due to the soil, climate, or traditional methods of that origin (e.g. Darjeeling Tea).</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Collective Right:</a:t>
            </a:r>
            <a:pPr indent="0" marL="0">
              <a:buNone/>
            </a:pPr>
            <a:r>
              <a:rPr lang="en-US" sz="1300" dirty="0">
                <a:solidFill>
                  <a:srgbClr val="000000"/>
                </a:solidFill>
                <a:latin typeface="Arial" pitchFamily="34" charset="0"/>
                <a:ea typeface="Arial" pitchFamily="34" charset="-122"/>
                <a:cs typeface="Arial" pitchFamily="34" charset="-120"/>
              </a:rPr>
              <a:t> Belongs to a community of local producers, not a single private company. Prevents misuse of the name by foreign competitors.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Duration:</a:t>
            </a:r>
            <a:pPr indent="0" marL="0">
              <a:buNone/>
            </a:pPr>
            <a:r>
              <a:rPr lang="en-US" sz="1300" dirty="0">
                <a:solidFill>
                  <a:srgbClr val="000000"/>
                </a:solidFill>
                <a:latin typeface="Arial" pitchFamily="34" charset="0"/>
                <a:ea typeface="Arial" pitchFamily="34" charset="-122"/>
                <a:cs typeface="Arial" pitchFamily="34" charset="-120"/>
              </a:rPr>
              <a:t> Typically granted for 10 years, but can be renewed indefinitely.</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GI Examples in India</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India enacted the GIs of Goods Act in 1999 to protect local specialties: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Darjeeling Tea:</a:t>
            </a:r>
            <a:pPr indent="0" marL="0">
              <a:buNone/>
            </a:pPr>
            <a:r>
              <a:rPr lang="en-US" sz="1300" dirty="0">
                <a:solidFill>
                  <a:srgbClr val="000000"/>
                </a:solidFill>
                <a:latin typeface="Arial" pitchFamily="34" charset="0"/>
                <a:ea typeface="Arial" pitchFamily="34" charset="-122"/>
                <a:cs typeface="Arial" pitchFamily="34" charset="-120"/>
              </a:rPr>
              <a:t> The first GI tag registered in India (2004). Protections prevent foreign growers from labeling inferior tea as Darjeeling.</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Basmati Rice:</a:t>
            </a:r>
            <a:pPr indent="0" marL="0">
              <a:buNone/>
            </a:pPr>
            <a:r>
              <a:rPr lang="en-US" sz="1300" dirty="0">
                <a:solidFill>
                  <a:srgbClr val="000000"/>
                </a:solidFill>
                <a:latin typeface="Arial" pitchFamily="34" charset="0"/>
                <a:ea typeface="Arial" pitchFamily="34" charset="-122"/>
                <a:cs typeface="Arial" pitchFamily="34" charset="-120"/>
              </a:rPr>
              <a:t> Aromatic long-grain rice grown in specific northern plains.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Pashmina Shawls:</a:t>
            </a:r>
            <a:pPr indent="0" marL="0">
              <a:buNone/>
            </a:pPr>
            <a:r>
              <a:rPr lang="en-US" sz="1300" dirty="0">
                <a:solidFill>
                  <a:srgbClr val="000000"/>
                </a:solidFill>
                <a:latin typeface="Arial" pitchFamily="34" charset="0"/>
                <a:ea typeface="Arial" pitchFamily="34" charset="-122"/>
                <a:cs typeface="Arial" pitchFamily="34" charset="-120"/>
              </a:rPr>
              <a:t> Hand-crafted wool products from Kashmir.</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Pochampally Ikat:</a:t>
            </a:r>
            <a:pPr indent="0" marL="0">
              <a:buNone/>
            </a:pPr>
            <a:r>
              <a:rPr lang="en-US" sz="1300" dirty="0">
                <a:solidFill>
                  <a:srgbClr val="000000"/>
                </a:solidFill>
                <a:latin typeface="Arial" pitchFamily="34" charset="0"/>
                <a:ea typeface="Arial" pitchFamily="34" charset="-122"/>
                <a:cs typeface="Arial" pitchFamily="34" charset="-120"/>
              </a:rPr>
              <a:t> Traditional handloom sarees from Telangana.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New Developments in IPR</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IP systems are adapting to protect digital, biological, and traditional innovations:</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Biotechnology &amp; Software IP</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1565C0"/>
                </a:solidFill>
                <a:latin typeface="Arial" pitchFamily="34" charset="0"/>
                <a:ea typeface="Arial" pitchFamily="34" charset="-122"/>
                <a:cs typeface="Arial" pitchFamily="34" charset="-120"/>
              </a:rPr>
              <a:t>• Biological Systems:</a:t>
            </a:r>
            <a:pPr indent="0" marL="0">
              <a:buNone/>
            </a:pPr>
            <a:r>
              <a:rPr lang="en-US" sz="1300" dirty="0">
                <a:solidFill>
                  <a:srgbClr val="000000"/>
                </a:solidFill>
                <a:latin typeface="Arial" pitchFamily="34" charset="0"/>
                <a:ea typeface="Arial" pitchFamily="34" charset="-122"/>
                <a:cs typeface="Arial" pitchFamily="34" charset="-120"/>
              </a:rPr>
              <a:t> Patenting genetically modified organisms (like GM cotton seeds), gene editing protocols (CRISPR), and vaccine formulas. Raises ethical debates.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Software &amp; AI IP:</a:t>
            </a:r>
            <a:pPr indent="0" marL="0">
              <a:buNone/>
            </a:pPr>
            <a:r>
              <a:rPr lang="en-US" sz="1300" dirty="0">
                <a:solidFill>
                  <a:srgbClr val="000000"/>
                </a:solidFill>
                <a:latin typeface="Arial" pitchFamily="34" charset="0"/>
                <a:ea typeface="Arial" pitchFamily="34" charset="-122"/>
                <a:cs typeface="Arial" pitchFamily="34" charset="-120"/>
              </a:rPr>
              <a:t> AI algorithms are abstract math (non-patentable). However, systems where AI controls physical robots can be patented. Generative AI raises debates on copyright ownership of machine-generated code.</a:t>
            </a:r>
            <a:endParaRPr lang="en-US" sz="1300" dirty="0"/>
          </a:p>
        </p:txBody>
      </p:sp>
      <p:sp>
        <p:nvSpPr>
          <p:cNvPr id="19" name="Shape 16"/>
          <p:cNvSpPr/>
          <p:nvPr/>
        </p:nvSpPr>
        <p:spPr>
          <a:xfrm>
            <a:off x="6035040" y="2103120"/>
            <a:ext cx="5715000" cy="4114800"/>
          </a:xfrm>
          <a:prstGeom prst="roundRect">
            <a:avLst>
              <a:gd name="adj" fmla="val 2222"/>
            </a:avLst>
          </a:prstGeom>
          <a:solidFill>
            <a:srgbClr val="E8F5E9"/>
          </a:solidFill>
          <a:ln w="19050">
            <a:solidFill>
              <a:srgbClr val="0064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6400"/>
                </a:solidFill>
                <a:latin typeface="Arial" pitchFamily="34" charset="0"/>
                <a:ea typeface="Arial" pitchFamily="34" charset="-122"/>
                <a:cs typeface="Arial" pitchFamily="34" charset="-120"/>
              </a:rPr>
              <a:t>Traditional Knowledge (TK)</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 The Challenge:</a:t>
            </a:r>
            <a:pPr indent="0" marL="0">
              <a:buNone/>
            </a:pPr>
            <a:r>
              <a:rPr lang="en-US" sz="1250" dirty="0">
                <a:solidFill>
                  <a:srgbClr val="000000"/>
                </a:solidFill>
                <a:latin typeface="Arial" pitchFamily="34" charset="0"/>
                <a:ea typeface="Arial" pitchFamily="34" charset="-122"/>
                <a:cs typeface="Arial" pitchFamily="34" charset="-120"/>
              </a:rPr>
              <a:t> Bio-pirating companies patenting ancient remedies (e.g. Turmeric, Neem) in foreign patent offices.</a:t>
            </a:r>
            <a:endParaRPr lang="en-US" sz="1250" dirty="0"/>
          </a:p>
          <a:p>
            <a:pPr indent="0" marL="0">
              <a:buNone/>
            </a:pPr>
            <a:r>
              <a:rPr lang="en-US" sz="1250" b="1" dirty="0">
                <a:solidFill>
                  <a:srgbClr val="990033"/>
                </a:solidFill>
                <a:latin typeface="Arial" pitchFamily="34" charset="0"/>
                <a:ea typeface="Arial" pitchFamily="34" charset="-122"/>
                <a:cs typeface="Arial" pitchFamily="34" charset="-120"/>
              </a:rPr>
              <a:t>• The India Case:</a:t>
            </a:r>
            <a:pPr indent="0" marL="0">
              <a:buNone/>
            </a:pPr>
            <a:r>
              <a:rPr lang="en-US" sz="1250" dirty="0">
                <a:solidFill>
                  <a:srgbClr val="000000"/>
                </a:solidFill>
                <a:latin typeface="Arial" pitchFamily="34" charset="0"/>
                <a:ea typeface="Arial" pitchFamily="34" charset="-122"/>
                <a:cs typeface="Arial" pitchFamily="34" charset="-120"/>
              </a:rPr>
              <a:t> India fought and revoked US patents on Turmeric healing properties by presenting ancient Sanskrit texts as prior art.</a:t>
            </a:r>
            <a:endParaRPr lang="en-US" sz="1250" dirty="0"/>
          </a:p>
          <a:p>
            <a:pPr indent="0" marL="0">
              <a:buNone/>
            </a:pPr>
            <a:r>
              <a:rPr lang="en-US" sz="1250" b="1" dirty="0">
                <a:solidFill>
                  <a:srgbClr val="006400"/>
                </a:solidFill>
                <a:latin typeface="Arial" pitchFamily="34" charset="0"/>
                <a:ea typeface="Arial" pitchFamily="34" charset="-122"/>
                <a:cs typeface="Arial" pitchFamily="34" charset="-120"/>
              </a:rPr>
              <a:t>• TKDL Database:</a:t>
            </a:r>
            <a:pPr indent="0" marL="0">
              <a:buNone/>
            </a:pPr>
            <a:r>
              <a:rPr lang="en-US" sz="1250" dirty="0">
                <a:solidFill>
                  <a:srgbClr val="000000"/>
                </a:solidFill>
                <a:latin typeface="Arial" pitchFamily="34" charset="0"/>
                <a:ea typeface="Arial" pitchFamily="34" charset="-122"/>
                <a:cs typeface="Arial" pitchFamily="34" charset="-120"/>
              </a:rPr>
              <a:t> Traditional Knowledge Digital Library translates ancient medical texts into 5 global languages, allowing patent offices to find prior art immediately and block invalid patents.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Technology Transfer</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technology transfer mechanics bridge the gap between academic labs and market sales: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University spin-offs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Universities set up Technology Transfer Offices (TTOs) to license patents created by professors and students to startup companies, commercializing research.</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Vaccine Licensing Deals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Research institutes (like Oxford University) patent vaccine formulas and license manufacturing rights to global firms (like AstraZeneca) for production.</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Agricultural Licensing</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Agricultural universities license disease-resistant seed strains to farming cooperatives, increasing crop yields through research.</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Open-source patent pledges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Tech companies pledge patent portfolios to open-source consortia, allowing startups to build services without litigation risks.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2026-06-14T11:41:06Z</dcterms:created>
  <dcterms:modified xsi:type="dcterms:W3CDTF">2026-06-14T11:41:06Z</dcterms:modified>
</cp:coreProperties>
</file>